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4" r:id="rId1"/>
  </p:sldMasterIdLst>
  <p:notesMasterIdLst>
    <p:notesMasterId r:id="rId9"/>
  </p:notesMasterIdLst>
  <p:handoutMasterIdLst>
    <p:handoutMasterId r:id="rId10"/>
  </p:handoutMasterIdLst>
  <p:sldIdLst>
    <p:sldId id="293" r:id="rId2"/>
    <p:sldId id="312" r:id="rId3"/>
    <p:sldId id="315" r:id="rId16"/>
    <p:sldId id="314" r:id="rId4"/>
    <p:sldId id="313" r:id="rId5"/>
    <p:sldId id="310" r:id="rId6"/>
    <p:sldId id="311" r:id="rId7"/>
    <p:sldId id="30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65F5"/>
    <a:srgbClr val="00219B"/>
    <a:srgbClr val="191919"/>
    <a:srgbClr val="A5ABAD"/>
    <a:srgbClr val="808080"/>
    <a:srgbClr val="B74A1C"/>
    <a:srgbClr val="EDF4F8"/>
    <a:srgbClr val="0020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2954AD-FA20-40BD-B149-0538356929D8}" v="265" dt="2026-07-28T07:47:13.948"/>
    <p1510:client id="{25FB1A9D-24DE-42A8-A9B3-D70B48C9A34B}" v="5" dt="2026-07-28T09:11:11.414"/>
    <p1510:client id="{34985E8C-E5D0-4C98-8FAD-05F18C736DCF}" v="261" dt="2026-07-28T08:04:54.990"/>
    <p1510:client id="{734F56CA-AA54-4F4F-AE42-9AA596AE9100}" v="59" dt="2026-07-28T01:03:49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FDFDA3DB-4ABB-6B6A-B5C6-44033C7B44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CA5EE10-0835-D895-CAEB-887BDDDC49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2CEEA-E706-4555-A6F2-76CBEE8B0214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E335A0F-F5C0-DEFB-5758-6DB2209195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6453D27-E811-5D11-733F-6E84F98FD4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36876-DA70-44CA-95E4-4FDEDE03A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21951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72808-4DA7-7E40-9D76-23B287399EF0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C2A34-59FF-7345-B7EA-94C85DEA6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76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9489" y="2971784"/>
            <a:ext cx="8135937" cy="568355"/>
          </a:xfrm>
        </p:spPr>
        <p:txBody>
          <a:bodyPr anchor="b">
            <a:normAutofit/>
          </a:bodyPr>
          <a:lstStyle>
            <a:lvl1pPr algn="l">
              <a:defRPr sz="3400" b="1" i="0" baseline="0">
                <a:solidFill>
                  <a:schemeClr val="accent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defRPr>
            </a:lvl1pPr>
          </a:lstStyle>
          <a:p>
            <a:r>
              <a:rPr lang="ja-JP" altLang="en-US"/>
              <a:t>スライドタイトル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9490" y="455555"/>
            <a:ext cx="6535562" cy="294943"/>
          </a:xfrm>
        </p:spPr>
        <p:txBody>
          <a:bodyPr>
            <a:noAutofit/>
          </a:bodyPr>
          <a:lstStyle>
            <a:lvl1pPr marL="0" indent="0" algn="l">
              <a:buNone/>
              <a:defRPr sz="1600" b="1" i="0" baseline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err="1"/>
              <a:t>〇〇</a:t>
            </a:r>
            <a:r>
              <a:rPr lang="en-US" altLang="ja-JP" err="1"/>
              <a:t>〇〇〇〇〇〇</a:t>
            </a:r>
            <a:r>
              <a:rPr lang="en-US" err="1"/>
              <a:t>株式会社</a:t>
            </a:r>
            <a:r>
              <a:rPr lang="en-US"/>
              <a:t>   </a:t>
            </a:r>
            <a:r>
              <a:rPr lang="en-US" err="1"/>
              <a:t>御中</a:t>
            </a:r>
            <a:endParaRPr lang="en-US"/>
          </a:p>
        </p:txBody>
      </p:sp>
      <p:pic>
        <p:nvPicPr>
          <p:cNvPr id="12" name="図 11" descr="ロゴ&#10;&#10;中程度の精度で自動的に生成された説明">
            <a:extLst>
              <a:ext uri="{FF2B5EF4-FFF2-40B4-BE49-F238E27FC236}">
                <a16:creationId xmlns:a16="http://schemas.microsoft.com/office/drawing/2014/main" id="{91C61609-E934-6D94-45E8-4C5C722289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017" y="5898392"/>
            <a:ext cx="1318254" cy="496733"/>
          </a:xfrm>
          <a:prstGeom prst="rect">
            <a:avLst/>
          </a:prstGeom>
        </p:spPr>
      </p:pic>
      <p:pic>
        <p:nvPicPr>
          <p:cNvPr id="13" name="図 12" descr="図形, 矢印&#10;&#10;自動的に生成された説明">
            <a:extLst>
              <a:ext uri="{FF2B5EF4-FFF2-40B4-BE49-F238E27FC236}">
                <a16:creationId xmlns:a16="http://schemas.microsoft.com/office/drawing/2014/main" id="{77C1A79A-EE6C-3D8D-372B-1EC0B0D96C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64812" y="0"/>
            <a:ext cx="4695825" cy="6858000"/>
          </a:xfrm>
          <a:prstGeom prst="rect">
            <a:avLst/>
          </a:prstGeom>
        </p:spPr>
      </p:pic>
      <p:pic>
        <p:nvPicPr>
          <p:cNvPr id="14" name="図 13" descr="文字が書かれている&#10;&#10;中程度の精度で自動的に生成された説明">
            <a:extLst>
              <a:ext uri="{FF2B5EF4-FFF2-40B4-BE49-F238E27FC236}">
                <a16:creationId xmlns:a16="http://schemas.microsoft.com/office/drawing/2014/main" id="{3A21D7F1-218B-EF6B-6970-CDF014BDF8F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72469" y="323523"/>
            <a:ext cx="1518408" cy="367357"/>
          </a:xfrm>
          <a:prstGeom prst="rect">
            <a:avLst/>
          </a:prstGeom>
        </p:spPr>
      </p:pic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3667EF0E-F860-9065-842F-49984BAD01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488" y="4183823"/>
            <a:ext cx="6535562" cy="29494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双日テックイノベーション株式会社</a:t>
            </a:r>
            <a:endParaRPr kumimoji="1" lang="en-US" altLang="ja-JP"/>
          </a:p>
        </p:txBody>
      </p:sp>
      <p:sp>
        <p:nvSpPr>
          <p:cNvPr id="6" name="テキスト プレースホルダー 19">
            <a:extLst>
              <a:ext uri="{FF2B5EF4-FFF2-40B4-BE49-F238E27FC236}">
                <a16:creationId xmlns:a16="http://schemas.microsoft.com/office/drawing/2014/main" id="{45B24984-7E4C-DB70-29A4-E3B0EE9BAF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9488" y="4888095"/>
            <a:ext cx="6535562" cy="29494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〇〇〇〇部〇〇〇〇課</a:t>
            </a:r>
          </a:p>
        </p:txBody>
      </p:sp>
      <p:sp>
        <p:nvSpPr>
          <p:cNvPr id="7" name="テキスト プレースホルダー 19">
            <a:extLst>
              <a:ext uri="{FF2B5EF4-FFF2-40B4-BE49-F238E27FC236}">
                <a16:creationId xmlns:a16="http://schemas.microsoft.com/office/drawing/2014/main" id="{FC50F80F-5787-97ED-105C-23577087D6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9488" y="4538770"/>
            <a:ext cx="6535562" cy="28952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〇〇〇〇〇〇〇〇事業本部</a:t>
            </a:r>
            <a:endParaRPr kumimoji="1" lang="en-US" altLang="ja-JP"/>
          </a:p>
        </p:txBody>
      </p:sp>
      <p:sp>
        <p:nvSpPr>
          <p:cNvPr id="4" name="テキスト プレースホルダー 19">
            <a:extLst>
              <a:ext uri="{FF2B5EF4-FFF2-40B4-BE49-F238E27FC236}">
                <a16:creationId xmlns:a16="http://schemas.microsoft.com/office/drawing/2014/main" id="{D7B851B6-8739-6DBD-3433-427387865A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9488" y="3752762"/>
            <a:ext cx="6535562" cy="294943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en-US" altLang="ja-JP" b="0" i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yyyy</a:t>
            </a:r>
            <a:r>
              <a:rPr lang="ja-JP" altLang="en-US" b="0" i="0">
                <a:latin typeface="BIZ UDPGothic" panose="020B0400000000000000" pitchFamily="34" charset="-128"/>
                <a:ea typeface="BIZ UDPGothic" panose="020B0400000000000000" pitchFamily="34" charset="-128"/>
              </a:rPr>
              <a:t>年</a:t>
            </a:r>
            <a:r>
              <a:rPr lang="en-US" altLang="ja-JP" b="0" i="0">
                <a:latin typeface="BIZ UDPGothic" panose="020B0400000000000000" pitchFamily="34" charset="-128"/>
                <a:ea typeface="BIZ UDPGothic" panose="020B0400000000000000" pitchFamily="34" charset="-128"/>
              </a:rPr>
              <a:t>mm</a:t>
            </a:r>
            <a:r>
              <a:rPr lang="ja-JP" altLang="en-US" b="0" i="0">
                <a:latin typeface="BIZ UDPGothic" panose="020B0400000000000000" pitchFamily="34" charset="-128"/>
                <a:ea typeface="BIZ UDPGothic" panose="020B0400000000000000" pitchFamily="34" charset="-128"/>
              </a:rPr>
              <a:t>月</a:t>
            </a:r>
            <a:r>
              <a:rPr lang="en-US" altLang="ja-JP" b="0" i="0">
                <a:latin typeface="BIZ UDPGothic" panose="020B0400000000000000" pitchFamily="34" charset="-128"/>
                <a:ea typeface="BIZ UDPGothic" panose="020B0400000000000000" pitchFamily="34" charset="-128"/>
              </a:rPr>
              <a:t>dd</a:t>
            </a:r>
            <a:r>
              <a:rPr lang="ja-JP" altLang="en-US" b="0" i="0">
                <a:latin typeface="BIZ UDPGothic" panose="020B0400000000000000" pitchFamily="34" charset="-128"/>
                <a:ea typeface="BIZ UDPGothic" panose="020B0400000000000000" pitchFamily="34" charset="-128"/>
              </a:rPr>
              <a:t>日</a:t>
            </a:r>
            <a:endParaRPr lang="en-US" altLang="ja-JP" b="0" i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04E82DED-A5F3-B7BA-187C-F48C8E49C3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72622" y="5860282"/>
            <a:ext cx="1318255" cy="57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490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目次（</a:t>
            </a:r>
            <a:r>
              <a:rPr lang="en-US" altLang="ja-JP"/>
              <a:t>2</a:t>
            </a:r>
            <a:r>
              <a:rPr lang="ja-JP" altLang="en-US"/>
              <a:t>４</a:t>
            </a:r>
            <a:r>
              <a:rPr lang="en-US" altLang="ja-JP"/>
              <a:t>pt</a:t>
            </a:r>
            <a:r>
              <a:rPr lang="ja-JP" altLang="en-US"/>
              <a:t>）</a:t>
            </a:r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53579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25AD9D-E296-7156-536C-D9A7EDA7F4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0431" y="1186160"/>
            <a:ext cx="11184282" cy="5109933"/>
          </a:xfrm>
        </p:spPr>
        <p:txBody>
          <a:bodyPr>
            <a:normAutofit/>
          </a:bodyPr>
          <a:lstStyle>
            <a:lvl1pPr marL="228600" indent="-228600" algn="dist"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 sz="2000" b="1" i="0" baseline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4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 タイトル</a:t>
            </a:r>
            <a:r>
              <a:rPr lang="en-US" altLang="ja-JP"/>
              <a:t>(</a:t>
            </a:r>
            <a:r>
              <a:rPr lang="ja-JP" altLang="en-US"/>
              <a:t>２０</a:t>
            </a:r>
            <a:r>
              <a:rPr lang="en-US" altLang="ja-JP"/>
              <a:t>pt) </a:t>
            </a:r>
            <a:r>
              <a:rPr lang="ja-JP" altLang="en-US" baseline="-25000"/>
              <a:t>・・・・・・・・・・・・・・・・・・・・・・・・・・・・・・・・・・・・・・・・・・・・・・・・・・・・・・・・・・・・・・・・・・・・・・・・・・・・</a:t>
            </a:r>
            <a:r>
              <a:rPr lang="ja-JP" altLang="en-US"/>
              <a:t> </a:t>
            </a:r>
            <a:r>
              <a:rPr lang="en-US" altLang="ja-JP"/>
              <a:t>pp</a:t>
            </a:r>
          </a:p>
          <a:p>
            <a:pPr lvl="0"/>
            <a:r>
              <a:rPr lang="ja-JP" altLang="en-US"/>
              <a:t> タイトル</a:t>
            </a:r>
            <a:r>
              <a:rPr lang="en-US" altLang="ja-JP"/>
              <a:t>(</a:t>
            </a:r>
            <a:r>
              <a:rPr lang="ja-JP" altLang="en-US"/>
              <a:t>２０</a:t>
            </a:r>
            <a:r>
              <a:rPr lang="en-US" altLang="ja-JP"/>
              <a:t>pt) </a:t>
            </a:r>
            <a:r>
              <a:rPr lang="ja-JP" altLang="en-US" baseline="-25000"/>
              <a:t>・・・・・・・・・・・・・・・・・・・・・・・・・・・・・・・・・・・・・・・・・・・・・・・・・・・・・・・・・・・・・・・・・・・・・・・・・・・・</a:t>
            </a:r>
            <a:r>
              <a:rPr lang="ja-JP" altLang="en-US"/>
              <a:t> </a:t>
            </a:r>
            <a:r>
              <a:rPr lang="en-US" altLang="ja-JP"/>
              <a:t>pp</a:t>
            </a:r>
          </a:p>
          <a:p>
            <a:pPr lvl="0"/>
            <a:r>
              <a:rPr lang="ja-JP" altLang="en-US"/>
              <a:t> タイトル</a:t>
            </a:r>
            <a:r>
              <a:rPr lang="en-US" altLang="ja-JP"/>
              <a:t>(</a:t>
            </a:r>
            <a:r>
              <a:rPr lang="ja-JP" altLang="en-US"/>
              <a:t>２０</a:t>
            </a:r>
            <a:r>
              <a:rPr lang="en-US" altLang="ja-JP"/>
              <a:t>pt) </a:t>
            </a:r>
            <a:r>
              <a:rPr lang="ja-JP" altLang="en-US" baseline="-25000"/>
              <a:t>・・・・・・・・・・・・・・・・・・・・・・・・・・・・・・・・・・・・・・・・・・・・・・・・・・・・・・・・・・・・・・・・・・・・・・・・・・・・</a:t>
            </a:r>
            <a:r>
              <a:rPr lang="ja-JP" altLang="en-US"/>
              <a:t> </a:t>
            </a:r>
            <a:r>
              <a:rPr lang="en-US" altLang="ja-JP"/>
              <a:t>pp</a:t>
            </a:r>
          </a:p>
        </p:txBody>
      </p:sp>
    </p:spTree>
    <p:extLst>
      <p:ext uri="{BB962C8B-B14F-4D97-AF65-F5344CB8AC3E}">
        <p14:creationId xmlns:p14="http://schemas.microsoft.com/office/powerpoint/2010/main" val="4258253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 スライド１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図形, 矢印&#10;&#10;自動的に生成された説明">
            <a:extLst>
              <a:ext uri="{FF2B5EF4-FFF2-40B4-BE49-F238E27FC236}">
                <a16:creationId xmlns:a16="http://schemas.microsoft.com/office/drawing/2014/main" id="{BE3F4B1C-C713-3B31-AE49-09C81E253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4812" y="0"/>
            <a:ext cx="4695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0863" y="2971784"/>
            <a:ext cx="8135937" cy="568355"/>
          </a:xfrm>
        </p:spPr>
        <p:txBody>
          <a:bodyPr anchor="b">
            <a:normAutofit/>
          </a:bodyPr>
          <a:lstStyle>
            <a:lvl1pPr algn="l">
              <a:defRPr sz="3200" b="1" i="0" baseline="0">
                <a:solidFill>
                  <a:schemeClr val="accent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defRPr>
            </a:lvl1pPr>
          </a:lstStyle>
          <a:p>
            <a:r>
              <a:rPr lang="ja-JP" altLang="en-US"/>
              <a:t>中表紙タイトル</a:t>
            </a:r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124FA32-0375-8371-4942-9DC9BAB29172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3BD0F11-B8C4-F108-E2C4-170D065473BD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1010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 スライド２">
    <p:bg>
      <p:bgPr>
        <a:solidFill>
          <a:srgbClr val="2A6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図形, 矢印&#10;&#10;自動的に生成された説明">
            <a:extLst>
              <a:ext uri="{FF2B5EF4-FFF2-40B4-BE49-F238E27FC236}">
                <a16:creationId xmlns:a16="http://schemas.microsoft.com/office/drawing/2014/main" id="{BE3F4B1C-C713-3B31-AE49-09C81E253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4812" y="0"/>
            <a:ext cx="4695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0863" y="2971784"/>
            <a:ext cx="8135937" cy="568355"/>
          </a:xfrm>
        </p:spPr>
        <p:txBody>
          <a:bodyPr anchor="b">
            <a:normAutofit/>
          </a:bodyPr>
          <a:lstStyle>
            <a:lvl1pPr algn="l">
              <a:defRPr sz="3200" b="1" i="0" baseline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defRPr>
            </a:lvl1pPr>
          </a:lstStyle>
          <a:p>
            <a:r>
              <a:rPr lang="ja-JP" altLang="en-US"/>
              <a:t>中表紙タイトル</a:t>
            </a:r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124FA32-0375-8371-4942-9DC9BAB29172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3BD0F11-B8C4-F108-E2C4-170D065473BD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9538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1-1（アロー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スライドタイトル・メッセージ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</a:t>
            </a:r>
            <a:r>
              <a:rPr lang="ja-JP" altLang="en-US"/>
              <a:t>４</a:t>
            </a:r>
            <a:r>
              <a:rPr lang="en-US" altLang="ja-JP"/>
              <a:t>pt</a:t>
            </a:r>
            <a:r>
              <a:rPr lang="ja-JP" altLang="en-US"/>
              <a:t>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431" y="1186160"/>
            <a:ext cx="11184282" cy="5109933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 第</a:t>
            </a:r>
            <a:r>
              <a:rPr lang="en-US" altLang="ja-JP"/>
              <a:t>1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</a:t>
            </a:r>
            <a:r>
              <a:rPr lang="ja-JP" altLang="en-US"/>
              <a:t>０</a:t>
            </a:r>
            <a:r>
              <a:rPr lang="en-US" altLang="ja-JP"/>
              <a:t>pt/</a:t>
            </a:r>
            <a:r>
              <a:rPr lang="ja-JP" altLang="en-US"/>
              <a:t>大見出し・メッセージ</a:t>
            </a:r>
            <a:r>
              <a:rPr lang="en-US" altLang="ja-JP"/>
              <a:t> ※</a:t>
            </a:r>
            <a:r>
              <a:rPr lang="ja-JP" altLang="en-US"/>
              <a:t>必要な場合のみ使用）</a:t>
            </a:r>
          </a:p>
          <a:p>
            <a:pPr lvl="1"/>
            <a:r>
              <a:rPr lang="ja-JP" altLang="en-US"/>
              <a:t>第</a:t>
            </a:r>
            <a:r>
              <a:rPr lang="en-US" altLang="ja-JP"/>
              <a:t>2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</a:t>
            </a:r>
            <a:r>
              <a:rPr lang="ja-JP" altLang="en-US"/>
              <a:t>６</a:t>
            </a:r>
            <a:r>
              <a:rPr lang="en-US" altLang="ja-JP"/>
              <a:t>pt/</a:t>
            </a:r>
            <a:r>
              <a:rPr lang="ja-JP" altLang="en-US"/>
              <a:t>見出し）</a:t>
            </a:r>
          </a:p>
          <a:p>
            <a:pPr lvl="2"/>
            <a:r>
              <a:rPr lang="ja-JP" altLang="en-US"/>
              <a:t>第</a:t>
            </a:r>
            <a:r>
              <a:rPr lang="en-US" altLang="ja-JP"/>
              <a:t>3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</a:t>
            </a:r>
            <a:r>
              <a:rPr lang="ja-JP" altLang="en-US"/>
              <a:t>２</a:t>
            </a:r>
            <a:r>
              <a:rPr lang="en-US" altLang="ja-JP"/>
              <a:t>pt/</a:t>
            </a:r>
            <a:r>
              <a:rPr lang="ja-JP" altLang="en-US"/>
              <a:t>本文）</a:t>
            </a:r>
          </a:p>
          <a:p>
            <a:pPr lvl="3"/>
            <a:r>
              <a:rPr lang="ja-JP" altLang="en-US"/>
              <a:t>第</a:t>
            </a:r>
            <a:r>
              <a:rPr lang="en-US" altLang="ja-JP"/>
              <a:t>4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10pt/</a:t>
            </a:r>
            <a:r>
              <a:rPr lang="ja-JP" altLang="en-US"/>
              <a:t>注釈）</a:t>
            </a:r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53579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9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1-2（サブタイトルなし・背景色あり）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スライドタイトル・メッセージ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24pt</a:t>
            </a:r>
            <a:r>
              <a:rPr lang="ja-JP" altLang="en-US"/>
              <a:t>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431" y="1186160"/>
            <a:ext cx="11184282" cy="5109933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 第</a:t>
            </a:r>
            <a:r>
              <a:rPr lang="en-US" altLang="ja-JP"/>
              <a:t>1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</a:t>
            </a:r>
            <a:r>
              <a:rPr lang="ja-JP" altLang="en-US"/>
              <a:t>０</a:t>
            </a:r>
            <a:r>
              <a:rPr lang="en-US" altLang="ja-JP"/>
              <a:t>pt/</a:t>
            </a:r>
            <a:r>
              <a:rPr lang="ja-JP" altLang="en-US"/>
              <a:t>大見出し・メッセージ</a:t>
            </a:r>
            <a:r>
              <a:rPr lang="en-US" altLang="ja-JP"/>
              <a:t> ※</a:t>
            </a:r>
            <a:r>
              <a:rPr lang="ja-JP" altLang="en-US"/>
              <a:t>必要な場合のみ使用）</a:t>
            </a:r>
          </a:p>
          <a:p>
            <a:pPr lvl="1"/>
            <a:r>
              <a:rPr lang="ja-JP" altLang="en-US"/>
              <a:t>第</a:t>
            </a:r>
            <a:r>
              <a:rPr lang="en-US" altLang="ja-JP"/>
              <a:t>2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</a:t>
            </a:r>
            <a:r>
              <a:rPr lang="ja-JP" altLang="en-US"/>
              <a:t>６</a:t>
            </a:r>
            <a:r>
              <a:rPr lang="en-US" altLang="ja-JP"/>
              <a:t>pt/</a:t>
            </a:r>
            <a:r>
              <a:rPr lang="ja-JP" altLang="en-US"/>
              <a:t>見出し）</a:t>
            </a:r>
          </a:p>
          <a:p>
            <a:pPr lvl="2"/>
            <a:r>
              <a:rPr lang="ja-JP" altLang="en-US"/>
              <a:t>第</a:t>
            </a:r>
            <a:r>
              <a:rPr lang="en-US" altLang="ja-JP"/>
              <a:t>3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</a:t>
            </a:r>
            <a:r>
              <a:rPr lang="ja-JP" altLang="en-US"/>
              <a:t>２</a:t>
            </a:r>
            <a:r>
              <a:rPr lang="en-US" altLang="ja-JP"/>
              <a:t>pt/</a:t>
            </a:r>
            <a:r>
              <a:rPr lang="ja-JP" altLang="en-US"/>
              <a:t>本文）</a:t>
            </a:r>
          </a:p>
          <a:p>
            <a:pPr lvl="3"/>
            <a:r>
              <a:rPr lang="ja-JP" altLang="en-US"/>
              <a:t>第</a:t>
            </a:r>
            <a:r>
              <a:rPr lang="en-US" altLang="ja-JP"/>
              <a:t>4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10pt/</a:t>
            </a:r>
            <a:r>
              <a:rPr lang="ja-JP" altLang="en-US"/>
              <a:t>注釈）</a:t>
            </a:r>
            <a:endParaRPr lang="en-US" altLang="ja-JP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53579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418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1-3（アロー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スライドタイトル・メッセージ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</a:t>
            </a:r>
            <a:r>
              <a:rPr lang="ja-JP" altLang="en-US"/>
              <a:t>４</a:t>
            </a:r>
            <a:r>
              <a:rPr lang="en-US" altLang="ja-JP"/>
              <a:t>pt</a:t>
            </a:r>
            <a:r>
              <a:rPr lang="ja-JP" altLang="en-US"/>
              <a:t>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3123" y="1580966"/>
            <a:ext cx="11184282" cy="4674307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 第</a:t>
            </a:r>
            <a:r>
              <a:rPr lang="en-US" altLang="ja-JP"/>
              <a:t>1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</a:t>
            </a:r>
            <a:r>
              <a:rPr lang="ja-JP" altLang="en-US"/>
              <a:t>０</a:t>
            </a:r>
            <a:r>
              <a:rPr lang="en-US" altLang="ja-JP"/>
              <a:t>pt/</a:t>
            </a:r>
            <a:r>
              <a:rPr lang="ja-JP" altLang="en-US"/>
              <a:t>大見出し・メッセージ</a:t>
            </a:r>
            <a:r>
              <a:rPr lang="en-US" altLang="ja-JP"/>
              <a:t> ※</a:t>
            </a:r>
            <a:r>
              <a:rPr lang="ja-JP" altLang="en-US"/>
              <a:t>必要な場合のみ使用）</a:t>
            </a:r>
          </a:p>
          <a:p>
            <a:pPr lvl="1"/>
            <a:r>
              <a:rPr lang="ja-JP" altLang="en-US"/>
              <a:t>第</a:t>
            </a:r>
            <a:r>
              <a:rPr lang="en-US" altLang="ja-JP"/>
              <a:t>2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16pt/</a:t>
            </a:r>
            <a:r>
              <a:rPr lang="ja-JP" altLang="en-US"/>
              <a:t>見出し）</a:t>
            </a:r>
          </a:p>
          <a:p>
            <a:pPr lvl="2"/>
            <a:r>
              <a:rPr lang="ja-JP" altLang="en-US"/>
              <a:t>第</a:t>
            </a:r>
            <a:r>
              <a:rPr lang="en-US" altLang="ja-JP"/>
              <a:t>3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12pt/</a:t>
            </a:r>
            <a:r>
              <a:rPr lang="ja-JP" altLang="en-US"/>
              <a:t>本文）</a:t>
            </a:r>
          </a:p>
          <a:p>
            <a:pPr lvl="3"/>
            <a:r>
              <a:rPr lang="ja-JP" altLang="en-US"/>
              <a:t>第</a:t>
            </a:r>
            <a:r>
              <a:rPr lang="en-US" altLang="ja-JP"/>
              <a:t>4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10pt/</a:t>
            </a:r>
            <a:r>
              <a:rPr lang="ja-JP" altLang="en-US"/>
              <a:t>注釈）</a:t>
            </a:r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D72817-A9A9-B911-F9B5-0FBF688B6B1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3123" y="978865"/>
            <a:ext cx="11184282" cy="485437"/>
          </a:xfrm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サブタイトル・メッセージ（</a:t>
            </a:r>
            <a:r>
              <a:rPr lang="en-US" altLang="ja-JP"/>
              <a:t>20</a:t>
            </a:r>
            <a:r>
              <a:rPr lang="ja-JP" altLang="en-US"/>
              <a:t>ｐｔ）</a:t>
            </a:r>
          </a:p>
          <a:p>
            <a:pPr lvl="0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07631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2-1（サブタイトル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432" y="979783"/>
            <a:ext cx="5447578" cy="5316311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2000" b="1" i="0" baseline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 第</a:t>
            </a:r>
            <a:r>
              <a:rPr lang="en-US" altLang="ja-JP"/>
              <a:t>1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</a:t>
            </a:r>
            <a:r>
              <a:rPr lang="ja-JP" altLang="en-US"/>
              <a:t>０</a:t>
            </a:r>
            <a:r>
              <a:rPr lang="en-US" altLang="ja-JP"/>
              <a:t>pt/</a:t>
            </a:r>
            <a:r>
              <a:rPr lang="ja-JP" altLang="en-US"/>
              <a:t>大見出し・メッセージ</a:t>
            </a:r>
            <a:r>
              <a:rPr lang="en-US" altLang="ja-JP"/>
              <a:t> ※</a:t>
            </a:r>
            <a:r>
              <a:rPr lang="ja-JP" altLang="en-US"/>
              <a:t>必要な場合のみ）</a:t>
            </a:r>
          </a:p>
          <a:p>
            <a:pPr lvl="1"/>
            <a:r>
              <a:rPr lang="ja-JP" altLang="en-US"/>
              <a:t>第</a:t>
            </a:r>
            <a:r>
              <a:rPr lang="en-US" altLang="ja-JP"/>
              <a:t>2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</a:t>
            </a:r>
            <a:r>
              <a:rPr lang="ja-JP" altLang="en-US"/>
              <a:t>６</a:t>
            </a:r>
            <a:r>
              <a:rPr lang="en-US" altLang="ja-JP"/>
              <a:t>pt/</a:t>
            </a:r>
            <a:r>
              <a:rPr lang="ja-JP" altLang="en-US"/>
              <a:t>見出し）</a:t>
            </a:r>
          </a:p>
          <a:p>
            <a:pPr lvl="2"/>
            <a:r>
              <a:rPr lang="ja-JP" altLang="en-US"/>
              <a:t>第</a:t>
            </a:r>
            <a:r>
              <a:rPr lang="en-US" altLang="ja-JP"/>
              <a:t>3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</a:t>
            </a:r>
            <a:r>
              <a:rPr lang="ja-JP" altLang="en-US"/>
              <a:t>２</a:t>
            </a:r>
            <a:r>
              <a:rPr lang="en-US" altLang="ja-JP"/>
              <a:t>pt/</a:t>
            </a:r>
            <a:r>
              <a:rPr lang="ja-JP" altLang="en-US"/>
              <a:t>本文）</a:t>
            </a:r>
          </a:p>
          <a:p>
            <a:pPr lvl="3"/>
            <a:r>
              <a:rPr lang="ja-JP" altLang="en-US"/>
              <a:t>第</a:t>
            </a:r>
            <a:r>
              <a:rPr lang="en-US" altLang="ja-JP"/>
              <a:t>4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10pt/</a:t>
            </a:r>
            <a:r>
              <a:rPr lang="ja-JP" altLang="en-US"/>
              <a:t>注釈）</a:t>
            </a:r>
            <a:endParaRPr lang="en-US" altLang="ja-JP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F5794F-3BD7-1577-E5D1-64704FC6C824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00094" y="978865"/>
            <a:ext cx="5447578" cy="5316311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 第</a:t>
            </a:r>
            <a:r>
              <a:rPr lang="en-US" altLang="ja-JP"/>
              <a:t>1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</a:t>
            </a:r>
            <a:r>
              <a:rPr lang="ja-JP" altLang="en-US"/>
              <a:t>０</a:t>
            </a:r>
            <a:r>
              <a:rPr lang="en-US" altLang="ja-JP"/>
              <a:t>pt/</a:t>
            </a:r>
            <a:r>
              <a:rPr lang="ja-JP" altLang="en-US"/>
              <a:t>大見出し・メッセージ</a:t>
            </a:r>
            <a:r>
              <a:rPr lang="en-US" altLang="ja-JP"/>
              <a:t> ※</a:t>
            </a:r>
            <a:r>
              <a:rPr lang="ja-JP" altLang="en-US"/>
              <a:t>必要な場合のみ）</a:t>
            </a:r>
          </a:p>
          <a:p>
            <a:pPr lvl="1"/>
            <a:r>
              <a:rPr lang="ja-JP" altLang="en-US"/>
              <a:t>第</a:t>
            </a:r>
            <a:r>
              <a:rPr lang="en-US" altLang="ja-JP"/>
              <a:t>2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</a:t>
            </a:r>
            <a:r>
              <a:rPr lang="ja-JP" altLang="en-US"/>
              <a:t>６</a:t>
            </a:r>
            <a:r>
              <a:rPr lang="en-US" altLang="ja-JP"/>
              <a:t>pt/</a:t>
            </a:r>
            <a:r>
              <a:rPr lang="ja-JP" altLang="en-US"/>
              <a:t>見出し）</a:t>
            </a:r>
          </a:p>
          <a:p>
            <a:pPr lvl="2"/>
            <a:r>
              <a:rPr lang="ja-JP" altLang="en-US"/>
              <a:t>第</a:t>
            </a:r>
            <a:r>
              <a:rPr lang="en-US" altLang="ja-JP"/>
              <a:t>3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14pt/</a:t>
            </a:r>
            <a:r>
              <a:rPr lang="ja-JP" altLang="en-US"/>
              <a:t>本文）</a:t>
            </a:r>
          </a:p>
          <a:p>
            <a:pPr lvl="3"/>
            <a:r>
              <a:rPr lang="ja-JP" altLang="en-US"/>
              <a:t>第</a:t>
            </a:r>
            <a:r>
              <a:rPr lang="en-US" altLang="ja-JP"/>
              <a:t>4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10pt/</a:t>
            </a:r>
            <a:r>
              <a:rPr lang="ja-JP" altLang="en-US"/>
              <a:t>注釈）</a:t>
            </a:r>
            <a:endParaRPr lang="en-US" altLang="ja-JP"/>
          </a:p>
          <a:p>
            <a:pPr lvl="3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7B23EE-C32B-0F28-CE61-16A5FBCEB7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スライドタイトル・メッセージ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</a:t>
            </a:r>
            <a:r>
              <a:rPr lang="ja-JP" altLang="en-US"/>
              <a:t>４</a:t>
            </a:r>
            <a:r>
              <a:rPr lang="en-US" altLang="ja-JP"/>
              <a:t>pt</a:t>
            </a:r>
            <a:r>
              <a:rPr lang="ja-JP" altLang="en-US"/>
              <a:t>）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94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2-2（サブタイト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432" y="1890371"/>
            <a:ext cx="5447578" cy="4405723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 第</a:t>
            </a:r>
            <a:r>
              <a:rPr lang="en-US" altLang="ja-JP"/>
              <a:t>1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20pt/</a:t>
            </a:r>
            <a:r>
              <a:rPr lang="ja-JP" altLang="en-US"/>
              <a:t>大見出し・メッセージ</a:t>
            </a:r>
            <a:r>
              <a:rPr lang="en-US" altLang="ja-JP"/>
              <a:t> ※</a:t>
            </a:r>
            <a:r>
              <a:rPr lang="ja-JP" altLang="en-US"/>
              <a:t>必要な場合のみ）</a:t>
            </a:r>
          </a:p>
          <a:p>
            <a:pPr lvl="1"/>
            <a:r>
              <a:rPr lang="ja-JP" altLang="en-US"/>
              <a:t>第</a:t>
            </a:r>
            <a:r>
              <a:rPr lang="en-US" altLang="ja-JP"/>
              <a:t>2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16pt/</a:t>
            </a:r>
            <a:r>
              <a:rPr lang="ja-JP" altLang="en-US"/>
              <a:t>見出し）</a:t>
            </a:r>
          </a:p>
          <a:p>
            <a:pPr lvl="2"/>
            <a:r>
              <a:rPr lang="ja-JP" altLang="en-US"/>
              <a:t>第</a:t>
            </a:r>
            <a:r>
              <a:rPr lang="en-US" altLang="ja-JP"/>
              <a:t>3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14pt/</a:t>
            </a:r>
            <a:r>
              <a:rPr lang="ja-JP" altLang="en-US"/>
              <a:t>本文）</a:t>
            </a:r>
          </a:p>
          <a:p>
            <a:pPr lvl="3"/>
            <a:r>
              <a:rPr lang="ja-JP" altLang="en-US"/>
              <a:t>第</a:t>
            </a:r>
            <a:r>
              <a:rPr lang="en-US" altLang="ja-JP"/>
              <a:t>4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10pt/</a:t>
            </a:r>
            <a:r>
              <a:rPr lang="ja-JP" altLang="en-US"/>
              <a:t>注釈）</a:t>
            </a:r>
            <a:endParaRPr lang="en-US" altLang="ja-JP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F5794F-3BD7-1577-E5D1-64704FC6C824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00094" y="1889453"/>
            <a:ext cx="5447578" cy="4405723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 第</a:t>
            </a:r>
            <a:r>
              <a:rPr lang="en-US" altLang="ja-JP"/>
              <a:t>1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20pt/</a:t>
            </a:r>
            <a:r>
              <a:rPr lang="ja-JP" altLang="en-US"/>
              <a:t>大見出し・メッセージ</a:t>
            </a:r>
            <a:r>
              <a:rPr lang="en-US" altLang="ja-JP"/>
              <a:t> ※</a:t>
            </a:r>
            <a:r>
              <a:rPr lang="ja-JP" altLang="en-US"/>
              <a:t>必要な場合のみ）</a:t>
            </a:r>
          </a:p>
          <a:p>
            <a:pPr lvl="1"/>
            <a:r>
              <a:rPr lang="ja-JP" altLang="en-US"/>
              <a:t>第</a:t>
            </a:r>
            <a:r>
              <a:rPr lang="en-US" altLang="ja-JP"/>
              <a:t>2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16pt/</a:t>
            </a:r>
            <a:r>
              <a:rPr lang="ja-JP" altLang="en-US"/>
              <a:t>見出し）</a:t>
            </a:r>
          </a:p>
          <a:p>
            <a:pPr lvl="2"/>
            <a:r>
              <a:rPr lang="ja-JP" altLang="en-US"/>
              <a:t>第</a:t>
            </a:r>
            <a:r>
              <a:rPr lang="en-US" altLang="ja-JP"/>
              <a:t>3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14pt/</a:t>
            </a:r>
            <a:r>
              <a:rPr lang="ja-JP" altLang="en-US"/>
              <a:t>本文）</a:t>
            </a:r>
          </a:p>
          <a:p>
            <a:pPr lvl="3"/>
            <a:r>
              <a:rPr lang="ja-JP" altLang="en-US"/>
              <a:t>第</a:t>
            </a:r>
            <a:r>
              <a:rPr lang="en-US" altLang="ja-JP"/>
              <a:t>4</a:t>
            </a:r>
            <a:r>
              <a:rPr lang="ja-JP" altLang="en-US"/>
              <a:t>レベル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10pt/</a:t>
            </a:r>
            <a:r>
              <a:rPr lang="ja-JP" altLang="en-US"/>
              <a:t>注釈）</a:t>
            </a:r>
            <a:endParaRPr lang="en-US" altLang="ja-JP"/>
          </a:p>
          <a:p>
            <a:pPr lvl="3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7B23EE-C32B-0F28-CE61-16A5FBCEB7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スライドタイトル・メッセージ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</a:t>
            </a:r>
            <a:r>
              <a:rPr lang="ja-JP" altLang="en-US"/>
              <a:t>４</a:t>
            </a:r>
            <a:r>
              <a:rPr lang="en-US" altLang="ja-JP"/>
              <a:t>pt</a:t>
            </a:r>
            <a:r>
              <a:rPr lang="ja-JP" altLang="en-US"/>
              <a:t>）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3E328F-114F-7DEB-3AC8-FFB9E7D73DC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3123" y="978865"/>
            <a:ext cx="11184282" cy="834426"/>
          </a:xfrm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サブタイトル・メッセージ（</a:t>
            </a:r>
            <a:r>
              <a:rPr lang="en-US" altLang="ja-JP"/>
              <a:t>20</a:t>
            </a:r>
            <a:r>
              <a:rPr lang="ja-JP" altLang="en-US"/>
              <a:t>ｐｔ</a:t>
            </a:r>
            <a:r>
              <a:rPr lang="en-US" altLang="ja-JP" sz="2000">
                <a:solidFill>
                  <a:schemeClr val="tx1"/>
                </a:solidFill>
              </a:rPr>
              <a:t>/</a:t>
            </a:r>
            <a:r>
              <a:rPr lang="ja-JP" altLang="en-US" sz="2000">
                <a:solidFill>
                  <a:schemeClr val="tx1"/>
                </a:solidFill>
              </a:rPr>
              <a:t>２行</a:t>
            </a:r>
            <a:r>
              <a:rPr lang="en-US" altLang="ja-JP" sz="2000">
                <a:solidFill>
                  <a:schemeClr val="tx1"/>
                </a:solidFill>
              </a:rPr>
              <a:t> ver. </a:t>
            </a:r>
            <a:r>
              <a:rPr lang="ja-JP" altLang="en-US"/>
              <a:t>）</a:t>
            </a:r>
            <a:endParaRPr lang="en-US" altLang="ja-JP"/>
          </a:p>
          <a:p>
            <a:pPr lvl="0"/>
            <a:endParaRPr lang="ja-JP" altLang="en-US"/>
          </a:p>
          <a:p>
            <a:pPr lvl="0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4052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3-1（サブタイトル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>
                <a:solidFill>
                  <a:schemeClr val="tx2">
                    <a:lumMod val="75000"/>
                  </a:schemeClr>
                </a:solidFill>
                <a:effectLst/>
                <a:latin typeface="BIZ UDPGothic" panose="020B0400000000000000" pitchFamily="34" charset="-128"/>
                <a:ea typeface="BIZ UDPGothic" panose="020B0400000000000000" pitchFamily="34" charset="-128"/>
              </a:rPr>
              <a:t>©Sojitz Tech-Innovation Co., Ltd. All Rights Reserved.</a:t>
            </a:r>
            <a:endParaRPr lang="ja-JP" altLang="en-US" sz="900">
              <a:solidFill>
                <a:schemeClr val="tx2">
                  <a:lumMod val="75000"/>
                </a:schemeClr>
              </a:solidFill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2FD22AD8-AC86-4F9D-A42F-E989AA12BE8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6857" y="984889"/>
            <a:ext cx="3544778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</p:txBody>
      </p:sp>
      <p:sp>
        <p:nvSpPr>
          <p:cNvPr id="10" name="図プレースホルダー 11">
            <a:extLst>
              <a:ext uri="{FF2B5EF4-FFF2-40B4-BE49-F238E27FC236}">
                <a16:creationId xmlns:a16="http://schemas.microsoft.com/office/drawing/2014/main" id="{2596B21C-64C7-376D-614F-CBC07BA54D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6855" y="2733368"/>
            <a:ext cx="3544778" cy="3561809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図</a:t>
            </a:r>
            <a:endParaRPr kumimoji="1" lang="en-US" altLang="ja-JP"/>
          </a:p>
        </p:txBody>
      </p:sp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0A518090-782F-7B3A-0DB7-114629316B3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276608" y="984884"/>
            <a:ext cx="3544778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</p:txBody>
      </p:sp>
      <p:sp>
        <p:nvSpPr>
          <p:cNvPr id="22" name="図プレースホルダー 11">
            <a:extLst>
              <a:ext uri="{FF2B5EF4-FFF2-40B4-BE49-F238E27FC236}">
                <a16:creationId xmlns:a16="http://schemas.microsoft.com/office/drawing/2014/main" id="{7CBD38C9-4DFE-BFA1-2791-CC234E62432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76608" y="2733368"/>
            <a:ext cx="3544778" cy="3561809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図</a:t>
            </a:r>
            <a:endParaRPr kumimoji="1" lang="en-US" altLang="ja-JP"/>
          </a:p>
        </p:txBody>
      </p:sp>
      <p:sp>
        <p:nvSpPr>
          <p:cNvPr id="23" name="コンテンツ プレースホルダー 2">
            <a:extLst>
              <a:ext uri="{FF2B5EF4-FFF2-40B4-BE49-F238E27FC236}">
                <a16:creationId xmlns:a16="http://schemas.microsoft.com/office/drawing/2014/main" id="{DBEDCA7B-6210-78E7-D16E-1ACD91CDEC9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96360" y="984277"/>
            <a:ext cx="3544778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endParaRPr kumimoji="1" lang="en-US" altLang="ja-JP"/>
          </a:p>
        </p:txBody>
      </p:sp>
      <p:sp>
        <p:nvSpPr>
          <p:cNvPr id="24" name="図プレースホルダー 11">
            <a:extLst>
              <a:ext uri="{FF2B5EF4-FFF2-40B4-BE49-F238E27FC236}">
                <a16:creationId xmlns:a16="http://schemas.microsoft.com/office/drawing/2014/main" id="{226060EB-C034-AD43-9B18-23B93CB8ABA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96358" y="2732761"/>
            <a:ext cx="3544778" cy="3561809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図</a:t>
            </a:r>
            <a:endParaRPr kumimoji="1" lang="en-US" altLang="ja-JP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8270BA4-DF63-FECF-CBA0-55BB64022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スライドタイトル・メッセージ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</a:t>
            </a:r>
            <a:r>
              <a:rPr lang="ja-JP" altLang="en-US"/>
              <a:t>４</a:t>
            </a:r>
            <a:r>
              <a:rPr lang="en-US" altLang="ja-JP"/>
              <a:t>pt</a:t>
            </a:r>
            <a:r>
              <a:rPr lang="ja-JP" altLang="en-US"/>
              <a:t>）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65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3-2（サブタイト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>
                <a:solidFill>
                  <a:schemeClr val="tx2">
                    <a:lumMod val="75000"/>
                  </a:schemeClr>
                </a:solidFill>
                <a:effectLst/>
                <a:latin typeface="BIZ UDPGothic" panose="020B0400000000000000" pitchFamily="34" charset="-128"/>
                <a:ea typeface="BIZ UDPGothic" panose="020B0400000000000000" pitchFamily="34" charset="-128"/>
              </a:rPr>
              <a:t>©Sojitz Tech-Innovation Co., Ltd. All Rights Reserved.</a:t>
            </a:r>
            <a:endParaRPr lang="ja-JP" altLang="en-US" sz="900">
              <a:solidFill>
                <a:schemeClr val="tx2">
                  <a:lumMod val="75000"/>
                </a:schemeClr>
              </a:solidFill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2FD22AD8-AC86-4F9D-A42F-E989AA12BE8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6857" y="1889453"/>
            <a:ext cx="3544778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</p:txBody>
      </p:sp>
      <p:sp>
        <p:nvSpPr>
          <p:cNvPr id="10" name="図プレースホルダー 11">
            <a:extLst>
              <a:ext uri="{FF2B5EF4-FFF2-40B4-BE49-F238E27FC236}">
                <a16:creationId xmlns:a16="http://schemas.microsoft.com/office/drawing/2014/main" id="{2596B21C-64C7-376D-614F-CBC07BA54D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6855" y="3639493"/>
            <a:ext cx="3544778" cy="2655684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図</a:t>
            </a:r>
            <a:endParaRPr kumimoji="1" lang="en-US" altLang="ja-JP"/>
          </a:p>
        </p:txBody>
      </p:sp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0A518090-782F-7B3A-0DB7-114629316B3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276608" y="1889453"/>
            <a:ext cx="3544778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</p:txBody>
      </p:sp>
      <p:sp>
        <p:nvSpPr>
          <p:cNvPr id="22" name="図プレースホルダー 11">
            <a:extLst>
              <a:ext uri="{FF2B5EF4-FFF2-40B4-BE49-F238E27FC236}">
                <a16:creationId xmlns:a16="http://schemas.microsoft.com/office/drawing/2014/main" id="{7CBD38C9-4DFE-BFA1-2791-CC234E62432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76608" y="3639493"/>
            <a:ext cx="3544778" cy="2655684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図</a:t>
            </a:r>
            <a:endParaRPr kumimoji="1" lang="en-US" altLang="ja-JP"/>
          </a:p>
        </p:txBody>
      </p:sp>
      <p:sp>
        <p:nvSpPr>
          <p:cNvPr id="23" name="コンテンツ プレースホルダー 2">
            <a:extLst>
              <a:ext uri="{FF2B5EF4-FFF2-40B4-BE49-F238E27FC236}">
                <a16:creationId xmlns:a16="http://schemas.microsoft.com/office/drawing/2014/main" id="{DBEDCA7B-6210-78E7-D16E-1ACD91CDEC9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96360" y="1888846"/>
            <a:ext cx="3544778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endParaRPr kumimoji="1" lang="en-US" altLang="ja-JP"/>
          </a:p>
        </p:txBody>
      </p:sp>
      <p:sp>
        <p:nvSpPr>
          <p:cNvPr id="24" name="図プレースホルダー 11">
            <a:extLst>
              <a:ext uri="{FF2B5EF4-FFF2-40B4-BE49-F238E27FC236}">
                <a16:creationId xmlns:a16="http://schemas.microsoft.com/office/drawing/2014/main" id="{226060EB-C034-AD43-9B18-23B93CB8ABA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96358" y="3638886"/>
            <a:ext cx="3544778" cy="2655684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図</a:t>
            </a:r>
            <a:endParaRPr kumimoji="1" lang="en-US" altLang="ja-JP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8270BA4-DF63-FECF-CBA0-55BB64022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スライドタイトル・メッセージ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</a:t>
            </a:r>
            <a:r>
              <a:rPr lang="ja-JP" altLang="en-US"/>
              <a:t>４</a:t>
            </a:r>
            <a:r>
              <a:rPr lang="en-US" altLang="ja-JP"/>
              <a:t>pt</a:t>
            </a:r>
            <a:r>
              <a:rPr lang="ja-JP" altLang="en-US"/>
              <a:t>）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2D4DFD3-A1FA-A9BB-ED06-FB2F6B4C01E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3123" y="978865"/>
            <a:ext cx="11184282" cy="834426"/>
          </a:xfrm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000" b="1" i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サブタイトル・メッセージ（</a:t>
            </a:r>
            <a:r>
              <a:rPr lang="en-US" altLang="ja-JP"/>
              <a:t>20</a:t>
            </a:r>
            <a:r>
              <a:rPr lang="ja-JP" altLang="en-US"/>
              <a:t>ｐｔ</a:t>
            </a:r>
            <a:r>
              <a:rPr lang="en-US" altLang="ja-JP" sz="2000">
                <a:solidFill>
                  <a:schemeClr val="tx1"/>
                </a:solidFill>
              </a:rPr>
              <a:t>/</a:t>
            </a:r>
            <a:r>
              <a:rPr lang="ja-JP" altLang="en-US" sz="2000">
                <a:solidFill>
                  <a:schemeClr val="tx1"/>
                </a:solidFill>
              </a:rPr>
              <a:t>２行</a:t>
            </a:r>
            <a:r>
              <a:rPr lang="en-US" altLang="ja-JP" sz="2000">
                <a:solidFill>
                  <a:schemeClr val="tx1"/>
                </a:solidFill>
              </a:rPr>
              <a:t> ver. </a:t>
            </a:r>
            <a:r>
              <a:rPr lang="ja-JP" altLang="en-US"/>
              <a:t>）</a:t>
            </a:r>
            <a:endParaRPr lang="en-US" altLang="ja-JP"/>
          </a:p>
          <a:p>
            <a:pPr lvl="0"/>
            <a:endParaRPr lang="ja-JP" altLang="en-US"/>
          </a:p>
          <a:p>
            <a:pPr lvl="0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85363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4-1（サブタイトル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6856" y="988013"/>
            <a:ext cx="5447578" cy="2520454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C7B23EE-C32B-0F28-CE61-16A5FBCEB7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スライドタイトル・メッセージ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</a:t>
            </a:r>
            <a:r>
              <a:rPr lang="ja-JP" altLang="en-US"/>
              <a:t>４</a:t>
            </a:r>
            <a:r>
              <a:rPr lang="en-US" altLang="ja-JP"/>
              <a:t>pt</a:t>
            </a:r>
            <a:r>
              <a:rPr lang="ja-JP" altLang="en-US"/>
              <a:t>）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6658C8-5194-F913-06ED-BE7DEB90EB4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200093" y="988013"/>
            <a:ext cx="5447578" cy="2520454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0A459F4-5803-A7D6-0E77-3E30FB6269E3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200093" y="3734215"/>
            <a:ext cx="5447578" cy="2520453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60CA5AC-3464-206A-48B0-4F149CA3502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56856" y="3734215"/>
            <a:ext cx="5447578" cy="2520454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2598760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4-2（サブタイト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432" y="1890372"/>
            <a:ext cx="5447578" cy="2117191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C7B23EE-C32B-0F28-CE61-16A5FBCEB7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スライドタイトル・メッセージ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</a:t>
            </a:r>
            <a:r>
              <a:rPr lang="ja-JP" altLang="en-US"/>
              <a:t>４</a:t>
            </a:r>
            <a:r>
              <a:rPr lang="en-US" altLang="ja-JP"/>
              <a:t>pt</a:t>
            </a:r>
            <a:r>
              <a:rPr lang="ja-JP" altLang="en-US"/>
              <a:t>）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6658C8-5194-F913-06ED-BE7DEB90EB4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190906" y="1890372"/>
            <a:ext cx="5447578" cy="2117191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0A459F4-5803-A7D6-0E77-3E30FB6269E3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200093" y="4137477"/>
            <a:ext cx="5447578" cy="2117191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60CA5AC-3464-206A-48B0-4F149CA3502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56856" y="4137477"/>
            <a:ext cx="5447578" cy="2117191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19B47D-B6D7-03DF-CA9A-3F1C0C3B902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3123" y="978865"/>
            <a:ext cx="11184282" cy="834426"/>
          </a:xfrm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サブタイトル・メッセージ（</a:t>
            </a:r>
            <a:r>
              <a:rPr lang="en-US" altLang="ja-JP"/>
              <a:t>20</a:t>
            </a:r>
            <a:r>
              <a:rPr lang="ja-JP" altLang="en-US"/>
              <a:t>ｐｔ</a:t>
            </a:r>
            <a:r>
              <a:rPr lang="en-US" altLang="ja-JP" sz="2000">
                <a:solidFill>
                  <a:schemeClr val="tx1"/>
                </a:solidFill>
              </a:rPr>
              <a:t>/</a:t>
            </a:r>
            <a:r>
              <a:rPr lang="ja-JP" altLang="en-US" sz="2000">
                <a:solidFill>
                  <a:schemeClr val="tx1"/>
                </a:solidFill>
              </a:rPr>
              <a:t>２行</a:t>
            </a:r>
            <a:r>
              <a:rPr lang="en-US" altLang="ja-JP" sz="2000">
                <a:solidFill>
                  <a:schemeClr val="tx1"/>
                </a:solidFill>
              </a:rPr>
              <a:t> ver. </a:t>
            </a:r>
            <a:r>
              <a:rPr lang="ja-JP" altLang="en-US"/>
              <a:t>）</a:t>
            </a:r>
            <a:endParaRPr lang="en-US" altLang="ja-JP"/>
          </a:p>
          <a:p>
            <a:pPr lvl="0"/>
            <a:endParaRPr lang="ja-JP" altLang="en-US"/>
          </a:p>
          <a:p>
            <a:pPr lvl="0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2108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5-1（サブタイトル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53579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45885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2FD22AD8-AC86-4F9D-A42F-E989AA12BE8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6688" y="984886"/>
            <a:ext cx="11184283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</p:txBody>
      </p:sp>
      <p:sp>
        <p:nvSpPr>
          <p:cNvPr id="10" name="図プレースホルダー 11">
            <a:extLst>
              <a:ext uri="{FF2B5EF4-FFF2-40B4-BE49-F238E27FC236}">
                <a16:creationId xmlns:a16="http://schemas.microsoft.com/office/drawing/2014/main" id="{2596B21C-64C7-376D-614F-CBC07BA54D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6854" y="2725794"/>
            <a:ext cx="11184283" cy="3569383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図</a:t>
            </a:r>
            <a:endParaRPr kumimoji="1" lang="en-US" altLang="ja-JP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B75B7B-252A-6DA7-F2B2-D045DA667E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スライドタイトル・メッセージ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</a:t>
            </a:r>
            <a:r>
              <a:rPr lang="ja-JP" altLang="en-US"/>
              <a:t>４</a:t>
            </a:r>
            <a:r>
              <a:rPr lang="en-US" altLang="ja-JP"/>
              <a:t>pt</a:t>
            </a:r>
            <a:r>
              <a:rPr lang="ja-JP" altLang="en-US"/>
              <a:t>）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505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5-2（サブタイト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53579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45885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2FD22AD8-AC86-4F9D-A42F-E989AA12BE8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6856" y="1889453"/>
            <a:ext cx="11184283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  <a:p>
            <a:pPr lvl="0"/>
            <a:r>
              <a:rPr kumimoji="1" lang="ja-JP" altLang="en-US"/>
              <a:t>箇条書き</a:t>
            </a:r>
            <a:r>
              <a:rPr kumimoji="1" lang="en-US" altLang="ja-JP"/>
              <a:t>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２</a:t>
            </a:r>
            <a:r>
              <a:rPr kumimoji="1" lang="en-US" altLang="ja-JP"/>
              <a:t>pt</a:t>
            </a:r>
            <a:r>
              <a:rPr kumimoji="1" lang="ja-JP" altLang="en-US"/>
              <a:t>） </a:t>
            </a:r>
            <a:endParaRPr kumimoji="1" lang="en-US" altLang="ja-JP"/>
          </a:p>
        </p:txBody>
      </p:sp>
      <p:sp>
        <p:nvSpPr>
          <p:cNvPr id="10" name="図プレースホルダー 11">
            <a:extLst>
              <a:ext uri="{FF2B5EF4-FFF2-40B4-BE49-F238E27FC236}">
                <a16:creationId xmlns:a16="http://schemas.microsoft.com/office/drawing/2014/main" id="{2596B21C-64C7-376D-614F-CBC07BA54D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6854" y="3639493"/>
            <a:ext cx="11184283" cy="2655684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/>
              <a:t>図</a:t>
            </a:r>
            <a:endParaRPr kumimoji="1" lang="en-US" altLang="ja-JP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B75B7B-252A-6DA7-F2B2-D045DA667E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スライドタイトル・メッセージ</a:t>
            </a:r>
            <a:r>
              <a:rPr lang="en-US" altLang="ja-JP"/>
              <a:t> </a:t>
            </a:r>
            <a:r>
              <a:rPr lang="ja-JP" altLang="en-US"/>
              <a:t>（</a:t>
            </a:r>
            <a:r>
              <a:rPr lang="en-US" altLang="ja-JP"/>
              <a:t>2</a:t>
            </a:r>
            <a:r>
              <a:rPr lang="ja-JP" altLang="en-US"/>
              <a:t>４</a:t>
            </a:r>
            <a:r>
              <a:rPr lang="en-US" altLang="ja-JP"/>
              <a:t>pt</a:t>
            </a:r>
            <a:r>
              <a:rPr lang="ja-JP" altLang="en-US"/>
              <a:t>）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F8D7E9-1DA8-3EB3-FDA9-5AED70BACB7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3123" y="978865"/>
            <a:ext cx="11184282" cy="834426"/>
          </a:xfrm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サブタイトル・メッセージ（</a:t>
            </a:r>
            <a:r>
              <a:rPr lang="en-US" altLang="ja-JP"/>
              <a:t>20</a:t>
            </a:r>
            <a:r>
              <a:rPr lang="ja-JP" altLang="en-US"/>
              <a:t>ｐｔ</a:t>
            </a:r>
            <a:r>
              <a:rPr lang="en-US" altLang="ja-JP" sz="2000">
                <a:solidFill>
                  <a:schemeClr val="tx1"/>
                </a:solidFill>
              </a:rPr>
              <a:t>/</a:t>
            </a:r>
            <a:r>
              <a:rPr lang="ja-JP" altLang="en-US" sz="2000">
                <a:solidFill>
                  <a:schemeClr val="tx1"/>
                </a:solidFill>
              </a:rPr>
              <a:t>２行</a:t>
            </a:r>
            <a:r>
              <a:rPr lang="en-US" altLang="ja-JP" sz="2000">
                <a:solidFill>
                  <a:schemeClr val="tx1"/>
                </a:solidFill>
              </a:rPr>
              <a:t> ver. </a:t>
            </a:r>
            <a:r>
              <a:rPr lang="ja-JP" altLang="en-US"/>
              <a:t>）</a:t>
            </a:r>
            <a:endParaRPr lang="en-US" altLang="ja-JP"/>
          </a:p>
          <a:p>
            <a:pPr lvl="0"/>
            <a:endParaRPr lang="ja-JP" altLang="en-US"/>
          </a:p>
          <a:p>
            <a:pPr lvl="0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67120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図形, 矢印&#10;&#10;自動的に生成された説明">
            <a:extLst>
              <a:ext uri="{FF2B5EF4-FFF2-40B4-BE49-F238E27FC236}">
                <a16:creationId xmlns:a16="http://schemas.microsoft.com/office/drawing/2014/main" id="{BE3F4B1C-C713-3B31-AE49-09C81E253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4812" y="0"/>
            <a:ext cx="4695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971784"/>
            <a:ext cx="9086849" cy="568355"/>
          </a:xfrm>
        </p:spPr>
        <p:txBody>
          <a:bodyPr anchor="b">
            <a:normAutofit/>
          </a:bodyPr>
          <a:lstStyle>
            <a:lvl1pPr algn="l">
              <a:defRPr sz="3200" b="1" i="0" baseline="0">
                <a:solidFill>
                  <a:schemeClr val="accent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defRPr>
            </a:lvl1pPr>
          </a:lstStyle>
          <a:p>
            <a:r>
              <a:rPr lang="en-US" altLang="ja-JP"/>
              <a:t>End of Document</a:t>
            </a:r>
            <a:endParaRPr 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3BD0F11-B8C4-F108-E2C4-170D065473BD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9893536C-8250-88FE-8899-819CAF1170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3858" y="5153772"/>
            <a:ext cx="11184283" cy="784912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None/>
              <a:defRPr sz="1000" b="0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/>
              <a:t>双日テックイノベーション、双日テックイノベーションのロゴは、双日テックイノベーション株式会社の登録商標です。 </a:t>
            </a:r>
            <a:endParaRPr kumimoji="1" lang="en-US" altLang="ja-JP"/>
          </a:p>
          <a:p>
            <a:pPr lvl="0"/>
            <a:r>
              <a:rPr kumimoji="1" lang="ja-JP" altLang="en-US"/>
              <a:t>その他記載されている全ての商標、サービスマーク、登録商標、登録サービスマークは、各所有者に所有権があります。 </a:t>
            </a:r>
            <a:endParaRPr kumimoji="1" lang="en-US" altLang="ja-JP"/>
          </a:p>
          <a:p>
            <a:pPr lvl="0"/>
            <a:r>
              <a:rPr kumimoji="1" lang="ja-JP" altLang="en-US"/>
              <a:t>本書記載の仕様はすべて予告なく変更される場合があります。本書の記載内容に誤りがあった場合、 あるいは記載内容を更新する義務が生じた場合も、</a:t>
            </a:r>
            <a:endParaRPr kumimoji="1" lang="en-US" altLang="ja-JP"/>
          </a:p>
          <a:p>
            <a:pPr lvl="0"/>
            <a:r>
              <a:rPr kumimoji="1" lang="ja-JP" altLang="en-US"/>
              <a:t>双日テックイノベーションは一切責任を負いません。 双日テックイノベーションは、本書を予告無く変更、修正、または改訂する権利を有します。</a:t>
            </a:r>
            <a:endParaRPr kumimoji="1" lang="en-US" altLang="ja-JP"/>
          </a:p>
          <a:p>
            <a:pPr lvl="0"/>
            <a:r>
              <a:rPr kumimoji="1" lang="ja-JP" altLang="en-US"/>
              <a:t>本書に記載されている内容を無断で複写、複製することを禁じます。</a:t>
            </a:r>
            <a:endParaRPr kumimoji="1" lang="en-US" altLang="ja-JP"/>
          </a:p>
          <a:p>
            <a:pPr lvl="0"/>
            <a:r>
              <a:rPr kumimoji="1" lang="ja-JP" altLang="en-US"/>
              <a:t>記載の価格は参考価格となり、ご検討の際にはお見積りのご依頼をお願いいたします。 為替変更やメーカーの価格改定により予告なく変更することがあります。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2462138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グラフィカル ユーザー インターフェイス, Web サイト&#10;&#10;自動的に生成された説明">
            <a:extLst>
              <a:ext uri="{FF2B5EF4-FFF2-40B4-BE49-F238E27FC236}">
                <a16:creationId xmlns:a16="http://schemas.microsoft.com/office/drawing/2014/main" id="{4F1C2A3E-918E-7251-4F66-7A17B6E0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581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　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D9EE6-AEE6-7D48-8266-9FC509548DD9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8AB7B2-5B09-794C-A215-5E1D0C2B75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032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8" r:id="rId2"/>
    <p:sldLayoutId id="2147483696" r:id="rId3"/>
    <p:sldLayoutId id="2147483706" r:id="rId4"/>
    <p:sldLayoutId id="2147483704" r:id="rId5"/>
    <p:sldLayoutId id="2147483710" r:id="rId6"/>
    <p:sldLayoutId id="2147483700" r:id="rId7"/>
    <p:sldLayoutId id="2147483713" r:id="rId8"/>
    <p:sldLayoutId id="2147483701" r:id="rId9"/>
    <p:sldLayoutId id="2147483714" r:id="rId10"/>
    <p:sldLayoutId id="2147483702" r:id="rId11"/>
    <p:sldLayoutId id="2147483715" r:id="rId12"/>
    <p:sldLayoutId id="2147483709" r:id="rId13"/>
    <p:sldLayoutId id="2147483716" r:id="rId14"/>
    <p:sldLayoutId id="2147483699" r:id="rId15"/>
    <p:sldLayoutId id="2147483707" r:id="rId16"/>
    <p:sldLayoutId id="214748371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7333" userDrawn="1">
          <p15:clr>
            <a:srgbClr val="F26B43"/>
          </p15:clr>
        </p15:guide>
        <p15:guide id="5" orient="horz" pos="142" userDrawn="1">
          <p15:clr>
            <a:srgbClr val="F26B43"/>
          </p15:clr>
        </p15:guide>
        <p15:guide id="6" orient="horz" pos="417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020FC2-C44C-B63A-BD7C-529E7A693D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PrimeConnect</a:t>
            </a:r>
            <a:r>
              <a:rPr dirty="0"/>
              <a:t> ONE </a:t>
            </a:r>
            <a:r>
              <a:rPr dirty="0" err="1"/>
              <a:t>監視業務フロ</a:t>
            </a:r>
            <a:r>
              <a:rPr dirty="0"/>
              <a:t>ー ／ </a:t>
            </a:r>
            <a:r>
              <a:rPr dirty="0" err="1"/>
              <a:t>ご回答の反映と追加確認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58BCF63-43F1-7C5E-5C06-078E758E55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altLang="ja-JP" dirty="0"/>
              <a:t>NTT PC</a:t>
            </a:r>
            <a:r>
              <a:rPr lang="ja-JP" altLang="en-US" dirty="0"/>
              <a:t>御中</a:t>
            </a:r>
            <a:endParaRPr 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F0D390-7D08-18D7-F7E0-2567A722D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err="1"/>
              <a:t>双日テックイノベーション株式会社</a:t>
            </a:r>
            <a:r>
              <a:t>　</a:t>
            </a:r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3DC3EB-F26E-6036-440B-5FE14FDA43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085B39A-6306-E381-EF50-DFBAE604F6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/>
              <a:t>ネットワークインテグレーション事業本部</a:t>
            </a:r>
          </a:p>
          <a:p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917708A-A6DF-ACEB-214F-5FF13FAB8E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kumimoji="1" lang="en-US" altLang="ja-JP"/>
              <a:t>2026</a:t>
            </a:r>
            <a:r>
              <a:rPr kumimoji="1" lang="ja-JP" altLang="en-US"/>
              <a:t>年</a:t>
            </a:r>
            <a:r>
              <a:rPr kumimoji="1" lang="en-US" altLang="ja-JP" dirty="0"/>
              <a:t>7</a:t>
            </a:r>
            <a:r>
              <a:rPr kumimoji="1" lang="ja-JP" altLang="en-US" dirty="0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1070626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BD40FA-5162-925D-EE3D-77293DD5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本資料の目的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B180D141-4628-EAFC-E512-0046B2319273}"/>
              </a:ext>
            </a:extLst>
          </p:cNvPr>
          <p:cNvSpPr txBox="1"/>
          <p:nvPr/>
        </p:nvSpPr>
        <p:spPr>
          <a:xfrm>
            <a:off x="559487" y="1213296"/>
            <a:ext cx="11193241" cy="329936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先日は、フロー整理資料へのご回答をありがとうございました。頂いた内容を本資料に反映しております</a:t>
            </a:r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。</a:t>
            </a:r>
            <a:endParaRPr lang="en-US" sz="2400" b="0" i="0" dirty="0">
              <a:solidFill>
                <a:srgbClr val="191919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endParaRPr lang="en-US" sz="2400" b="0" i="0" dirty="0">
              <a:solidFill>
                <a:srgbClr val="191919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■ </a:t>
            </a:r>
            <a:r>
              <a:rPr sz="1600" b="1" dirty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本資料の目的</a:t>
            </a:r>
            <a:endParaRPr sz="1600" b="1" dirty="0">
              <a:solidFill>
                <a:srgbClr val="00209B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　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業務フローに対する当社の理解に誤りがないかをご確認いただくとともに</a:t>
            </a:r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、</a:t>
            </a:r>
          </a:p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　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自動化できる範囲と手法を</a:t>
            </a:r>
            <a:r>
              <a:rPr lang="ja-JP" altLang="en-US"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検討する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ために必要な情報をお伺いすることを目的としています</a:t>
            </a:r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。</a:t>
            </a:r>
          </a:p>
          <a:p>
            <a:pPr algn="l">
              <a:lnSpc>
                <a:spcPct val="100000"/>
              </a:lnSpc>
            </a:pPr>
            <a:endParaRPr sz="1400" b="0" dirty="0">
              <a:solidFill>
                <a:srgbClr val="191919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■ </a:t>
            </a:r>
            <a:r>
              <a:rPr sz="1600" b="1" dirty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本資料の構成</a:t>
            </a:r>
            <a:endParaRPr sz="1600" b="1" dirty="0">
              <a:solidFill>
                <a:srgbClr val="00209B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　・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構成図イメージ</a:t>
            </a:r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 … 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障害確認に登場する機器・ツールとその関係（当社の理解</a:t>
            </a:r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  <a:p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　・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業務フロ</a:t>
            </a:r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ー … 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検知から顧客報告までの各工程と確認事項</a:t>
            </a:r>
            <a:r>
              <a:rPr lang="ja-JP" altLang="en-US" sz="140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（当社の理解）</a:t>
            </a:r>
            <a:endParaRPr sz="1400" b="0" dirty="0">
              <a:solidFill>
                <a:srgbClr val="191919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　・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自動化イメージ（当社案</a:t>
            </a:r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） … 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現時点で当社が</a:t>
            </a:r>
            <a:r>
              <a:rPr lang="ja-JP" altLang="en-US"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想定する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自動化</a:t>
            </a:r>
            <a:r>
              <a:rPr lang="ja-JP" altLang="en-US"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手法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の候補</a:t>
            </a:r>
            <a:endParaRPr sz="1400" b="0" dirty="0">
              <a:solidFill>
                <a:srgbClr val="191919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endParaRPr sz="1400" b="0" dirty="0">
              <a:solidFill>
                <a:srgbClr val="191919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■ </a:t>
            </a:r>
            <a:r>
              <a:rPr sz="1600" b="1" dirty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お願い事項</a:t>
            </a:r>
            <a:endParaRPr sz="1600" b="1" dirty="0">
              <a:solidFill>
                <a:srgbClr val="00209B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　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各ページの</a:t>
            </a:r>
            <a:r>
              <a:rPr sz="1400" b="1" dirty="0" err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赤い吹き出し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に「確認事項」を記載しております。特に各工程で参照されている</a:t>
            </a:r>
            <a:endParaRPr sz="1400" b="0" dirty="0">
              <a:solidFill>
                <a:srgbClr val="191919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　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システム・機器の製品名と</a:t>
            </a:r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、</a:t>
            </a:r>
            <a:r>
              <a:rPr lang="ja-JP" altLang="en-US"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運用でコマンドのスクリプト化や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API等で自動化</a:t>
            </a:r>
            <a:r>
              <a:rPr lang="ja-JP" altLang="en-US"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可能か、</a:t>
            </a:r>
            <a:r>
              <a:rPr sz="14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拡張性の有無をお伺いできますと幸いです</a:t>
            </a:r>
            <a:r>
              <a:rPr sz="14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848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85FC09-44C1-A166-B9B2-AFCD20A9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全体構成イメージ（ネットワーク構成図）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05256"/>
            <a:ext cx="11201400" cy="292608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BIZ UDPゴシック"/>
                <a:ea typeface="BIZ UDPゴシック"/>
              </a:rPr>
              <a:t>※ 拠点間VPNサービスとしての全体構成に関する当社理解のイメージ図です。認識に相違がございましたらご指摘ください。（?＝製品名・型番をお伺いしたい機器、①〜⑫＝監視業務フローの工程番号）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16152"/>
            <a:ext cx="11201400" cy="10058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52728"/>
            <a:ext cx="4572000" cy="237744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F3864"/>
                </a:solidFill>
                <a:latin typeface="BIZ UDPゴシック"/>
                <a:ea typeface="BIZ UDPゴシック"/>
              </a:rPr>
              <a:t>＜運用・監視系（NTTPC様）＞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103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1F3864"/>
                </a:solidFill>
                <a:latin typeface="BIZ UDPゴシック"/>
                <a:ea typeface="BIZ UDPゴシック"/>
              </a:rPr>
              <a:t>① ダッシュボード関連システム ?</a:t>
            </a:r>
          </a:p>
          <a:p>
            <a:pPr algn="ctr"/>
            <a:r>
              <a:rPr sz="700" b="0">
                <a:solidFill>
                  <a:srgbClr val="595959"/>
                </a:solidFill>
                <a:latin typeface="BIZ UDPゴシック"/>
                <a:ea typeface="BIZ UDPゴシック"/>
              </a:rPr>
              <a:t>トンネル断を検知・状態表示し、お客さまへメール通知（⑫報告も定型文メール）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508760"/>
            <a:ext cx="2103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1F3864"/>
                </a:solidFill>
                <a:latin typeface="BIZ UDPゴシック"/>
                <a:ea typeface="BIZ UDPゴシック"/>
              </a:rPr>
              <a:t>② 監視サーバ ?</a:t>
            </a:r>
          </a:p>
          <a:p>
            <a:pPr algn="ctr"/>
            <a:r>
              <a:rPr sz="700" b="0">
                <a:solidFill>
                  <a:srgbClr val="595959"/>
                </a:solidFill>
                <a:latin typeface="BIZ UDPゴシック"/>
                <a:ea typeface="BIZ UDPゴシック"/>
              </a:rPr>
              <a:t>収容GWにログインしIPSec状態を確認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11496" y="1508760"/>
            <a:ext cx="2103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1F3864"/>
                </a:solidFill>
                <a:latin typeface="BIZ UDPゴシック"/>
                <a:ea typeface="BIZ UDPゴシック"/>
              </a:rPr>
              <a:t>③④ TOツール ?</a:t>
            </a:r>
          </a:p>
          <a:p>
            <a:pPr algn="ctr"/>
            <a:r>
              <a:rPr sz="700" b="0">
                <a:solidFill>
                  <a:srgbClr val="595959"/>
                </a:solidFill>
                <a:latin typeface="BIZ UDPゴシック"/>
                <a:ea typeface="BIZ UDPゴシック"/>
              </a:rPr>
              <a:t>CPEへ接続しリンク／トンネル状態を確認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24344" y="1508760"/>
            <a:ext cx="2103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1F3864"/>
                </a:solidFill>
                <a:latin typeface="BIZ UDPゴシック"/>
                <a:ea typeface="BIZ UDPゴシック"/>
              </a:rPr>
              <a:t>⑤⑥ 社内SOシステム</a:t>
            </a:r>
          </a:p>
          <a:p>
            <a:pPr algn="ctr"/>
            <a:r>
              <a:rPr sz="700" b="0">
                <a:solidFill>
                  <a:srgbClr val="595959"/>
                </a:solidFill>
                <a:latin typeface="BIZ UDPゴシック"/>
                <a:ea typeface="BIZ UDPゴシック"/>
              </a:rPr>
              <a:t>トンネル⇔収容GWの紐づけ・接続情報を参照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7192" y="1508760"/>
            <a:ext cx="2103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1F3864"/>
                </a:solidFill>
                <a:latin typeface="BIZ UDPゴシック"/>
                <a:ea typeface="BIZ UDPゴシック"/>
              </a:rPr>
              <a:t>⑦ ServiceNow</a:t>
            </a:r>
          </a:p>
          <a:p>
            <a:pPr algn="ctr"/>
            <a:r>
              <a:rPr sz="700" b="0">
                <a:solidFill>
                  <a:srgbClr val="595959"/>
                </a:solidFill>
                <a:latin typeface="BIZ UDPゴシック"/>
                <a:ea typeface="BIZ UDPゴシック"/>
              </a:rPr>
              <a:t>片系断時に設備部門へエスカレーション起票</a:t>
            </a:r>
          </a:p>
        </p:txBody>
      </p:sp>
      <p:sp>
        <p:nvSpPr>
          <p:cNvPr id="11" name="Oval 10"/>
          <p:cNvSpPr/>
          <p:nvPr/>
        </p:nvSpPr>
        <p:spPr>
          <a:xfrm>
            <a:off x="2514600" y="2331720"/>
            <a:ext cx="7178040" cy="3200400"/>
          </a:xfrm>
          <a:prstGeom prst="ellipse">
            <a:avLst/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432304"/>
            <a:ext cx="3657600" cy="5029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1200" b="1">
                <a:solidFill>
                  <a:srgbClr val="1F3864"/>
                </a:solidFill>
                <a:latin typeface="BIZ UDPゴシック"/>
                <a:ea typeface="BIZ UDPゴシック"/>
              </a:rPr>
              <a:t>フレッツ網（NGN）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BIZ UDPゴシック"/>
                <a:ea typeface="BIZ UDPゴシック"/>
              </a:rPr>
              <a:t>アクセス回線・中継網（NTT東西）／VPNトンネルの経由網</a:t>
            </a:r>
          </a:p>
        </p:txBody>
      </p:sp>
      <p:sp>
        <p:nvSpPr>
          <p:cNvPr id="13" name="Oval 12"/>
          <p:cNvSpPr/>
          <p:nvPr/>
        </p:nvSpPr>
        <p:spPr>
          <a:xfrm>
            <a:off x="4206240" y="3611880"/>
            <a:ext cx="3794760" cy="2194560"/>
          </a:xfrm>
          <a:prstGeom prst="ellipse">
            <a:avLst/>
          </a:prstGeom>
          <a:solidFill>
            <a:srgbClr val="F2DCEE"/>
          </a:solidFill>
          <a:ln w="19050">
            <a:solidFill>
              <a:srgbClr val="A64D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407408"/>
            <a:ext cx="2240280" cy="5029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/>
            <a:r>
              <a:rPr sz="1100" b="1">
                <a:solidFill>
                  <a:srgbClr val="A64D9E"/>
                </a:solidFill>
                <a:latin typeface="BIZ UDPゴシック"/>
                <a:ea typeface="BIZ UDPゴシック"/>
              </a:rPr>
              <a:t>PrimeConnect ONE網</a:t>
            </a:r>
          </a:p>
          <a:p>
            <a:pPr algn="ctr"/>
            <a:r>
              <a:rPr sz="800" b="0">
                <a:solidFill>
                  <a:srgbClr val="595959"/>
                </a:solidFill>
                <a:latin typeface="BIZ UDPゴシック"/>
                <a:ea typeface="BIZ UDPゴシック"/>
              </a:rPr>
              <a:t>（NTTPC様 設備）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703320"/>
            <a:ext cx="1371600" cy="566928"/>
          </a:xfrm>
          <a:prstGeom prst="rect">
            <a:avLst/>
          </a:prstGeom>
          <a:solidFill>
            <a:srgbClr val="F8E3F4"/>
          </a:solidFill>
          <a:ln w="15875">
            <a:solidFill>
              <a:srgbClr val="A64D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1F3864"/>
                </a:solidFill>
                <a:latin typeface="BIZ UDPゴシック"/>
                <a:ea typeface="BIZ UDPゴシック"/>
              </a:rPr>
              <a:t>収容GW（現用）?</a:t>
            </a:r>
          </a:p>
          <a:p>
            <a:pPr algn="ctr"/>
            <a:r>
              <a:rPr sz="700" b="0">
                <a:solidFill>
                  <a:srgbClr val="595959"/>
                </a:solidFill>
                <a:latin typeface="BIZ UDPゴシック"/>
                <a:ea typeface="BIZ UDPゴシック"/>
              </a:rPr>
              <a:t>IPSec／トンネルを収容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3703320"/>
            <a:ext cx="1371600" cy="566928"/>
          </a:xfrm>
          <a:prstGeom prst="rect">
            <a:avLst/>
          </a:prstGeom>
          <a:solidFill>
            <a:srgbClr val="F8E3F4"/>
          </a:solidFill>
          <a:ln w="15875">
            <a:solidFill>
              <a:srgbClr val="A64D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1F3864"/>
                </a:solidFill>
                <a:latin typeface="BIZ UDPゴシック"/>
                <a:ea typeface="BIZ UDPゴシック"/>
              </a:rPr>
              <a:t>収容GW（現用）?</a:t>
            </a:r>
          </a:p>
          <a:p>
            <a:pPr algn="ctr"/>
            <a:r>
              <a:rPr sz="700" b="0">
                <a:solidFill>
                  <a:srgbClr val="595959"/>
                </a:solidFill>
                <a:latin typeface="BIZ UDPゴシック"/>
                <a:ea typeface="BIZ UDPゴシック"/>
              </a:rPr>
              <a:t>IPSec／トンネルを収容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5120640"/>
            <a:ext cx="1371600" cy="566928"/>
          </a:xfrm>
          <a:prstGeom prst="rect">
            <a:avLst/>
          </a:prstGeom>
          <a:solidFill>
            <a:srgbClr val="F8E3F4"/>
          </a:solidFill>
          <a:ln w="15875">
            <a:solidFill>
              <a:srgbClr val="A64D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1F3864"/>
                </a:solidFill>
                <a:latin typeface="BIZ UDPゴシック"/>
                <a:ea typeface="BIZ UDPゴシック"/>
              </a:rPr>
              <a:t>収容GW（バックアップ）</a:t>
            </a:r>
          </a:p>
          <a:p>
            <a:pPr algn="ctr"/>
            <a:r>
              <a:rPr sz="700" b="0">
                <a:solidFill>
                  <a:srgbClr val="595959"/>
                </a:solidFill>
                <a:latin typeface="BIZ UDPゴシック"/>
                <a:ea typeface="BIZ UDPゴシック"/>
              </a:rPr>
              <a:t>⑥片系断／両系断の判定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5120640"/>
            <a:ext cx="1371600" cy="566928"/>
          </a:xfrm>
          <a:prstGeom prst="rect">
            <a:avLst/>
          </a:prstGeom>
          <a:solidFill>
            <a:srgbClr val="F8E3F4"/>
          </a:solidFill>
          <a:ln w="15875">
            <a:solidFill>
              <a:srgbClr val="A64D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>
                <a:solidFill>
                  <a:srgbClr val="1F3864"/>
                </a:solidFill>
                <a:latin typeface="BIZ UDPゴシック"/>
                <a:ea typeface="BIZ UDPゴシック"/>
              </a:rPr>
              <a:t>収容GW（バックアップ）</a:t>
            </a:r>
          </a:p>
          <a:p>
            <a:pPr algn="ctr"/>
            <a:r>
              <a:rPr sz="700" b="0">
                <a:solidFill>
                  <a:srgbClr val="595959"/>
                </a:solidFill>
                <a:latin typeface="BIZ UDPゴシック"/>
                <a:ea typeface="BIZ UDPゴシック"/>
              </a:rPr>
              <a:t>⑥片系断／両系断の判定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46120"/>
            <a:ext cx="1920240" cy="1737360"/>
          </a:xfrm>
          <a:prstGeom prst="rect">
            <a:avLst/>
          </a:prstGeom>
          <a:solidFill>
            <a:srgbClr val="F2F7FC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291840"/>
            <a:ext cx="1371600" cy="256032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/>
            <a:r>
              <a:rPr sz="1050" b="1">
                <a:solidFill>
                  <a:srgbClr val="1F3864"/>
                </a:solidFill>
                <a:latin typeface="BIZ UDPゴシック"/>
                <a:ea typeface="BIZ UDPゴシック"/>
              </a:rPr>
              <a:t>顧客拠点A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03320"/>
            <a:ext cx="7772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1F3864"/>
                </a:solidFill>
                <a:latin typeface="BIZ UDPゴシック"/>
                <a:ea typeface="BIZ UDPゴシック"/>
              </a:rPr>
              <a:t>CPE ?</a:t>
            </a:r>
          </a:p>
          <a:p>
            <a:pPr algn="ctr"/>
            <a:r>
              <a:rPr sz="650" b="0">
                <a:solidFill>
                  <a:srgbClr val="595959"/>
                </a:solidFill>
                <a:latin typeface="BIZ UDPゴシック"/>
                <a:ea typeface="BIZ UDPゴシック"/>
              </a:rPr>
              <a:t>顧客側ルータ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3703320"/>
            <a:ext cx="7772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1F3864"/>
                </a:solidFill>
                <a:latin typeface="BIZ UDPゴシック"/>
                <a:ea typeface="BIZ UDPゴシック"/>
              </a:rPr>
              <a:t>ONU</a:t>
            </a:r>
          </a:p>
          <a:p>
            <a:pPr algn="ctr"/>
            <a:r>
              <a:rPr sz="650" b="0">
                <a:solidFill>
                  <a:srgbClr val="595959"/>
                </a:solidFill>
                <a:latin typeface="BIZ UDPゴシック"/>
                <a:ea typeface="BIZ UDPゴシック"/>
              </a:rPr>
              <a:t>回線終端装置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370832"/>
            <a:ext cx="1783080" cy="54864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BIZ UDPゴシック"/>
                <a:ea typeface="BIZ UDPゴシック"/>
              </a:rPr>
              <a:t>アクセス回線：フレッツ光／光コラボ</a:t>
            </a:r>
          </a:p>
          <a:p>
            <a:pPr algn="l"/>
            <a:r>
              <a:rPr sz="700" b="0">
                <a:solidFill>
                  <a:srgbClr val="595959"/>
                </a:solidFill>
                <a:latin typeface="BIZ UDPゴシック"/>
                <a:ea typeface="BIZ UDPゴシック"/>
              </a:rPr>
              <a:t>（⑩契約区分により⑪の要否が変わる）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48672" y="3246120"/>
            <a:ext cx="1920240" cy="1737360"/>
          </a:xfrm>
          <a:prstGeom prst="rect">
            <a:avLst/>
          </a:prstGeom>
          <a:solidFill>
            <a:srgbClr val="F2F7FC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51592" y="3291840"/>
            <a:ext cx="1371600" cy="256032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r"/>
            <a:r>
              <a:rPr sz="1050" b="1">
                <a:solidFill>
                  <a:srgbClr val="1F3864"/>
                </a:solidFill>
                <a:latin typeface="BIZ UDPゴシック"/>
                <a:ea typeface="BIZ UDPゴシック"/>
              </a:rPr>
              <a:t>顧客拠点B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3703320"/>
            <a:ext cx="7772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1F3864"/>
                </a:solidFill>
                <a:latin typeface="BIZ UDPゴシック"/>
                <a:ea typeface="BIZ UDPゴシック"/>
              </a:rPr>
              <a:t>ONU</a:t>
            </a:r>
          </a:p>
          <a:p>
            <a:pPr algn="ctr"/>
            <a:r>
              <a:rPr sz="650" b="0">
                <a:solidFill>
                  <a:srgbClr val="595959"/>
                </a:solidFill>
                <a:latin typeface="BIZ UDPゴシック"/>
                <a:ea typeface="BIZ UDPゴシック"/>
              </a:rPr>
              <a:t>回線終端装置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0" y="3703320"/>
            <a:ext cx="7772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1F3864"/>
                </a:solidFill>
                <a:latin typeface="BIZ UDPゴシック"/>
                <a:ea typeface="BIZ UDPゴシック"/>
              </a:rPr>
              <a:t>CPE ?</a:t>
            </a:r>
          </a:p>
          <a:p>
            <a:pPr algn="ctr"/>
            <a:r>
              <a:rPr sz="650" b="0">
                <a:solidFill>
                  <a:srgbClr val="595959"/>
                </a:solidFill>
                <a:latin typeface="BIZ UDPゴシック"/>
                <a:ea typeface="BIZ UDPゴシック"/>
              </a:rPr>
              <a:t>顧客側ルータ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4370832"/>
            <a:ext cx="1783080" cy="54864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BIZ UDPゴシック"/>
                <a:ea typeface="BIZ UDPゴシック"/>
              </a:rPr>
              <a:t>アクセス回線：フレッツ光／光コラボ</a:t>
            </a:r>
          </a:p>
          <a:p>
            <a:pPr algn="l"/>
            <a:r>
              <a:rPr sz="700" b="0">
                <a:solidFill>
                  <a:srgbClr val="595959"/>
                </a:solidFill>
                <a:latin typeface="BIZ UDPゴシック"/>
                <a:ea typeface="BIZ UDPゴシック"/>
              </a:rPr>
              <a:t>（⑩契約区分により⑪の要否が変わる）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34440" y="3977639"/>
            <a:ext cx="137160" cy="0"/>
          </a:xfrm>
          <a:prstGeom prst="line">
            <a:avLst/>
          </a:prstGeom>
          <a:ln w="15875">
            <a:solidFill>
              <a:srgbClr val="1F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835640" y="3977639"/>
            <a:ext cx="137160" cy="0"/>
          </a:xfrm>
          <a:prstGeom prst="line">
            <a:avLst/>
          </a:prstGeom>
          <a:ln w="15875">
            <a:solidFill>
              <a:srgbClr val="1F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240280" y="3840480"/>
            <a:ext cx="2103120" cy="91440"/>
          </a:xfrm>
          <a:prstGeom prst="line">
            <a:avLst/>
          </a:prstGeom>
          <a:ln w="28575">
            <a:solidFill>
              <a:srgbClr val="1F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092440" y="3840480"/>
            <a:ext cx="1856232" cy="91440"/>
          </a:xfrm>
          <a:prstGeom prst="line">
            <a:avLst/>
          </a:prstGeom>
          <a:ln w="28575">
            <a:solidFill>
              <a:srgbClr val="1F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715000" y="3986784"/>
            <a:ext cx="1005840" cy="0"/>
          </a:xfrm>
          <a:prstGeom prst="line">
            <a:avLst/>
          </a:prstGeom>
          <a:ln w="28575">
            <a:solidFill>
              <a:srgbClr val="1F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40280" y="4160520"/>
            <a:ext cx="2103120" cy="1188720"/>
          </a:xfrm>
          <a:prstGeom prst="line">
            <a:avLst/>
          </a:prstGeom>
          <a:ln w="19050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092440" y="4160520"/>
            <a:ext cx="1856232" cy="1188720"/>
          </a:xfrm>
          <a:prstGeom prst="line">
            <a:avLst/>
          </a:prstGeom>
          <a:ln w="19050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715000" y="5394960"/>
            <a:ext cx="1005840" cy="0"/>
          </a:xfrm>
          <a:prstGeom prst="line">
            <a:avLst/>
          </a:prstGeom>
          <a:ln w="19050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788920" y="3255264"/>
            <a:ext cx="2468880" cy="384048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/>
            <a:r>
              <a:rPr sz="850" b="1">
                <a:solidFill>
                  <a:srgbClr val="1F3864"/>
                </a:solidFill>
                <a:latin typeface="BIZ UDPゴシック"/>
                <a:ea typeface="BIZ UDPゴシック"/>
              </a:rPr>
              <a:t>現用トンネル（IPSec＋IPoE）</a:t>
            </a:r>
          </a:p>
          <a:p>
            <a:pPr algn="l"/>
            <a:r>
              <a:rPr sz="800" b="0">
                <a:solidFill>
                  <a:srgbClr val="1F3864"/>
                </a:solidFill>
                <a:latin typeface="BIZ UDPゴシック"/>
                <a:ea typeface="BIZ UDPゴシック"/>
              </a:rPr>
              <a:t>＝お客さま通信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5577840"/>
            <a:ext cx="1645920" cy="21945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/>
            <a:r>
              <a:rPr sz="750" b="1">
                <a:solidFill>
                  <a:srgbClr val="7F7F7F"/>
                </a:solidFill>
                <a:latin typeface="BIZ UDPゴシック"/>
                <a:ea typeface="BIZ UDPゴシック"/>
              </a:rPr>
              <a:t>バックアップトンネル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737360" y="2212848"/>
            <a:ext cx="1005840" cy="1591056"/>
          </a:xfrm>
          <a:prstGeom prst="line">
            <a:avLst/>
          </a:prstGeom>
          <a:ln w="15875">
            <a:solidFill>
              <a:srgbClr val="E75480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50208" y="2212848"/>
            <a:ext cx="1033272" cy="1490472"/>
          </a:xfrm>
          <a:prstGeom prst="line">
            <a:avLst/>
          </a:prstGeom>
          <a:ln w="15875">
            <a:solidFill>
              <a:srgbClr val="E75480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163056" y="2212848"/>
            <a:ext cx="5175504" cy="1472184"/>
          </a:xfrm>
          <a:prstGeom prst="line">
            <a:avLst/>
          </a:prstGeom>
          <a:ln w="15875">
            <a:solidFill>
              <a:srgbClr val="E75480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49640" y="2761488"/>
            <a:ext cx="1463040" cy="237744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/>
            <a:r>
              <a:rPr sz="800" b="1">
                <a:solidFill>
                  <a:srgbClr val="E75480"/>
                </a:solidFill>
                <a:latin typeface="BIZ UDPゴシック"/>
                <a:ea typeface="BIZ UDPゴシック"/>
              </a:rPr>
              <a:t>IPv6 PPPoE経由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257800"/>
            <a:ext cx="192024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595959"/>
                </a:solidFill>
                <a:latin typeface="BIZ UDPゴシック"/>
                <a:ea typeface="BIZ UDPゴシック"/>
              </a:rPr>
              <a:t>⑧⑨ NTT東西 法人保守窓口</a:t>
            </a:r>
          </a:p>
          <a:p>
            <a:pPr algn="ctr"/>
            <a:r>
              <a:rPr sz="700" b="0">
                <a:solidFill>
                  <a:srgbClr val="595959"/>
                </a:solidFill>
                <a:latin typeface="BIZ UDPゴシック"/>
                <a:ea typeface="BIZ UDPゴシック"/>
              </a:rPr>
              <a:t>フレッツ障害／広域エリア故障、⑪ONU疎通を電話で確認（ヒト手）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2240280" y="5029200"/>
            <a:ext cx="1097280" cy="457200"/>
          </a:xfrm>
          <a:prstGeom prst="line">
            <a:avLst/>
          </a:prstGeom>
          <a:ln w="15875">
            <a:solidFill>
              <a:srgbClr val="7F7F7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06040" y="6035040"/>
            <a:ext cx="457200" cy="0"/>
          </a:xfrm>
          <a:prstGeom prst="line">
            <a:avLst/>
          </a:prstGeom>
          <a:ln w="28575">
            <a:solidFill>
              <a:srgbClr val="1F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127248" y="5907024"/>
            <a:ext cx="2880360" cy="256032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BIZ UDPゴシック"/>
                <a:ea typeface="BIZ UDPゴシック"/>
              </a:rPr>
              <a:t>現用トンネル（お客さま通信：IPSec＋IPoE）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126480" y="6035040"/>
            <a:ext cx="457200" cy="0"/>
          </a:xfrm>
          <a:prstGeom prst="line">
            <a:avLst/>
          </a:prstGeom>
          <a:ln w="19050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647688" y="5907024"/>
            <a:ext cx="1463040" cy="256032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BIZ UDPゴシック"/>
                <a:ea typeface="BIZ UDPゴシック"/>
              </a:rPr>
              <a:t>バックアップトンネル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229600" y="6035040"/>
            <a:ext cx="457200" cy="0"/>
          </a:xfrm>
          <a:prstGeom prst="line">
            <a:avLst/>
          </a:prstGeom>
          <a:ln w="15875">
            <a:solidFill>
              <a:srgbClr val="E7548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750808" y="5907024"/>
            <a:ext cx="3017520" cy="256032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BIZ UDPゴシック"/>
                <a:ea typeface="BIZ UDPゴシック"/>
              </a:rPr>
              <a:t>運用・監視アクセス（CPEへはIPv6 PPPoE経由）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606040" y="6355080"/>
            <a:ext cx="457200" cy="0"/>
          </a:xfrm>
          <a:prstGeom prst="line">
            <a:avLst/>
          </a:prstGeom>
          <a:ln w="15875">
            <a:solidFill>
              <a:srgbClr val="7F7F7F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27248" y="6227064"/>
            <a:ext cx="2926080" cy="256032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BIZ UDPゴシック"/>
                <a:ea typeface="BIZ UDPゴシック"/>
              </a:rPr>
              <a:t>電話によるヒト手確認</a:t>
            </a:r>
          </a:p>
        </p:txBody>
      </p:sp>
    </p:spTree>
    <p:extLst>
      <p:ext uri="{BB962C8B-B14F-4D97-AF65-F5344CB8AC3E}">
        <p14:creationId xmlns:p14="http://schemas.microsoft.com/office/powerpoint/2010/main" val="325647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644653" y="2948729"/>
            <a:ext cx="173736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dirty="0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IPv6 </a:t>
            </a:r>
            <a:r>
              <a:rPr sz="900" b="1" dirty="0" err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PPPoE経由</a:t>
            </a:r>
            <a:endParaRPr sz="900" b="1" dirty="0">
              <a:solidFill>
                <a:srgbClr val="E86487"/>
              </a:solidFill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485FC09-44C1-A166-B9B2-AFCD20A9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構成図イメージ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9284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※ </a:t>
            </a:r>
            <a:r>
              <a:rPr sz="11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PrimeConnect</a:t>
            </a:r>
            <a:r>
              <a:rPr sz="11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 ONE </a:t>
            </a:r>
            <a:r>
              <a:rPr sz="11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のVPN障害確認に必要な範囲での当社理解です。各確認ポイントで使用するツールと工程番号を併記しています</a:t>
            </a:r>
            <a:r>
              <a:rPr sz="1100" b="0" dirty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06424"/>
            <a:ext cx="4114800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＜運用・監視系（NTTPC様）＞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9050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③④ TOツール</a:t>
            </a:r>
            <a:r>
              <a:rPr sz="1100" b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　?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CPEへ接続し、リンク／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トンネル状態を確認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1298448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9050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① ダッシュボード関連システム</a:t>
            </a:r>
            <a:r>
              <a:rPr sz="1100" b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　?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トンネル断を検知・状態表示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＋お客さまへメール通知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298448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9050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② 監視サーバ</a:t>
            </a:r>
            <a:r>
              <a:rPr sz="1100" b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　?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収容GWにログインし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IPSec状態を確認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298448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19050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⑤⑥ 社内SOシステム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トンネル⇔収容GWの紐づけ・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接続情報を参照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560320"/>
            <a:ext cx="6217920" cy="0"/>
          </a:xfrm>
          <a:prstGeom prst="line">
            <a:avLst/>
          </a:prstGeom>
          <a:ln w="38100">
            <a:solidFill>
              <a:srgbClr val="0020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20240" y="2560320"/>
            <a:ext cx="0" cy="987552"/>
          </a:xfrm>
          <a:prstGeom prst="line">
            <a:avLst/>
          </a:prstGeom>
          <a:ln w="38100">
            <a:solidFill>
              <a:srgbClr val="0020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38160" y="2560320"/>
            <a:ext cx="0" cy="987552"/>
          </a:xfrm>
          <a:prstGeom prst="line">
            <a:avLst/>
          </a:prstGeom>
          <a:ln w="38100">
            <a:solidFill>
              <a:srgbClr val="0020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17520" y="2340864"/>
            <a:ext cx="4206240" cy="164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50" b="1" dirty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PrimeConnect</a:t>
            </a:r>
            <a:r>
              <a:rPr lang="en-US" sz="950" b="1" dirty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 </a:t>
            </a:r>
            <a:r>
              <a:rPr lang="en-US" sz="950" b="1" dirty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ONE</a:t>
            </a:r>
            <a:r>
              <a:rPr sz="950" b="1" dirty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トンネル（現用</a:t>
            </a:r>
            <a:r>
              <a:rPr sz="950" b="1" dirty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）／</a:t>
            </a:r>
            <a:r>
              <a:rPr sz="950" b="1" dirty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お客さま通信：IPSec＋IPoE</a:t>
            </a:r>
            <a:endParaRPr sz="950" b="1" dirty="0">
              <a:solidFill>
                <a:srgbClr val="00209B"/>
              </a:solidFill>
              <a:latin typeface="BIZ UDPゴシック"/>
              <a:ea typeface="BIZ UDPゴシック"/>
              <a:cs typeface="BIZ UDPゴシック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2907792"/>
            <a:ext cx="5669280" cy="0"/>
          </a:xfrm>
          <a:prstGeom prst="line">
            <a:avLst/>
          </a:prstGeom>
          <a:ln w="38100">
            <a:solidFill>
              <a:srgbClr val="A7ACA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34640" y="2962656"/>
            <a:ext cx="4572000" cy="164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6E7377"/>
                </a:solidFill>
                <a:latin typeface="BIZ UDPゴシック"/>
                <a:ea typeface="BIZ UDPゴシック"/>
                <a:cs typeface="BIZ UDPゴシック"/>
              </a:rPr>
              <a:t>バックアップトンネル（収容GW〈バックアップ〉に収容</a:t>
            </a:r>
            <a:r>
              <a:rPr sz="950" b="1" dirty="0">
                <a:solidFill>
                  <a:srgbClr val="6E7377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46120"/>
            <a:ext cx="3291840" cy="1417320"/>
          </a:xfrm>
          <a:prstGeom prst="roundRect">
            <a:avLst>
              <a:gd name="adj" fmla="val 10000"/>
            </a:avLst>
          </a:prstGeom>
          <a:solidFill>
            <a:srgbClr val="FAFCFE"/>
          </a:solidFill>
          <a:ln w="19050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1792" y="3547872"/>
            <a:ext cx="14173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CPE</a:t>
            </a:r>
            <a:r>
              <a:rPr sz="1100" b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　?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顧客側ルータ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76272" y="3547872"/>
            <a:ext cx="146304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ONU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回線終端装置
（⑪疎通確認の対象）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07408"/>
            <a:ext cx="1828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顧客拠点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39112" y="3941063"/>
            <a:ext cx="137160" cy="0"/>
          </a:xfrm>
          <a:prstGeom prst="line">
            <a:avLst/>
          </a:prstGeom>
          <a:ln w="25400">
            <a:solidFill>
              <a:srgbClr val="0020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977639" y="3246120"/>
            <a:ext cx="3703320" cy="14173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9050">
            <a:solidFill>
              <a:srgbClr val="A7AC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096512" y="3547872"/>
            <a:ext cx="1691640" cy="786384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9050">
            <a:solidFill>
              <a:srgbClr val="A7AC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フレッツ光／光コラボ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⑩ 契約区分により
⑪の実施有無が変わる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80" y="3547872"/>
            <a:ext cx="1691640" cy="786384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9050">
            <a:solidFill>
              <a:srgbClr val="A7AC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NGN網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VPNトンネルの経由網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87368" y="4407408"/>
            <a:ext cx="34747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E7377"/>
                </a:solidFill>
                <a:latin typeface="BIZ UDPゴシック"/>
                <a:ea typeface="BIZ UDPゴシック"/>
                <a:cs typeface="BIZ UDPゴシック"/>
              </a:rPr>
              <a:t>アクセス回線・中継網（NTT東西）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39312" y="3941063"/>
            <a:ext cx="457200" cy="0"/>
          </a:xfrm>
          <a:prstGeom prst="line">
            <a:avLst/>
          </a:prstGeom>
          <a:ln w="25400">
            <a:solidFill>
              <a:srgbClr val="0020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88152" y="3941063"/>
            <a:ext cx="109728" cy="0"/>
          </a:xfrm>
          <a:prstGeom prst="line">
            <a:avLst/>
          </a:prstGeom>
          <a:ln w="25400">
            <a:solidFill>
              <a:srgbClr val="0020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909560" y="3246120"/>
            <a:ext cx="3840480" cy="1417320"/>
          </a:xfrm>
          <a:prstGeom prst="roundRect">
            <a:avLst>
              <a:gd name="adj" fmla="val 10000"/>
            </a:avLst>
          </a:prstGeom>
          <a:solidFill>
            <a:srgbClr val="FAFCFE"/>
          </a:solidFill>
          <a:ln w="19050">
            <a:solidFill>
              <a:srgbClr val="2A6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0" y="3547872"/>
            <a:ext cx="17373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A6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収容GW（現用）</a:t>
            </a:r>
            <a:r>
              <a:rPr sz="1100" b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　?</a:t>
            </a: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IPSec／トンネルを収容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3547872"/>
            <a:ext cx="173736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A6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50" b="1" dirty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収容GW（バックアップ</a:t>
            </a:r>
            <a:r>
              <a:rPr sz="1050" b="1" dirty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  <a:p>
            <a:pPr algn="ctr">
              <a:lnSpc>
                <a:spcPct val="100000"/>
              </a:lnSpc>
            </a:pPr>
            <a:r>
              <a:rPr sz="900" b="0" dirty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片系断／両系断の判定</a:t>
            </a:r>
            <a:endParaRPr sz="900" b="0" dirty="0">
              <a:solidFill>
                <a:srgbClr val="191919"/>
              </a:solidFill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19288" y="4407408"/>
            <a:ext cx="237744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NTTPC様 設備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89520" y="3941063"/>
            <a:ext cx="457200" cy="0"/>
          </a:xfrm>
          <a:prstGeom prst="line">
            <a:avLst/>
          </a:prstGeom>
          <a:ln w="25400">
            <a:solidFill>
              <a:srgbClr val="0020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737360" y="2029968"/>
            <a:ext cx="0" cy="1517904"/>
          </a:xfrm>
          <a:prstGeom prst="line">
            <a:avLst/>
          </a:prstGeom>
          <a:ln w="15875">
            <a:solidFill>
              <a:srgbClr val="E8648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855464" y="2029968"/>
            <a:ext cx="0" cy="475488"/>
          </a:xfrm>
          <a:prstGeom prst="line">
            <a:avLst/>
          </a:prstGeom>
          <a:ln w="15875">
            <a:solidFill>
              <a:srgbClr val="E8648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cxnSpLocks/>
            <a:endCxn id="27" idx="0"/>
          </p:cNvCxnSpPr>
          <p:nvPr/>
        </p:nvCxnSpPr>
        <p:spPr>
          <a:xfrm>
            <a:off x="7863840" y="2029968"/>
            <a:ext cx="1051560" cy="1517904"/>
          </a:xfrm>
          <a:prstGeom prst="line">
            <a:avLst/>
          </a:prstGeom>
          <a:ln w="15875">
            <a:solidFill>
              <a:srgbClr val="E8648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424160" y="2029968"/>
            <a:ext cx="365760" cy="1517904"/>
          </a:xfrm>
          <a:prstGeom prst="line">
            <a:avLst/>
          </a:prstGeom>
          <a:ln w="15875">
            <a:solidFill>
              <a:srgbClr val="E8648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" y="4791456"/>
            <a:ext cx="4572000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＜調査依頼・報告（フロー後半）＞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98348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A7AC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⑫ お客さまへ報告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定型文あり・該当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ユーザのみメール通知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48840" y="498348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A7AC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⑪ ONU疎通確認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現在は電話で確認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（監視ルータのpingは未実施？）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77639" y="4983480"/>
            <a:ext cx="242316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A7AC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⑧⑨ NTT東西 法人保守窓口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フレッツ障害／広域エリア故障を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電話で確認（ヒト手対応）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98348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A7AC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45720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⑦ 設備部門へエスカレーション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片系断と判定した場合にServiceNowで起票</a:t>
            </a:r>
          </a:p>
        </p:txBody>
      </p:sp>
      <p:cxnSp>
        <p:nvCxnSpPr>
          <p:cNvPr id="41" name="Connector 40"/>
          <p:cNvCxnSpPr/>
          <p:nvPr/>
        </p:nvCxnSpPr>
        <p:spPr>
          <a:xfrm flipH="1" flipV="1">
            <a:off x="2907792" y="4663440"/>
            <a:ext cx="91440" cy="320040"/>
          </a:xfrm>
          <a:prstGeom prst="line">
            <a:avLst/>
          </a:prstGeom>
          <a:ln w="15875">
            <a:solidFill>
              <a:srgbClr val="A7ACAF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4946904" y="4663440"/>
            <a:ext cx="246888" cy="320040"/>
          </a:xfrm>
          <a:prstGeom prst="line">
            <a:avLst/>
          </a:prstGeom>
          <a:ln w="15875">
            <a:solidFill>
              <a:srgbClr val="A7ACAF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57200" y="5819224"/>
            <a:ext cx="112928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AC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━━ </a:t>
            </a:r>
            <a:r>
              <a:rPr sz="9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お客さま通信（IPSec＋IPoE）　　</a:t>
            </a:r>
            <a:r>
              <a:rPr sz="1100" b="1">
                <a:solidFill>
                  <a:srgbClr val="A7ACAF"/>
                </a:solidFill>
                <a:latin typeface="BIZ UDPゴシック"/>
                <a:ea typeface="BIZ UDPゴシック"/>
                <a:cs typeface="BIZ UDPゴシック"/>
              </a:rPr>
              <a:t>┅┅ </a:t>
            </a:r>
            <a:r>
              <a:rPr sz="9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バックアップトンネル　　</a:t>
            </a:r>
            <a:r>
              <a:rPr sz="1100" b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┅┅ </a:t>
            </a:r>
            <a:r>
              <a:rPr sz="9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各ツールが確認している箇所（運用・管理アクセスはIPv6 PPPoE経由）</a:t>
            </a:r>
          </a:p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? </a:t>
            </a:r>
            <a:r>
              <a:rPr sz="9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＝ 製品名・型番をお伺いしたい箇所　　　</a:t>
            </a:r>
            <a:r>
              <a:rPr sz="950" b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①〜⑫ </a:t>
            </a:r>
            <a:r>
              <a:rPr sz="9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＝ 監視業務フロー（次ページ以降）の工程番号に対応</a:t>
            </a:r>
          </a:p>
        </p:txBody>
      </p:sp>
      <p:cxnSp>
        <p:nvCxnSpPr>
          <p:cNvPr id="44" name="Connector 41">
            <a:extLst>
              <a:ext uri="{FF2B5EF4-FFF2-40B4-BE49-F238E27FC236}">
                <a16:creationId xmlns:a16="http://schemas.microsoft.com/office/drawing/2014/main" id="{55C23938-048B-8731-8244-599268CB635D}"/>
              </a:ext>
            </a:extLst>
          </p:cNvPr>
          <p:cNvCxnSpPr>
            <a:cxnSpLocks/>
          </p:cNvCxnSpPr>
          <p:nvPr/>
        </p:nvCxnSpPr>
        <p:spPr>
          <a:xfrm flipH="1">
            <a:off x="10534650" y="4663440"/>
            <a:ext cx="72390" cy="320040"/>
          </a:xfrm>
          <a:prstGeom prst="line">
            <a:avLst/>
          </a:prstGeom>
          <a:ln w="15875">
            <a:solidFill>
              <a:srgbClr val="A7ACAF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41">
            <a:extLst>
              <a:ext uri="{FF2B5EF4-FFF2-40B4-BE49-F238E27FC236}">
                <a16:creationId xmlns:a16="http://schemas.microsoft.com/office/drawing/2014/main" id="{11254643-F3ED-5FBD-ADE0-F166C7759FB8}"/>
              </a:ext>
            </a:extLst>
          </p:cNvPr>
          <p:cNvCxnSpPr>
            <a:cxnSpLocks/>
          </p:cNvCxnSpPr>
          <p:nvPr/>
        </p:nvCxnSpPr>
        <p:spPr>
          <a:xfrm flipH="1">
            <a:off x="6391656" y="4654296"/>
            <a:ext cx="4142994" cy="402335"/>
          </a:xfrm>
          <a:prstGeom prst="line">
            <a:avLst/>
          </a:prstGeom>
          <a:ln w="15875">
            <a:solidFill>
              <a:srgbClr val="A7ACAF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47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Connector 24">
            <a:extLst>
              <a:ext uri="{FF2B5EF4-FFF2-40B4-BE49-F238E27FC236}">
                <a16:creationId xmlns:a16="http://schemas.microsoft.com/office/drawing/2014/main" id="{EACCB462-2B54-A7E9-46D7-276594EBF13D}"/>
              </a:ext>
            </a:extLst>
          </p:cNvPr>
          <p:cNvCxnSpPr>
            <a:cxnSpLocks/>
          </p:cNvCxnSpPr>
          <p:nvPr/>
        </p:nvCxnSpPr>
        <p:spPr>
          <a:xfrm>
            <a:off x="2361788" y="3709127"/>
            <a:ext cx="0" cy="1064041"/>
          </a:xfrm>
          <a:prstGeom prst="line">
            <a:avLst/>
          </a:prstGeom>
          <a:ln w="25400">
            <a:solidFill>
              <a:srgbClr val="2A65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監視業務フロー（1/2）　障害検知 〜 片系断／両系断の判定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※ </a:t>
            </a:r>
            <a:r>
              <a:rPr sz="1150" b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ご回答を反映した当社の理解です。各工程で「参照先のシステム／機器の製品名」と</a:t>
            </a:r>
            <a:r>
              <a:rPr sz="11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「</a:t>
            </a:r>
            <a:r>
              <a:rPr lang="ja-JP" altLang="en-US" sz="11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障害確認ツールに</a:t>
            </a:r>
            <a:r>
              <a:rPr sz="1150" b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API等で自動化できる拡張性」があるかをご確認させてください</a:t>
            </a:r>
            <a:r>
              <a:rPr sz="11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2095" y="6320535"/>
            <a:ext cx="1779693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■</a:t>
            </a:r>
            <a:r>
              <a:rPr sz="10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＝</a:t>
            </a:r>
            <a:r>
              <a:rPr sz="10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通常工程</a:t>
            </a:r>
            <a:r>
              <a:rPr sz="10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　</a:t>
            </a:r>
            <a:r>
              <a:rPr sz="1050" b="1" i="0">
                <a:solidFill>
                  <a:srgbClr val="2A65F5"/>
                </a:solidFill>
                <a:latin typeface="BIZ UDPゴシック"/>
                <a:ea typeface="BIZ UDPゴシック"/>
                <a:cs typeface="BIZ UDPゴシック"/>
              </a:rPr>
              <a:t>■</a:t>
            </a:r>
            <a:r>
              <a:rPr sz="10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＝</a:t>
            </a:r>
            <a:r>
              <a:rPr sz="10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分岐</a:t>
            </a:r>
            <a:r>
              <a:rPr sz="10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　</a:t>
            </a:r>
            <a:endParaRPr sz="1000" b="1" i="0">
              <a:solidFill>
                <a:srgbClr val="E86487"/>
              </a:solidFill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4297680" cy="621792"/>
          </a:xfrm>
          <a:prstGeom prst="roundRect">
            <a:avLst>
              <a:gd name="adj" fmla="val 9000"/>
            </a:avLst>
          </a:prstGeom>
          <a:solidFill>
            <a:srgbClr val="EDF3F9"/>
          </a:solidFill>
          <a:ln w="2222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① </a:t>
            </a:r>
            <a:r>
              <a:rPr sz="1200" b="1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障害／アラート検知</a:t>
            </a:r>
            <a:endParaRPr sz="1000" b="0" i="0">
              <a:solidFill>
                <a:srgbClr val="191919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000" b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ダッシュボード関連システムで検知・状態表示＋メール等でお客さま通知</a:t>
            </a:r>
            <a:endParaRPr sz="1000" b="0">
              <a:solidFill>
                <a:srgbClr val="191919"/>
              </a:solidFill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0" y="1271016"/>
            <a:ext cx="6263640" cy="822960"/>
          </a:xfrm>
          <a:prstGeom prst="roundRect">
            <a:avLst>
              <a:gd name="adj" fmla="val 12000"/>
            </a:avLst>
          </a:prstGeom>
          <a:solidFill>
            <a:srgbClr val="FDECF1"/>
          </a:solidFill>
          <a:ln w="19050">
            <a:solidFill>
              <a:srgbClr val="E86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73152" bIns="18288" rtlCol="0" anchor="ctr"/>
          <a:lstStyle/>
          <a:p>
            <a:pPr algn="l">
              <a:lnSpc>
                <a:spcPct val="100000"/>
              </a:lnSpc>
            </a:pPr>
            <a:r>
              <a:rPr sz="1050" b="1" err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確認事項：アラートを自動化の起点にできるか</a:t>
            </a:r>
            <a:endParaRPr sz="1050" b="1" i="0">
              <a:solidFill>
                <a:srgbClr val="00209B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・</a:t>
            </a:r>
            <a:r>
              <a:rPr sz="1050" b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ダッシュボード関連システムの製品名は</a:t>
            </a:r>
            <a:r>
              <a:rPr lang="ja-JP" alt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何ですか</a:t>
            </a: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・</a:t>
            </a:r>
            <a:r>
              <a:rPr sz="1050" b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アラートをAPI／Webhookで受け取れますか？サンプルを頂けますか</a:t>
            </a: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1682496"/>
            <a:ext cx="640080" cy="0"/>
          </a:xfrm>
          <a:prstGeom prst="line">
            <a:avLst/>
          </a:prstGeom>
          <a:ln w="15875">
            <a:solidFill>
              <a:srgbClr val="E864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221992"/>
            <a:ext cx="4297680" cy="621792"/>
          </a:xfrm>
          <a:prstGeom prst="roundRect">
            <a:avLst>
              <a:gd name="adj" fmla="val 9000"/>
            </a:avLst>
          </a:prstGeom>
          <a:solidFill>
            <a:srgbClr val="EDF3F9"/>
          </a:solidFill>
          <a:ln w="2222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② </a:t>
            </a:r>
            <a:r>
              <a:rPr sz="1200" b="1" i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初期確認（IPSec確認</a:t>
            </a:r>
            <a:r>
              <a:rPr sz="12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  <a:p>
            <a:pPr algn="l">
              <a:lnSpc>
                <a:spcPct val="100000"/>
              </a:lnSpc>
            </a:pPr>
            <a:r>
              <a:rPr sz="10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IPSecの状態を確認</a:t>
            </a:r>
            <a:r>
              <a:rPr sz="10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（※</a:t>
            </a:r>
            <a:r>
              <a:rPr sz="10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ping死活監視ではなくIPSecとのご回答</a:t>
            </a:r>
            <a:r>
              <a:rPr sz="10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121408"/>
            <a:ext cx="6263640" cy="822960"/>
          </a:xfrm>
          <a:prstGeom prst="roundRect">
            <a:avLst>
              <a:gd name="adj" fmla="val 12000"/>
            </a:avLst>
          </a:prstGeom>
          <a:solidFill>
            <a:srgbClr val="FDECF1"/>
          </a:solidFill>
          <a:ln w="19050">
            <a:solidFill>
              <a:srgbClr val="E86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73152" bIns="18288" rtlCol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確認事項：状態確認をコマンド／APIで自動化できるか</a:t>
            </a:r>
            <a:endParaRPr sz="1050" b="1" i="0">
              <a:solidFill>
                <a:srgbClr val="00209B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・IPSecを確認している監視サーバの製品名は？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・確認先の機器・確認手段（コマンド/API）・正常判定の基準は？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・ping/BGPは監視対象外という理解でよいですか？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46320" y="2532888"/>
            <a:ext cx="640080" cy="0"/>
          </a:xfrm>
          <a:prstGeom prst="line">
            <a:avLst/>
          </a:prstGeom>
          <a:ln w="15875">
            <a:solidFill>
              <a:srgbClr val="E864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3072384"/>
            <a:ext cx="4297680" cy="621792"/>
          </a:xfrm>
          <a:prstGeom prst="roundRect">
            <a:avLst>
              <a:gd name="adj" fmla="val 9000"/>
            </a:avLst>
          </a:prstGeom>
          <a:solidFill>
            <a:srgbClr val="2A65F5"/>
          </a:solidFill>
          <a:ln w="22225">
            <a:solidFill>
              <a:srgbClr val="2A6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③ </a:t>
            </a:r>
            <a:r>
              <a:rPr sz="1200" b="1" i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顧客側CPEへ接続【分岐</a:t>
            </a: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】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TOツールで接続（IPv6 </a:t>
            </a:r>
            <a:r>
              <a:rPr sz="1000" b="0" i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PPPoE経由</a:t>
            </a:r>
            <a:r>
              <a:rPr sz="1000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）※</a:t>
            </a:r>
            <a:r>
              <a:rPr sz="1000" b="0" i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TOにてエージェント検討中</a:t>
            </a:r>
            <a:endParaRPr sz="1000" b="0" i="0">
              <a:solidFill>
                <a:srgbClr val="FFFFFF"/>
              </a:solidFill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0" y="2971800"/>
            <a:ext cx="6263640" cy="822960"/>
          </a:xfrm>
          <a:prstGeom prst="roundRect">
            <a:avLst>
              <a:gd name="adj" fmla="val 12000"/>
            </a:avLst>
          </a:prstGeom>
          <a:solidFill>
            <a:srgbClr val="FDECF1"/>
          </a:solidFill>
          <a:ln w="19050">
            <a:solidFill>
              <a:srgbClr val="E86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73152" bIns="18288" rtlCol="0" anchor="ctr"/>
          <a:lstStyle/>
          <a:p>
            <a:pPr algn="l">
              <a:lnSpc>
                <a:spcPct val="100000"/>
              </a:lnSpc>
            </a:pPr>
            <a:r>
              <a:rPr lang="ja-JP" altLang="en-US" sz="1050" b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確認事項：自動接続の手段有無と、</a:t>
            </a:r>
            <a:r>
              <a:rPr lang="en-US" altLang="ja-JP" sz="1050" b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TO</a:t>
            </a:r>
            <a:r>
              <a:rPr lang="ja-JP" altLang="en-US" sz="1050" b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様検討との棲み分け</a:t>
            </a:r>
            <a:endParaRPr sz="1050" b="1" i="0">
              <a:solidFill>
                <a:srgbClr val="00209B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・</a:t>
            </a:r>
            <a:r>
              <a:rPr 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TO</a:t>
            </a:r>
            <a:r>
              <a:rPr lang="ja-JP" alt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ツールの製品名は何ですか？</a:t>
            </a:r>
            <a:r>
              <a:rPr lang="en-US" altLang="ja-JP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CLI</a:t>
            </a:r>
            <a:r>
              <a:rPr lang="en-US" altLang="ja-JP" sz="105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/</a:t>
            </a:r>
            <a:r>
              <a:rPr lang="en-US" altLang="ja-JP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API</a:t>
            </a:r>
            <a:r>
              <a:rPr lang="ja-JP" alt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で外部から呼び出せますか</a:t>
            </a: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・</a:t>
            </a:r>
            <a:r>
              <a:rPr lang="ja-JP" alt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ご検討中のエージェントの対象範囲・導入時期を伺えますか</a:t>
            </a: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20" y="3383280"/>
            <a:ext cx="640080" cy="0"/>
          </a:xfrm>
          <a:prstGeom prst="line">
            <a:avLst/>
          </a:prstGeom>
          <a:ln w="15875">
            <a:solidFill>
              <a:srgbClr val="E864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3922776"/>
            <a:ext cx="4297680" cy="621792"/>
          </a:xfrm>
          <a:prstGeom prst="roundRect">
            <a:avLst>
              <a:gd name="adj" fmla="val 9000"/>
            </a:avLst>
          </a:prstGeom>
          <a:solidFill>
            <a:srgbClr val="EDF3F9"/>
          </a:solidFill>
          <a:ln w="2222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④ </a:t>
            </a:r>
            <a:r>
              <a:rPr sz="1200" b="1" i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CPE状態確認（接続できた場合</a:t>
            </a:r>
            <a:r>
              <a:rPr sz="12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  <a:p>
            <a:pPr algn="l">
              <a:lnSpc>
                <a:spcPct val="100000"/>
              </a:lnSpc>
            </a:pPr>
            <a:r>
              <a:rPr sz="10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CPEのリンク／トンネル状態を確認</a:t>
            </a:r>
            <a:endParaRPr sz="1000" b="0" i="0">
              <a:solidFill>
                <a:srgbClr val="191919"/>
              </a:solidFill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0" y="3822191"/>
            <a:ext cx="6263640" cy="822960"/>
          </a:xfrm>
          <a:prstGeom prst="roundRect">
            <a:avLst>
              <a:gd name="adj" fmla="val 12000"/>
            </a:avLst>
          </a:prstGeom>
          <a:solidFill>
            <a:srgbClr val="FDECF1"/>
          </a:solidFill>
          <a:ln w="19050">
            <a:solidFill>
              <a:srgbClr val="E86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73152" bIns="18288" rtlCol="0" anchor="ctr"/>
          <a:lstStyle/>
          <a:p>
            <a:pPr algn="l">
              <a:lnSpc>
                <a:spcPct val="100000"/>
              </a:lnSpc>
            </a:pPr>
            <a:r>
              <a:rPr sz="1050" b="1" err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確認事項：機器の型番から自動化の手段を絞り込みたい</a:t>
            </a:r>
            <a:endParaRPr sz="1050" b="1" i="0">
              <a:solidFill>
                <a:srgbClr val="00209B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・</a:t>
            </a:r>
            <a:r>
              <a:rPr sz="1050" b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CPEの製品名／型番を教えていただけますか</a:t>
            </a: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・</a:t>
            </a:r>
            <a:r>
              <a:rPr sz="1050" b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確認</a:t>
            </a:r>
            <a:r>
              <a:rPr lang="ja-JP" altLang="en-US" sz="105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方法</a:t>
            </a:r>
            <a:r>
              <a:rPr lang="en-US" altLang="ja-JP" sz="105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/</a:t>
            </a:r>
            <a:r>
              <a:rPr sz="1050" b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コマンドと「正常」と判断する条件は</a:t>
            </a: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46320" y="4233672"/>
            <a:ext cx="640080" cy="0"/>
          </a:xfrm>
          <a:prstGeom prst="line">
            <a:avLst/>
          </a:prstGeom>
          <a:ln w="15875">
            <a:solidFill>
              <a:srgbClr val="E864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4773168"/>
            <a:ext cx="4297680" cy="621792"/>
          </a:xfrm>
          <a:prstGeom prst="roundRect">
            <a:avLst>
              <a:gd name="adj" fmla="val 9000"/>
            </a:avLst>
          </a:prstGeom>
          <a:solidFill>
            <a:srgbClr val="EDF3F9"/>
          </a:solidFill>
          <a:ln w="2222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⑤ </a:t>
            </a:r>
            <a:r>
              <a:rPr sz="1200" b="1" i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収容GWへログイン</a:t>
            </a:r>
            <a:endParaRPr sz="1000" b="1" i="0">
              <a:solidFill>
                <a:srgbClr val="1B8A8F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0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接続情報は社内SOシステムから取得</a:t>
            </a:r>
            <a:endParaRPr sz="1000" b="0" i="0">
              <a:solidFill>
                <a:srgbClr val="191919"/>
              </a:solidFill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0" y="4672584"/>
            <a:ext cx="6263640" cy="822960"/>
          </a:xfrm>
          <a:prstGeom prst="roundRect">
            <a:avLst>
              <a:gd name="adj" fmla="val 12000"/>
            </a:avLst>
          </a:prstGeom>
          <a:solidFill>
            <a:srgbClr val="FDECF1"/>
          </a:solidFill>
          <a:ln w="19050">
            <a:solidFill>
              <a:srgbClr val="E86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73152" bIns="18288" rtlCol="0" anchor="ctr"/>
          <a:lstStyle/>
          <a:p>
            <a:pPr algn="l">
              <a:lnSpc>
                <a:spcPct val="100000"/>
              </a:lnSpc>
            </a:pPr>
            <a:r>
              <a:rPr sz="1050" b="1" err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確認事項：接続情報の取得を自動化できるか</a:t>
            </a:r>
            <a:endParaRPr sz="1050" b="1" i="0">
              <a:solidFill>
                <a:srgbClr val="00209B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・</a:t>
            </a:r>
            <a:r>
              <a:rPr 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SO</a:t>
            </a:r>
            <a:r>
              <a:rPr lang="ja-JP" alt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システム内でトンネル情報と該当収容</a:t>
            </a:r>
            <a:r>
              <a:rPr lang="en-US" altLang="ja-JP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GW</a:t>
            </a:r>
            <a:r>
              <a:rPr lang="ja-JP" alt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の紐づけをしている一覧がある認識ですが、</a:t>
            </a:r>
          </a:p>
          <a:p>
            <a:pPr algn="l">
              <a:lnSpc>
                <a:spcPct val="100000"/>
              </a:lnSpc>
            </a:pPr>
            <a:r>
              <a:rPr lang="ja-JP" alt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  </a:t>
            </a:r>
            <a:r>
              <a:rPr lang="en-US" altLang="ja-JP" sz="1050" b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SO</a:t>
            </a:r>
            <a:r>
              <a:rPr sz="1050" b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システムは画面参照のみですか</a:t>
            </a:r>
            <a:r>
              <a:rPr lang="ja-JP" alt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？コマンド</a:t>
            </a:r>
            <a:r>
              <a:rPr lang="en-US" altLang="ja-JP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/</a:t>
            </a:r>
            <a:r>
              <a:rPr 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API</a:t>
            </a:r>
            <a:r>
              <a:rPr lang="en-US" sz="105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/</a:t>
            </a:r>
            <a:r>
              <a:rPr sz="1050" b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DB参照は可能ですか</a:t>
            </a: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・</a:t>
            </a:r>
            <a:r>
              <a:rPr sz="1050" b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収容GWの製品名</a:t>
            </a:r>
            <a:r>
              <a:rPr 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/</a:t>
            </a:r>
            <a:r>
              <a:rPr sz="1050" b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型番は</a:t>
            </a: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？（</a:t>
            </a:r>
            <a:r>
              <a:rPr lang="ja-JP" altLang="en-US" sz="105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製品</a:t>
            </a:r>
            <a:r>
              <a:rPr sz="1050" b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次第で自動接続の手段が</a:t>
            </a:r>
            <a:r>
              <a:rPr lang="ja-JP" alt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検討できます</a:t>
            </a: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6320" y="5084064"/>
            <a:ext cx="640080" cy="0"/>
          </a:xfrm>
          <a:prstGeom prst="line">
            <a:avLst/>
          </a:prstGeom>
          <a:ln w="15875">
            <a:solidFill>
              <a:srgbClr val="E864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5623560"/>
            <a:ext cx="4297680" cy="621792"/>
          </a:xfrm>
          <a:prstGeom prst="roundRect">
            <a:avLst>
              <a:gd name="adj" fmla="val 9000"/>
            </a:avLst>
          </a:prstGeom>
          <a:solidFill>
            <a:srgbClr val="2A65F5"/>
          </a:solidFill>
          <a:ln w="22225">
            <a:solidFill>
              <a:srgbClr val="2A6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⑥ </a:t>
            </a:r>
            <a:r>
              <a:rPr sz="1200" b="1" i="0" dirty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バックアップトンネル状態確認【重要分岐</a:t>
            </a:r>
            <a:r>
              <a:rPr sz="1200" b="1" i="0" dirty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】</a:t>
            </a:r>
          </a:p>
          <a:p>
            <a:pPr algn="l">
              <a:lnSpc>
                <a:spcPct val="100000"/>
              </a:lnSpc>
            </a:pPr>
            <a:r>
              <a:rPr sz="1000" b="0" i="0" dirty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SOシステムでバックアップを特定し状態確認</a:t>
            </a:r>
            <a:r>
              <a:rPr sz="1000" b="0" i="0" dirty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 </a:t>
            </a:r>
            <a:br>
              <a:rPr lang="en-US" sz="1000" b="0" i="0" dirty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</a:br>
            <a:r>
              <a:rPr sz="1000" b="0" i="0" dirty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正常</a:t>
            </a:r>
            <a:r>
              <a:rPr sz="1000" b="0" i="0" dirty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=</a:t>
            </a:r>
            <a:r>
              <a:rPr sz="1000" b="0" i="0" dirty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片系断／異常</a:t>
            </a:r>
            <a:r>
              <a:rPr sz="1000" b="0" i="0" dirty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=</a:t>
            </a:r>
            <a:r>
              <a:rPr sz="1000" b="0" i="0" dirty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両系断</a:t>
            </a:r>
            <a:endParaRPr sz="1000" b="0" i="0" dirty="0">
              <a:solidFill>
                <a:srgbClr val="FFFFFF"/>
              </a:solidFill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0" y="5522976"/>
            <a:ext cx="6263640" cy="822960"/>
          </a:xfrm>
          <a:prstGeom prst="roundRect">
            <a:avLst>
              <a:gd name="adj" fmla="val 12000"/>
            </a:avLst>
          </a:prstGeom>
          <a:solidFill>
            <a:srgbClr val="FDECF1"/>
          </a:solidFill>
          <a:ln w="19050">
            <a:solidFill>
              <a:srgbClr val="E86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73152" bIns="18288" rtlCol="0" anchor="ctr"/>
          <a:lstStyle/>
          <a:p>
            <a:pPr algn="l">
              <a:lnSpc>
                <a:spcPct val="100000"/>
              </a:lnSpc>
            </a:pPr>
            <a:r>
              <a:rPr lang="ja-JP" altLang="en-US" sz="1050" b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確認事項：最重要分岐を機械判定できるか</a:t>
            </a:r>
            <a:endParaRPr sz="1050" b="1" i="0">
              <a:solidFill>
                <a:srgbClr val="00209B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・</a:t>
            </a:r>
            <a:r>
              <a:rPr lang="ja-JP" alt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片系断</a:t>
            </a:r>
            <a:r>
              <a:rPr lang="en-US" altLang="ja-JP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/</a:t>
            </a:r>
            <a:r>
              <a:rPr lang="ja-JP" alt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両系断の</a:t>
            </a:r>
            <a:r>
              <a:rPr lang="ja-JP" altLang="en-US" sz="105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確認</a:t>
            </a:r>
            <a:r>
              <a:rPr lang="ja-JP" alt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方法や判定条件（何がどうなっていたら）は</a:t>
            </a: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・</a:t>
            </a:r>
            <a:r>
              <a:rPr lang="ja-JP" alt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例外ケースや、判定に使う値の参照先（</a:t>
            </a:r>
            <a:r>
              <a:rPr lang="en-US" altLang="ja-JP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SO</a:t>
            </a:r>
            <a:r>
              <a:rPr lang="ja-JP" altLang="en-US"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／機器）は</a:t>
            </a:r>
            <a:r>
              <a:rPr sz="1050" b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46320" y="5934456"/>
            <a:ext cx="640080" cy="0"/>
          </a:xfrm>
          <a:prstGeom prst="line">
            <a:avLst/>
          </a:prstGeom>
          <a:ln w="15875">
            <a:solidFill>
              <a:srgbClr val="E864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97480" y="1993392"/>
            <a:ext cx="0" cy="228600"/>
          </a:xfrm>
          <a:prstGeom prst="line">
            <a:avLst/>
          </a:prstGeom>
          <a:ln w="25400">
            <a:solidFill>
              <a:srgbClr val="0020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697480" y="2843784"/>
            <a:ext cx="0" cy="228600"/>
          </a:xfrm>
          <a:prstGeom prst="line">
            <a:avLst/>
          </a:prstGeom>
          <a:ln w="25400">
            <a:solidFill>
              <a:srgbClr val="0020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55826" y="3699365"/>
            <a:ext cx="0" cy="228600"/>
          </a:xfrm>
          <a:prstGeom prst="line">
            <a:avLst/>
          </a:prstGeom>
          <a:ln w="25400">
            <a:solidFill>
              <a:srgbClr val="0020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55826" y="4549757"/>
            <a:ext cx="0" cy="228600"/>
          </a:xfrm>
          <a:prstGeom prst="line">
            <a:avLst/>
          </a:prstGeom>
          <a:ln w="25400">
            <a:solidFill>
              <a:srgbClr val="0020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5394960"/>
            <a:ext cx="0" cy="228600"/>
          </a:xfrm>
          <a:prstGeom prst="line">
            <a:avLst/>
          </a:prstGeom>
          <a:ln w="25400">
            <a:solidFill>
              <a:srgbClr val="0020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Connector 24">
            <a:extLst>
              <a:ext uri="{FF2B5EF4-FFF2-40B4-BE49-F238E27FC236}">
                <a16:creationId xmlns:a16="http://schemas.microsoft.com/office/drawing/2014/main" id="{A5E7887F-63EE-DC0F-6579-4AA09642BAD8}"/>
              </a:ext>
            </a:extLst>
          </p:cNvPr>
          <p:cNvCxnSpPr>
            <a:cxnSpLocks/>
          </p:cNvCxnSpPr>
          <p:nvPr/>
        </p:nvCxnSpPr>
        <p:spPr>
          <a:xfrm>
            <a:off x="2448285" y="4543578"/>
            <a:ext cx="0" cy="1064041"/>
          </a:xfrm>
          <a:prstGeom prst="line">
            <a:avLst/>
          </a:prstGeom>
          <a:ln w="25400">
            <a:solidFill>
              <a:srgbClr val="2A65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監視業務フロー（2/2）　判定後の対応 〜 顧客報告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※ ⑥</a:t>
            </a:r>
            <a:r>
              <a:rPr sz="115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の判定で分岐</a:t>
            </a:r>
            <a:r>
              <a:rPr sz="11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（【</a:t>
            </a:r>
            <a:r>
              <a:rPr sz="115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片系断</a:t>
            </a:r>
            <a:r>
              <a:rPr sz="11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】＝⑦</a:t>
            </a:r>
            <a:r>
              <a:rPr sz="115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のみ</a:t>
            </a:r>
            <a:r>
              <a:rPr sz="11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／【</a:t>
            </a:r>
            <a:r>
              <a:rPr sz="115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両系断</a:t>
            </a:r>
            <a:r>
              <a:rPr sz="11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】＝⑧</a:t>
            </a:r>
            <a:r>
              <a:rPr sz="115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以降</a:t>
            </a:r>
            <a:r>
              <a:rPr sz="11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）。</a:t>
            </a:r>
            <a:r>
              <a:rPr sz="115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各吹き出しは自動化範囲</a:t>
            </a:r>
            <a:r>
              <a:rPr sz="11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・</a:t>
            </a:r>
            <a:r>
              <a:rPr lang="ja-JP" sz="115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手法を判断するためのご確認です</a:t>
            </a:r>
            <a:r>
              <a:rPr sz="11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453" y="6341872"/>
            <a:ext cx="2076027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■</a:t>
            </a:r>
            <a:r>
              <a:rPr sz="10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＝</a:t>
            </a:r>
            <a:r>
              <a:rPr sz="10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通常工程</a:t>
            </a:r>
            <a:r>
              <a:rPr sz="10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　</a:t>
            </a:r>
            <a:r>
              <a:rPr sz="1050" b="1" i="0">
                <a:solidFill>
                  <a:srgbClr val="2A65F5"/>
                </a:solidFill>
                <a:latin typeface="BIZ UDPゴシック"/>
                <a:ea typeface="BIZ UDPゴシック"/>
                <a:cs typeface="BIZ UDPゴシック"/>
              </a:rPr>
              <a:t>■</a:t>
            </a:r>
            <a:r>
              <a:rPr sz="10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＝</a:t>
            </a:r>
            <a:r>
              <a:rPr sz="10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分岐</a:t>
            </a:r>
            <a:r>
              <a:rPr sz="10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　</a:t>
            </a:r>
            <a:endParaRPr sz="1000" b="1" i="0">
              <a:solidFill>
                <a:srgbClr val="E86487"/>
              </a:solidFill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4297680" cy="621792"/>
          </a:xfrm>
          <a:prstGeom prst="roundRect">
            <a:avLst>
              <a:gd name="adj" fmla="val 9000"/>
            </a:avLst>
          </a:prstGeom>
          <a:solidFill>
            <a:srgbClr val="00209B"/>
          </a:solidFill>
          <a:ln w="2222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⑦【</a:t>
            </a:r>
            <a:r>
              <a:rPr sz="1200" b="1" i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片系断】設備部門へエスカレーション</a:t>
            </a:r>
            <a:r>
              <a:rPr sz="10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　</a:t>
            </a:r>
          </a:p>
          <a:p>
            <a:pPr algn="l">
              <a:lnSpc>
                <a:spcPct val="100000"/>
              </a:lnSpc>
            </a:pPr>
            <a:r>
              <a:rPr sz="1000" b="0" i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ServiceNowのチケット機能で連絡</a:t>
            </a:r>
            <a:r>
              <a:rPr sz="1000" b="0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 → </a:t>
            </a:r>
            <a:r>
              <a:rPr sz="1000" b="0" i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フロー終了</a:t>
            </a:r>
            <a:endParaRPr sz="1000" b="0" i="0">
              <a:solidFill>
                <a:srgbClr val="FFFFFF"/>
              </a:solidFill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0" y="1271016"/>
            <a:ext cx="6217920" cy="822960"/>
          </a:xfrm>
          <a:prstGeom prst="roundRect">
            <a:avLst>
              <a:gd name="adj" fmla="val 12000"/>
            </a:avLst>
          </a:prstGeom>
          <a:solidFill>
            <a:srgbClr val="FDECF1"/>
          </a:solidFill>
          <a:ln w="19050">
            <a:solidFill>
              <a:srgbClr val="E86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050" b="1" i="0" err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確認の目的：</a:t>
            </a:r>
            <a:r>
              <a:rPr sz="1050" b="1" i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チケット起票を自動化できるか</a:t>
            </a:r>
            <a:endParaRPr sz="1050" b="1" i="0">
              <a:solidFill>
                <a:srgbClr val="00209B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1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ServiceNowのAPI利用は可能ですか</a:t>
            </a: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 </a:t>
            </a:r>
            <a:r>
              <a:rPr sz="11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起票項目・文面テンプレを共有いただけますか</a:t>
            </a: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</a:t>
            </a:r>
            <a:br>
              <a:rPr lang="en-US"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</a:b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（</a:t>
            </a:r>
            <a:r>
              <a:rPr sz="11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調査結果からドラフトを自動起票し、人が確認して発行する形を想定しています</a:t>
            </a: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1682496"/>
            <a:ext cx="640080" cy="0"/>
          </a:xfrm>
          <a:prstGeom prst="line">
            <a:avLst/>
          </a:prstGeom>
          <a:ln w="15875">
            <a:solidFill>
              <a:srgbClr val="E864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221992"/>
            <a:ext cx="4297680" cy="621792"/>
          </a:xfrm>
          <a:prstGeom prst="roundRect">
            <a:avLst>
              <a:gd name="adj" fmla="val 9000"/>
            </a:avLst>
          </a:prstGeom>
          <a:solidFill>
            <a:srgbClr val="EDF3F9"/>
          </a:solidFill>
          <a:ln w="22225">
            <a:solidFill>
              <a:srgbClr val="2A6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⑧【</a:t>
            </a:r>
            <a:r>
              <a:rPr sz="1200" b="1" i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両系断】フレッツ障害調査</a:t>
            </a:r>
            <a:r>
              <a:rPr sz="1000" b="1" i="0">
                <a:solidFill>
                  <a:srgbClr val="1B8A8F"/>
                </a:solidFill>
                <a:latin typeface="BIZ UDPゴシック"/>
                <a:ea typeface="BIZ UDPゴシック"/>
                <a:cs typeface="BIZ UDPゴシック"/>
              </a:rPr>
              <a:t>　</a:t>
            </a:r>
          </a:p>
          <a:p>
            <a:pPr algn="l">
              <a:lnSpc>
                <a:spcPct val="100000"/>
              </a:lnSpc>
            </a:pPr>
            <a:r>
              <a:rPr sz="10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フレッツ法人保守窓口へ電話で確認（ヒト手対応</a:t>
            </a:r>
            <a:r>
              <a:rPr sz="10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121408"/>
            <a:ext cx="6217920" cy="822960"/>
          </a:xfrm>
          <a:prstGeom prst="roundRect">
            <a:avLst>
              <a:gd name="adj" fmla="val 12000"/>
            </a:avLst>
          </a:prstGeom>
          <a:solidFill>
            <a:srgbClr val="FDECF1"/>
          </a:solidFill>
          <a:ln w="19050">
            <a:solidFill>
              <a:srgbClr val="E86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050" b="1" i="0" err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確認の目的：</a:t>
            </a:r>
            <a:r>
              <a:rPr sz="1050" b="1" i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電話は残す前提で、周辺をどこまで補助できるか</a:t>
            </a:r>
            <a:endParaRPr sz="1050" b="1" i="0">
              <a:solidFill>
                <a:srgbClr val="00209B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1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電話結果の記録先・粒度を教えてください（記録の自動整形が候補になるため</a:t>
            </a: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）。</a:t>
            </a:r>
            <a:br>
              <a:rPr lang="en-US"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</a:br>
            <a:r>
              <a:rPr sz="11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NTT公開の工事故障情報など、機械的に取得できる情報源は併用していますか</a:t>
            </a: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46320" y="2532888"/>
            <a:ext cx="640080" cy="0"/>
          </a:xfrm>
          <a:prstGeom prst="line">
            <a:avLst/>
          </a:prstGeom>
          <a:ln w="15875">
            <a:solidFill>
              <a:srgbClr val="E864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3072384"/>
            <a:ext cx="4297680" cy="621792"/>
          </a:xfrm>
          <a:prstGeom prst="roundRect">
            <a:avLst>
              <a:gd name="adj" fmla="val 9000"/>
            </a:avLst>
          </a:prstGeom>
          <a:solidFill>
            <a:srgbClr val="EDF3F9"/>
          </a:solidFill>
          <a:ln w="22225">
            <a:solidFill>
              <a:srgbClr val="2A6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⑨ </a:t>
            </a:r>
            <a:r>
              <a:rPr sz="1200" b="1" i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広域エリア故障調査</a:t>
            </a:r>
            <a:endParaRPr sz="1000" b="1" i="0">
              <a:solidFill>
                <a:srgbClr val="E86487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0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同じく法人保守窓口へ電話で確認（ヒト手対応</a:t>
            </a:r>
            <a:r>
              <a:rPr sz="10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971800"/>
            <a:ext cx="6217920" cy="822960"/>
          </a:xfrm>
          <a:prstGeom prst="roundRect">
            <a:avLst>
              <a:gd name="adj" fmla="val 12000"/>
            </a:avLst>
          </a:prstGeom>
          <a:solidFill>
            <a:srgbClr val="FDECF1"/>
          </a:solidFill>
          <a:ln w="19050">
            <a:solidFill>
              <a:srgbClr val="E86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050" b="1" i="0" err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確認の目的：</a:t>
            </a:r>
            <a:r>
              <a:rPr sz="1050" b="1" i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分岐条件を定義できるか（定義がないと自動判定不可</a:t>
            </a:r>
            <a:r>
              <a:rPr sz="105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「</a:t>
            </a:r>
            <a:r>
              <a:rPr sz="11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広域エリア故障」の判断基準（例：地域／回線数／ユーザ数）を教えてください</a:t>
            </a:r>
            <a:r>
              <a:rPr lang="ja-JP" altLang="en-US"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。</a:t>
            </a:r>
            <a:br>
              <a:rPr lang="en-US"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</a:b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（</a:t>
            </a:r>
            <a:r>
              <a:rPr sz="11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基準が定まれば影響範囲の自動判定に使えます</a:t>
            </a: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20" y="3383280"/>
            <a:ext cx="640080" cy="0"/>
          </a:xfrm>
          <a:prstGeom prst="line">
            <a:avLst/>
          </a:prstGeom>
          <a:ln w="15875">
            <a:solidFill>
              <a:srgbClr val="E864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3922776"/>
            <a:ext cx="4297680" cy="621792"/>
          </a:xfrm>
          <a:prstGeom prst="roundRect">
            <a:avLst>
              <a:gd name="adj" fmla="val 9000"/>
            </a:avLst>
          </a:prstGeom>
          <a:solidFill>
            <a:srgbClr val="2A65F5"/>
          </a:solidFill>
          <a:ln w="22225">
            <a:solidFill>
              <a:srgbClr val="2A6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⑩ </a:t>
            </a:r>
            <a:r>
              <a:rPr sz="1200" b="1" i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コラボ／コラボ以外</a:t>
            </a: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 </a:t>
            </a:r>
            <a:r>
              <a:rPr sz="1200" b="1" i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判定【分岐</a:t>
            </a: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】</a:t>
            </a:r>
          </a:p>
          <a:p>
            <a:pPr algn="l">
              <a:lnSpc>
                <a:spcPct val="100000"/>
              </a:lnSpc>
            </a:pPr>
            <a:r>
              <a:rPr sz="1000" b="0" i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契約情報で光コラボ回線か否かを判定</a:t>
            </a:r>
            <a:endParaRPr sz="1000" b="0" i="0">
              <a:solidFill>
                <a:srgbClr val="FFFFFF"/>
              </a:solidFill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0" y="3822191"/>
            <a:ext cx="6217920" cy="822960"/>
          </a:xfrm>
          <a:prstGeom prst="roundRect">
            <a:avLst>
              <a:gd name="adj" fmla="val 12000"/>
            </a:avLst>
          </a:prstGeom>
          <a:solidFill>
            <a:srgbClr val="FDECF1"/>
          </a:solidFill>
          <a:ln w="19050">
            <a:solidFill>
              <a:srgbClr val="E86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050" b="1" i="0" err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確認の目的：</a:t>
            </a:r>
            <a:r>
              <a:rPr sz="1050" b="1" i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契約区分をシステムから自動で引けるか</a:t>
            </a:r>
            <a:endParaRPr sz="1050" b="1" i="0">
              <a:solidFill>
                <a:srgbClr val="00209B"/>
              </a:solidFill>
              <a:latin typeface="BIZ UDPゴシック"/>
              <a:ea typeface="BIZ UDPゴシック"/>
              <a:cs typeface="BIZ UDPゴシック"/>
            </a:endParaRPr>
          </a:p>
          <a:p>
            <a:r>
              <a:rPr sz="11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契約区分（コラボ／非コラボ）はどのシステムで確認できますか</a:t>
            </a:r>
            <a:r>
              <a:rPr lang="ja-JP" sz="110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</a:t>
            </a:r>
            <a:br>
              <a:rPr lang="ja-JP" sz="110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</a:br>
            <a:r>
              <a:rPr lang="ja-JP" sz="110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（</a:t>
            </a:r>
            <a:r>
              <a:rPr sz="11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自動で引ければ、この分岐は自動化</a:t>
            </a: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46320" y="4233672"/>
            <a:ext cx="640080" cy="0"/>
          </a:xfrm>
          <a:prstGeom prst="line">
            <a:avLst/>
          </a:prstGeom>
          <a:ln w="15875">
            <a:solidFill>
              <a:srgbClr val="E864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4773168"/>
            <a:ext cx="4297680" cy="621792"/>
          </a:xfrm>
          <a:prstGeom prst="roundRect">
            <a:avLst>
              <a:gd name="adj" fmla="val 9000"/>
            </a:avLst>
          </a:prstGeom>
          <a:solidFill>
            <a:srgbClr val="EDF3F9"/>
          </a:solidFill>
          <a:ln w="2222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⑪【</a:t>
            </a:r>
            <a:r>
              <a:rPr sz="1200" b="1" i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コラボ時】ONU疎通確認</a:t>
            </a:r>
            <a:r>
              <a:rPr sz="1000" b="1" i="0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　</a:t>
            </a:r>
          </a:p>
          <a:p>
            <a:pPr algn="l">
              <a:lnSpc>
                <a:spcPct val="100000"/>
              </a:lnSpc>
            </a:pPr>
            <a:r>
              <a:rPr sz="10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現在は法人保守窓口へ電話で確認（光コラボのツールは未使用</a:t>
            </a:r>
            <a:r>
              <a:rPr sz="10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4672584"/>
            <a:ext cx="6217920" cy="822960"/>
          </a:xfrm>
          <a:prstGeom prst="roundRect">
            <a:avLst>
              <a:gd name="adj" fmla="val 12000"/>
            </a:avLst>
          </a:prstGeom>
          <a:solidFill>
            <a:srgbClr val="FDECF1"/>
          </a:solidFill>
          <a:ln w="19050">
            <a:solidFill>
              <a:srgbClr val="E86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050" b="1" i="0" err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確認の目的：</a:t>
            </a:r>
            <a:r>
              <a:rPr sz="1050" b="1" i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電話確認をping自動実行に置き換えられるか</a:t>
            </a:r>
            <a:endParaRPr sz="1050" b="1" i="0">
              <a:solidFill>
                <a:srgbClr val="00209B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1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監視ルータからONUへのpingは技術的に実施可能ですか</a:t>
            </a: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</a:t>
            </a:r>
            <a:br>
              <a:rPr lang="en-US"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</a:b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（</a:t>
            </a:r>
            <a:r>
              <a:rPr sz="11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可能であれば電話の前に自動疎通確認を挟み、電話回数自体を減らせる想定です</a:t>
            </a: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6320" y="5084064"/>
            <a:ext cx="640080" cy="0"/>
          </a:xfrm>
          <a:prstGeom prst="line">
            <a:avLst/>
          </a:prstGeom>
          <a:ln w="15875">
            <a:solidFill>
              <a:srgbClr val="E864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5623560"/>
            <a:ext cx="4297680" cy="621792"/>
          </a:xfrm>
          <a:prstGeom prst="roundRect">
            <a:avLst>
              <a:gd name="adj" fmla="val 9000"/>
            </a:avLst>
          </a:prstGeom>
          <a:solidFill>
            <a:srgbClr val="00209B"/>
          </a:solidFill>
          <a:ln w="2222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⑫ </a:t>
            </a:r>
            <a:r>
              <a:rPr sz="1200" b="1" i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顧客報告</a:t>
            </a:r>
            <a:r>
              <a:rPr sz="10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　</a:t>
            </a:r>
          </a:p>
          <a:p>
            <a:pPr algn="l">
              <a:lnSpc>
                <a:spcPct val="100000"/>
              </a:lnSpc>
            </a:pPr>
            <a:r>
              <a:rPr sz="1000" b="0" i="0" err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定型文あり・該当ユーザのみメール通知</a:t>
            </a:r>
            <a:endParaRPr sz="1000" b="0" i="0">
              <a:solidFill>
                <a:srgbClr val="FFFFFF"/>
              </a:solidFill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0" y="5522976"/>
            <a:ext cx="6217920" cy="822960"/>
          </a:xfrm>
          <a:prstGeom prst="roundRect">
            <a:avLst>
              <a:gd name="adj" fmla="val 12000"/>
            </a:avLst>
          </a:prstGeom>
          <a:solidFill>
            <a:srgbClr val="FDECF1"/>
          </a:solidFill>
          <a:ln w="19050">
            <a:solidFill>
              <a:srgbClr val="E86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rIns="73152" bIns="27432" rtlCol="0" anchor="ctr"/>
          <a:lstStyle/>
          <a:p>
            <a:pPr algn="l">
              <a:lnSpc>
                <a:spcPct val="100000"/>
              </a:lnSpc>
            </a:pPr>
            <a:r>
              <a:rPr sz="1050" b="1" i="0" err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確認の目的：</a:t>
            </a:r>
            <a:r>
              <a:rPr sz="1050" b="1" i="0" err="1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報告文の自動生成範囲と承認フローの確認</a:t>
            </a:r>
            <a:endParaRPr sz="1050" b="1" i="0">
              <a:solidFill>
                <a:srgbClr val="00209B"/>
              </a:solidFill>
              <a:latin typeface="BIZ UDPゴシック"/>
              <a:ea typeface="BIZ UDPゴシック"/>
              <a:cs typeface="BIZ UDPゴシック"/>
            </a:endParaRPr>
          </a:p>
          <a:p>
            <a:pPr algn="l">
              <a:lnSpc>
                <a:spcPct val="100000"/>
              </a:lnSpc>
            </a:pPr>
            <a:r>
              <a:rPr sz="11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障害パターン別の定型文を共有いただけますか</a:t>
            </a: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 </a:t>
            </a:r>
            <a:br>
              <a:rPr lang="en-US"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</a:b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「</a:t>
            </a:r>
            <a:r>
              <a:rPr sz="11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調査結果から下書きを自動生成→人が確認して送信」の運用</a:t>
            </a:r>
            <a:r>
              <a:rPr lang="ja-JP" altLang="en-US"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も可能</a:t>
            </a:r>
            <a:r>
              <a:rPr sz="110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でしょうか</a:t>
            </a:r>
            <a:r>
              <a:rPr sz="11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？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46320" y="5934456"/>
            <a:ext cx="640080" cy="0"/>
          </a:xfrm>
          <a:prstGeom prst="line">
            <a:avLst/>
          </a:prstGeom>
          <a:ln w="15875">
            <a:solidFill>
              <a:srgbClr val="E864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48640" y="2107692"/>
            <a:ext cx="4297680" cy="0"/>
          </a:xfrm>
          <a:prstGeom prst="line">
            <a:avLst/>
          </a:prstGeom>
          <a:ln w="15875">
            <a:solidFill>
              <a:srgbClr val="A7AC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920858" y="2038442"/>
            <a:ext cx="1553244" cy="1384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↓ </a:t>
            </a:r>
            <a:r>
              <a:rPr sz="900" b="1" i="0" err="1">
                <a:solidFill>
                  <a:srgbClr val="E86487"/>
                </a:solidFill>
                <a:latin typeface="BIZ UDPゴシック"/>
                <a:ea typeface="BIZ UDPゴシック"/>
                <a:cs typeface="BIZ UDPゴシック"/>
              </a:rPr>
              <a:t>ここから【両系断】の対応</a:t>
            </a:r>
            <a:endParaRPr sz="900" b="1" i="0">
              <a:solidFill>
                <a:srgbClr val="E86487"/>
              </a:solidFill>
              <a:latin typeface="BIZ UDPゴシック"/>
              <a:ea typeface="BIZ UDPゴシック"/>
              <a:cs typeface="BIZ UDPゴシック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2697480" y="2843784"/>
            <a:ext cx="0" cy="228600"/>
          </a:xfrm>
          <a:prstGeom prst="line">
            <a:avLst/>
          </a:prstGeom>
          <a:ln w="25400">
            <a:solidFill>
              <a:srgbClr val="0020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05761" y="3707891"/>
            <a:ext cx="0" cy="228600"/>
          </a:xfrm>
          <a:prstGeom prst="line">
            <a:avLst/>
          </a:prstGeom>
          <a:ln w="25400">
            <a:solidFill>
              <a:srgbClr val="0020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55367" y="4552043"/>
            <a:ext cx="0" cy="228600"/>
          </a:xfrm>
          <a:prstGeom prst="line">
            <a:avLst/>
          </a:prstGeom>
          <a:ln w="25400">
            <a:solidFill>
              <a:srgbClr val="0020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065095" y="4556615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コラボの場合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55367" y="5408676"/>
            <a:ext cx="0" cy="228600"/>
          </a:xfrm>
          <a:prstGeom prst="line">
            <a:avLst/>
          </a:prstGeom>
          <a:ln w="25400">
            <a:solidFill>
              <a:srgbClr val="0020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AB660C8-4BAC-C1C7-DB4B-8187DA6E5B6B}"/>
              </a:ext>
            </a:extLst>
          </p:cNvPr>
          <p:cNvSpPr/>
          <p:nvPr/>
        </p:nvSpPr>
        <p:spPr>
          <a:xfrm>
            <a:off x="9029700" y="68580"/>
            <a:ext cx="3055620" cy="1111171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確認中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自動化イメージ</a:t>
            </a:r>
            <a:r>
              <a:rPr lang="ja-JP" altLang="en-US" sz="2800" dirty="0"/>
              <a:t>案</a:t>
            </a:r>
            <a:endParaRPr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95085"/>
            <a:ext cx="112471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既存ツールの置き換え・半自動化を中心とした当社案です。ご回答内容の確認とあわせてディスカッションできれば幸いです。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286000" cy="365760"/>
          </a:xfrm>
          <a:prstGeom prst="roundRect">
            <a:avLst>
              <a:gd name="adj" fmla="val 9000"/>
            </a:avLst>
          </a:prstGeom>
          <a:solidFill>
            <a:srgbClr val="00209B"/>
          </a:solidFill>
          <a:ln w="19050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2788920" y="1417320"/>
            <a:ext cx="4937760" cy="365760"/>
          </a:xfrm>
          <a:prstGeom prst="roundRect">
            <a:avLst>
              <a:gd name="adj" fmla="val 9000"/>
            </a:avLst>
          </a:prstGeom>
          <a:solidFill>
            <a:srgbClr val="00209B"/>
          </a:solidFill>
          <a:ln w="19050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7772400" y="1417320"/>
            <a:ext cx="3959352" cy="365760"/>
          </a:xfrm>
          <a:prstGeom prst="roundRect">
            <a:avLst>
              <a:gd name="adj" fmla="val 9000"/>
            </a:avLst>
          </a:prstGeom>
          <a:solidFill>
            <a:srgbClr val="00209B"/>
          </a:solidFill>
          <a:ln w="19050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2286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対象工程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481328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自動化イメージ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481328"/>
            <a:ext cx="395935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rPr>
              <a:t>使うもの（在りもの中心）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2286000" cy="621792"/>
          </a:xfrm>
          <a:prstGeom prst="roundRect">
            <a:avLst>
              <a:gd name="adj" fmla="val 9000"/>
            </a:avLst>
          </a:prstGeom>
          <a:solidFill>
            <a:srgbClr val="EDF3F9"/>
          </a:solidFill>
          <a:ln w="1587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①検知〜②IPSec確認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74519"/>
            <a:ext cx="4937760" cy="621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>
              <a:lnSpc>
                <a:spcPct val="100000"/>
              </a:lnSpc>
            </a:pPr>
            <a:r>
              <a:rPr sz="1050" b="0" i="0" err="1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アラート起点で状態取得を自動実行（判定は人の承認付き</a:t>
            </a:r>
            <a:r>
              <a:rPr sz="10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874519"/>
            <a:ext cx="3959352" cy="621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ダッシュボードのAPI／Webhook＋ジョブ自動実行（Ansible等）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9463"/>
            <a:ext cx="2286000" cy="621792"/>
          </a:xfrm>
          <a:prstGeom prst="roundRect">
            <a:avLst>
              <a:gd name="adj" fmla="val 9000"/>
            </a:avLst>
          </a:prstGeom>
          <a:solidFill>
            <a:srgbClr val="EDF3F9"/>
          </a:solidFill>
          <a:ln w="1587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③④CPE・⑤収容GW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569463"/>
            <a:ext cx="4937760" cy="621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ログイン〜コマンド実行〜証跡保存を定型Runbook化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569463"/>
            <a:ext cx="3959352" cy="621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NW自動化ツール（Ansible／Netmiko系）の在りものRunbook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64407"/>
            <a:ext cx="2286000" cy="621792"/>
          </a:xfrm>
          <a:prstGeom prst="roundRect">
            <a:avLst>
              <a:gd name="adj" fmla="val 9000"/>
            </a:avLst>
          </a:prstGeom>
          <a:solidFill>
            <a:srgbClr val="EDF3F9"/>
          </a:solidFill>
          <a:ln w="1587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⑥片系／両系判定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264407"/>
            <a:ext cx="4937760" cy="621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SO情報×トンネル状態の突合で機械判定 → 人が最終確認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264407"/>
            <a:ext cx="3959352" cy="621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SOシステム参照I/F＋判定ルール（AIエージェント適用候補）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59351"/>
            <a:ext cx="2286000" cy="621792"/>
          </a:xfrm>
          <a:prstGeom prst="roundRect">
            <a:avLst>
              <a:gd name="adj" fmla="val 9000"/>
            </a:avLst>
          </a:prstGeom>
          <a:solidFill>
            <a:srgbClr val="EDF3F9"/>
          </a:solidFill>
          <a:ln w="1587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⑦設備エスカレ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959351"/>
            <a:ext cx="4937760" cy="621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チケットのドラフト自動起票（人が確認して発行）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959351"/>
            <a:ext cx="3959352" cy="621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ServiceNow標準API（在りもの）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54295"/>
            <a:ext cx="2286000" cy="621792"/>
          </a:xfrm>
          <a:prstGeom prst="roundRect">
            <a:avLst>
              <a:gd name="adj" fmla="val 9000"/>
            </a:avLst>
          </a:prstGeom>
          <a:solidFill>
            <a:srgbClr val="FFF4E8"/>
          </a:solidFill>
          <a:ln w="15875">
            <a:solidFill>
              <a:srgbClr val="C46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⑧⑨フレッツ・広域調査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4654295"/>
            <a:ext cx="4937760" cy="621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46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電話は当面継続。公開障害情報の自動巡回＋結果入力のフォーム化で補助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4654295"/>
            <a:ext cx="3959352" cy="621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C46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NTT東西の工事故障情報ページ巡回／フォーム＋ワークフロー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49239"/>
            <a:ext cx="2286000" cy="621792"/>
          </a:xfrm>
          <a:prstGeom prst="roundRect">
            <a:avLst>
              <a:gd name="adj" fmla="val 9000"/>
            </a:avLst>
          </a:prstGeom>
          <a:solidFill>
            <a:srgbClr val="EDF3F9"/>
          </a:solidFill>
          <a:ln w="1587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45720" bIns="18288" rtlCol="0" anchor="ctr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⑫顧客報告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8920" y="5349239"/>
            <a:ext cx="4937760" cy="621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障害種別×定型文でメール下書きを自動生成（送信は必ず人）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5349239"/>
            <a:ext cx="3959352" cy="621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2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生成AIによる下書き＋既存メール環境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080759"/>
            <a:ext cx="11247120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■</a:t>
            </a:r>
            <a:r>
              <a:rPr sz="10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＝自動化候補　</a:t>
            </a:r>
            <a:r>
              <a:rPr sz="1050" b="1" i="0">
                <a:solidFill>
                  <a:srgbClr val="C4602A"/>
                </a:solidFill>
                <a:latin typeface="BIZ UDPゴシック"/>
                <a:ea typeface="BIZ UDPゴシック"/>
                <a:cs typeface="BIZ UDPゴシック"/>
              </a:rPr>
              <a:t>■</a:t>
            </a:r>
            <a:r>
              <a:rPr sz="1000" b="0" i="0">
                <a:solidFill>
                  <a:srgbClr val="191919"/>
                </a:solidFill>
                <a:latin typeface="BIZ UDPゴシック"/>
                <a:ea typeface="BIZ UDPゴシック"/>
                <a:cs typeface="BIZ UDPゴシック"/>
              </a:rPr>
              <a:t>＝当面は半自動化（電話等のヒト手対応が残る想定）</a:t>
            </a:r>
          </a:p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209B"/>
                </a:solidFill>
                <a:latin typeface="BIZ UDPゴシック"/>
                <a:ea typeface="BIZ UDPゴシック"/>
                <a:cs typeface="BIZ UDPゴシック"/>
              </a:rPr>
              <a:t>※ TO様にてエージェントをご検討中と伺っております。①〜③は重複投資とならないよう、役割分担をご相談させてください。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10D06C9-EBED-6F5D-005F-42ED25F6A3CF}"/>
              </a:ext>
            </a:extLst>
          </p:cNvPr>
          <p:cNvSpPr/>
          <p:nvPr/>
        </p:nvSpPr>
        <p:spPr>
          <a:xfrm>
            <a:off x="9029700" y="68580"/>
            <a:ext cx="3055620" cy="1111171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持ってけたら持ってく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CA871B-1D64-6422-1825-AE06F8DFBB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kumimoji="1" lang="en-US" altLang="ja-JP"/>
              <a:t>End of Document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44250D-28F8-6DF2-7E14-230A7268E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8" y="4353680"/>
            <a:ext cx="11184283" cy="784912"/>
          </a:xfrm>
        </p:spPr>
        <p:txBody>
          <a:bodyPr/>
          <a:lstStyle/>
          <a:p>
            <a:r>
              <a:rPr lang="ja-JP" altLang="en-US"/>
              <a:t>双日テックイノベーション、双日テックイノベーションのロゴは、双日テックイノベーション株式会社の登録商標です。 </a:t>
            </a:r>
            <a:endParaRPr lang="en-US" altLang="ja-JP"/>
          </a:p>
          <a:p>
            <a:r>
              <a:rPr lang="ja-JP" altLang="en-US"/>
              <a:t>その他記載されている全ての商標、サービスマーク、登録商標、登録サービスマークは、各所有者に所有権があります。 </a:t>
            </a:r>
            <a:endParaRPr lang="en-US" altLang="ja-JP"/>
          </a:p>
          <a:p>
            <a:endParaRPr lang="en-US" altLang="ja-JP"/>
          </a:p>
          <a:p>
            <a:r>
              <a:rPr lang="ja-JP" altLang="en-US"/>
              <a:t>本書記載の仕様はすべて予告なく変更される場合があります。</a:t>
            </a:r>
            <a:endParaRPr lang="en-US" altLang="ja-JP"/>
          </a:p>
          <a:p>
            <a:r>
              <a:rPr lang="ja-JP" altLang="en-US"/>
              <a:t>本書の記載内容に誤りがあった場合、 あるいは記載内容を更新する義務が生じた場合も、双日テックイノベーションは一切責任を負いません。 </a:t>
            </a:r>
            <a:endParaRPr lang="en-US" altLang="ja-JP"/>
          </a:p>
          <a:p>
            <a:r>
              <a:rPr lang="ja-JP" altLang="en-US"/>
              <a:t>双日テックイノベーションは、本書を予告無く変更、修正、または改訂する権利を有します。 </a:t>
            </a:r>
            <a:endParaRPr lang="en-US" altLang="ja-JP"/>
          </a:p>
          <a:p>
            <a:r>
              <a:rPr lang="ja-JP" altLang="en-US"/>
              <a:t>本書に記載されている内容を無断で複写、複製することを禁じます。</a:t>
            </a:r>
            <a:endParaRPr lang="en-US" altLang="ja-JP"/>
          </a:p>
          <a:p>
            <a:r>
              <a:rPr lang="ja-JP" altLang="en-US"/>
              <a:t> </a:t>
            </a:r>
            <a:endParaRPr lang="en-US" altLang="ja-JP"/>
          </a:p>
          <a:p>
            <a:r>
              <a:rPr lang="ja-JP" altLang="en-US"/>
              <a:t>記載の価格は参考価格となり、ご検討の際にはお見積りのご依頼をお願いいたします。 </a:t>
            </a:r>
            <a:endParaRPr lang="en-US" altLang="ja-JP"/>
          </a:p>
          <a:p>
            <a:r>
              <a:rPr lang="ja-JP" altLang="en-US"/>
              <a:t>為替変更やメーカーの価格改定により予告なく変更することがあります。</a:t>
            </a:r>
          </a:p>
        </p:txBody>
      </p:sp>
    </p:spTree>
    <p:extLst>
      <p:ext uri="{BB962C8B-B14F-4D97-AF65-F5344CB8AC3E}">
        <p14:creationId xmlns:p14="http://schemas.microsoft.com/office/powerpoint/2010/main" val="3507851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STechI PPT COLOR">
      <a:dk1>
        <a:srgbClr val="191919"/>
      </a:dk1>
      <a:lt1>
        <a:srgbClr val="FFFFFF"/>
      </a:lt1>
      <a:dk2>
        <a:srgbClr val="A7ACAF"/>
      </a:dk2>
      <a:lt2>
        <a:srgbClr val="EDF3F9"/>
      </a:lt2>
      <a:accent1>
        <a:srgbClr val="00209B"/>
      </a:accent1>
      <a:accent2>
        <a:srgbClr val="2A65F5"/>
      </a:accent2>
      <a:accent3>
        <a:srgbClr val="E86487"/>
      </a:accent3>
      <a:accent4>
        <a:srgbClr val="AAA5FD"/>
      </a:accent4>
      <a:accent5>
        <a:srgbClr val="55D2D8"/>
      </a:accent5>
      <a:accent6>
        <a:srgbClr val="6BB8F2"/>
      </a:accent6>
      <a:hlink>
        <a:srgbClr val="6BB8F2"/>
      </a:hlink>
      <a:folHlink>
        <a:srgbClr val="E86487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rtlCol="0" anchor="ctr"/>
      <a:lstStyle>
        <a:defPPr algn="ctr">
          <a:defRPr kumimoji="1" b="1" dirty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1121</Words>
  <Application>Microsoft Office PowerPoint</Application>
  <PresentationFormat>ワイド画面</PresentationFormat>
  <Paragraphs>169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5" baseType="lpstr">
      <vt:lpstr>BIZ UDPGothic</vt:lpstr>
      <vt:lpstr>BIZ UDPGothic</vt:lpstr>
      <vt:lpstr>游ゴシック</vt:lpstr>
      <vt:lpstr>Aptos</vt:lpstr>
      <vt:lpstr>Aptos Display</vt:lpstr>
      <vt:lpstr>Arial</vt:lpstr>
      <vt:lpstr>Wingdings</vt:lpstr>
      <vt:lpstr>Office テーマ</vt:lpstr>
      <vt:lpstr>PrimeConnect ONE 監視業務フロー ／ ご回答の反映と追加確認</vt:lpstr>
      <vt:lpstr>本資料の目的</vt:lpstr>
      <vt:lpstr>構成図イメージ</vt:lpstr>
      <vt:lpstr>監視業務フロー（1/2）　障害検知 〜 片系断／両系断の判定</vt:lpstr>
      <vt:lpstr>監視業務フロー（2/2）　判定後の対応 〜 顧客報告</vt:lpstr>
      <vt:lpstr>自動化イメージ案</vt:lpstr>
      <vt:lpstr>End of Document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2026-07-24T06:02:47Z</dcterms:created>
  <dcterms:modified xsi:type="dcterms:W3CDTF">2026-07-28T09:13:31Z</dcterms:modified>
</cp:coreProperties>
</file>