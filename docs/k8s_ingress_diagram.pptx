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スライド51(NodePort方式)のIngress版。外部からの入口をIngress Controller用のNodePort 1つに集約し、Ingressリソースのルール(ホスト名/パス)でWeb-App Serviceへ転送する。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NodePort方式は検証・小規模向け。複数アプリを公開する大規模環境ではIngress方式で入口を集約する。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ユーザPodへの通信イメージ:外部から通信(Ingress利用)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©Sojitz Tech-Innovation Co., Ltd. All Rights Reserved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5105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52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74320" y="914400"/>
            <a:ext cx="11640312" cy="5458968"/>
          </a:xfrm>
          <a:prstGeom prst="rect">
            <a:avLst/>
          </a:prstGeom>
          <a:solidFill>
            <a:srgbClr val="FFFFFF"/>
          </a:solidFill>
          <a:ln w="9525">
            <a:solidFill>
              <a:srgbClr val="6B728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0040" y="1005840"/>
            <a:ext cx="868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Pod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265176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Services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(ClusterIP)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320040" y="361188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ノード階層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320040" y="5257800"/>
            <a:ext cx="868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ロードバランサ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188720" y="1005840"/>
            <a:ext cx="10652760" cy="1554480"/>
          </a:xfrm>
          <a:prstGeom prst="roundRect">
            <a:avLst>
              <a:gd name="adj" fmla="val 7059"/>
            </a:avLst>
          </a:prstGeom>
          <a:solidFill>
            <a:srgbClr val="FCE4EC"/>
          </a:solidFill>
          <a:ln w="12700">
            <a:solidFill>
              <a:srgbClr val="FCE4E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88720" y="2651760"/>
            <a:ext cx="10652760" cy="868680"/>
          </a:xfrm>
          <a:prstGeom prst="roundRect">
            <a:avLst>
              <a:gd name="adj" fmla="val 12632"/>
            </a:avLst>
          </a:prstGeom>
          <a:solidFill>
            <a:srgbClr val="DAEAF7"/>
          </a:solidFill>
          <a:ln w="12700">
            <a:solidFill>
              <a:srgbClr val="DAEA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3611880"/>
            <a:ext cx="10652760" cy="1234440"/>
          </a:xfrm>
          <a:prstGeom prst="roundRect">
            <a:avLst>
              <a:gd name="adj" fmla="val 8889"/>
            </a:avLst>
          </a:prstGeom>
          <a:solidFill>
            <a:srgbClr val="F6C6C2"/>
          </a:solidFill>
          <a:ln w="12700">
            <a:solidFill>
              <a:srgbClr val="F6C6C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0" y="1033272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IPレンジ:192.168.0.0/16(クラスタ構成時指定無しのデフォルト)</a:t>
            </a:r>
            <a:endParaRPr lang="en-US" sz="800" dirty="0"/>
          </a:p>
        </p:txBody>
      </p:sp>
      <p:sp>
        <p:nvSpPr>
          <p:cNvPr id="17" name="Text 14"/>
          <p:cNvSpPr txBox="1"/>
          <p:nvPr/>
        </p:nvSpPr>
        <p:spPr>
          <a:xfrm>
            <a:off x="1371600" y="1188720"/>
            <a:ext cx="914400" cy="457200"/>
          </a:xfrm>
          <a:prstGeom prst="roundRect">
            <a:avLst>
              <a:gd name="adj" fmla="val 16000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etcd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2377440" y="118872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Kube-apiserver</a:t>
            </a:r>
            <a:endParaRPr lang="en-US" sz="900" dirty="0"/>
          </a:p>
        </p:txBody>
      </p:sp>
      <p:sp>
        <p:nvSpPr>
          <p:cNvPr id="19" name="Text 16"/>
          <p:cNvSpPr txBox="1"/>
          <p:nvPr/>
        </p:nvSpPr>
        <p:spPr>
          <a:xfrm>
            <a:off x="1371600" y="17830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Kube-controller</a:t>
            </a:r>
            <a:endParaRPr lang="en-US" sz="900" dirty="0"/>
          </a:p>
        </p:txBody>
      </p:sp>
      <p:sp>
        <p:nvSpPr>
          <p:cNvPr id="20" name="Text 17"/>
          <p:cNvSpPr txBox="1"/>
          <p:nvPr/>
        </p:nvSpPr>
        <p:spPr>
          <a:xfrm>
            <a:off x="2514600" y="178308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Kube-scheduler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3657600" y="1783080"/>
            <a:ext cx="822960" cy="457200"/>
          </a:xfrm>
          <a:prstGeom prst="roundRect">
            <a:avLst>
              <a:gd name="adj" fmla="val 16000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CoreDNS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7315200" y="1371600"/>
            <a:ext cx="1645920" cy="777240"/>
          </a:xfrm>
          <a:prstGeom prst="roundRect">
            <a:avLst>
              <a:gd name="adj" fmla="val 9412"/>
            </a:avLst>
          </a:prstGeom>
          <a:solidFill>
            <a:srgbClr val="00897B"/>
          </a:solidFill>
          <a:ln w="19050">
            <a:solidFill>
              <a:srgbClr val="173F7A"/>
            </a:solidFill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 Controller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(ingress-nginx) Pod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クラスタ内リバースプロキシ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9308592" y="1417320"/>
            <a:ext cx="1225296" cy="768096"/>
          </a:xfrm>
          <a:prstGeom prst="rect">
            <a:avLst/>
          </a:prstGeom>
          <a:ln w="19050">
            <a:solidFill>
              <a:srgbClr val="E53935"/>
            </a:solidFill>
            <a:prstDash val="dash"/>
          </a:ln>
        </p:spPr>
      </p:sp>
      <p:sp>
        <p:nvSpPr>
          <p:cNvPr id="24" name="Text 21"/>
          <p:cNvSpPr txBox="1"/>
          <p:nvPr/>
        </p:nvSpPr>
        <p:spPr>
          <a:xfrm>
            <a:off x="9372600" y="1481328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Web-App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(nginx)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10588752" y="1417320"/>
            <a:ext cx="1225296" cy="768096"/>
          </a:xfrm>
          <a:prstGeom prst="rect">
            <a:avLst/>
          </a:prstGeom>
          <a:ln w="19050">
            <a:solidFill>
              <a:srgbClr val="E53935"/>
            </a:solidFill>
            <a:prstDash val="dash"/>
          </a:ln>
        </p:spPr>
      </p:sp>
      <p:sp>
        <p:nvSpPr>
          <p:cNvPr id="26" name="Text 23"/>
          <p:cNvSpPr txBox="1"/>
          <p:nvPr/>
        </p:nvSpPr>
        <p:spPr>
          <a:xfrm>
            <a:off x="10652760" y="1481328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FFD966"/>
          </a:solidFill>
          <a:ln w="9525">
            <a:solidFill>
              <a:srgbClr val="FFD966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Web-App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(nginx)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4617720" y="1051560"/>
            <a:ext cx="2560320" cy="2377440"/>
          </a:xfrm>
          <a:prstGeom prst="roundRect">
            <a:avLst>
              <a:gd name="adj" fmla="val 3077"/>
            </a:avLst>
          </a:prstGeom>
          <a:solidFill>
            <a:srgbClr val="8FD14F"/>
          </a:solidFill>
          <a:ln w="12700">
            <a:solidFill>
              <a:srgbClr val="6AA83A"/>
            </a:solidFill>
          </a:ln>
        </p:spPr>
        <p:txBody>
          <a:bodyPr wrap="square" lIns="63500" tIns="63500" rIns="63500" bIns="63500" rtlCol="0" anchor="t"/>
          <a:lstStyle/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 = クラスタ内のリバースプロキシ(L7)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① 利用者 → HAProxy(VIP)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② Worker の NodePort:30080(Ingress Controller用)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③ kube-proxy(iptables DNAT)で Ingress Controller Pod へ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④ Ingressリソースのルール(ホスト名/パス)を評価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⑤ Web-App Service(ClusterIP)へ転送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⑥ Web-App Pod へ到達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 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【ポイント】</a:t>
            </a:r>
            <a:endParaRPr lang="en-US" sz="750" dirty="0"/>
          </a:p>
          <a:p>
            <a:pPr algn="l" indent="0" marL="0">
              <a:spcAft>
                <a:spcPts val="100"/>
              </a:spcAft>
              <a:buNone/>
            </a:pPr>
            <a:r>
              <a:rPr lang="en-US" sz="750" b="1" dirty="0">
                <a:solidFill>
                  <a:srgbClr val="B71C1C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外部に開ける NodePort は Ingress 用の1つだけ。アプリ追加は Ingress リソースの追加のみで、HAProxy 設定は不変。TLS終端・証明書管理も Ingress に集約できる。</a:t>
            </a:r>
            <a:endParaRPr lang="en-US" sz="750" dirty="0"/>
          </a:p>
        </p:txBody>
      </p:sp>
      <p:sp>
        <p:nvSpPr>
          <p:cNvPr id="28" name="Text 25"/>
          <p:cNvSpPr txBox="1"/>
          <p:nvPr/>
        </p:nvSpPr>
        <p:spPr>
          <a:xfrm>
            <a:off x="1371600" y="2788920"/>
            <a:ext cx="1371600" cy="594360"/>
          </a:xfrm>
          <a:prstGeom prst="roundRect">
            <a:avLst>
              <a:gd name="adj" fmla="val 12308"/>
            </a:avLst>
          </a:prstGeom>
          <a:solidFill>
            <a:srgbClr val="5AAEE0"/>
          </a:solidFill>
          <a:ln w="9525">
            <a:solidFill>
              <a:srgbClr val="5AAE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10.96.0.1/12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(Port:443)</a:t>
            </a:r>
            <a:endParaRPr lang="en-US" sz="900" dirty="0"/>
          </a:p>
        </p:txBody>
      </p:sp>
      <p:sp>
        <p:nvSpPr>
          <p:cNvPr id="29" name="Text 26"/>
          <p:cNvSpPr txBox="1"/>
          <p:nvPr/>
        </p:nvSpPr>
        <p:spPr>
          <a:xfrm>
            <a:off x="2834640" y="2788920"/>
            <a:ext cx="1691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IPレンジ:10.96.0.0/12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(デフォルト)</a:t>
            </a:r>
            <a:endParaRPr lang="en-US" sz="800" dirty="0"/>
          </a:p>
        </p:txBody>
      </p:sp>
      <p:sp>
        <p:nvSpPr>
          <p:cNvPr id="30" name="Text 27"/>
          <p:cNvSpPr txBox="1"/>
          <p:nvPr/>
        </p:nvSpPr>
        <p:spPr>
          <a:xfrm>
            <a:off x="7269480" y="2743200"/>
            <a:ext cx="1691640" cy="685800"/>
          </a:xfrm>
          <a:prstGeom prst="roundRect">
            <a:avLst>
              <a:gd name="adj" fmla="val 10667"/>
            </a:avLst>
          </a:prstGeom>
          <a:solidFill>
            <a:srgbClr val="80CBC4"/>
          </a:solidFill>
          <a:ln w="9525">
            <a:solidFill>
              <a:srgbClr val="80CBC4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ingress-nginx-controller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Service(NodePort)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30080 / 30443</a:t>
            </a:r>
            <a:endParaRPr lang="en-US" sz="800" dirty="0"/>
          </a:p>
        </p:txBody>
      </p:sp>
      <p:sp>
        <p:nvSpPr>
          <p:cNvPr id="31" name="Text 28"/>
          <p:cNvSpPr txBox="1"/>
          <p:nvPr/>
        </p:nvSpPr>
        <p:spPr>
          <a:xfrm>
            <a:off x="9418320" y="2743200"/>
            <a:ext cx="2331720" cy="685800"/>
          </a:xfrm>
          <a:prstGeom prst="roundRect">
            <a:avLst>
              <a:gd name="adj" fmla="val 10667"/>
            </a:avLst>
          </a:prstGeom>
          <a:solidFill>
            <a:srgbClr val="5AAEE0"/>
          </a:solidFill>
          <a:ln w="9525">
            <a:solidFill>
              <a:srgbClr val="5AAEE0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Web-App Service(ClusterIP)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10.105.122.217 (Port:80)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1371600" y="3675888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9C93"/>
          </a:solidFill>
          <a:ln w="12700">
            <a:solidFill>
              <a:srgbClr val="F19C93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444752" y="374904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kubelet</a:t>
            </a:r>
            <a:endParaRPr lang="en-US" sz="850" dirty="0"/>
          </a:p>
        </p:txBody>
      </p:sp>
      <p:sp>
        <p:nvSpPr>
          <p:cNvPr id="34" name="Text 31"/>
          <p:cNvSpPr txBox="1"/>
          <p:nvPr/>
        </p:nvSpPr>
        <p:spPr>
          <a:xfrm>
            <a:off x="2148840" y="37490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コンテナランタイム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(Containerd)</a:t>
            </a:r>
            <a:endParaRPr lang="en-US" sz="700" dirty="0"/>
          </a:p>
        </p:txBody>
      </p:sp>
      <p:sp>
        <p:nvSpPr>
          <p:cNvPr id="35" name="Text 32"/>
          <p:cNvSpPr txBox="1"/>
          <p:nvPr/>
        </p:nvSpPr>
        <p:spPr>
          <a:xfrm>
            <a:off x="1371600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Master#1</a:t>
            </a:r>
            <a:endParaRPr lang="en-US" sz="1050" dirty="0"/>
          </a:p>
        </p:txBody>
      </p:sp>
      <p:sp>
        <p:nvSpPr>
          <p:cNvPr id="36" name="Shape 33"/>
          <p:cNvSpPr/>
          <p:nvPr/>
        </p:nvSpPr>
        <p:spPr>
          <a:xfrm>
            <a:off x="2286000" y="4663440"/>
            <a:ext cx="182880" cy="18288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371600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10.1.12.83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3456432" y="3675888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9C93"/>
          </a:solidFill>
          <a:ln w="12700">
            <a:solidFill>
              <a:srgbClr val="F19C93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3529584" y="374904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kubelet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4233672" y="37490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コンテナランタイム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(Containerd)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3456432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Master#2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4370832" y="4663440"/>
            <a:ext cx="182880" cy="18288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3456432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10.1.12.84</a:t>
            </a:r>
            <a:endParaRPr lang="en-US" sz="900" dirty="0"/>
          </a:p>
        </p:txBody>
      </p:sp>
      <p:sp>
        <p:nvSpPr>
          <p:cNvPr id="44" name="Shape 41"/>
          <p:cNvSpPr/>
          <p:nvPr/>
        </p:nvSpPr>
        <p:spPr>
          <a:xfrm>
            <a:off x="5541264" y="3675888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9C93"/>
          </a:solidFill>
          <a:ln w="12700">
            <a:solidFill>
              <a:srgbClr val="F19C93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614416" y="374904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kubelet</a:t>
            </a:r>
            <a:endParaRPr lang="en-US" sz="850" dirty="0"/>
          </a:p>
        </p:txBody>
      </p:sp>
      <p:sp>
        <p:nvSpPr>
          <p:cNvPr id="46" name="Text 43"/>
          <p:cNvSpPr txBox="1"/>
          <p:nvPr/>
        </p:nvSpPr>
        <p:spPr>
          <a:xfrm>
            <a:off x="6318504" y="37490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コンテナランタイム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(Containerd)</a:t>
            </a:r>
            <a:endParaRPr lang="en-US" sz="700" dirty="0"/>
          </a:p>
        </p:txBody>
      </p:sp>
      <p:sp>
        <p:nvSpPr>
          <p:cNvPr id="47" name="Text 44"/>
          <p:cNvSpPr txBox="1"/>
          <p:nvPr/>
        </p:nvSpPr>
        <p:spPr>
          <a:xfrm>
            <a:off x="5541264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Master#3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6455664" y="4663440"/>
            <a:ext cx="182880" cy="18288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5541264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10.1.12.85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7626096" y="3675888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9C93"/>
          </a:solidFill>
          <a:ln w="12700">
            <a:solidFill>
              <a:srgbClr val="F19C93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7699248" y="374904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kubelet</a:t>
            </a:r>
            <a:endParaRPr lang="en-US" sz="850" dirty="0"/>
          </a:p>
        </p:txBody>
      </p:sp>
      <p:sp>
        <p:nvSpPr>
          <p:cNvPr id="52" name="Text 49"/>
          <p:cNvSpPr txBox="1"/>
          <p:nvPr/>
        </p:nvSpPr>
        <p:spPr>
          <a:xfrm>
            <a:off x="8403336" y="37490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コンテナランタイム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(Containerd)</a:t>
            </a:r>
            <a:endParaRPr lang="en-US" sz="700" dirty="0"/>
          </a:p>
        </p:txBody>
      </p:sp>
      <p:sp>
        <p:nvSpPr>
          <p:cNvPr id="53" name="Text 50"/>
          <p:cNvSpPr txBox="1"/>
          <p:nvPr/>
        </p:nvSpPr>
        <p:spPr>
          <a:xfrm>
            <a:off x="7626096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Worker#1</a:t>
            </a:r>
            <a:endParaRPr lang="en-US" sz="1050" dirty="0"/>
          </a:p>
        </p:txBody>
      </p:sp>
      <p:sp>
        <p:nvSpPr>
          <p:cNvPr id="54" name="Shape 51"/>
          <p:cNvSpPr/>
          <p:nvPr/>
        </p:nvSpPr>
        <p:spPr>
          <a:xfrm>
            <a:off x="8540496" y="4663440"/>
            <a:ext cx="182880" cy="18288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7626096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10.1.12.86:30080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(Ingress用NodePort)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9710928" y="3675888"/>
            <a:ext cx="2011680" cy="1097280"/>
          </a:xfrm>
          <a:prstGeom prst="roundRect">
            <a:avLst>
              <a:gd name="adj" fmla="val 8333"/>
            </a:avLst>
          </a:prstGeom>
          <a:solidFill>
            <a:srgbClr val="F19C93"/>
          </a:solidFill>
          <a:ln w="12700">
            <a:solidFill>
              <a:srgbClr val="F19C93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9784080" y="3749040"/>
            <a:ext cx="640080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kubelet</a:t>
            </a:r>
            <a:endParaRPr lang="en-US" sz="850" dirty="0"/>
          </a:p>
        </p:txBody>
      </p:sp>
      <p:sp>
        <p:nvSpPr>
          <p:cNvPr id="58" name="Text 55"/>
          <p:cNvSpPr txBox="1"/>
          <p:nvPr/>
        </p:nvSpPr>
        <p:spPr>
          <a:xfrm>
            <a:off x="10488168" y="3749040"/>
            <a:ext cx="1161288" cy="384048"/>
          </a:xfrm>
          <a:prstGeom prst="roundRect">
            <a:avLst>
              <a:gd name="adj" fmla="val 19048"/>
            </a:avLst>
          </a:prstGeom>
          <a:solidFill>
            <a:srgbClr val="EE8C6C"/>
          </a:solidFill>
          <a:ln w="9525">
            <a:solidFill>
              <a:srgbClr val="EE8C6C"/>
            </a:solidFill>
          </a:ln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コンテナランタイム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(Containerd)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9710928" y="422452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Worker#2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0625328" y="4663440"/>
            <a:ext cx="182880" cy="182880"/>
          </a:xfrm>
          <a:prstGeom prst="ellipse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710928" y="486460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10.1.12.87:30080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(Ingress用NodePort)</a:t>
            </a:r>
            <a:endParaRPr lang="en-US" sz="800" dirty="0"/>
          </a:p>
        </p:txBody>
      </p:sp>
      <p:sp>
        <p:nvSpPr>
          <p:cNvPr id="62" name="Text 59"/>
          <p:cNvSpPr txBox="1"/>
          <p:nvPr/>
        </p:nvSpPr>
        <p:spPr>
          <a:xfrm>
            <a:off x="1188720" y="5285232"/>
            <a:ext cx="3108960" cy="1024128"/>
          </a:xfrm>
          <a:prstGeom prst="roundRect">
            <a:avLst>
              <a:gd name="adj" fmla="val 7143"/>
            </a:avLst>
          </a:prstGeom>
          <a:solidFill>
            <a:srgbClr val="8FD14F"/>
          </a:solidFill>
          <a:ln w="12700">
            <a:solidFill>
              <a:srgbClr val="6AA83A"/>
            </a:solidFill>
          </a:ln>
        </p:spPr>
        <p:txBody>
          <a:bodyPr wrap="square" lIns="63500" tIns="63500" rIns="63500" bIns="6350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プロキシのルールを作っておく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10.1.12.81:80</a:t>
            </a:r>
            <a:endParaRPr lang="en-US" sz="800" dirty="0"/>
          </a:p>
          <a:p>
            <a:pPr algn="l" indent="0" marL="0">
              <a:buNone/>
            </a:pPr>
            <a:r>
              <a:rPr lang="en-US" sz="8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→ 10.1.12.86:30080 / 10.1.12.87:30080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※転送先は Ingress Controller のみ。</a:t>
            </a:r>
            <a:endParaRPr lang="en-US" sz="800" dirty="0"/>
          </a:p>
          <a:p>
            <a:pPr algn="l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　アプリを増やしても HAProxy 設定は変えない</a:t>
            </a:r>
            <a:endParaRPr lang="en-US" sz="800" dirty="0"/>
          </a:p>
        </p:txBody>
      </p:sp>
      <p:sp>
        <p:nvSpPr>
          <p:cNvPr id="63" name="Text 60"/>
          <p:cNvSpPr txBox="1"/>
          <p:nvPr/>
        </p:nvSpPr>
        <p:spPr>
          <a:xfrm>
            <a:off x="5120640" y="548640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5AAEE0"/>
          </a:solidFill>
          <a:ln w="9525">
            <a:solidFill>
              <a:srgbClr val="5AAEE0"/>
            </a:solidFill>
          </a:ln>
          <a:effectLst>
            <a:outerShdw sx="100000" sy="100000" kx="0" ky="0" algn="bl" rotWithShape="0" blurRad="38100" dist="25400" dir="2700000">
              <a:srgbClr val="000000">
                <a:alpha val="25000"/>
              </a:srgbClr>
            </a:outerShdw>
          </a:effectLst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LoadBalancer (Rocky9)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HAProxy</a:t>
            </a:r>
            <a:endParaRPr lang="en-US" sz="1000" dirty="0"/>
          </a:p>
        </p:txBody>
      </p:sp>
      <p:sp>
        <p:nvSpPr>
          <p:cNvPr id="64" name="Text 61"/>
          <p:cNvSpPr txBox="1"/>
          <p:nvPr/>
        </p:nvSpPr>
        <p:spPr>
          <a:xfrm>
            <a:off x="5120640" y="60533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VIP: 10.1.12.81:80</a:t>
            </a:r>
            <a:endParaRPr lang="en-US" sz="900" dirty="0"/>
          </a:p>
        </p:txBody>
      </p:sp>
      <p:sp>
        <p:nvSpPr>
          <p:cNvPr id="65" name="Shape 62"/>
          <p:cNvSpPr/>
          <p:nvPr/>
        </p:nvSpPr>
        <p:spPr>
          <a:xfrm>
            <a:off x="11265408" y="5413248"/>
            <a:ext cx="310896" cy="310896"/>
          </a:xfrm>
          <a:prstGeom prst="ellipse">
            <a:avLst/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11155680" y="5742432"/>
            <a:ext cx="530352" cy="384048"/>
          </a:xfrm>
          <a:prstGeom prst="roundRect">
            <a:avLst>
              <a:gd name="adj" fmla="val 28571"/>
            </a:avLst>
          </a:prstGeom>
          <a:solidFill>
            <a:srgbClr val="173F7A"/>
          </a:solidFill>
          <a:ln w="12700">
            <a:solidFill>
              <a:srgbClr val="173F7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10972800" y="6144768"/>
            <a:ext cx="896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利用者</a:t>
            </a:r>
            <a:endParaRPr lang="en-US" sz="800" dirty="0"/>
          </a:p>
        </p:txBody>
      </p:sp>
      <p:sp>
        <p:nvSpPr>
          <p:cNvPr id="68" name="Text 65"/>
          <p:cNvSpPr txBox="1"/>
          <p:nvPr/>
        </p:nvSpPr>
        <p:spPr>
          <a:xfrm>
            <a:off x="8778240" y="528523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http://webapp.example.com</a:t>
            </a:r>
            <a:endParaRPr lang="en-US" sz="800" dirty="0"/>
          </a:p>
          <a:p>
            <a:pPr algn="r"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(DNS → VIP 10.1.12.81)</a:t>
            </a:r>
            <a:endParaRPr lang="en-US" sz="800" dirty="0"/>
          </a:p>
        </p:txBody>
      </p:sp>
      <p:sp>
        <p:nvSpPr>
          <p:cNvPr id="69" name="Shape 66"/>
          <p:cNvSpPr/>
          <p:nvPr/>
        </p:nvSpPr>
        <p:spPr>
          <a:xfrm flipH="1">
            <a:off x="8092440" y="5760720"/>
            <a:ext cx="3017520" cy="0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70" name="Text 67"/>
          <p:cNvSpPr txBox="1"/>
          <p:nvPr/>
        </p:nvSpPr>
        <p:spPr>
          <a:xfrm>
            <a:off x="9464040" y="5815584"/>
            <a:ext cx="246888" cy="2468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1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 flipV="1">
            <a:off x="6858000" y="4773168"/>
            <a:ext cx="1773936" cy="71323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72" name="Shape 69"/>
          <p:cNvSpPr/>
          <p:nvPr/>
        </p:nvSpPr>
        <p:spPr>
          <a:xfrm flipV="1">
            <a:off x="7498080" y="4773168"/>
            <a:ext cx="3218688" cy="713232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73" name="Text 70"/>
          <p:cNvSpPr txBox="1"/>
          <p:nvPr/>
        </p:nvSpPr>
        <p:spPr>
          <a:xfrm>
            <a:off x="7589520" y="5074920"/>
            <a:ext cx="246888" cy="2468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2</a:t>
            </a:r>
            <a:endParaRPr lang="en-US" sz="900" dirty="0"/>
          </a:p>
        </p:txBody>
      </p:sp>
      <p:sp>
        <p:nvSpPr>
          <p:cNvPr id="74" name="Shape 71"/>
          <p:cNvSpPr/>
          <p:nvPr/>
        </p:nvSpPr>
        <p:spPr>
          <a:xfrm flipH="1" flipV="1">
            <a:off x="8001000" y="3438144"/>
            <a:ext cx="411480" cy="173736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75" name="Shape 72"/>
          <p:cNvSpPr/>
          <p:nvPr/>
        </p:nvSpPr>
        <p:spPr>
          <a:xfrm flipH="1" flipV="1">
            <a:off x="8823960" y="3438144"/>
            <a:ext cx="1417320" cy="173736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76" name="Text 73"/>
          <p:cNvSpPr txBox="1"/>
          <p:nvPr/>
        </p:nvSpPr>
        <p:spPr>
          <a:xfrm>
            <a:off x="6967728" y="3182112"/>
            <a:ext cx="246888" cy="2468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3</a:t>
            </a:r>
            <a:endParaRPr lang="en-US" sz="900" dirty="0"/>
          </a:p>
        </p:txBody>
      </p:sp>
      <p:sp>
        <p:nvSpPr>
          <p:cNvPr id="77" name="Shape 74"/>
          <p:cNvSpPr/>
          <p:nvPr/>
        </p:nvSpPr>
        <p:spPr>
          <a:xfrm flipV="1">
            <a:off x="8138160" y="2157984"/>
            <a:ext cx="0" cy="585216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78" name="Text 75"/>
          <p:cNvSpPr txBox="1"/>
          <p:nvPr/>
        </p:nvSpPr>
        <p:spPr>
          <a:xfrm>
            <a:off x="8229600" y="2286000"/>
            <a:ext cx="246888" cy="2468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4</a:t>
            </a:r>
            <a:endParaRPr lang="en-US" sz="900" dirty="0"/>
          </a:p>
        </p:txBody>
      </p:sp>
      <p:sp>
        <p:nvSpPr>
          <p:cNvPr id="79" name="Shape 76"/>
          <p:cNvSpPr/>
          <p:nvPr/>
        </p:nvSpPr>
        <p:spPr>
          <a:xfrm>
            <a:off x="8778240" y="2148840"/>
            <a:ext cx="1280160" cy="594360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80" name="Text 77"/>
          <p:cNvSpPr txBox="1"/>
          <p:nvPr/>
        </p:nvSpPr>
        <p:spPr>
          <a:xfrm>
            <a:off x="9601200" y="2148840"/>
            <a:ext cx="246888" cy="2468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</a:t>
            </a:r>
            <a:endParaRPr lang="en-US" sz="900" dirty="0"/>
          </a:p>
        </p:txBody>
      </p:sp>
      <p:sp>
        <p:nvSpPr>
          <p:cNvPr id="81" name="Shape 78"/>
          <p:cNvSpPr/>
          <p:nvPr/>
        </p:nvSpPr>
        <p:spPr>
          <a:xfrm flipH="1" flipV="1">
            <a:off x="9939528" y="2194560"/>
            <a:ext cx="27432" cy="548640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82" name="Shape 79"/>
          <p:cNvSpPr/>
          <p:nvPr/>
        </p:nvSpPr>
        <p:spPr>
          <a:xfrm flipV="1">
            <a:off x="10972800" y="2194560"/>
            <a:ext cx="228600" cy="548640"/>
          </a:xfrm>
          <a:prstGeom prst="line">
            <a:avLst/>
          </a:prstGeom>
          <a:noFill/>
          <a:ln w="22225">
            <a:solidFill>
              <a:srgbClr val="2E5FA3"/>
            </a:solidFill>
            <a:prstDash val="solid"/>
            <a:tailEnd type="triangle"/>
          </a:ln>
        </p:spPr>
      </p:sp>
      <p:sp>
        <p:nvSpPr>
          <p:cNvPr id="83" name="Text 80"/>
          <p:cNvSpPr txBox="1"/>
          <p:nvPr/>
        </p:nvSpPr>
        <p:spPr>
          <a:xfrm>
            <a:off x="11475720" y="2331720"/>
            <a:ext cx="246888" cy="246888"/>
          </a:xfrm>
          <a:prstGeom prst="ellipse">
            <a:avLst/>
          </a:prstGeom>
          <a:solidFill>
            <a:srgbClr val="FFFFFF"/>
          </a:solidFill>
          <a:ln w="15875">
            <a:solidFill>
              <a:srgbClr val="2E5FA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E5FA3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20040" y="73152"/>
            <a:ext cx="11521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NodePort方式 と Ingress方式 の比較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1F5AA6"/>
          </a:solidFill>
          <a:ln w="12700">
            <a:solidFill>
              <a:srgbClr val="1F5A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320040" y="6510528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©Sojitz Tech-Innovation Co., Ltd. All Rights Reserved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11247120" y="6510528"/>
            <a:ext cx="640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53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00584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94360" y="1097280"/>
            <a:ext cx="5212080" cy="411480"/>
          </a:xfrm>
          <a:prstGeom prst="roundRect">
            <a:avLst>
              <a:gd name="adj" fmla="val 13333"/>
            </a:avLst>
          </a:prstGeom>
          <a:solidFill>
            <a:srgbClr val="6B728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NodePort方式(スライド51)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600200"/>
            <a:ext cx="51206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アプリ毎に NodePort(30000-32767)を1つ消費し、全ノードでポートを開ける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アプリを追加するたびに HAProxy の転送ルール(backend)を追加・変更する必要がある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L4(TCP)転送のみ。ホスト名やURLパスによる振り分けはできない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TLS 終端はアプリ側 or HAProxy 側でアプリ毎に個別対応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検証・小規模環境向け。構成が単純で理解しやすい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245352" y="1005840"/>
            <a:ext cx="5486400" cy="2514600"/>
          </a:xfrm>
          <a:prstGeom prst="roundRect">
            <a:avLst>
              <a:gd name="adj" fmla="val 3636"/>
            </a:avLst>
          </a:prstGeom>
          <a:solidFill>
            <a:srgbClr val="F9FAFB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382512" y="1097280"/>
            <a:ext cx="5212080" cy="411480"/>
          </a:xfrm>
          <a:prstGeom prst="roundRect">
            <a:avLst>
              <a:gd name="adj" fmla="val 13333"/>
            </a:avLst>
          </a:prstGeom>
          <a:solidFill>
            <a:srgbClr val="00897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Ingress方式(スライド52)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428232" y="1600200"/>
            <a:ext cx="5120640" cy="1828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外部からの入口は Ingress Controller 用の NodePort(30080/30443)1組だけ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アプリ追加は Ingress リソース(YAML)の追加のみ。HAProxy 設定は変更不要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L7(HTTP)ルーティング。ホスト名(webapp.example.com)や URL パスで Service へ振り分け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TLS 終端・証明書(Secret)管理を Ingress に集約できる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複数アプリを公開する本番・大規模環境向け。Ingress Controller の導入・運用が追加で必要</a:t>
            </a:r>
            <a:endParaRPr lang="en-US" sz="1050" dirty="0"/>
          </a:p>
        </p:txBody>
      </p:sp>
      <p:sp>
        <p:nvSpPr>
          <p:cNvPr id="14" name="Text 11"/>
          <p:cNvSpPr txBox="1"/>
          <p:nvPr/>
        </p:nvSpPr>
        <p:spPr>
          <a:xfrm>
            <a:off x="45720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 リソース定義例(webapp.example.com → Service web-app:80)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3959352"/>
            <a:ext cx="5486400" cy="2395728"/>
          </a:xfrm>
          <a:prstGeom prst="roundRect">
            <a:avLst>
              <a:gd name="adj" fmla="val 2290"/>
            </a:avLst>
          </a:prstGeom>
          <a:solidFill>
            <a:srgbClr val="F3F4F6"/>
          </a:solidFill>
          <a:ln w="9525">
            <a:solidFill>
              <a:srgbClr val="D1D5DB"/>
            </a:solidFill>
          </a:ln>
        </p:spPr>
        <p:txBody>
          <a:bodyPr wrap="square" lIns="76200" tIns="76200" rIns="76200" bIns="7620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apiVersion: networking.k8s.io/v1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kind: Ingress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metadata: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name: web-app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ingressClassName: nginx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rules: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host: webapp.example.com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http: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paths: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- path: /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pathType: Prefix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backend: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service: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name: web-app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port: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number: 80</a:t>
            </a:r>
            <a:endParaRPr lang="en-US" sz="800" dirty="0"/>
          </a:p>
        </p:txBody>
      </p:sp>
      <p:sp>
        <p:nvSpPr>
          <p:cNvPr id="16" name="Text 13"/>
          <p:cNvSpPr txBox="1"/>
          <p:nvPr/>
        </p:nvSpPr>
        <p:spPr>
          <a:xfrm>
            <a:off x="6245352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検証環境への導入イメージ</a:t>
            </a:r>
            <a:endParaRPr lang="en-US" sz="1050" dirty="0"/>
          </a:p>
        </p:txBody>
      </p:sp>
      <p:sp>
        <p:nvSpPr>
          <p:cNvPr id="17" name="Text 14"/>
          <p:cNvSpPr txBox="1"/>
          <p:nvPr/>
        </p:nvSpPr>
        <p:spPr>
          <a:xfrm>
            <a:off x="6245352" y="3959352"/>
            <a:ext cx="5486400" cy="2395728"/>
          </a:xfrm>
          <a:prstGeom prst="roundRect">
            <a:avLst>
              <a:gd name="adj" fmla="val 2290"/>
            </a:avLst>
          </a:prstGeom>
          <a:solidFill>
            <a:srgbClr val="F9FAFB"/>
          </a:solidFill>
          <a:ln w="9525">
            <a:solidFill>
              <a:srgbClr val="D1D5DB"/>
            </a:solidFill>
          </a:ln>
        </p:spPr>
        <p:txBody>
          <a:bodyPr wrap="square" lIns="76200" tIns="76200" rIns="76200" bIns="76200" rtlCol="0" anchor="t"/>
          <a:lstStyle/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ingress-nginx を導入(Service type: NodePort、30080/30443 を固定)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HAProxy の backend を 10.1.12.86:30080 / 10.1.12.87:30080 に変更(以後は変更しない)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Web-App(nginx) の Deployment と Service(ClusterIP:80)を作成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Ingress リソース(左記 YAML)を適用し、host → Service の対応を登録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DNS または hosts に webapp.example.com → 10.1.12.81 を登録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Font typeface="+mj-lt"/>
              <a:buAutoNum type="arabicPeriod" startAt="1"/>
            </a:pPr>
            <a:r>
              <a:rPr lang="en-US" sz="1000" dirty="0">
                <a:solidFill>
                  <a:srgbClr val="1F2937"/>
                </a:solidFill>
                <a:latin typeface="Meiryo UI" pitchFamily="34" charset="0"/>
                <a:ea typeface="Meiryo UI" pitchFamily="34" charset="-122"/>
                <a:cs typeface="Meiryo UI" pitchFamily="34" charset="-120"/>
              </a:rPr>
              <a:t>動作確認: curl -H "Host: webapp.example.com" http://10.1.12.81/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2026-09-04T02:27:22Z</dcterms:created>
  <dcterms:modified xsi:type="dcterms:W3CDTF">2026-09-04T02:27:22Z</dcterms:modified>
</cp:coreProperties>
</file>