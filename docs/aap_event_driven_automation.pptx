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定常運用の自動化(Job Template)に加え、Event-Driven Ansible により監視イベントを起点とした障害一次対応の半自動化・全自動化が可能になる点を説明。半自動(承認あり)から始め、定型化できたものを全自動へ段階的に移行する進め方を提案する。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Ansible Automation Platform による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運用自動化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703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2D2D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定常運用の自動化から、イベント駆動の障害一次対応へ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241280" y="5029200"/>
            <a:ext cx="1188720" cy="1188720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Red Hat Ansible Automation Platform を想定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51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定常運用の自動化に加え、障害の一次対応もイベントトリガーで自動化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4D4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いつ起こるか分からない障害にも、監視イベントを起点に「決められた一次対応」を即時・確実に実行する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6A6E73"/>
          </a:solidFill>
          <a:ln w="12700">
            <a:solidFill>
              <a:srgbClr val="6A6E7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0876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Before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人手による対応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0" y="1600200"/>
            <a:ext cx="1733702" cy="594360"/>
          </a:xfrm>
          <a:prstGeom prst="roundRect">
            <a:avLst>
              <a:gd name="adj" fmla="val 9231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057400" y="1600200"/>
            <a:ext cx="16422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監視アラート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発報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5382" y="160020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01414" y="1600200"/>
            <a:ext cx="1733702" cy="594360"/>
          </a:xfrm>
          <a:prstGeom prst="roundRect">
            <a:avLst>
              <a:gd name="adj" fmla="val 9231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047134" y="1600200"/>
            <a:ext cx="16422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担当者を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呼び出し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735117" y="160020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91149" y="1600200"/>
            <a:ext cx="1733702" cy="594360"/>
          </a:xfrm>
          <a:prstGeom prst="roundRect">
            <a:avLst>
              <a:gd name="adj" fmla="val 9231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036869" y="1600200"/>
            <a:ext cx="16422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状況確認・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手順書参照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24851" y="160020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80883" y="1600200"/>
            <a:ext cx="1733702" cy="594360"/>
          </a:xfrm>
          <a:prstGeom prst="roundRect">
            <a:avLst>
              <a:gd name="adj" fmla="val 9231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026603" y="1600200"/>
            <a:ext cx="16422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手作業で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一次対応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714586" y="160020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970618" y="1600200"/>
            <a:ext cx="1733702" cy="594360"/>
          </a:xfrm>
          <a:prstGeom prst="roundRect">
            <a:avLst>
              <a:gd name="adj" fmla="val 9231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10016338" y="1600200"/>
            <a:ext cx="16422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結果を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報告・記録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011680" y="22128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D4D4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夜間・休日は担当者到着まで待ち時間が発生。対応品質は担当者のスキルに依存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69748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269748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After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Event-Driven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Ansible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011680" y="2788920"/>
            <a:ext cx="1733702" cy="594360"/>
          </a:xfrm>
          <a:prstGeom prst="roundRect">
            <a:avLst>
              <a:gd name="adj" fmla="val 9231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2057400" y="2788920"/>
            <a:ext cx="16422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監視ツールが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イベントを送信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745382" y="278892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01414" y="2788920"/>
            <a:ext cx="1733702" cy="594360"/>
          </a:xfrm>
          <a:prstGeom prst="roundRect">
            <a:avLst>
              <a:gd name="adj" fmla="val 9231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4047134" y="2788920"/>
            <a:ext cx="16422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Rulebook 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受信・条件判定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735117" y="278892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91149" y="2788920"/>
            <a:ext cx="1733702" cy="594360"/>
          </a:xfrm>
          <a:prstGeom prst="roundRect">
            <a:avLst>
              <a:gd name="adj" fmla="val 9231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036869" y="2788920"/>
            <a:ext cx="16422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Job / Workflow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Template を自動実行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724851" y="278892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980883" y="2788920"/>
            <a:ext cx="1733702" cy="594360"/>
          </a:xfrm>
          <a:prstGeom prst="roundRect">
            <a:avLst>
              <a:gd name="adj" fmla="val 9231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026603" y="2788920"/>
            <a:ext cx="16422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結果を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自動通知・記録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714586" y="278892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970618" y="2788920"/>
            <a:ext cx="1733702" cy="594360"/>
          </a:xfrm>
          <a:prstGeom prst="roundRect">
            <a:avLst>
              <a:gd name="adj" fmla="val 9231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10016338" y="2788920"/>
            <a:ext cx="16422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必要時のみ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151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人が二次対応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2011680" y="340156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D4D4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半自動 = 実行前に人の承認を挟む  /  全自動 = 定型化された一次対応を無人で即時実行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406908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5800" y="4297680"/>
            <a:ext cx="502920" cy="502920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580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325880" y="42702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初動の高速化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1325880" y="45902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MTTR 短縮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49834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検知から一次対応まで数分以内。24時間365日、深夜でも同じ速さで初動できる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337560" y="406908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566160" y="4297680"/>
            <a:ext cx="502920" cy="502920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5661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4206240" y="42702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対応品質の均一化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4206240" y="45902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属人化の解消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3566160" y="49834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コード化された手順を毎回同じように実行。手順ミス・対応漏れを排除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217920" y="406908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446520" y="4297680"/>
            <a:ext cx="502920" cy="502920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44652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7086600" y="42702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運用負荷の削減</a:t>
            </a:r>
            <a:endParaRPr lang="en-US" sz="1500" dirty="0"/>
          </a:p>
        </p:txBody>
      </p:sp>
      <p:sp>
        <p:nvSpPr>
          <p:cNvPr id="54" name="Text 52"/>
          <p:cNvSpPr txBox="1"/>
          <p:nvPr/>
        </p:nvSpPr>
        <p:spPr>
          <a:xfrm>
            <a:off x="7086600" y="45902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コスト最適化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6446520" y="49834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夜間呼び出しと一次対応工数を削減。担当者は二次対応や改善活動に集中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098280" y="406908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9326880" y="4297680"/>
            <a:ext cx="502920" cy="502920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32688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9966960" y="42702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記録と可視化</a:t>
            </a:r>
            <a:endParaRPr lang="en-US" sz="1500" dirty="0"/>
          </a:p>
        </p:txBody>
      </p:sp>
      <p:sp>
        <p:nvSpPr>
          <p:cNvPr id="60" name="Text 58"/>
          <p:cNvSpPr txBox="1"/>
          <p:nvPr/>
        </p:nvSpPr>
        <p:spPr>
          <a:xfrm>
            <a:off x="9966960" y="45902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監査・改善に活用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9326880" y="49834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D4D4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誰が何をいつ実行したかが自動で残る。振り返りと継続的な改善サイクルへ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457200" y="62179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効果は環境・対象システムにより異なります。定常運用(パッチ適用・構成変更など)は Job Template、障害対応は Event-Driven Ansible で、同一プラットフォーム上で自動化を実現。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Ansible Automation Platform による運用自動化</dc:title>
  <dc:subject>PptxGenJS Presentation</dc:subject>
  <dc:creator>AAP proposal</dc:creator>
  <cp:lastModifiedBy>AAP proposal</cp:lastModifiedBy>
  <cp:revision>1</cp:revision>
  <dcterms:created xsi:type="dcterms:W3CDTF">2026-09-10T06:42:33Z</dcterms:created>
  <dcterms:modified xsi:type="dcterms:W3CDTF">2026-09-10T06:42:33Z</dcterms:modified>
</cp:coreProperties>
</file>