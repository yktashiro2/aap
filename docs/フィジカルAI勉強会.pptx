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</p:sldMasterIdLst>
  <p:notesMasterIdLst>
    <p:notesMasterId r:id="rId20"/>
  </p:notesMasterIdLst>
  <p:handoutMasterIdLst>
    <p:handoutMasterId r:id="rId21"/>
  </p:handoutMasterIdLst>
  <p:sldIdLst>
    <p:sldId id="300" r:id="rId5"/>
    <p:sldId id="301" r:id="rId10"/>
    <p:sldId id="302" r:id="rId9"/>
    <p:sldId id="303" r:id="rId13"/>
    <p:sldId id="304" r:id="rId29"/>
    <p:sldId id="305" r:id="rId30"/>
    <p:sldId id="306" r:id="rId26"/>
    <p:sldId id="307" r:id="rId31"/>
    <p:sldId id="308" r:id="rId32"/>
    <p:sldId id="309" r:id="rId33"/>
    <p:sldId id="310" r:id="rId27"/>
    <p:sldId id="311" r:id="rId34"/>
    <p:sldId id="312" r:id="rId35"/>
    <p:sldId id="313" r:id="rId28"/>
    <p:sldId id="314" r:id="rId36"/>
    <p:sldId id="315" r:id="rId37"/>
    <p:sldId id="316" r:id="rId39"/>
    <p:sldId id="317" r:id="rId40"/>
    <p:sldId id="318" r:id="rId41"/>
    <p:sldId id="319" r:id="rId42"/>
    <p:sldId id="320" r:id="rId38"/>
    <p:sldId id="321" r:id="rId18"/>
    <p:sldId id="32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65F5"/>
    <a:srgbClr val="00219B"/>
    <a:srgbClr val="191919"/>
    <a:srgbClr val="A5ABAD"/>
    <a:srgbClr val="808080"/>
    <a:srgbClr val="B74A1C"/>
    <a:srgbClr val="EDF4F8"/>
    <a:srgbClr val="0020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61"/>
    <p:restoredTop sz="96966"/>
  </p:normalViewPr>
  <p:slideViewPr>
    <p:cSldViewPr snapToGrid="0">
      <p:cViewPr varScale="1">
        <p:scale>
          <a:sx n="78" d="100"/>
          <a:sy n="78" d="100"/>
        </p:scale>
        <p:origin x="1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20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4.xml"/><Relationship Id="rId18" Type="http://schemas.openxmlformats.org/officeDocument/2006/relationships/slide" Target="slides/slide22.xml"/><Relationship Id="rId19" Type="http://schemas.openxmlformats.org/officeDocument/2006/relationships/slide" Target="slides/slide23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7.xml"/><Relationship Id="rId27" Type="http://schemas.openxmlformats.org/officeDocument/2006/relationships/slide" Target="slides/slide11.xml"/><Relationship Id="rId28" Type="http://schemas.openxmlformats.org/officeDocument/2006/relationships/slide" Target="slides/slide14.xml"/><Relationship Id="rId29" Type="http://schemas.openxmlformats.org/officeDocument/2006/relationships/slide" Target="slides/slide5.xml"/><Relationship Id="rId30" Type="http://schemas.openxmlformats.org/officeDocument/2006/relationships/slide" Target="slides/slide6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2.xml"/><Relationship Id="rId35" Type="http://schemas.openxmlformats.org/officeDocument/2006/relationships/slide" Target="slides/slide13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21.xml"/><Relationship Id="rId39" Type="http://schemas.openxmlformats.org/officeDocument/2006/relationships/slide" Target="slides/slide17.xml"/><Relationship Id="rId40" Type="http://schemas.openxmlformats.org/officeDocument/2006/relationships/slide" Target="slides/slide18.xml"/><Relationship Id="rId41" Type="http://schemas.openxmlformats.org/officeDocument/2006/relationships/slide" Target="slides/slide19.xml"/><Relationship Id="rId42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FDFDA3DB-4ABB-6B6A-B5C6-44033C7B44C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CA5EE10-0835-D895-CAEB-887BDDDC49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42CEEA-E706-4555-A6F2-76CBEE8B0214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335A0F-F5C0-DEFB-5758-6DB2209195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6453D27-E811-5D11-733F-6E84F98FD4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36876-DA70-44CA-95E4-4FDEDE03AE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1951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72808-4DA7-7E40-9D76-23B287399EF0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C2A34-59FF-7345-B7EA-94C85DEA65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76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本日は30〜45分でフィジカルAIの全体像を掴むことをゴールにします。前半は「何か・なぜ今か」、中盤は「誰が・どう動いているか」、後半は「仕組みとビジネスへの示唆」です。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5部構成です。1章で共通認識を作り、2章で世の中の動き、3章で技術を少しだけ深掘り、4章でビジネス目線に引き付け、5章で当社の具体的な取り組みにつなげます。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約3分。AIの進化を4段階で整理。認識→生成→エージェント→フィジカル。ポイントは「出力がテキストや画像ではなく、物理的な動作になる」こと。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約3分。技術（できるようになった）・社会（やらざるを得ない）・産業（金が集まる）の3点セット。人手不足の数字は聴衆の実感に繋がりやすいので強調。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約3分。ChatGPTでいう「モデル＋クラウド＋端末」に相当する3層構造。次章のNVIDIAの話への伏線として「全部押さえたら強い」ことを示唆。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約3分。NVIDIAは「ロボットを作らずに、全ロボット会社に売る」ポジション。3つのコンピュータ＝学習・シミュレーション・実行。GPU需要が続く構造も補足。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約4分。地域で色分け：米国はAI・ソフト先行、中国は量産と価格、日本は要素技術と現場。Unitreeの1.6万ドルは驚きポイントとして紹介。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約3分。「いきなり家庭にヒューマノイド」ではなく、環境が整った産業現場から。自社顧客の業界に近い例があれば口頭で補足。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約3分。LLMはWebのテキストで学べたが、ロボットは「転んで学ぶ」わけにいかない。シミュレーション＋合成データがブレイクスルーの核心。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約3分。VLA＝LLMの目と手足がついたもの、という説明が伝わりやすい。従来型との違い（汎用性）を対比で締める。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約3分。数字は「方向感」として紹介（予測は機関でブレが大きい）。国内市場が立ち上げ初期＝SI・ユースケース未確立というのが5章の伏線。課題4点は導入検討時のチェックリストにもなる。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約3分。ロボット本体はメーカーの土俵。我々の商機は周辺＝インフラ・連携・データ・運用。既存顧客（通信事業者等）の物理作業への展開可能性にも触れる。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約3分。ポイントは「いきなりフィジカルAIに飛ばない」こと。短期AIOps→中期推論基盤→中長期フィジカルAIと、収益と技術蓄積を両立させる段取り。市場数値は社内技術共有会資料（2026年7月）より。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約3分。EdgeCortixの「±1ms・10W」はフィジカルAIの文脈で刺さる数字（リアルタイム制御には決定論的低遅延が必須、ロボットは電力制約が厳しい）。ロボットアームデモは実物・動画を見せられると効果大。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約3分。3章で説明した「シミュレーション（デジタルツイン）×現場のAI」の構図が、そのまま地域課題への応用構想になっていることを指摘すると、勉強会前半とつながって理解が深まる。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約2分でまとめ→残り時間でディスカッション（5〜10分）。問いは1つに絞り、参加者の担当顧客・業界の具体例を引き出す。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9489" y="2971784"/>
            <a:ext cx="8135937" cy="568355"/>
          </a:xfrm>
        </p:spPr>
        <p:txBody>
          <a:bodyPr anchor="b">
            <a:normAutofit/>
          </a:bodyPr>
          <a:lstStyle>
            <a:lvl1pPr algn="l">
              <a:defRPr sz="3400" b="1" i="0" baseline="0">
                <a:solidFill>
                  <a:schemeClr val="accent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9490" y="455555"/>
            <a:ext cx="6535562" cy="294943"/>
          </a:xfrm>
        </p:spPr>
        <p:txBody>
          <a:bodyPr>
            <a:noAutofit/>
          </a:bodyPr>
          <a:lstStyle>
            <a:lvl1pPr marL="0" indent="0" algn="l">
              <a:buNone/>
              <a:defRPr sz="1600" b="1" i="0" baseline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〇〇</a:t>
            </a:r>
            <a:r>
              <a:rPr lang="en-US" altLang="ja-JP" dirty="0" err="1"/>
              <a:t>〇〇〇〇〇〇</a:t>
            </a:r>
            <a:r>
              <a:rPr lang="en-US" dirty="0" err="1"/>
              <a:t>株式会社</a:t>
            </a:r>
            <a:r>
              <a:rPr lang="en-US" dirty="0"/>
              <a:t>   </a:t>
            </a:r>
            <a:r>
              <a:rPr lang="en-US" dirty="0" err="1"/>
              <a:t>御中</a:t>
            </a:r>
            <a:endParaRPr lang="en-US" dirty="0"/>
          </a:p>
        </p:txBody>
      </p:sp>
      <p:pic>
        <p:nvPicPr>
          <p:cNvPr id="12" name="図 11" descr="ロゴ&#10;&#10;中程度の精度で自動的に生成された説明">
            <a:extLst>
              <a:ext uri="{FF2B5EF4-FFF2-40B4-BE49-F238E27FC236}">
                <a16:creationId xmlns:a16="http://schemas.microsoft.com/office/drawing/2014/main" id="{91C61609-E934-6D94-45E8-4C5C722289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7017" y="5898392"/>
            <a:ext cx="1318254" cy="496733"/>
          </a:xfrm>
          <a:prstGeom prst="rect">
            <a:avLst/>
          </a:prstGeom>
        </p:spPr>
      </p:pic>
      <p:pic>
        <p:nvPicPr>
          <p:cNvPr id="13" name="図 12" descr="図形, 矢印&#10;&#10;自動的に生成された説明">
            <a:extLst>
              <a:ext uri="{FF2B5EF4-FFF2-40B4-BE49-F238E27FC236}">
                <a16:creationId xmlns:a16="http://schemas.microsoft.com/office/drawing/2014/main" id="{77C1A79A-EE6C-3D8D-372B-1EC0B0D96C4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64812" y="0"/>
            <a:ext cx="4695825" cy="6858000"/>
          </a:xfrm>
          <a:prstGeom prst="rect">
            <a:avLst/>
          </a:prstGeom>
        </p:spPr>
      </p:pic>
      <p:pic>
        <p:nvPicPr>
          <p:cNvPr id="14" name="図 13" descr="文字が書かれている&#10;&#10;中程度の精度で自動的に生成された説明">
            <a:extLst>
              <a:ext uri="{FF2B5EF4-FFF2-40B4-BE49-F238E27FC236}">
                <a16:creationId xmlns:a16="http://schemas.microsoft.com/office/drawing/2014/main" id="{3A21D7F1-218B-EF6B-6970-CDF014BDF8F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72469" y="323523"/>
            <a:ext cx="1518408" cy="367357"/>
          </a:xfrm>
          <a:prstGeom prst="rect">
            <a:avLst/>
          </a:prstGeom>
        </p:spPr>
      </p:pic>
      <p:sp>
        <p:nvSpPr>
          <p:cNvPr id="20" name="テキスト プレースホルダー 19">
            <a:extLst>
              <a:ext uri="{FF2B5EF4-FFF2-40B4-BE49-F238E27FC236}">
                <a16:creationId xmlns:a16="http://schemas.microsoft.com/office/drawing/2014/main" id="{3667EF0E-F860-9065-842F-49984BAD01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488" y="4183823"/>
            <a:ext cx="6535562" cy="29494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双日テックイノベーション株式会社</a:t>
            </a:r>
            <a:endParaRPr kumimoji="1" lang="en-US" altLang="ja-JP" dirty="0"/>
          </a:p>
        </p:txBody>
      </p:sp>
      <p:sp>
        <p:nvSpPr>
          <p:cNvPr id="6" name="テキスト プレースホルダー 19">
            <a:extLst>
              <a:ext uri="{FF2B5EF4-FFF2-40B4-BE49-F238E27FC236}">
                <a16:creationId xmlns:a16="http://schemas.microsoft.com/office/drawing/2014/main" id="{45B24984-7E4C-DB70-29A4-E3B0EE9BAF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9488" y="4888095"/>
            <a:ext cx="6535562" cy="29494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〇〇〇〇部〇〇〇〇課</a:t>
            </a:r>
          </a:p>
        </p:txBody>
      </p:sp>
      <p:sp>
        <p:nvSpPr>
          <p:cNvPr id="7" name="テキスト プレースホルダー 19">
            <a:extLst>
              <a:ext uri="{FF2B5EF4-FFF2-40B4-BE49-F238E27FC236}">
                <a16:creationId xmlns:a16="http://schemas.microsoft.com/office/drawing/2014/main" id="{FC50F80F-5787-97ED-105C-23577087D6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9488" y="4538770"/>
            <a:ext cx="6535562" cy="28952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〇〇〇〇〇〇〇〇事業本部</a:t>
            </a:r>
            <a:endParaRPr kumimoji="1" lang="en-US" altLang="ja-JP" dirty="0"/>
          </a:p>
        </p:txBody>
      </p:sp>
      <p:sp>
        <p:nvSpPr>
          <p:cNvPr id="4" name="テキスト プレースホルダー 19">
            <a:extLst>
              <a:ext uri="{FF2B5EF4-FFF2-40B4-BE49-F238E27FC236}">
                <a16:creationId xmlns:a16="http://schemas.microsoft.com/office/drawing/2014/main" id="{D7B851B6-8739-6DBD-3433-427387865A3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9488" y="3752762"/>
            <a:ext cx="6535562" cy="294943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en-US" altLang="ja-JP" b="0" i="0" dirty="0" err="1">
                <a:latin typeface="BIZ UDPGothic" panose="020B0400000000000000" pitchFamily="34" charset="-128"/>
                <a:ea typeface="BIZ UDPGothic" panose="020B0400000000000000" pitchFamily="34" charset="-128"/>
              </a:rPr>
              <a:t>yyyy</a:t>
            </a:r>
            <a:r>
              <a:rPr lang="ja-JP" altLang="en-US" b="0" i="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年</a:t>
            </a:r>
            <a:r>
              <a:rPr lang="en-US" altLang="ja-JP" b="0" i="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mm</a:t>
            </a:r>
            <a:r>
              <a:rPr lang="ja-JP" altLang="en-US" b="0" i="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月</a:t>
            </a:r>
            <a:r>
              <a:rPr lang="en-US" altLang="ja-JP" b="0" i="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dd</a:t>
            </a:r>
            <a:r>
              <a:rPr lang="ja-JP" altLang="en-US" b="0" i="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日</a:t>
            </a:r>
            <a:endParaRPr lang="en-US" altLang="ja-JP" b="0" i="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04E82DED-A5F3-B7BA-187C-F48C8E49C3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72622" y="5860282"/>
            <a:ext cx="1318255" cy="572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490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目次（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25AD9D-E296-7156-536C-D9A7EDA7F4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0431" y="1186160"/>
            <a:ext cx="11184282" cy="5109933"/>
          </a:xfrm>
        </p:spPr>
        <p:txBody>
          <a:bodyPr>
            <a:normAutofit/>
          </a:bodyPr>
          <a:lstStyle>
            <a:lvl1pPr marL="228600" indent="-228600" algn="dist">
              <a:buClr>
                <a:schemeClr val="tx2"/>
              </a:buClr>
              <a:buSzPct val="100000"/>
              <a:buFont typeface="Wingdings" panose="05000000000000000000" pitchFamily="2" charset="2"/>
              <a:buChar char="l"/>
              <a:defRPr sz="2000" b="1" i="0" baseline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4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 タイトル</a:t>
            </a:r>
            <a:r>
              <a:rPr lang="en-US" altLang="ja-JP" dirty="0"/>
              <a:t>(</a:t>
            </a:r>
            <a:r>
              <a:rPr lang="ja-JP" altLang="en-US" dirty="0"/>
              <a:t>２０</a:t>
            </a:r>
            <a:r>
              <a:rPr lang="en-US" altLang="ja-JP" dirty="0"/>
              <a:t>pt) </a:t>
            </a:r>
            <a:r>
              <a:rPr lang="ja-JP" altLang="en-US" baseline="-25000" dirty="0"/>
              <a:t>・・・・・・・・・・・・・・・・・・・・・・・・・・・・・・・・・・・・・・・・・・・・・・・・・・・・・・・・・・・・・・・・・・・・・・・・・・・・</a:t>
            </a:r>
            <a:r>
              <a:rPr lang="ja-JP" altLang="en-US" dirty="0"/>
              <a:t> </a:t>
            </a:r>
            <a:r>
              <a:rPr lang="en-US" altLang="ja-JP" dirty="0"/>
              <a:t>pp</a:t>
            </a:r>
          </a:p>
          <a:p>
            <a:pPr lvl="0"/>
            <a:r>
              <a:rPr lang="ja-JP" altLang="en-US" dirty="0"/>
              <a:t> タイトル</a:t>
            </a:r>
            <a:r>
              <a:rPr lang="en-US" altLang="ja-JP" dirty="0"/>
              <a:t>(</a:t>
            </a:r>
            <a:r>
              <a:rPr lang="ja-JP" altLang="en-US" dirty="0"/>
              <a:t>２０</a:t>
            </a:r>
            <a:r>
              <a:rPr lang="en-US" altLang="ja-JP" dirty="0"/>
              <a:t>pt) </a:t>
            </a:r>
            <a:r>
              <a:rPr lang="ja-JP" altLang="en-US" baseline="-25000" dirty="0"/>
              <a:t>・・・・・・・・・・・・・・・・・・・・・・・・・・・・・・・・・・・・・・・・・・・・・・・・・・・・・・・・・・・・・・・・・・・・・・・・・・・・</a:t>
            </a:r>
            <a:r>
              <a:rPr lang="ja-JP" altLang="en-US" dirty="0"/>
              <a:t> </a:t>
            </a:r>
            <a:r>
              <a:rPr lang="en-US" altLang="ja-JP" dirty="0"/>
              <a:t>pp</a:t>
            </a:r>
          </a:p>
          <a:p>
            <a:pPr lvl="0"/>
            <a:r>
              <a:rPr lang="ja-JP" altLang="en-US" dirty="0"/>
              <a:t> タイトル</a:t>
            </a:r>
            <a:r>
              <a:rPr lang="en-US" altLang="ja-JP" dirty="0"/>
              <a:t>(</a:t>
            </a:r>
            <a:r>
              <a:rPr lang="ja-JP" altLang="en-US" dirty="0"/>
              <a:t>２０</a:t>
            </a:r>
            <a:r>
              <a:rPr lang="en-US" altLang="ja-JP" dirty="0"/>
              <a:t>pt) </a:t>
            </a:r>
            <a:r>
              <a:rPr lang="ja-JP" altLang="en-US" baseline="-25000" dirty="0"/>
              <a:t>・・・・・・・・・・・・・・・・・・・・・・・・・・・・・・・・・・・・・・・・・・・・・・・・・・・・・・・・・・・・・・・・・・・・・・・・・・・・</a:t>
            </a:r>
            <a:r>
              <a:rPr lang="ja-JP" altLang="en-US" dirty="0"/>
              <a:t> </a:t>
            </a:r>
            <a:r>
              <a:rPr lang="en-US" altLang="ja-JP" dirty="0"/>
              <a:t>pp</a:t>
            </a:r>
          </a:p>
        </p:txBody>
      </p:sp>
    </p:spTree>
    <p:extLst>
      <p:ext uri="{BB962C8B-B14F-4D97-AF65-F5344CB8AC3E}">
        <p14:creationId xmlns:p14="http://schemas.microsoft.com/office/powerpoint/2010/main" val="4258253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 スライド１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図形, 矢印&#10;&#10;自動的に生成された説明">
            <a:extLst>
              <a:ext uri="{FF2B5EF4-FFF2-40B4-BE49-F238E27FC236}">
                <a16:creationId xmlns:a16="http://schemas.microsoft.com/office/drawing/2014/main" id="{BE3F4B1C-C713-3B31-AE49-09C81E253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4812" y="0"/>
            <a:ext cx="4695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0863" y="2971784"/>
            <a:ext cx="8135937" cy="568355"/>
          </a:xfrm>
        </p:spPr>
        <p:txBody>
          <a:bodyPr anchor="b">
            <a:normAutofit/>
          </a:bodyPr>
          <a:lstStyle>
            <a:lvl1pPr algn="l">
              <a:defRPr sz="3200" b="1" i="0" baseline="0">
                <a:solidFill>
                  <a:schemeClr val="accent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defRPr>
            </a:lvl1pPr>
          </a:lstStyle>
          <a:p>
            <a:r>
              <a:rPr lang="ja-JP" altLang="en-US" dirty="0"/>
              <a:t>中表紙タイトル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124FA32-0375-8371-4942-9DC9BAB29172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BD0F11-B8C4-F108-E2C4-170D065473BD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31010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 スライド２">
    <p:bg>
      <p:bgPr>
        <a:solidFill>
          <a:srgbClr val="2A6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図形, 矢印&#10;&#10;自動的に生成された説明">
            <a:extLst>
              <a:ext uri="{FF2B5EF4-FFF2-40B4-BE49-F238E27FC236}">
                <a16:creationId xmlns:a16="http://schemas.microsoft.com/office/drawing/2014/main" id="{BE3F4B1C-C713-3B31-AE49-09C81E253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4812" y="0"/>
            <a:ext cx="4695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50863" y="2971784"/>
            <a:ext cx="8135937" cy="568355"/>
          </a:xfrm>
        </p:spPr>
        <p:txBody>
          <a:bodyPr anchor="b">
            <a:normAutofit/>
          </a:bodyPr>
          <a:lstStyle>
            <a:lvl1pPr algn="l">
              <a:defRPr sz="3200" b="1" i="0" baseline="0">
                <a:solidFill>
                  <a:schemeClr val="tx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defRPr>
            </a:lvl1pPr>
          </a:lstStyle>
          <a:p>
            <a:r>
              <a:rPr lang="ja-JP" altLang="en-US" dirty="0"/>
              <a:t>中表紙タイトル</a:t>
            </a:r>
            <a:endParaRPr 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124FA32-0375-8371-4942-9DC9BAB29172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BD0F11-B8C4-F108-E2C4-170D065473BD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1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9538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1-1（アロ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1" y="1186160"/>
            <a:ext cx="11184282" cy="5109933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 第</a:t>
            </a:r>
            <a:r>
              <a:rPr lang="en-US" altLang="ja-JP" dirty="0"/>
              <a:t>1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０</a:t>
            </a:r>
            <a:r>
              <a:rPr lang="en-US" altLang="ja-JP" dirty="0"/>
              <a:t>pt/</a:t>
            </a:r>
            <a:r>
              <a:rPr lang="ja-JP" altLang="en-US" dirty="0"/>
              <a:t>大見出し・メッセージ</a:t>
            </a:r>
            <a:r>
              <a:rPr lang="en-US" altLang="ja-JP" dirty="0"/>
              <a:t> ※</a:t>
            </a:r>
            <a:r>
              <a:rPr lang="ja-JP" altLang="en-US" dirty="0"/>
              <a:t>必要な場合のみ使用）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</a:t>
            </a:r>
            <a:r>
              <a:rPr lang="ja-JP" altLang="en-US" dirty="0"/>
              <a:t>６</a:t>
            </a:r>
            <a:r>
              <a:rPr lang="en-US" altLang="ja-JP" dirty="0"/>
              <a:t>pt/</a:t>
            </a:r>
            <a:r>
              <a:rPr lang="ja-JP" altLang="en-US" dirty="0"/>
              <a:t>見出し）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</a:t>
            </a:r>
            <a:r>
              <a:rPr lang="ja-JP" altLang="en-US" dirty="0"/>
              <a:t>２</a:t>
            </a:r>
            <a:r>
              <a:rPr lang="en-US" altLang="ja-JP" dirty="0"/>
              <a:t>pt/</a:t>
            </a:r>
            <a:r>
              <a:rPr lang="ja-JP" altLang="en-US" dirty="0"/>
              <a:t>本文）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10pt/</a:t>
            </a:r>
            <a:r>
              <a:rPr lang="ja-JP" altLang="en-US" dirty="0"/>
              <a:t>注釈）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193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1-2（サブタイトルなし・背景色あり）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24pt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1" y="1186160"/>
            <a:ext cx="11184282" cy="5109933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 第</a:t>
            </a:r>
            <a:r>
              <a:rPr lang="en-US" altLang="ja-JP" dirty="0"/>
              <a:t>1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０</a:t>
            </a:r>
            <a:r>
              <a:rPr lang="en-US" altLang="ja-JP" dirty="0"/>
              <a:t>pt/</a:t>
            </a:r>
            <a:r>
              <a:rPr lang="ja-JP" altLang="en-US" dirty="0"/>
              <a:t>大見出し・メッセージ</a:t>
            </a:r>
            <a:r>
              <a:rPr lang="en-US" altLang="ja-JP" dirty="0"/>
              <a:t> ※</a:t>
            </a:r>
            <a:r>
              <a:rPr lang="ja-JP" altLang="en-US" dirty="0"/>
              <a:t>必要な場合のみ使用）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</a:t>
            </a:r>
            <a:r>
              <a:rPr lang="ja-JP" altLang="en-US" dirty="0"/>
              <a:t>６</a:t>
            </a:r>
            <a:r>
              <a:rPr lang="en-US" altLang="ja-JP" dirty="0"/>
              <a:t>pt/</a:t>
            </a:r>
            <a:r>
              <a:rPr lang="ja-JP" altLang="en-US" dirty="0"/>
              <a:t>見出し）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</a:t>
            </a:r>
            <a:r>
              <a:rPr lang="ja-JP" altLang="en-US" dirty="0"/>
              <a:t>２</a:t>
            </a:r>
            <a:r>
              <a:rPr lang="en-US" altLang="ja-JP" dirty="0"/>
              <a:t>pt/</a:t>
            </a:r>
            <a:r>
              <a:rPr lang="ja-JP" altLang="en-US" dirty="0"/>
              <a:t>本文）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10pt/</a:t>
            </a:r>
            <a:r>
              <a:rPr lang="ja-JP" altLang="en-US" dirty="0"/>
              <a:t>注釈）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418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1-3（アロー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3123" y="1580966"/>
            <a:ext cx="11184282" cy="4674307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 第</a:t>
            </a:r>
            <a:r>
              <a:rPr lang="en-US" altLang="ja-JP" dirty="0"/>
              <a:t>1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０</a:t>
            </a:r>
            <a:r>
              <a:rPr lang="en-US" altLang="ja-JP" dirty="0"/>
              <a:t>pt/</a:t>
            </a:r>
            <a:r>
              <a:rPr lang="ja-JP" altLang="en-US" dirty="0"/>
              <a:t>大見出し・メッセージ</a:t>
            </a:r>
            <a:r>
              <a:rPr lang="en-US" altLang="ja-JP" dirty="0"/>
              <a:t> ※</a:t>
            </a:r>
            <a:r>
              <a:rPr lang="ja-JP" altLang="en-US" dirty="0"/>
              <a:t>必要な場合のみ使用）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16pt/</a:t>
            </a:r>
            <a:r>
              <a:rPr lang="ja-JP" altLang="en-US" dirty="0"/>
              <a:t>見出し）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12pt/</a:t>
            </a:r>
            <a:r>
              <a:rPr lang="ja-JP" altLang="en-US" dirty="0"/>
              <a:t>本文）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10pt/</a:t>
            </a:r>
            <a:r>
              <a:rPr lang="ja-JP" altLang="en-US" dirty="0"/>
              <a:t>注釈）</a:t>
            </a:r>
            <a:endParaRPr 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D72817-A9A9-B911-F9B5-0FBF688B6B1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63123" y="978865"/>
            <a:ext cx="11184282" cy="485437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サブタイトル・メッセージ（</a:t>
            </a:r>
            <a:r>
              <a:rPr lang="en-US" altLang="ja-JP" dirty="0"/>
              <a:t>20</a:t>
            </a:r>
            <a:r>
              <a:rPr lang="ja-JP" altLang="en-US" dirty="0"/>
              <a:t>ｐｔ）</a:t>
            </a:r>
          </a:p>
          <a:p>
            <a:pPr lvl="0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07631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2-1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2" y="979783"/>
            <a:ext cx="5447578" cy="5316311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 baseline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 第</a:t>
            </a:r>
            <a:r>
              <a:rPr lang="en-US" altLang="ja-JP" dirty="0"/>
              <a:t>1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０</a:t>
            </a:r>
            <a:r>
              <a:rPr lang="en-US" altLang="ja-JP" dirty="0"/>
              <a:t>pt/</a:t>
            </a:r>
            <a:r>
              <a:rPr lang="ja-JP" altLang="en-US" dirty="0"/>
              <a:t>大見出し・メッセージ</a:t>
            </a:r>
            <a:r>
              <a:rPr lang="en-US" altLang="ja-JP" dirty="0"/>
              <a:t> ※</a:t>
            </a:r>
            <a:r>
              <a:rPr lang="ja-JP" altLang="en-US" dirty="0"/>
              <a:t>必要な場合のみ）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</a:t>
            </a:r>
            <a:r>
              <a:rPr lang="ja-JP" altLang="en-US" dirty="0"/>
              <a:t>６</a:t>
            </a:r>
            <a:r>
              <a:rPr lang="en-US" altLang="ja-JP" dirty="0"/>
              <a:t>pt/</a:t>
            </a:r>
            <a:r>
              <a:rPr lang="ja-JP" altLang="en-US" dirty="0"/>
              <a:t>見出し）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</a:t>
            </a:r>
            <a:r>
              <a:rPr lang="ja-JP" altLang="en-US" dirty="0"/>
              <a:t>２</a:t>
            </a:r>
            <a:r>
              <a:rPr lang="en-US" altLang="ja-JP" dirty="0"/>
              <a:t>pt/</a:t>
            </a:r>
            <a:r>
              <a:rPr lang="ja-JP" altLang="en-US" dirty="0"/>
              <a:t>本文）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10pt/</a:t>
            </a:r>
            <a:r>
              <a:rPr lang="ja-JP" altLang="en-US" dirty="0"/>
              <a:t>注釈）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F5794F-3BD7-1577-E5D1-64704FC6C82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00094" y="978865"/>
            <a:ext cx="5447578" cy="5316311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 第</a:t>
            </a:r>
            <a:r>
              <a:rPr lang="en-US" altLang="ja-JP" dirty="0"/>
              <a:t>1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０</a:t>
            </a:r>
            <a:r>
              <a:rPr lang="en-US" altLang="ja-JP" dirty="0"/>
              <a:t>pt/</a:t>
            </a:r>
            <a:r>
              <a:rPr lang="ja-JP" altLang="en-US" dirty="0"/>
              <a:t>大見出し・メッセージ</a:t>
            </a:r>
            <a:r>
              <a:rPr lang="en-US" altLang="ja-JP" dirty="0"/>
              <a:t> ※</a:t>
            </a:r>
            <a:r>
              <a:rPr lang="ja-JP" altLang="en-US" dirty="0"/>
              <a:t>必要な場合のみ）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</a:t>
            </a:r>
            <a:r>
              <a:rPr lang="ja-JP" altLang="en-US" dirty="0"/>
              <a:t>６</a:t>
            </a:r>
            <a:r>
              <a:rPr lang="en-US" altLang="ja-JP" dirty="0"/>
              <a:t>pt/</a:t>
            </a:r>
            <a:r>
              <a:rPr lang="ja-JP" altLang="en-US" dirty="0"/>
              <a:t>見出し）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14pt/</a:t>
            </a:r>
            <a:r>
              <a:rPr lang="ja-JP" altLang="en-US" dirty="0"/>
              <a:t>本文）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10pt/</a:t>
            </a:r>
            <a:r>
              <a:rPr lang="ja-JP" altLang="en-US" dirty="0"/>
              <a:t>注釈）</a:t>
            </a:r>
            <a:endParaRPr lang="en-US" altLang="ja-JP" dirty="0"/>
          </a:p>
          <a:p>
            <a:pPr lvl="3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7B23EE-C32B-0F28-CE61-16A5FBCEB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9094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2-2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2" y="1890371"/>
            <a:ext cx="5447578" cy="4405723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 第</a:t>
            </a:r>
            <a:r>
              <a:rPr lang="en-US" altLang="ja-JP" dirty="0"/>
              <a:t>1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20pt/</a:t>
            </a:r>
            <a:r>
              <a:rPr lang="ja-JP" altLang="en-US" dirty="0"/>
              <a:t>大見出し・メッセージ</a:t>
            </a:r>
            <a:r>
              <a:rPr lang="en-US" altLang="ja-JP" dirty="0"/>
              <a:t> ※</a:t>
            </a:r>
            <a:r>
              <a:rPr lang="ja-JP" altLang="en-US" dirty="0"/>
              <a:t>必要な場合のみ）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16pt/</a:t>
            </a:r>
            <a:r>
              <a:rPr lang="ja-JP" altLang="en-US" dirty="0"/>
              <a:t>見出し）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14pt/</a:t>
            </a:r>
            <a:r>
              <a:rPr lang="ja-JP" altLang="en-US" dirty="0"/>
              <a:t>本文）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10pt/</a:t>
            </a:r>
            <a:r>
              <a:rPr lang="ja-JP" altLang="en-US" dirty="0"/>
              <a:t>注釈）</a:t>
            </a:r>
            <a:endParaRPr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F5794F-3BD7-1577-E5D1-64704FC6C82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00094" y="1889453"/>
            <a:ext cx="5447578" cy="4405723"/>
          </a:xfrm>
        </p:spPr>
        <p:txBody>
          <a:bodyPr/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 第</a:t>
            </a:r>
            <a:r>
              <a:rPr lang="en-US" altLang="ja-JP" dirty="0"/>
              <a:t>1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20pt/</a:t>
            </a:r>
            <a:r>
              <a:rPr lang="ja-JP" altLang="en-US" dirty="0"/>
              <a:t>大見出し・メッセージ</a:t>
            </a:r>
            <a:r>
              <a:rPr lang="en-US" altLang="ja-JP" dirty="0"/>
              <a:t> ※</a:t>
            </a:r>
            <a:r>
              <a:rPr lang="ja-JP" altLang="en-US" dirty="0"/>
              <a:t>必要な場合のみ）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16pt/</a:t>
            </a:r>
            <a:r>
              <a:rPr lang="ja-JP" altLang="en-US" dirty="0"/>
              <a:t>見出し）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14pt/</a:t>
            </a:r>
            <a:r>
              <a:rPr lang="ja-JP" altLang="en-US" dirty="0"/>
              <a:t>本文）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レベル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10pt/</a:t>
            </a:r>
            <a:r>
              <a:rPr lang="ja-JP" altLang="en-US" dirty="0"/>
              <a:t>注釈）</a:t>
            </a:r>
            <a:endParaRPr lang="en-US" altLang="ja-JP" dirty="0"/>
          </a:p>
          <a:p>
            <a:pPr lvl="3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C7B23EE-C32B-0F28-CE61-16A5FBCEB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93E328F-114F-7DEB-3AC8-FFB9E7D73DC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3123" y="978865"/>
            <a:ext cx="11184282" cy="834426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サブタイトル・メッセージ（</a:t>
            </a:r>
            <a:r>
              <a:rPr lang="en-US" altLang="ja-JP" dirty="0"/>
              <a:t>20</a:t>
            </a:r>
            <a:r>
              <a:rPr lang="ja-JP" altLang="en-US" dirty="0"/>
              <a:t>ｐｔ</a:t>
            </a:r>
            <a:r>
              <a:rPr lang="en-US" altLang="ja-JP" sz="2000" dirty="0">
                <a:solidFill>
                  <a:schemeClr val="tx1"/>
                </a:solidFill>
              </a:rPr>
              <a:t>/</a:t>
            </a:r>
            <a:r>
              <a:rPr lang="ja-JP" altLang="en-US" sz="2000" dirty="0">
                <a:solidFill>
                  <a:schemeClr val="tx1"/>
                </a:solidFill>
              </a:rPr>
              <a:t>２行</a:t>
            </a:r>
            <a:r>
              <a:rPr lang="en-US" altLang="ja-JP" sz="2000" dirty="0">
                <a:solidFill>
                  <a:schemeClr val="tx1"/>
                </a:solidFill>
              </a:rPr>
              <a:t> ver. </a:t>
            </a:r>
            <a:r>
              <a:rPr lang="ja-JP" altLang="en-US" dirty="0"/>
              <a:t>）</a:t>
            </a:r>
            <a:endParaRPr lang="en-US" altLang="ja-JP" dirty="0"/>
          </a:p>
          <a:p>
            <a:pPr lvl="0"/>
            <a:endParaRPr lang="ja-JP" altLang="en-US" dirty="0"/>
          </a:p>
          <a:p>
            <a:pPr lvl="0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4052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3-1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Gothic" panose="020B0400000000000000" pitchFamily="34" charset="-128"/>
                <a:ea typeface="BIZ UDPGothic" panose="020B0400000000000000" pitchFamily="34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2FD22AD8-AC86-4F9D-A42F-E989AA12BE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857" y="984889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10" name="図プレースホルダー 11">
            <a:extLst>
              <a:ext uri="{FF2B5EF4-FFF2-40B4-BE49-F238E27FC236}">
                <a16:creationId xmlns:a16="http://schemas.microsoft.com/office/drawing/2014/main" id="{2596B21C-64C7-376D-614F-CBC07BA54D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6855" y="2733368"/>
            <a:ext cx="3544778" cy="3561809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図</a:t>
            </a:r>
            <a:endParaRPr kumimoji="1" lang="en-US" altLang="ja-JP" dirty="0"/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0A518090-782F-7B3A-0DB7-114629316B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276608" y="984884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22" name="図プレースホルダー 11">
            <a:extLst>
              <a:ext uri="{FF2B5EF4-FFF2-40B4-BE49-F238E27FC236}">
                <a16:creationId xmlns:a16="http://schemas.microsoft.com/office/drawing/2014/main" id="{7CBD38C9-4DFE-BFA1-2791-CC234E62432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76608" y="2733368"/>
            <a:ext cx="3544778" cy="3561809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図</a:t>
            </a:r>
            <a:endParaRPr kumimoji="1" lang="en-US" altLang="ja-JP" dirty="0"/>
          </a:p>
        </p:txBody>
      </p:sp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DBEDCA7B-6210-78E7-D16E-1ACD91CDEC9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96360" y="984277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endParaRPr kumimoji="1" lang="en-US" altLang="ja-JP" dirty="0"/>
          </a:p>
        </p:txBody>
      </p:sp>
      <p:sp>
        <p:nvSpPr>
          <p:cNvPr id="24" name="図プレースホルダー 11">
            <a:extLst>
              <a:ext uri="{FF2B5EF4-FFF2-40B4-BE49-F238E27FC236}">
                <a16:creationId xmlns:a16="http://schemas.microsoft.com/office/drawing/2014/main" id="{226060EB-C034-AD43-9B18-23B93CB8ABA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6358" y="2732761"/>
            <a:ext cx="3544778" cy="3561809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図</a:t>
            </a:r>
            <a:endParaRPr kumimoji="1" lang="en-US" altLang="ja-JP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270BA4-DF63-FECF-CBA0-55BB6402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665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3-2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Gothic" panose="020B0400000000000000" pitchFamily="34" charset="-128"/>
                <a:ea typeface="BIZ UDPGothic" panose="020B0400000000000000" pitchFamily="34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2FD22AD8-AC86-4F9D-A42F-E989AA12BE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857" y="1889453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10" name="図プレースホルダー 11">
            <a:extLst>
              <a:ext uri="{FF2B5EF4-FFF2-40B4-BE49-F238E27FC236}">
                <a16:creationId xmlns:a16="http://schemas.microsoft.com/office/drawing/2014/main" id="{2596B21C-64C7-376D-614F-CBC07BA54D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6855" y="3639493"/>
            <a:ext cx="3544778" cy="2655684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図</a:t>
            </a:r>
            <a:endParaRPr kumimoji="1" lang="en-US" altLang="ja-JP" dirty="0"/>
          </a:p>
        </p:txBody>
      </p:sp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0A518090-782F-7B3A-0DB7-114629316B3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276608" y="1889453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22" name="図プレースホルダー 11">
            <a:extLst>
              <a:ext uri="{FF2B5EF4-FFF2-40B4-BE49-F238E27FC236}">
                <a16:creationId xmlns:a16="http://schemas.microsoft.com/office/drawing/2014/main" id="{7CBD38C9-4DFE-BFA1-2791-CC234E62432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76608" y="3639493"/>
            <a:ext cx="3544778" cy="2655684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図</a:t>
            </a:r>
            <a:endParaRPr kumimoji="1" lang="en-US" altLang="ja-JP" dirty="0"/>
          </a:p>
        </p:txBody>
      </p:sp>
      <p:sp>
        <p:nvSpPr>
          <p:cNvPr id="23" name="コンテンツ プレースホルダー 2">
            <a:extLst>
              <a:ext uri="{FF2B5EF4-FFF2-40B4-BE49-F238E27FC236}">
                <a16:creationId xmlns:a16="http://schemas.microsoft.com/office/drawing/2014/main" id="{DBEDCA7B-6210-78E7-D16E-1ACD91CDEC9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96360" y="1888846"/>
            <a:ext cx="3544778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endParaRPr kumimoji="1" lang="en-US" altLang="ja-JP" dirty="0"/>
          </a:p>
        </p:txBody>
      </p:sp>
      <p:sp>
        <p:nvSpPr>
          <p:cNvPr id="24" name="図プレースホルダー 11">
            <a:extLst>
              <a:ext uri="{FF2B5EF4-FFF2-40B4-BE49-F238E27FC236}">
                <a16:creationId xmlns:a16="http://schemas.microsoft.com/office/drawing/2014/main" id="{226060EB-C034-AD43-9B18-23B93CB8ABA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96358" y="3638886"/>
            <a:ext cx="3544778" cy="2655684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図</a:t>
            </a:r>
            <a:endParaRPr kumimoji="1" lang="en-US" altLang="ja-JP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8270BA4-DF63-FECF-CBA0-55BB6402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2D4DFD3-A1FA-A9BB-ED06-FB2F6B4C01E1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3123" y="978865"/>
            <a:ext cx="11184282" cy="834426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サブタイトル・メッセージ（</a:t>
            </a:r>
            <a:r>
              <a:rPr lang="en-US" altLang="ja-JP" dirty="0"/>
              <a:t>20</a:t>
            </a:r>
            <a:r>
              <a:rPr lang="ja-JP" altLang="en-US" dirty="0"/>
              <a:t>ｐｔ</a:t>
            </a:r>
            <a:r>
              <a:rPr lang="en-US" altLang="ja-JP" sz="2000" dirty="0">
                <a:solidFill>
                  <a:schemeClr val="tx1"/>
                </a:solidFill>
              </a:rPr>
              <a:t>/</a:t>
            </a:r>
            <a:r>
              <a:rPr lang="ja-JP" altLang="en-US" sz="2000" dirty="0">
                <a:solidFill>
                  <a:schemeClr val="tx1"/>
                </a:solidFill>
              </a:rPr>
              <a:t>２行</a:t>
            </a:r>
            <a:r>
              <a:rPr lang="en-US" altLang="ja-JP" sz="2000" dirty="0">
                <a:solidFill>
                  <a:schemeClr val="tx1"/>
                </a:solidFill>
              </a:rPr>
              <a:t> ver. </a:t>
            </a:r>
            <a:r>
              <a:rPr lang="ja-JP" altLang="en-US" dirty="0"/>
              <a:t>）</a:t>
            </a:r>
            <a:endParaRPr lang="en-US" altLang="ja-JP" dirty="0"/>
          </a:p>
          <a:p>
            <a:pPr lvl="0"/>
            <a:endParaRPr lang="ja-JP" altLang="en-US" dirty="0"/>
          </a:p>
          <a:p>
            <a:pPr lvl="0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85363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4-1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6856" y="988013"/>
            <a:ext cx="5447578" cy="2520454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C7B23EE-C32B-0F28-CE61-16A5FBCEB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6658C8-5194-F913-06ED-BE7DEB90EB4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200093" y="988013"/>
            <a:ext cx="5447578" cy="2520454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0A459F4-5803-A7D6-0E77-3E30FB6269E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00093" y="3734215"/>
            <a:ext cx="5447578" cy="2520453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60CA5AC-3464-206A-48B0-4F149CA3502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56856" y="3734215"/>
            <a:ext cx="5447578" cy="2520454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98760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4-2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60432" y="1890372"/>
            <a:ext cx="5447578" cy="2117191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53579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C7B23EE-C32B-0F28-CE61-16A5FBCEB7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6658C8-5194-F913-06ED-BE7DEB90EB46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190906" y="1890372"/>
            <a:ext cx="5447578" cy="2117191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0A459F4-5803-A7D6-0E77-3E30FB6269E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6200093" y="4137477"/>
            <a:ext cx="5447578" cy="2117191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60CA5AC-3464-206A-48B0-4F149CA3502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56856" y="4137477"/>
            <a:ext cx="5447578" cy="2117191"/>
          </a:xfrm>
        </p:spPr>
        <p:txBody>
          <a:bodyPr>
            <a:normAutofit/>
          </a:bodyPr>
          <a:lstStyle>
            <a:lvl1pPr marL="2286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sz="18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 sz="13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19B47D-B6D7-03DF-CA9A-3F1C0C3B9028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3123" y="978865"/>
            <a:ext cx="11184282" cy="834426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サブタイトル・メッセージ（</a:t>
            </a:r>
            <a:r>
              <a:rPr lang="en-US" altLang="ja-JP" dirty="0"/>
              <a:t>20</a:t>
            </a:r>
            <a:r>
              <a:rPr lang="ja-JP" altLang="en-US" dirty="0"/>
              <a:t>ｐｔ</a:t>
            </a:r>
            <a:r>
              <a:rPr lang="en-US" altLang="ja-JP" sz="2000" dirty="0">
                <a:solidFill>
                  <a:schemeClr val="tx1"/>
                </a:solidFill>
              </a:rPr>
              <a:t>/</a:t>
            </a:r>
            <a:r>
              <a:rPr lang="ja-JP" altLang="en-US" sz="2000" dirty="0">
                <a:solidFill>
                  <a:schemeClr val="tx1"/>
                </a:solidFill>
              </a:rPr>
              <a:t>２行</a:t>
            </a:r>
            <a:r>
              <a:rPr lang="en-US" altLang="ja-JP" sz="2000" dirty="0">
                <a:solidFill>
                  <a:schemeClr val="tx1"/>
                </a:solidFill>
              </a:rPr>
              <a:t> ver. </a:t>
            </a:r>
            <a:r>
              <a:rPr lang="ja-JP" altLang="en-US" dirty="0"/>
              <a:t>）</a:t>
            </a:r>
            <a:endParaRPr lang="en-US" altLang="ja-JP" dirty="0"/>
          </a:p>
          <a:p>
            <a:pPr lvl="0"/>
            <a:endParaRPr lang="ja-JP" altLang="en-US" dirty="0"/>
          </a:p>
          <a:p>
            <a:pPr lvl="0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108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5-1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45885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2FD22AD8-AC86-4F9D-A42F-E989AA12BE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6688" y="984886"/>
            <a:ext cx="11184283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10" name="図プレースホルダー 11">
            <a:extLst>
              <a:ext uri="{FF2B5EF4-FFF2-40B4-BE49-F238E27FC236}">
                <a16:creationId xmlns:a16="http://schemas.microsoft.com/office/drawing/2014/main" id="{2596B21C-64C7-376D-614F-CBC07BA54D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6854" y="2725794"/>
            <a:ext cx="11184283" cy="3569383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図</a:t>
            </a:r>
            <a:endParaRPr kumimoji="1" lang="en-US" altLang="ja-JP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B75B7B-252A-6DA7-F2B2-D045DA667E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505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スライド 05-2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8F3CAA-ED79-98B9-C3DD-A37D3FB7C142}"/>
              </a:ext>
            </a:extLst>
          </p:cNvPr>
          <p:cNvSpPr txBox="1"/>
          <p:nvPr userDrawn="1"/>
        </p:nvSpPr>
        <p:spPr>
          <a:xfrm>
            <a:off x="456856" y="6453579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1BA2D1-E175-7F4E-431C-1A04DB6138C3}"/>
              </a:ext>
            </a:extLst>
          </p:cNvPr>
          <p:cNvSpPr txBox="1"/>
          <p:nvPr userDrawn="1"/>
        </p:nvSpPr>
        <p:spPr>
          <a:xfrm>
            <a:off x="11303616" y="6445885"/>
            <a:ext cx="4315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BB71FF16-C3E1-9143-95C4-AA3A33CD367E}" type="slidenum">
              <a:rPr kumimoji="1" lang="ja-JP" altLang="en-US" sz="1000" smtClean="0">
                <a:solidFill>
                  <a:schemeClr val="tx2">
                    <a:lumMod val="75000"/>
                  </a:schemeClr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pPr algn="r"/>
              <a:t>‹#›</a:t>
            </a:fld>
            <a:endParaRPr kumimoji="1" lang="ja-JP" altLang="en-US" sz="10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2" name="図 11" descr="ロゴ&#10;&#10;低い精度で自動的に生成された説明">
            <a:extLst>
              <a:ext uri="{FF2B5EF4-FFF2-40B4-BE49-F238E27FC236}">
                <a16:creationId xmlns:a16="http://schemas.microsoft.com/office/drawing/2014/main" id="{6D01A1E9-BFBA-4676-B334-9628047BE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43944" y="423565"/>
            <a:ext cx="1211301" cy="4578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7774F0B8-F9E1-9A92-58FC-1F02AC1272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770" y="843299"/>
            <a:ext cx="9882000" cy="38081"/>
          </a:xfrm>
          <a:prstGeom prst="rect">
            <a:avLst/>
          </a:prstGeom>
        </p:spPr>
      </p:pic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2FD22AD8-AC86-4F9D-A42F-E989AA12BE8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6856" y="1889453"/>
            <a:ext cx="11184283" cy="1637402"/>
          </a:xfrm>
        </p:spPr>
        <p:txBody>
          <a:bodyPr lIns="36000" tIns="36000" rIns="36000" bIns="36000">
            <a:noAutofit/>
          </a:bodyPr>
          <a:lstStyle>
            <a:lvl1pPr marL="0" indent="-21600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Char char="l"/>
              <a:defRPr sz="1200" b="1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箇条書き</a:t>
            </a:r>
            <a:r>
              <a:rPr kumimoji="1" lang="en-US" altLang="ja-JP" dirty="0"/>
              <a:t> </a:t>
            </a:r>
            <a:r>
              <a:rPr kumimoji="1" lang="ja-JP" altLang="en-US" dirty="0"/>
              <a:t>（</a:t>
            </a:r>
            <a:r>
              <a:rPr kumimoji="1" lang="en-US" altLang="ja-JP" dirty="0"/>
              <a:t>1</a:t>
            </a:r>
            <a:r>
              <a:rPr kumimoji="1" lang="ja-JP" altLang="en-US" dirty="0"/>
              <a:t>２</a:t>
            </a:r>
            <a:r>
              <a:rPr kumimoji="1" lang="en-US" altLang="ja-JP" dirty="0"/>
              <a:t>pt</a:t>
            </a:r>
            <a:r>
              <a:rPr kumimoji="1" lang="ja-JP" altLang="en-US" dirty="0"/>
              <a:t>） </a:t>
            </a:r>
            <a:endParaRPr kumimoji="1" lang="en-US" altLang="ja-JP" dirty="0"/>
          </a:p>
        </p:txBody>
      </p:sp>
      <p:sp>
        <p:nvSpPr>
          <p:cNvPr id="10" name="図プレースホルダー 11">
            <a:extLst>
              <a:ext uri="{FF2B5EF4-FFF2-40B4-BE49-F238E27FC236}">
                <a16:creationId xmlns:a16="http://schemas.microsoft.com/office/drawing/2014/main" id="{2596B21C-64C7-376D-614F-CBC07BA54D2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56854" y="3639493"/>
            <a:ext cx="11184283" cy="2655684"/>
          </a:xfrm>
        </p:spPr>
        <p:txBody>
          <a:bodyPr>
            <a:normAutofit/>
          </a:bodyPr>
          <a:lstStyle>
            <a:lvl1pPr marL="0" indent="-216000">
              <a:spcBef>
                <a:spcPts val="300"/>
              </a:spcBef>
              <a:buClr>
                <a:schemeClr val="tx2"/>
              </a:buClr>
              <a:buFont typeface="Wingdings" panose="05000000000000000000" pitchFamily="2" charset="2"/>
              <a:buChar char="l"/>
              <a:defRPr sz="12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kumimoji="1" lang="ja-JP" altLang="en-US" dirty="0"/>
              <a:t>図</a:t>
            </a:r>
            <a:endParaRPr kumimoji="1" lang="en-US" altLang="ja-JP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2B75B7B-252A-6DA7-F2B2-D045DA667E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431" y="304838"/>
            <a:ext cx="9927339" cy="476570"/>
          </a:xfrm>
        </p:spPr>
        <p:txBody>
          <a:bodyPr>
            <a:normAutofit/>
          </a:bodyPr>
          <a:lstStyle>
            <a:lvl1pPr>
              <a:defRPr sz="2400" b="1" i="0">
                <a:solidFill>
                  <a:schemeClr val="accent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スライドタイトル・メッセージ</a:t>
            </a:r>
            <a:r>
              <a:rPr lang="en-US" altLang="ja-JP" dirty="0"/>
              <a:t> </a:t>
            </a:r>
            <a:r>
              <a:rPr lang="ja-JP" altLang="en-US" dirty="0"/>
              <a:t>（</a:t>
            </a:r>
            <a:r>
              <a:rPr lang="en-US" altLang="ja-JP" dirty="0"/>
              <a:t>2</a:t>
            </a:r>
            <a:r>
              <a:rPr lang="ja-JP" altLang="en-US" dirty="0"/>
              <a:t>４</a:t>
            </a:r>
            <a:r>
              <a:rPr lang="en-US" altLang="ja-JP" dirty="0"/>
              <a:t>pt</a:t>
            </a:r>
            <a:r>
              <a:rPr lang="ja-JP" altLang="en-US" dirty="0"/>
              <a:t>）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F8D7E9-1DA8-3EB3-FDA9-5AED70BACB77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63123" y="978865"/>
            <a:ext cx="11184282" cy="834426"/>
          </a:xfrm>
        </p:spPr>
        <p:txBody>
          <a:bodyPr/>
          <a:lstStyle>
            <a:lvl1pPr marL="0" indent="0">
              <a:buClr>
                <a:schemeClr val="tx2"/>
              </a:buClr>
              <a:buFont typeface="Wingdings" panose="05000000000000000000" pitchFamily="2" charset="2"/>
              <a:buNone/>
              <a:defRPr sz="2000" b="1" i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buClr>
                <a:schemeClr val="tx2"/>
              </a:buClr>
              <a:buFont typeface="Wingdings" panose="05000000000000000000" pitchFamily="2" charset="2"/>
              <a:buChar char="ü"/>
              <a:defRPr sz="16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11430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2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16002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 marL="2057400" indent="-228600">
              <a:buClr>
                <a:schemeClr val="tx2"/>
              </a:buClr>
              <a:buFont typeface="Wingdings" panose="05000000000000000000" pitchFamily="2" charset="2"/>
              <a:buChar char="l"/>
              <a:defRPr sz="1000" b="0" i="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 dirty="0"/>
              <a:t>サブタイトル・メッセージ（</a:t>
            </a:r>
            <a:r>
              <a:rPr lang="en-US" altLang="ja-JP" dirty="0"/>
              <a:t>20</a:t>
            </a:r>
            <a:r>
              <a:rPr lang="ja-JP" altLang="en-US" dirty="0"/>
              <a:t>ｐｔ</a:t>
            </a:r>
            <a:r>
              <a:rPr lang="en-US" altLang="ja-JP" sz="2000" dirty="0">
                <a:solidFill>
                  <a:schemeClr val="tx1"/>
                </a:solidFill>
              </a:rPr>
              <a:t>/</a:t>
            </a:r>
            <a:r>
              <a:rPr lang="ja-JP" altLang="en-US" sz="2000" dirty="0">
                <a:solidFill>
                  <a:schemeClr val="tx1"/>
                </a:solidFill>
              </a:rPr>
              <a:t>２行</a:t>
            </a:r>
            <a:r>
              <a:rPr lang="en-US" altLang="ja-JP" sz="2000" dirty="0">
                <a:solidFill>
                  <a:schemeClr val="tx1"/>
                </a:solidFill>
              </a:rPr>
              <a:t> ver. </a:t>
            </a:r>
            <a:r>
              <a:rPr lang="ja-JP" altLang="en-US" dirty="0"/>
              <a:t>）</a:t>
            </a:r>
            <a:endParaRPr lang="en-US" altLang="ja-JP" dirty="0"/>
          </a:p>
          <a:p>
            <a:pPr lvl="0"/>
            <a:endParaRPr lang="ja-JP" altLang="en-US" dirty="0"/>
          </a:p>
          <a:p>
            <a:pPr lvl="0"/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67120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図形, 矢印&#10;&#10;自動的に生成された説明">
            <a:extLst>
              <a:ext uri="{FF2B5EF4-FFF2-40B4-BE49-F238E27FC236}">
                <a16:creationId xmlns:a16="http://schemas.microsoft.com/office/drawing/2014/main" id="{BE3F4B1C-C713-3B31-AE49-09C81E253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4812" y="0"/>
            <a:ext cx="469582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971784"/>
            <a:ext cx="9086849" cy="568355"/>
          </a:xfrm>
        </p:spPr>
        <p:txBody>
          <a:bodyPr anchor="b">
            <a:normAutofit/>
          </a:bodyPr>
          <a:lstStyle>
            <a:lvl1pPr algn="l">
              <a:defRPr sz="3200" b="1" i="0" baseline="0">
                <a:solidFill>
                  <a:schemeClr val="accent1"/>
                </a:solidFill>
                <a:latin typeface="BIZ UDPゴシック" panose="020B0400000000000000" pitchFamily="34" charset="-128"/>
                <a:ea typeface="BIZ UDPゴシック" panose="020B0400000000000000" pitchFamily="34" charset="-128"/>
              </a:defRPr>
            </a:lvl1pPr>
          </a:lstStyle>
          <a:p>
            <a:r>
              <a:rPr lang="en-US" altLang="ja-JP" dirty="0"/>
              <a:t>End of Document</a:t>
            </a:r>
            <a:endParaRPr 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3BD0F11-B8C4-F108-E2C4-170D065473BD}"/>
              </a:ext>
            </a:extLst>
          </p:cNvPr>
          <p:cNvSpPr txBox="1"/>
          <p:nvPr userDrawn="1"/>
        </p:nvSpPr>
        <p:spPr>
          <a:xfrm>
            <a:off x="456856" y="6461273"/>
            <a:ext cx="36263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ja-JP" sz="900" dirty="0">
                <a:solidFill>
                  <a:schemeClr val="tx2">
                    <a:lumMod val="75000"/>
                  </a:schemeClr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©Sojitz Tech-Innovation Co., Ltd. All Rights Reserved.</a:t>
            </a:r>
            <a:endParaRPr lang="ja-JP" altLang="en-US" sz="900" dirty="0">
              <a:solidFill>
                <a:schemeClr val="tx2">
                  <a:lumMod val="75000"/>
                </a:schemeClr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9893536C-8250-88FE-8899-819CAF1170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3858" y="5153772"/>
            <a:ext cx="11184283" cy="784912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pitchFamily="2" charset="2"/>
              <a:buNone/>
              <a:defRPr sz="1000" b="0" i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685800" indent="-228600">
              <a:lnSpc>
                <a:spcPct val="100000"/>
              </a:lnSpc>
              <a:buFont typeface="Wingdings" panose="05000000000000000000" pitchFamily="2" charset="2"/>
              <a:buChar char="ü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100000"/>
              </a:lnSpc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kumimoji="1" lang="ja-JP" altLang="en-US" dirty="0"/>
              <a:t>双日テックイノベーション、双日テックイノベーションのロゴは、双日テックイノベーション株式会社の登録商標です。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その他記載されている全ての商標、サービスマーク、登録商標、登録サービスマークは、各所有者に所有権があります。 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本書記載の仕様はすべて予告なく変更される場合があります。本書の記載内容に誤りがあった場合、 あるいは記載内容を更新する義務が生じた場合も、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双日テックイノベーションは一切責任を負いません。 双日テックイノベーションは、本書を予告無く変更、修正、または改訂する権利を有します。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本書に記載されている内容を無断で複写、複製することを禁じます。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記載の価格は参考価格となり、ご検討の際にはお見積りのご依頼をお願いいたします。 為替変更やメーカーの価格改定により予告なく変更することがあります。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6213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グラフィカル ユーザー インターフェイス, Web サイト&#10;&#10;自動的に生成された説明">
            <a:extLst>
              <a:ext uri="{FF2B5EF4-FFF2-40B4-BE49-F238E27FC236}">
                <a16:creationId xmlns:a16="http://schemas.microsoft.com/office/drawing/2014/main" id="{4F1C2A3E-918E-7251-4F66-7A17B6E0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5581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　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D9EE6-AEE6-7D48-8266-9FC509548DD9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8AB7B2-5B09-794C-A215-5E1D0C2B75B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3032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8" r:id="rId2"/>
    <p:sldLayoutId id="2147483696" r:id="rId3"/>
    <p:sldLayoutId id="2147483706" r:id="rId4"/>
    <p:sldLayoutId id="2147483704" r:id="rId5"/>
    <p:sldLayoutId id="2147483710" r:id="rId6"/>
    <p:sldLayoutId id="2147483700" r:id="rId7"/>
    <p:sldLayoutId id="2147483713" r:id="rId8"/>
    <p:sldLayoutId id="2147483701" r:id="rId9"/>
    <p:sldLayoutId id="2147483714" r:id="rId10"/>
    <p:sldLayoutId id="2147483702" r:id="rId11"/>
    <p:sldLayoutId id="2147483715" r:id="rId12"/>
    <p:sldLayoutId id="2147483709" r:id="rId13"/>
    <p:sldLayoutId id="2147483716" r:id="rId14"/>
    <p:sldLayoutId id="2147483699" r:id="rId15"/>
    <p:sldLayoutId id="2147483707" r:id="rId16"/>
    <p:sldLayoutId id="2147483712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47" userDrawn="1">
          <p15:clr>
            <a:srgbClr val="F26B43"/>
          </p15:clr>
        </p15:guide>
        <p15:guide id="3" pos="3840" userDrawn="1">
          <p15:clr>
            <a:srgbClr val="F26B43"/>
          </p15:clr>
        </p15:guide>
        <p15:guide id="4" pos="7333" userDrawn="1">
          <p15:clr>
            <a:srgbClr val="F26B43"/>
          </p15:clr>
        </p15:guide>
        <p15:guide id="5" orient="horz" pos="142" userDrawn="1">
          <p15:clr>
            <a:srgbClr val="F26B43"/>
          </p15:clr>
        </p15:guide>
        <p15:guide id="6" orient="horz" pos="417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020FC2-C44C-B63A-BD7C-529E7A693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フィジカルAI入門</a:t>
            </a:r>
            <a:endParaRPr kumimoji="1" lang="ja-JP" altLang="en-US"/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00219B"/>
                </a:solidFill>
                <a:latin typeface="BIZ UDPGothic"/>
                <a:ea typeface="BIZ UDPGothic"/>
              </a:rPr>
              <a:t>〜AIがデジタルから、現実世界へ〜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58BCF63-43F1-7C5E-5C06-078E758E55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社内勉強会</a:t>
            </a:r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F0D390-7D08-18D7-F7E0-2567A722D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lnSpcReduction="10000"/>
          </a:bodyPr>
          <a:lstStyle/>
          <a:p>
            <a:r>
              <a:rPr>
                <a:latin typeface="BIZ UDPGothic"/>
                <a:ea typeface="BIZ UDPGothic"/>
              </a:rPr>
              <a:t>双日テックイノベーション株式会社</a:t>
            </a:r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F3DC3EB-F26E-6036-440B-5FE14FDA43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lnSpcReduction="10000"/>
          </a:bodyPr>
          <a:lstStyle/>
          <a:p>
            <a:endParaRPr kumimoji="1" lang="ja-JP" alt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085B39A-6306-E381-EF50-DFBAE604F6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lnSpcReduction="10000"/>
          </a:bodyPr>
          <a:lstStyle/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8917708A-A6DF-ACEB-214F-5FF13FAB8E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2026年8月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0626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EF019CAF-1F6E-29C8-4189-9BBECDFED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目次</a:t>
            </a:r>
            <a:endParaRPr lang="ja-JP" altLang="en-US" dirty="0"/>
          </a:p>
        </p:txBody>
      </p:sp>
      <p:sp>
        <p:nvSpPr>
          <p:cNvPr id="4" name="Oval 3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  <a:ea typeface="BIZ UDP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191919"/>
                </a:solidFill>
                <a:latin typeface="BIZ UDPGothic"/>
                <a:ea typeface="BIZ UDPGothic"/>
              </a:rPr>
              <a:t>フィジカルAIとは何か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A7ACAF"/>
                </a:solidFill>
                <a:latin typeface="BIZ UDPGothic"/>
                <a:ea typeface="BIZ UDPGothic"/>
              </a:rPr>
              <a:t>定義とAI進化の流れ、注目される背景、技術の全体像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9880" y="143560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7ACAF"/>
                </a:solidFill>
                <a:latin typeface="BIZ UDPGothic"/>
                <a:ea typeface="BIZ UDPGothic"/>
              </a:rPr>
              <a:t>p. </a:t>
            </a:r>
            <a:r>
              <a:rPr sz="1800" b="1">
                <a:solidFill>
                  <a:srgbClr val="00219B"/>
                </a:solidFill>
                <a:latin typeface="BIZ UDPGothic"/>
                <a:ea typeface="BIZ UDPGothic"/>
              </a:rPr>
              <a:t>03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23160"/>
            <a:ext cx="420624" cy="420624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  <a:ea typeface="BIZ UDP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191919"/>
                </a:solidFill>
                <a:latin typeface="BIZ UDPGothic"/>
                <a:ea typeface="BIZ UDPGothic"/>
              </a:rPr>
              <a:t>主要プレイヤーと最新動向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A7ACAF"/>
                </a:solidFill>
                <a:latin typeface="BIZ UDPGothic"/>
                <a:ea typeface="BIZ UDPGothic"/>
              </a:rPr>
              <a:t>NVIDIAの戦略、ヒューマノイド開発競争、産業別ユースケース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244144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7ACAF"/>
                </a:solidFill>
                <a:latin typeface="BIZ UDPGothic"/>
                <a:ea typeface="BIZ UDPGothic"/>
              </a:rPr>
              <a:t>p. </a:t>
            </a:r>
            <a:r>
              <a:rPr sz="1800" b="1">
                <a:solidFill>
                  <a:srgbClr val="00219B"/>
                </a:solidFill>
                <a:latin typeface="BIZ UDPGothic"/>
                <a:ea typeface="BIZ UDPGothic"/>
              </a:rPr>
              <a:t>07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429000"/>
            <a:ext cx="420624" cy="420624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  <a:ea typeface="BIZ UDPGothi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8328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191919"/>
                </a:solidFill>
                <a:latin typeface="BIZ UDPGothic"/>
                <a:ea typeface="BIZ UDPGothic"/>
              </a:rPr>
              <a:t>技術の仕組み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A7ACAF"/>
                </a:solidFill>
                <a:latin typeface="BIZ UDPGothic"/>
                <a:ea typeface="BIZ UDPGothic"/>
              </a:rPr>
              <a:t>シミュレーション学習(Sim2Real)とVLAモデル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344728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7ACAF"/>
                </a:solidFill>
                <a:latin typeface="BIZ UDPGothic"/>
                <a:ea typeface="BIZ UDPGothic"/>
              </a:rPr>
              <a:t>p. </a:t>
            </a:r>
            <a:r>
              <a:rPr sz="1800" b="1">
                <a:solidFill>
                  <a:srgbClr val="00219B"/>
                </a:solidFill>
                <a:latin typeface="BIZ UDPGothic"/>
                <a:ea typeface="BIZ UDPGothic"/>
              </a:rPr>
              <a:t>11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  <a:ea typeface="BIZ UDPGothi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191919"/>
                </a:solidFill>
                <a:latin typeface="BIZ UDPGothic"/>
                <a:ea typeface="BIZ UDPGothic"/>
              </a:rPr>
              <a:t>ビジネスへの示唆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A7ACAF"/>
                </a:solidFill>
                <a:latin typeface="BIZ UDPGothic"/>
                <a:ea typeface="BIZ UDPGothic"/>
              </a:rPr>
              <a:t>市場予測と普及への課題、私たちの事業との接点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69880" y="445312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7ACAF"/>
                </a:solidFill>
                <a:latin typeface="BIZ UDPGothic"/>
                <a:ea typeface="BIZ UDPGothic"/>
              </a:rPr>
              <a:t>p. </a:t>
            </a:r>
            <a:r>
              <a:rPr sz="1800" b="1">
                <a:solidFill>
                  <a:srgbClr val="00219B"/>
                </a:solidFill>
                <a:latin typeface="BIZ UDPGothic"/>
                <a:ea typeface="BIZ UDPGothic"/>
              </a:rPr>
              <a:t>14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440680"/>
            <a:ext cx="420624" cy="420624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IZ UDPGothic"/>
                <a:ea typeface="BIZ UDPGothi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900" b="1">
                <a:solidFill>
                  <a:srgbClr val="191919"/>
                </a:solidFill>
                <a:latin typeface="BIZ UDPGothic"/>
                <a:ea typeface="BIZ UDPGothic"/>
              </a:rPr>
              <a:t>当社の取り組み・まとめ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A7ACAF"/>
                </a:solidFill>
                <a:latin typeface="BIZ UDPGothic"/>
                <a:ea typeface="BIZ UDPGothic"/>
              </a:rPr>
              <a:t>市場の狙い方、検証済みの技術アセット、エッジソリューション構想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69880" y="5458968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A7ACAF"/>
                </a:solidFill>
                <a:latin typeface="BIZ UDPGothic"/>
                <a:ea typeface="BIZ UDPGothic"/>
              </a:rPr>
              <a:t>p. </a:t>
            </a:r>
            <a:r>
              <a:rPr sz="1800" b="1">
                <a:solidFill>
                  <a:srgbClr val="00219B"/>
                </a:solidFill>
                <a:latin typeface="BIZ UDPGothic"/>
                <a:ea typeface="BIZ UDP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01623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FB691E5-B399-DD24-4591-7C2CFEB52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1．フィジカルAIとは何か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7351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フィジカルAIとは — AI進化の「第4の波」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デジタル世界で完結していたAIが、現実世界を知覚し、行動する段階へ</a:t>
            </a:r>
            <a:endParaRPr lang="ja-JP" altLang="en-US"/>
          </a:p>
        </p:txBody>
      </p:sp>
      <p:sp>
        <p:nvSpPr>
          <p:cNvPr id="9" name="Chevron 8"/>
          <p:cNvSpPr/>
          <p:nvPr/>
        </p:nvSpPr>
        <p:spPr>
          <a:xfrm>
            <a:off x="466344" y="1783080"/>
            <a:ext cx="2926080" cy="1874519"/>
          </a:xfrm>
          <a:prstGeom prst="chevron">
            <a:avLst>
              <a:gd name="adj" fmla="val 25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237744" tIns="73152" bIns="73152"/>
          <a:lstStyle/>
          <a:p>
            <a:pPr algn="ctr"/>
            <a:r>
              <a:rPr sz="1500" b="1">
                <a:solidFill>
                  <a:srgbClr val="191919"/>
                </a:solidFill>
                <a:latin typeface="BIZ UDPGothic"/>
                <a:ea typeface="BIZ UDPGothic"/>
              </a:rPr>
              <a:t>認識AI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191919"/>
                </a:solidFill>
                <a:latin typeface="BIZ UDPGothic"/>
                <a:ea typeface="BIZ UDPGothic"/>
              </a:rPr>
              <a:t>画像・音声を認識する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A7ACAF"/>
                </a:solidFill>
                <a:latin typeface="BIZ UDPGothic"/>
                <a:ea typeface="BIZ UDPGothic"/>
              </a:rPr>
              <a:t>2012年頃〜</a:t>
            </a:r>
          </a:p>
        </p:txBody>
      </p:sp>
      <p:sp>
        <p:nvSpPr>
          <p:cNvPr id="10" name="Chevron 9"/>
          <p:cNvSpPr/>
          <p:nvPr/>
        </p:nvSpPr>
        <p:spPr>
          <a:xfrm>
            <a:off x="3255264" y="1783080"/>
            <a:ext cx="2926080" cy="1874519"/>
          </a:xfrm>
          <a:prstGeom prst="chevron">
            <a:avLst>
              <a:gd name="adj" fmla="val 25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37744" tIns="73152" bIns="73152"/>
          <a:lstStyle/>
          <a:p>
            <a:pPr algn="ctr"/>
            <a:r>
              <a:rPr sz="1500" b="1">
                <a:solidFill>
                  <a:srgbClr val="191919"/>
                </a:solidFill>
                <a:latin typeface="BIZ UDPGothic"/>
                <a:ea typeface="BIZ UDPGothic"/>
              </a:rPr>
              <a:t>生成AI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191919"/>
                </a:solidFill>
                <a:latin typeface="BIZ UDPGothic"/>
                <a:ea typeface="BIZ UDPGothic"/>
              </a:rPr>
              <a:t>文章・画像を生み出す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A7ACAF"/>
                </a:solidFill>
                <a:latin typeface="BIZ UDPGothic"/>
                <a:ea typeface="BIZ UDPGothic"/>
              </a:rPr>
              <a:t>2022年頃〜</a:t>
            </a:r>
          </a:p>
        </p:txBody>
      </p:sp>
      <p:sp>
        <p:nvSpPr>
          <p:cNvPr id="11" name="Chevron 10"/>
          <p:cNvSpPr/>
          <p:nvPr/>
        </p:nvSpPr>
        <p:spPr>
          <a:xfrm>
            <a:off x="6044184" y="1783080"/>
            <a:ext cx="2926080" cy="1874519"/>
          </a:xfrm>
          <a:prstGeom prst="chevron">
            <a:avLst>
              <a:gd name="adj" fmla="val 25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37744" tIns="73152" bIns="73152"/>
          <a:lstStyle/>
          <a:p>
            <a:pPr algn="ctr"/>
            <a:r>
              <a:rPr sz="1500" b="1">
                <a:solidFill>
                  <a:srgbClr val="191919"/>
                </a:solidFill>
                <a:latin typeface="BIZ UDPGothic"/>
                <a:ea typeface="BIZ UDPGothic"/>
              </a:rPr>
              <a:t>エージェントAI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191919"/>
                </a:solidFill>
                <a:latin typeface="BIZ UDPGothic"/>
                <a:ea typeface="BIZ UDPGothic"/>
              </a:rPr>
              <a:t>自律的に仕事を進める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A7ACAF"/>
                </a:solidFill>
                <a:latin typeface="BIZ UDPGothic"/>
                <a:ea typeface="BIZ UDPGothic"/>
              </a:rPr>
              <a:t>2024年頃〜</a:t>
            </a:r>
          </a:p>
        </p:txBody>
      </p:sp>
      <p:sp>
        <p:nvSpPr>
          <p:cNvPr id="12" name="Chevron 11"/>
          <p:cNvSpPr/>
          <p:nvPr/>
        </p:nvSpPr>
        <p:spPr>
          <a:xfrm>
            <a:off x="8833104" y="1783080"/>
            <a:ext cx="2926080" cy="1874519"/>
          </a:xfrm>
          <a:prstGeom prst="chevron">
            <a:avLst>
              <a:gd name="adj" fmla="val 25000"/>
            </a:avLst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37744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BIZ UDPGothic"/>
                <a:ea typeface="BIZ UDPGothic"/>
              </a:rPr>
              <a:t>フィジカルAI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FFFFFF"/>
                </a:solidFill>
                <a:latin typeface="BIZ UDPGothic"/>
                <a:ea typeface="BIZ UDPGothic"/>
              </a:rPr>
              <a:t>現実世界で知覚し行動する</a:t>
            </a:r>
          </a:p>
          <a:p>
            <a:pPr>
              <a:spcBef>
                <a:spcPts val="400"/>
              </a:spcBef>
            </a:pPr>
            <a:r>
              <a:rPr sz="1000" b="1">
                <a:solidFill>
                  <a:srgbClr val="6BB8F2"/>
                </a:solidFill>
                <a:latin typeface="BIZ UDPGothic"/>
                <a:ea typeface="BIZ UDPGothic"/>
              </a:rPr>
              <a:t>いま・これから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" y="4069080"/>
            <a:ext cx="11183112" cy="20116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82880" bIns="73152"/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フィジカルAI（Physical AI）とは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91919"/>
                </a:solidFill>
                <a:latin typeface="BIZ UDPGothic"/>
                <a:ea typeface="BIZ UDPGothic"/>
              </a:rPr>
              <a:t>物理法則（重力・摩擦・空間など）を理解し、現実世界を</a:t>
            </a:r>
            <a:r>
              <a:rPr sz="1300" b="1">
                <a:solidFill>
                  <a:srgbClr val="00219B"/>
                </a:solidFill>
                <a:latin typeface="BIZ UDPGothic"/>
                <a:ea typeface="BIZ UDPGothic"/>
              </a:rPr>
              <a:t>知覚・判断・行動</a:t>
            </a:r>
            <a:r>
              <a:rPr sz="1300" b="0">
                <a:solidFill>
                  <a:srgbClr val="191919"/>
                </a:solidFill>
                <a:latin typeface="BIZ UDPGothic"/>
                <a:ea typeface="BIZ UDPGothic"/>
              </a:rPr>
              <a:t>する自律的なAIのこと。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91919"/>
                </a:solidFill>
                <a:latin typeface="BIZ UDPGothic"/>
                <a:ea typeface="BIZ UDPGothic"/>
              </a:rPr>
              <a:t>ヒューマノイドロボット・自動運転車・ドローン・AMR（自律走行搬送ロボット）などの「身体」を通じて、物理的な仕事を行う。</a:t>
            </a:r>
          </a:p>
          <a:p>
            <a:r>
              <a:rPr sz="1100" b="0">
                <a:solidFill>
                  <a:srgbClr val="A7ACAF"/>
                </a:solidFill>
                <a:latin typeface="BIZ UDPGothic"/>
                <a:ea typeface="BIZ UDPGothic"/>
              </a:rPr>
              <a:t>NVIDIAのジェンスン・フアンCEOがCES 2025基調講演で提唱して以降、業界共通のキーワードに。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なぜ今、フィジカルAIが注目されるのか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技術・社会・産業 — 3つの追い風が重なった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214884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685800" bIns="73152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00219B"/>
                </a:solidFill>
                <a:latin typeface="BIZ UDPGothic"/>
                <a:ea typeface="BIZ UDPGothic"/>
              </a:rPr>
              <a:t>技術が追いついた</a:t>
            </a:r>
          </a:p>
          <a:p>
            <a:pPr marL="182880" indent="-182880">
              <a:lnSpc>
                <a:spcPct val="115000"/>
              </a:lnSpc>
              <a:spcAft>
                <a:spcPts val="800"/>
              </a:spcAft>
              <a:buFont typeface="BIZ UDPGothic"/>
              <a:buChar char="・"/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LLM・基盤モデルの進化で、ロボットが言葉と「常識」を理解できるようになった</a:t>
            </a:r>
          </a:p>
          <a:p>
            <a:pPr marL="182880" indent="-182880">
              <a:lnSpc>
                <a:spcPct val="115000"/>
              </a:lnSpc>
              <a:spcAft>
                <a:spcPts val="800"/>
              </a:spcAft>
              <a:buFont typeface="BIZ UDPGothic"/>
              <a:buChar char="・"/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シミュレーション技術の成熟で、学習の時間とコストが劇的に低下</a:t>
            </a:r>
          </a:p>
        </p:txBody>
      </p:sp>
      <p:sp>
        <p:nvSpPr>
          <p:cNvPr id="10" name="Oval 9"/>
          <p:cNvSpPr/>
          <p:nvPr/>
        </p:nvSpPr>
        <p:spPr>
          <a:xfrm>
            <a:off x="667512" y="2331720"/>
            <a:ext cx="384048" cy="384048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4884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685800" bIns="73152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00219B"/>
                </a:solidFill>
                <a:latin typeface="BIZ UDPGothic"/>
                <a:ea typeface="BIZ UDPGothic"/>
              </a:rPr>
              <a:t>現場の人手が足りない</a:t>
            </a:r>
          </a:p>
          <a:p>
            <a:pPr marL="182880" indent="-182880">
              <a:lnSpc>
                <a:spcPct val="115000"/>
              </a:lnSpc>
              <a:spcAft>
                <a:spcPts val="800"/>
              </a:spcAft>
              <a:buFont typeface="BIZ UDPGothic"/>
              <a:buChar char="・"/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日本では2030年に約644万人の人手不足という試算（パーソル総合研究所ほか）</a:t>
            </a:r>
          </a:p>
          <a:p>
            <a:pPr marL="182880" indent="-182880">
              <a:lnSpc>
                <a:spcPct val="115000"/>
              </a:lnSpc>
              <a:spcAft>
                <a:spcPts val="800"/>
              </a:spcAft>
              <a:buFont typeface="BIZ UDPGothic"/>
              <a:buChar char="・"/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製造・物流・建設・介護など、身体を使う仕事ほど自動化ニーズが深刻</a:t>
            </a:r>
          </a:p>
        </p:txBody>
      </p:sp>
      <p:sp>
        <p:nvSpPr>
          <p:cNvPr id="12" name="Oval 11"/>
          <p:cNvSpPr/>
          <p:nvPr/>
        </p:nvSpPr>
        <p:spPr>
          <a:xfrm>
            <a:off x="4453128" y="2331720"/>
            <a:ext cx="384048" cy="384048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2148840"/>
            <a:ext cx="3611880" cy="33832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685800" bIns="73152"/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00219B"/>
                </a:solidFill>
                <a:latin typeface="BIZ UDPGothic"/>
                <a:ea typeface="BIZ UDPGothic"/>
              </a:rPr>
              <a:t>産業界が本気になった</a:t>
            </a:r>
          </a:p>
          <a:p>
            <a:pPr marL="182880" indent="-182880">
              <a:lnSpc>
                <a:spcPct val="115000"/>
              </a:lnSpc>
              <a:spcAft>
                <a:spcPts val="800"/>
              </a:spcAft>
              <a:buFont typeface="BIZ UDPGothic"/>
              <a:buChar char="・"/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NVIDIA CEO「ロボティクスのChatGPTモーメントは目前」（CES 2025）</a:t>
            </a:r>
          </a:p>
          <a:p>
            <a:pPr marL="182880" indent="-182880">
              <a:lnSpc>
                <a:spcPct val="115000"/>
              </a:lnSpc>
              <a:spcAft>
                <a:spcPts val="800"/>
              </a:spcAft>
              <a:buFont typeface="BIZ UDPGothic"/>
              <a:buChar char="・"/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ヒューマノイド各社へ巨額投資が集中し、開発競争が一気に加速</a:t>
            </a:r>
          </a:p>
        </p:txBody>
      </p:sp>
      <p:sp>
        <p:nvSpPr>
          <p:cNvPr id="14" name="Oval 13"/>
          <p:cNvSpPr/>
          <p:nvPr/>
        </p:nvSpPr>
        <p:spPr>
          <a:xfrm>
            <a:off x="8238744" y="2331720"/>
            <a:ext cx="384048" cy="384048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フィジカルAIを支える3層の技術スタック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「頭脳」「訓練場」「身体」の3層がそろって初めて機能する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828800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BIZ UDPGothic"/>
                <a:ea typeface="BIZ UDPGothic"/>
              </a:rPr>
              <a:t>頭脳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9968" y="1828800"/>
            <a:ext cx="6675120" cy="1207008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09728" tIns="128016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基盤モデル</a:t>
            </a:r>
          </a:p>
          <a:p>
            <a:pPr>
              <a:lnSpc>
                <a:spcPct val="11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カメラ映像と言葉を理解し、次の動作を決める（VLAモデル・世界モデル）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51392" y="1828800"/>
            <a:ext cx="2798064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73152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A7ACAF"/>
                </a:solidFill>
                <a:latin typeface="BIZ UDPGothic"/>
                <a:ea typeface="BIZ UDPGothic"/>
              </a:rPr>
              <a:t>代表例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91919"/>
                </a:solidFill>
                <a:latin typeface="BIZ UDPGothic"/>
                <a:ea typeface="BIZ UDPGothic"/>
              </a:rPr>
              <a:t>Isaac GR00T ／ Gemini Robotics ／ Cosmos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3218688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2A6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BIZ UDPGothic"/>
                <a:ea typeface="BIZ UDPGothic"/>
              </a:rPr>
              <a:t>訓練場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29968" y="3218688"/>
            <a:ext cx="6675120" cy="1207008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09728" tIns="128016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シミュレーション</a:t>
            </a:r>
          </a:p>
          <a:p>
            <a:pPr>
              <a:lnSpc>
                <a:spcPct val="11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物理法則を再現した仮想空間（デジタルツイン）で、安全に大量訓練する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3218688"/>
            <a:ext cx="2798064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73152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A7ACAF"/>
                </a:solidFill>
                <a:latin typeface="BIZ UDPGothic"/>
                <a:ea typeface="BIZ UDPGothic"/>
              </a:rPr>
              <a:t>代表例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91919"/>
                </a:solidFill>
                <a:latin typeface="BIZ UDPGothic"/>
                <a:ea typeface="BIZ UDPGothic"/>
              </a:rPr>
              <a:t>NVIDIA Omniverse ／ Isaac Sim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" y="4608576"/>
            <a:ext cx="1417320" cy="1207008"/>
          </a:xfrm>
          <a:prstGeom prst="roundRect">
            <a:avLst>
              <a:gd name="adj" fmla="val 8000"/>
            </a:avLst>
          </a:prstGeom>
          <a:solidFill>
            <a:srgbClr val="6BB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BIZ UDPGothic"/>
                <a:ea typeface="BIZ UDPGothic"/>
              </a:rPr>
              <a:t>身体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29968" y="4608576"/>
            <a:ext cx="6675120" cy="1207008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09728" tIns="128016" bIns="73152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ロボット＋エッジAI</a:t>
            </a:r>
          </a:p>
          <a:p>
            <a:pPr>
              <a:lnSpc>
                <a:spcPct val="11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センサーで知覚し、アクチュエータ（関節・モーター）で現実世界に働きかける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4608576"/>
            <a:ext cx="2798064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7AC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09728" tIns="128016" bIns="73152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A7ACAF"/>
                </a:solidFill>
                <a:latin typeface="BIZ UDPGothic"/>
                <a:ea typeface="BIZ UDPGothic"/>
              </a:rPr>
              <a:t>代表例</a:t>
            </a:r>
          </a:p>
          <a:p>
            <a:pPr>
              <a:lnSpc>
                <a:spcPct val="115000"/>
              </a:lnSpc>
            </a:pPr>
            <a:r>
              <a:rPr sz="1100" b="0">
                <a:solidFill>
                  <a:srgbClr val="191919"/>
                </a:solidFill>
                <a:latin typeface="BIZ UDPGothic"/>
                <a:ea typeface="BIZ UDPGothic"/>
              </a:rPr>
              <a:t>ヒューマノイド ／ AMR ／ Jetson Thor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" y="6053328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A7ACAF"/>
                </a:solidFill>
                <a:latin typeface="BIZ UDPGothic"/>
                <a:ea typeface="BIZ UDPGothic"/>
              </a:rPr>
              <a:t>※ 3層をつなぐ開発プラットフォームを制した企業が市場の主導権を握る構図（後述のNVIDIA戦略）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FB691E5-B399-DD24-4591-7C2CFEB52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2．主要プレイヤーと最新動向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73518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NVIDIA — フィジカルAIの「共通基盤」を狙う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「3つのコンピュータ」でロボット開発の全工程を押さえる戦略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783080"/>
            <a:ext cx="3493008" cy="23317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学習</a:t>
            </a:r>
          </a:p>
          <a:p>
            <a:pPr algn="ctr">
              <a:spcAft>
                <a:spcPts val="800"/>
              </a:spcAft>
            </a:pPr>
            <a:r>
              <a:rPr sz="1300" b="1">
                <a:solidFill>
                  <a:srgbClr val="2A65F5"/>
                </a:solidFill>
                <a:latin typeface="BIZ UDPGothic"/>
                <a:ea typeface="BIZ UDPGothic"/>
              </a:rPr>
              <a:t>DGX ／ クラウド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データセンターで大規模な基盤モデルを訓練する</a:t>
            </a:r>
          </a:p>
        </p:txBody>
      </p:sp>
      <p:sp>
        <p:nvSpPr>
          <p:cNvPr id="10" name="Chevron 9"/>
          <p:cNvSpPr/>
          <p:nvPr/>
        </p:nvSpPr>
        <p:spPr>
          <a:xfrm>
            <a:off x="3995928" y="2724912"/>
            <a:ext cx="237744" cy="457200"/>
          </a:xfrm>
          <a:prstGeom prst="chevron">
            <a:avLst>
              <a:gd name="adj" fmla="val 80000"/>
            </a:avLst>
          </a:prstGeom>
          <a:solidFill>
            <a:srgbClr val="2A6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783080"/>
            <a:ext cx="3493008" cy="23317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シミュレーション</a:t>
            </a:r>
          </a:p>
          <a:p>
            <a:pPr algn="ctr">
              <a:spcAft>
                <a:spcPts val="800"/>
              </a:spcAft>
            </a:pPr>
            <a:r>
              <a:rPr sz="1300" b="1">
                <a:solidFill>
                  <a:srgbClr val="2A65F5"/>
                </a:solidFill>
                <a:latin typeface="BIZ UDPGothic"/>
                <a:ea typeface="BIZ UDPGothic"/>
              </a:rPr>
              <a:t>Omniverse ＋ Cosmos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仮想空間で訓練・検証。世界基盤モデル「Cosmos」が現実さながらの学習データを生成</a:t>
            </a:r>
          </a:p>
        </p:txBody>
      </p:sp>
      <p:sp>
        <p:nvSpPr>
          <p:cNvPr id="12" name="Chevron 11"/>
          <p:cNvSpPr/>
          <p:nvPr/>
        </p:nvSpPr>
        <p:spPr>
          <a:xfrm>
            <a:off x="7836407" y="2724912"/>
            <a:ext cx="237744" cy="457200"/>
          </a:xfrm>
          <a:prstGeom prst="chevron">
            <a:avLst>
              <a:gd name="adj" fmla="val 80000"/>
            </a:avLst>
          </a:prstGeom>
          <a:solidFill>
            <a:srgbClr val="2A6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7304" y="1783080"/>
            <a:ext cx="3493008" cy="23317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64592" bIns="73152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実行</a:t>
            </a:r>
          </a:p>
          <a:p>
            <a:pPr algn="ctr">
              <a:spcAft>
                <a:spcPts val="800"/>
              </a:spcAft>
            </a:pPr>
            <a:r>
              <a:rPr sz="1300" b="1">
                <a:solidFill>
                  <a:srgbClr val="2A65F5"/>
                </a:solidFill>
                <a:latin typeface="BIZ UDPGothic"/>
                <a:ea typeface="BIZ UDPGothic"/>
              </a:rPr>
              <a:t>Jetson Thor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ロボット本体に搭載するエッジAIコンピュータ。学習済みモデルを現場で動かす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" y="4572000"/>
            <a:ext cx="11183112" cy="1463040"/>
          </a:xfrm>
          <a:prstGeom prst="roundRect">
            <a:avLst>
              <a:gd name="adj" fmla="val 8000"/>
            </a:avLst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09728" tIns="146304" bIns="73152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BIZ UDPGothic"/>
                <a:ea typeface="BIZ UDPGothic"/>
              </a:rPr>
              <a:t>Isaac GR00T — ヒューマノイド向けのオープンな基盤モデル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EDF4F9"/>
                </a:solidFill>
                <a:latin typeface="BIZ UDPGothic"/>
                <a:ea typeface="BIZ UDPGothic"/>
              </a:rPr>
              <a:t>モデルを無償公開して各社ロボットに採用を促し、開発ツールからチップまで自社基盤で固める。PC時代の「Wintel」のように、フィジカルAIの“OS層”を握りにいく戦略。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加速するヒューマノイド開発競争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米中のプレイヤーが先行、価格破壊も始まっている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874519"/>
            <a:ext cx="3611880" cy="181051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28016" bIns="73152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219B"/>
                </a:solidFill>
                <a:latin typeface="BIZ UDPGothic"/>
                <a:ea typeface="BIZ UDPGothic"/>
              </a:rPr>
              <a:t>Tesla Optimus</a:t>
            </a:r>
            <a:r>
              <a:rPr sz="1050" b="1">
                <a:solidFill>
                  <a:srgbClr val="2A65F5"/>
                </a:solidFill>
                <a:latin typeface="BIZ UDPGothic"/>
                <a:ea typeface="BIZ UDPGothic"/>
              </a:rPr>
              <a:t>　米国</a:t>
            </a:r>
          </a:p>
          <a:p>
            <a:pPr>
              <a:lnSpc>
                <a:spcPct val="118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自社工場での活用から量産・外販までを構想。AI・製造力を武器に本命視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874519"/>
            <a:ext cx="3611880" cy="181051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28016" bIns="73152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219B"/>
                </a:solidFill>
                <a:latin typeface="BIZ UDPGothic"/>
                <a:ea typeface="BIZ UDPGothic"/>
              </a:rPr>
              <a:t>Figure</a:t>
            </a:r>
            <a:r>
              <a:rPr sz="1050" b="1">
                <a:solidFill>
                  <a:srgbClr val="2A65F5"/>
                </a:solidFill>
                <a:latin typeface="BIZ UDPGothic"/>
                <a:ea typeface="BIZ UDPGothic"/>
              </a:rPr>
              <a:t>　米国</a:t>
            </a:r>
          </a:p>
          <a:p>
            <a:pPr>
              <a:lnSpc>
                <a:spcPct val="118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独自のVLAモデル「Helix」を開発。BMW工場での実証で先行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6" y="1874519"/>
            <a:ext cx="3611880" cy="181051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28016" bIns="73152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219B"/>
                </a:solidFill>
                <a:latin typeface="BIZ UDPGothic"/>
                <a:ea typeface="BIZ UDPGothic"/>
              </a:rPr>
              <a:t>Boston Dynamics</a:t>
            </a:r>
            <a:r>
              <a:rPr sz="1050" b="1">
                <a:solidFill>
                  <a:srgbClr val="2A65F5"/>
                </a:solidFill>
                <a:latin typeface="BIZ UDPGothic"/>
                <a:ea typeface="BIZ UDPGothic"/>
              </a:rPr>
              <a:t>　米国</a:t>
            </a:r>
          </a:p>
          <a:p>
            <a:pPr>
              <a:lnSpc>
                <a:spcPct val="118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電動化した新型「Atlas」。トヨタ系研究所と基盤モデルで提携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4005072"/>
            <a:ext cx="3611880" cy="181051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28016" bIns="73152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219B"/>
                </a:solidFill>
                <a:latin typeface="BIZ UDPGothic"/>
                <a:ea typeface="BIZ UDPGothic"/>
              </a:rPr>
              <a:t>Unitree（宇樹科技）</a:t>
            </a:r>
            <a:r>
              <a:rPr sz="1050" b="1">
                <a:solidFill>
                  <a:srgbClr val="E86487"/>
                </a:solidFill>
                <a:latin typeface="BIZ UDPGothic"/>
                <a:ea typeface="BIZ UDPGothic"/>
              </a:rPr>
              <a:t>　中国</a:t>
            </a:r>
          </a:p>
          <a:p>
            <a:pPr>
              <a:lnSpc>
                <a:spcPct val="118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「G1」を約1.6万ドルで発売。圧倒的な低価格と量産力で普及を狙う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005072"/>
            <a:ext cx="3611880" cy="181051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28016" bIns="73152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219B"/>
                </a:solidFill>
                <a:latin typeface="BIZ UDPGothic"/>
                <a:ea typeface="BIZ UDPGothic"/>
              </a:rPr>
              <a:t>Google DeepMind</a:t>
            </a:r>
            <a:r>
              <a:rPr sz="1050" b="1">
                <a:solidFill>
                  <a:srgbClr val="2A65F5"/>
                </a:solidFill>
                <a:latin typeface="BIZ UDPGothic"/>
                <a:ea typeface="BIZ UDPGothic"/>
              </a:rPr>
              <a:t>　米国</a:t>
            </a:r>
          </a:p>
          <a:p>
            <a:pPr>
              <a:lnSpc>
                <a:spcPct val="118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VLAモデル「Gemini Robotics」を開発し、ロボット各社へ頭脳を提供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7576" y="4005072"/>
            <a:ext cx="3611880" cy="181051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64592" tIns="128016" bIns="73152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219B"/>
                </a:solidFill>
                <a:latin typeface="BIZ UDPGothic"/>
                <a:ea typeface="BIZ UDPGothic"/>
              </a:rPr>
              <a:t>国内の動き</a:t>
            </a:r>
            <a:r>
              <a:rPr sz="1050" b="1">
                <a:solidFill>
                  <a:srgbClr val="55D2D8"/>
                </a:solidFill>
                <a:latin typeface="BIZ UDPGothic"/>
                <a:ea typeface="BIZ UDPGothic"/>
              </a:rPr>
              <a:t>　日本</a:t>
            </a:r>
          </a:p>
          <a:p>
            <a:pPr>
              <a:lnSpc>
                <a:spcPct val="118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川崎重工「Kaleido」、トヨタ、ソニーGなどが研究開発を推進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産業別ユースケース — どこから使われ始めるか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まずは「決まった環境 × 繰り返し作業」の現場から広がる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783080"/>
            <a:ext cx="5504688" cy="199339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01168" tIns="164592" bIns="73152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2A65F5"/>
                </a:solidFill>
                <a:latin typeface="BIZ UDPGothic"/>
                <a:ea typeface="BIZ UDPGothic"/>
              </a:rPr>
              <a:t>■ </a:t>
            </a: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製造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部品搬送・組立・検査などの反復作業。BMWやMercedes-Benzが工場でヒューマノイドを実証中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783080"/>
            <a:ext cx="5504688" cy="199339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01168" tIns="164592" bIns="73152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5D2D8"/>
                </a:solidFill>
                <a:latin typeface="BIZ UDPGothic"/>
                <a:ea typeface="BIZ UDPGothic"/>
              </a:rPr>
              <a:t>■ </a:t>
            </a: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物流・倉庫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ピッキング・仕分け・荷降ろし。Amazonなどが倉庫でのロボット活用実証を推進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" y="3977640"/>
            <a:ext cx="5504688" cy="199339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01168" tIns="164592" bIns="73152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AAA5FD"/>
                </a:solidFill>
                <a:latin typeface="BIZ UDPGothic"/>
                <a:ea typeface="BIZ UDPGothic"/>
              </a:rPr>
              <a:t>■ </a:t>
            </a: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建設・インフラ点検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四足ロボット（例：Spot）による巡回・危険箇所の点検で、危険作業を代替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3977640"/>
            <a:ext cx="5504688" cy="199339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201168" tIns="164592" bIns="73152"/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E86487"/>
                </a:solidFill>
                <a:latin typeface="BIZ UDPGothic"/>
                <a:ea typeface="BIZ UDPGothic"/>
              </a:rPr>
              <a:t>■ </a:t>
            </a: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サービス・小売</a:t>
            </a:r>
          </a:p>
          <a:p>
            <a:pPr>
              <a:lnSpc>
                <a:spcPct val="125000"/>
              </a:lnSpc>
            </a:pPr>
            <a:r>
              <a:rPr sz="1250" b="0">
                <a:solidFill>
                  <a:srgbClr val="191919"/>
                </a:solidFill>
                <a:latin typeface="BIZ UDPGothic"/>
                <a:ea typeface="BIZ UDPGothic"/>
              </a:rPr>
              <a:t>品出し・清掃・警備など。国内ではTelexistenceがコンビニの飲料補充を自動化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6053328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>
                <a:solidFill>
                  <a:srgbClr val="A7ACAF"/>
                </a:solidFill>
                <a:latin typeface="BIZ UDPGothic"/>
                <a:ea typeface="BIZ UDPGothic"/>
              </a:rPr>
              <a:t>※ 完全な汎用ロボットの前に、環境が管理された現場（工場・倉庫）での特定業務から実用化が進む見込み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FB691E5-B399-DD24-4591-7C2CFEB52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3．技術の仕組み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73518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どうやって学習するのか — 鍵はシミュレーション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現実での試行錯誤は遅くて危険。だから仮想世界で学び、現実へ転移する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783080"/>
            <a:ext cx="3493008" cy="20116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7315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A65F5"/>
                </a:solidFill>
                <a:latin typeface="BIZ UDPGothic"/>
                <a:ea typeface="BIZ UDPGothic"/>
              </a:rPr>
              <a:t>STEP 1</a:t>
            </a:r>
          </a:p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現場をデジタルツイン化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工場・倉庫などの現場を、物理法則ごと仮想空間に忠実に再現する</a:t>
            </a:r>
          </a:p>
        </p:txBody>
      </p:sp>
      <p:sp>
        <p:nvSpPr>
          <p:cNvPr id="10" name="Chevron 9"/>
          <p:cNvSpPr/>
          <p:nvPr/>
        </p:nvSpPr>
        <p:spPr>
          <a:xfrm>
            <a:off x="3995928" y="2560320"/>
            <a:ext cx="237744" cy="457200"/>
          </a:xfrm>
          <a:prstGeom prst="chevron">
            <a:avLst>
              <a:gd name="adj" fmla="val 80000"/>
            </a:avLst>
          </a:prstGeom>
          <a:solidFill>
            <a:srgbClr val="2A6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783080"/>
            <a:ext cx="3493008" cy="20116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7315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A65F5"/>
                </a:solidFill>
                <a:latin typeface="BIZ UDPGothic"/>
                <a:ea typeface="BIZ UDPGothic"/>
              </a:rPr>
              <a:t>STEP 2</a:t>
            </a:r>
          </a:p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仮想空間で大量訓練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数千体のロボットを並列で訓練。実時間の数千倍の速度で試行錯誤を繰り返す</a:t>
            </a:r>
          </a:p>
        </p:txBody>
      </p:sp>
      <p:sp>
        <p:nvSpPr>
          <p:cNvPr id="12" name="Chevron 11"/>
          <p:cNvSpPr/>
          <p:nvPr/>
        </p:nvSpPr>
        <p:spPr>
          <a:xfrm>
            <a:off x="7836407" y="2560320"/>
            <a:ext cx="237744" cy="457200"/>
          </a:xfrm>
          <a:prstGeom prst="chevron">
            <a:avLst>
              <a:gd name="adj" fmla="val 80000"/>
            </a:avLst>
          </a:prstGeom>
          <a:solidFill>
            <a:srgbClr val="2A6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7304" y="1783080"/>
            <a:ext cx="3493008" cy="20116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7315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A65F5"/>
                </a:solidFill>
                <a:latin typeface="BIZ UDPGothic"/>
                <a:ea typeface="BIZ UDPGothic"/>
              </a:rPr>
              <a:t>STEP 3</a:t>
            </a:r>
          </a:p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実機へ転移（Sim2Real）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学習済みモデルを実機に載せ、現実とのわずかなズレを微調整して仕上げる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" y="4251960"/>
            <a:ext cx="11183112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109728" tIns="146304" bIns="73152"/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00219B"/>
                </a:solidFill>
                <a:latin typeface="BIZ UDPGothic"/>
                <a:ea typeface="BIZ UDPGothic"/>
              </a:rPr>
              <a:t>ポイント：足りない現実データは「合成データ」で補う</a:t>
            </a:r>
          </a:p>
          <a:p>
            <a:pPr>
              <a:lnSpc>
                <a:spcPct val="125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テキストと違い、ロボットの学習データ（動作・映像）はWeb上にほとんど存在しない。世界モデル（Cosmosなど）が物理的に自然な映像・状況データを大量生成し、このギャップを埋めている。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VLAモデル — ロボットの頭脳のしくみ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Vision（見る）・Language（理解する）・Action（動く）を1つのモデルで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783080"/>
            <a:ext cx="3246120" cy="24688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146304" bIns="73152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A7ACAF"/>
                </a:solidFill>
                <a:latin typeface="BIZ UDPGothic"/>
                <a:ea typeface="BIZ UDPGothic"/>
              </a:rPr>
              <a:t>入力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00219B"/>
                </a:solidFill>
                <a:latin typeface="BIZ UDPGothic"/>
                <a:ea typeface="BIZ UDPGothic"/>
              </a:rPr>
              <a:t>Vision：カメラ映像・センサー情報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19B"/>
                </a:solidFill>
                <a:latin typeface="BIZ UDPGothic"/>
                <a:ea typeface="BIZ UDPGothic"/>
              </a:rPr>
              <a:t>Language：「棚の飲料を補充して」などの自然言語の指示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91919"/>
                </a:solidFill>
                <a:latin typeface="BIZ UDPGothic"/>
                <a:ea typeface="BIZ UDPGothic"/>
              </a:rPr>
              <a:t>人がロボット言語を覚えるのではなく、ロボットが人の言葉を理解する</a:t>
            </a:r>
          </a:p>
        </p:txBody>
      </p:sp>
      <p:sp>
        <p:nvSpPr>
          <p:cNvPr id="10" name="Chevron 9"/>
          <p:cNvSpPr/>
          <p:nvPr/>
        </p:nvSpPr>
        <p:spPr>
          <a:xfrm>
            <a:off x="3803904" y="2697480"/>
            <a:ext cx="274320" cy="502920"/>
          </a:xfrm>
          <a:prstGeom prst="chevron">
            <a:avLst>
              <a:gd name="adj" fmla="val 80000"/>
            </a:avLst>
          </a:prstGeom>
          <a:solidFill>
            <a:srgbClr val="2A6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69663" y="178308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9456" rIns="219456" tIns="73152" bIns="73152"/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BIZ UDPGothic"/>
                <a:ea typeface="BIZ UDPGothic"/>
              </a:rPr>
              <a:t>VLAモデル</a:t>
            </a:r>
          </a:p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1200" b="0">
                <a:solidFill>
                  <a:srgbClr val="EDF4F9"/>
                </a:solidFill>
                <a:latin typeface="BIZ UDPGothic"/>
                <a:ea typeface="BIZ UDPGothic"/>
              </a:rPr>
              <a:t>LLM由来の知識・推論力を土台に、状況を理解して動作計画を立てる</a:t>
            </a:r>
          </a:p>
          <a:p>
            <a:pPr algn="ctr">
              <a:lnSpc>
                <a:spcPct val="120000"/>
              </a:lnSpc>
            </a:pPr>
            <a:r>
              <a:rPr sz="1050" b="0">
                <a:solidFill>
                  <a:srgbClr val="6BB8F2"/>
                </a:solidFill>
                <a:latin typeface="BIZ UDPGothic"/>
                <a:ea typeface="BIZ UDPGothic"/>
              </a:rPr>
              <a:t>例：Helix（Figure）／ Gemini Robotics ／ π0（Physical Intelligence）</a:t>
            </a:r>
          </a:p>
        </p:txBody>
      </p:sp>
      <p:sp>
        <p:nvSpPr>
          <p:cNvPr id="12" name="Chevron 11"/>
          <p:cNvSpPr/>
          <p:nvPr/>
        </p:nvSpPr>
        <p:spPr>
          <a:xfrm>
            <a:off x="8010144" y="2697480"/>
            <a:ext cx="274320" cy="502920"/>
          </a:xfrm>
          <a:prstGeom prst="chevron">
            <a:avLst>
              <a:gd name="adj" fmla="val 80000"/>
            </a:avLst>
          </a:prstGeom>
          <a:solidFill>
            <a:srgbClr val="2A6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75904" y="1783080"/>
            <a:ext cx="3273552" cy="24688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146304" bIns="73152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A7ACAF"/>
                </a:solidFill>
                <a:latin typeface="BIZ UDPGothic"/>
                <a:ea typeface="BIZ UDPGothic"/>
              </a:rPr>
              <a:t>出力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0219B"/>
                </a:solidFill>
                <a:latin typeface="BIZ UDPGothic"/>
                <a:ea typeface="BIZ UDPGothic"/>
              </a:rPr>
              <a:t>Action：関節・モーターへの動作指令</a:t>
            </a:r>
          </a:p>
          <a:p>
            <a:pPr>
              <a:lnSpc>
                <a:spcPct val="120000"/>
              </a:lnSpc>
            </a:pPr>
            <a:r>
              <a:rPr sz="1100" b="0">
                <a:solidFill>
                  <a:srgbClr val="191919"/>
                </a:solidFill>
                <a:latin typeface="BIZ UDPGothic"/>
                <a:ea typeface="BIZ UDPGothic"/>
              </a:rPr>
              <a:t>毎秒数十回の連続制御で、つかむ・運ぶ・置くなどの動作を実行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" y="4572000"/>
            <a:ext cx="5504688" cy="150876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09728" tIns="128016" bIns="73152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A7ACAF"/>
                </a:solidFill>
                <a:latin typeface="BIZ UDPGothic"/>
                <a:ea typeface="BIZ UDPGothic"/>
              </a:rPr>
              <a:t>従来のロボット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動作を1つずつプログラミング。決められた環境・手順の外に出ると対応できない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4572000"/>
            <a:ext cx="5504688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09728" tIns="128016" bIns="73152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219B"/>
                </a:solidFill>
                <a:latin typeface="BIZ UDPGothic"/>
                <a:ea typeface="BIZ UDPGothic"/>
              </a:rPr>
              <a:t>VLA搭載ロボット</a:t>
            </a:r>
          </a:p>
          <a:p>
            <a:pPr>
              <a:lnSpc>
                <a:spcPct val="120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「常識」を持ち、初めて見る物・初めての指示にも柔軟に対応できる（汎用性）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FB691E5-B399-DD24-4591-7C2CFEB52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4．ビジネスへの示唆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73518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市場予測と、普及までの課題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期待は大きい。ただし「現場で使える」までのハードルも現実的に見る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783080"/>
            <a:ext cx="4754880" cy="4206240"/>
          </a:xfrm>
          <a:prstGeom prst="roundRect">
            <a:avLst>
              <a:gd name="adj" fmla="val 8000"/>
            </a:avLst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219456" bIns="73152"/>
          <a:lstStyle/>
          <a:p>
            <a:pPr algn="ctr">
              <a:spcAft>
                <a:spcPts val="1000"/>
              </a:spcAft>
            </a:pPr>
            <a:r>
              <a:rPr sz="1400" b="1">
                <a:solidFill>
                  <a:srgbClr val="6BB8F2"/>
                </a:solidFill>
                <a:latin typeface="BIZ UDPGothic"/>
                <a:ea typeface="BIZ UDPGothic"/>
              </a:rPr>
              <a:t>市場予測</a:t>
            </a:r>
          </a:p>
          <a:p>
            <a:pPr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BIZ UDPGothic"/>
                <a:ea typeface="BIZ UDPGothic"/>
              </a:rPr>
              <a:t>約380億ドル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150" b="0">
                <a:solidFill>
                  <a:srgbClr val="EDF4F9"/>
                </a:solidFill>
                <a:latin typeface="BIZ UDPGothic"/>
                <a:ea typeface="BIZ UDPGothic"/>
              </a:rPr>
              <a:t>ヒューマノイドロボットの世界市場規模（2035年、Goldman Sachs予測）</a:t>
            </a:r>
          </a:p>
          <a:p>
            <a:pPr>
              <a:spcAft>
                <a:spcPts val="200"/>
              </a:spcAft>
            </a:pPr>
            <a:r>
              <a:rPr sz="2800" b="1">
                <a:solidFill>
                  <a:srgbClr val="FFFFFF"/>
                </a:solidFill>
                <a:latin typeface="BIZ UDPGothic"/>
                <a:ea typeface="BIZ UDPGothic"/>
              </a:rPr>
              <a:t>約2,300億円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150" b="0">
                <a:solidFill>
                  <a:srgbClr val="EDF4F9"/>
                </a:solidFill>
                <a:latin typeface="BIZ UDPGothic"/>
                <a:ea typeface="BIZ UDPGothic"/>
              </a:rPr>
              <a:t>日本のフィジカルAI市場規模（FY30予測、CAGR 36.2%）。市場は立ち上げ初期で、SIやユースケースはまだ確立していない</a:t>
            </a:r>
          </a:p>
          <a:p>
            <a:pPr>
              <a:lnSpc>
                <a:spcPct val="125000"/>
              </a:lnSpc>
            </a:pPr>
            <a:r>
              <a:rPr sz="1000" b="0">
                <a:solidFill>
                  <a:srgbClr val="6BB8F2"/>
                </a:solidFill>
                <a:latin typeface="BIZ UDPGothic"/>
                <a:ea typeface="BIZ UDPGothic"/>
              </a:rPr>
              <a:t>※ 予測値は調査機関によって幅が大きい。金額そのものより「各機関がこぞって高成長市場と見ている」という方向感で捉える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40680" y="1783080"/>
            <a:ext cx="6208776" cy="94183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91440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19B"/>
                </a:solidFill>
                <a:latin typeface="BIZ UDPGothic"/>
                <a:ea typeface="BIZ UDPGothic"/>
              </a:rPr>
              <a:t>安全性</a:t>
            </a:r>
          </a:p>
          <a:p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人と同じ空間で働くための安全基準・規制の整備はこれから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871215"/>
            <a:ext cx="6208776" cy="94183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91440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19B"/>
                </a:solidFill>
                <a:latin typeface="BIZ UDPGothic"/>
                <a:ea typeface="BIZ UDPGothic"/>
              </a:rPr>
              <a:t>コスト</a:t>
            </a:r>
          </a:p>
          <a:p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本体価格に加え、周辺システムと運用まで含めた総コストが課題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3959352"/>
            <a:ext cx="6208776" cy="94183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91440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19B"/>
                </a:solidFill>
                <a:latin typeface="BIZ UDPGothic"/>
                <a:ea typeface="BIZ UDPGothic"/>
              </a:rPr>
              <a:t>信頼性</a:t>
            </a:r>
          </a:p>
          <a:p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長時間の連続稼働、故障時の対応など現場品質はまだ発展途上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5047488"/>
            <a:ext cx="6208776" cy="941832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09728" tIns="91440" bIns="73152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0219B"/>
                </a:solidFill>
                <a:latin typeface="BIZ UDPGothic"/>
                <a:ea typeface="BIZ UDPGothic"/>
              </a:rPr>
              <a:t>電力・バッテリー</a:t>
            </a:r>
          </a:p>
          <a:p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稼働時間の短さ（数時間程度）が実用化の壁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私たちのビジネスへの示唆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ロボットを「作る」のではなく、「現場で使えるようにする」領域に商機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783080"/>
            <a:ext cx="5504688" cy="17830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46304" bIns="73152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AIインフラ構築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GPUサーバー・エッジ〜クラウド基盤・ネットワークの設計構築。学習と推論を支える土台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783080"/>
            <a:ext cx="5504688" cy="17830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46304" bIns="73152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既存システムとの連携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WMS・MES・ERPなどの業務システムとロボットの接続。現場業務に組み込むSI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" y="3749039"/>
            <a:ext cx="5504688" cy="17830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46304" bIns="73152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データ・デジタルツイン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現場データの収集基盤や、シミュレーション環境の構築を支援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3749039"/>
            <a:ext cx="5504688" cy="17830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46304" bIns="73152"/>
          <a:lstStyle/>
          <a:p>
            <a:pPr algn="ctr">
              <a:spcAft>
                <a:spcPts val="5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運用・セキュリティ</a:t>
            </a: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ロボット群の監視・フリート管理・安全運用。OTセキュリティの知見が活きる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" y="5577840"/>
            <a:ext cx="11183112" cy="822960"/>
          </a:xfrm>
          <a:prstGeom prst="roundRect">
            <a:avLst>
              <a:gd name="adj" fmla="val 8000"/>
            </a:avLst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73152" bIns="73152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BIZ UDPGothic"/>
                <a:ea typeface="BIZ UDPGothic"/>
              </a:rPr>
              <a:t>フィジカルAIの導入は「IT × OT × AI」の統合プロジェクト — SIerの知見がそのまま活きる領域</a:t>
            </a:r>
          </a:p>
          <a:p>
            <a:r>
              <a:rPr sz="1100" b="0">
                <a:solidFill>
                  <a:srgbClr val="EDF4F9"/>
                </a:solidFill>
                <a:latin typeface="BIZ UDPGothic"/>
                <a:ea typeface="BIZ UDPGothic"/>
              </a:rPr>
              <a:t>通信事業者のDC保守・現場作業など、既存顧客の「物理作業」も将来の提案ターゲットになり得る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1FB691E5-B399-DD24-4591-7C2CFEB523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5．当社の取り組み・まとめ</a:t>
            </a: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735186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当社の狙い — 3つの時間軸で市場を取りにいく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ネットワークインテグレーションの知見を土台に、AI領域へ段階的に拡大する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73736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46304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A65F5"/>
                </a:solidFill>
                <a:latin typeface="BIZ UDPGothic"/>
                <a:ea typeface="BIZ UDPGothic"/>
              </a:rPr>
              <a:t>短期</a:t>
            </a:r>
          </a:p>
          <a:p>
            <a:pPr algn="ctr">
              <a:spcAft>
                <a:spcPts val="8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AIOps・運用自動化</a:t>
            </a:r>
          </a:p>
          <a:p>
            <a:pPr marL="182880" indent="-182880">
              <a:lnSpc>
                <a:spcPct val="115000"/>
              </a:lnSpc>
              <a:spcAft>
                <a:spcPts val="600"/>
              </a:spcAft>
              <a:buFont typeface="BIZ UDPGothic"/>
              <a:buChar char="・"/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市場はCAGR約20%で安定成長</a:t>
            </a:r>
          </a:p>
          <a:p>
            <a:pPr marL="182880" indent="-182880">
              <a:lnSpc>
                <a:spcPct val="115000"/>
              </a:lnSpc>
              <a:spcAft>
                <a:spcPts val="600"/>
              </a:spcAft>
              <a:buFont typeface="BIZ UDPGothic"/>
              <a:buChar char="・"/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キャリアNW運用の知見を活かし、人手不足・運用高度化ニーズに応える</a:t>
            </a:r>
          </a:p>
          <a:p>
            <a:pPr marL="182880" indent="-182880">
              <a:lnSpc>
                <a:spcPct val="115000"/>
              </a:lnSpc>
              <a:spcAft>
                <a:spcPts val="600"/>
              </a:spcAft>
              <a:buFont typeface="BIZ UDPGothic"/>
              <a:buChar char="・"/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「販社かつ開発まで担える」企業は少なく、商圏獲得の見込みが高い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46304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A65F5"/>
                </a:solidFill>
                <a:latin typeface="BIZ UDPGothic"/>
                <a:ea typeface="BIZ UDPGothic"/>
              </a:rPr>
              <a:t>中期</a:t>
            </a:r>
          </a:p>
          <a:p>
            <a:pPr algn="ctr">
              <a:spcAft>
                <a:spcPts val="8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推論基盤（オンプレ生成AI）</a:t>
            </a:r>
          </a:p>
          <a:p>
            <a:pPr marL="182880" indent="-182880">
              <a:lnSpc>
                <a:spcPct val="115000"/>
              </a:lnSpc>
              <a:spcAft>
                <a:spcPts val="600"/>
              </a:spcAft>
              <a:buFont typeface="BIZ UDPGothic"/>
              <a:buChar char="・"/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国内生成AI市場はFY30に約1.7兆円（CAGR 47%）</a:t>
            </a:r>
          </a:p>
          <a:p>
            <a:pPr marL="182880" indent="-182880">
              <a:lnSpc>
                <a:spcPct val="115000"/>
              </a:lnSpc>
              <a:spcAft>
                <a:spcPts val="600"/>
              </a:spcAft>
              <a:buFont typeface="BIZ UDPGothic"/>
              <a:buChar char="・"/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オンプレ比率3割とすると約5,000億円規模と推計</a:t>
            </a:r>
          </a:p>
          <a:p>
            <a:pPr marL="182880" indent="-182880">
              <a:lnSpc>
                <a:spcPct val="115000"/>
              </a:lnSpc>
              <a:spcAft>
                <a:spcPts val="600"/>
              </a:spcAft>
              <a:buFont typeface="BIZ UDPGothic"/>
              <a:buChar char="・"/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データ主権・コスト・低遅延の要求から、オンプレ・エッジ推論の構築需要が拡大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6" y="173736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46304" bIns="73152"/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2A65F5"/>
                </a:solidFill>
                <a:latin typeface="BIZ UDPGothic"/>
                <a:ea typeface="BIZ UDPGothic"/>
              </a:rPr>
              <a:t>中長期</a:t>
            </a:r>
          </a:p>
          <a:p>
            <a:pPr algn="ctr">
              <a:spcAft>
                <a:spcPts val="8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フィジカルAI・AIグリッド</a:t>
            </a:r>
          </a:p>
          <a:p>
            <a:pPr marL="182880" indent="-182880">
              <a:lnSpc>
                <a:spcPct val="115000"/>
              </a:lnSpc>
              <a:spcAft>
                <a:spcPts val="600"/>
              </a:spcAft>
              <a:buFont typeface="BIZ UDPGothic"/>
              <a:buChar char="・"/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国内フィジカルAI市場はFY30に約2,300億円（CAGR 36.2%）</a:t>
            </a:r>
          </a:p>
          <a:p>
            <a:pPr marL="182880" indent="-182880">
              <a:lnSpc>
                <a:spcPct val="115000"/>
              </a:lnSpc>
              <a:spcAft>
                <a:spcPts val="600"/>
              </a:spcAft>
              <a:buFont typeface="BIZ UDPGothic"/>
              <a:buChar char="・"/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GPU・ロボット本体は激戦区だが、SI・ユースケースは未確立</a:t>
            </a:r>
          </a:p>
          <a:p>
            <a:pPr marL="182880" indent="-182880">
              <a:lnSpc>
                <a:spcPct val="115000"/>
              </a:lnSpc>
              <a:spcAft>
                <a:spcPts val="600"/>
              </a:spcAft>
              <a:buFont typeface="BIZ UDPGothic"/>
              <a:buChar char="・"/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立ち上げ期の今なら、エコシステム構築から大手とも組める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" y="525780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109728" tIns="73152" bIns="73152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BIZ UDPGothic"/>
                <a:ea typeface="BIZ UDPGothic"/>
              </a:rPr>
              <a:t>技術獲得のステップ：基礎技術（Kubernetes・Python・IaC）→ AIOps → 推論基盤 → AIグリッド・フィジカルAI</a:t>
            </a:r>
          </a:p>
          <a:p>
            <a:r>
              <a:rPr sz="1100" b="0">
                <a:solidFill>
                  <a:srgbClr val="EDF4F9"/>
                </a:solidFill>
                <a:latin typeface="BIZ UDPGothic"/>
                <a:ea typeface="BIZ UDPGothic"/>
              </a:rPr>
              <a:t>足元の商圏で稼ぎながら技術を積み上げ、フィジカルAIの立ち上がりに間に合わせる段階的アプローチ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検証で積み上げてきた技術アセット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机上調査ではなく、実機検証・パッケージ化まで進めている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737360"/>
            <a:ext cx="5504688" cy="20116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37160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7ACAF"/>
                </a:solidFill>
                <a:latin typeface="BIZ UDPGothic"/>
                <a:ea typeface="BIZ UDPGothic"/>
              </a:rPr>
              <a:t>オンプレ生成AI基盤パッケージ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STech I-AI-Innovation Suite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neoAI社LLM × HPEサーバーの事前検証済み構成。基盤SIに加え、伴走支援・AI教育まで一貫提供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737360"/>
            <a:ext cx="5504688" cy="20116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37160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7ACAF"/>
                </a:solidFill>
                <a:latin typeface="BIZ UDPGothic"/>
                <a:ea typeface="BIZ UDPGothic"/>
              </a:rPr>
              <a:t>エッジAIアクセラレータ実機検証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EdgeCortix SAKURA-II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データフロー型NPUで、遅延ゆらぎ±1ms未満・平均消費電力10W未満を実証。ロボット・VLA・自動運転などフィジカルAI領域に適合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" y="3931920"/>
            <a:ext cx="5504688" cy="20116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37160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7ACAF"/>
                </a:solidFill>
                <a:latin typeface="BIZ UDPGothic"/>
                <a:ea typeface="BIZ UDPGothic"/>
              </a:rPr>
              <a:t>AI推論を支える分散ストレージ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simplyblock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LLM推論のKVキャッシュを永続化・ノード間共有して再計算を削減。Kubernetesネイティブな推論基盤を検証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3931920"/>
            <a:ext cx="5504688" cy="20116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82880" tIns="137160" bIns="73152"/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A7ACAF"/>
                </a:solidFill>
                <a:latin typeface="BIZ UDPGothic"/>
                <a:ea typeface="BIZ UDPGothic"/>
              </a:rPr>
              <a:t>「認識して動く」社内デモ</a:t>
            </a:r>
          </a:p>
          <a:p>
            <a:pPr algn="ctr">
              <a:spcAft>
                <a:spcPts val="6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ロボットアーム連携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カメラの物体検知（エッジNPU）とロボットアームを連携。青いボールを認識してつかみ、所定位置へ配置する一連動作を実装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" y="598932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050" b="0">
                <a:solidFill>
                  <a:srgbClr val="A7ACAF"/>
                </a:solidFill>
                <a:latin typeface="BIZ UDPGothic"/>
                <a:ea typeface="BIZ UDPGothic"/>
              </a:rPr>
              <a:t>※ 検証結果の詳細は技術共有会資料（2026年7月・ネットワークインテグレーション事業本部）を参照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構想 — エッジAI × 地域デジタルツインで「認識・予測・行動」を回す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フィジカルAIの構成要素を、防災・害獣対策などの地域課題に応用する</a:t>
            </a:r>
            <a:endParaRPr lang="ja-JP" altLang="en-US"/>
          </a:p>
        </p:txBody>
      </p:sp>
      <p:sp>
        <p:nvSpPr>
          <p:cNvPr id="9" name="Rounded Rectangle 8"/>
          <p:cNvSpPr/>
          <p:nvPr/>
        </p:nvSpPr>
        <p:spPr>
          <a:xfrm>
            <a:off x="466344" y="1783080"/>
            <a:ext cx="3493008" cy="21031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7315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A65F5"/>
                </a:solidFill>
                <a:latin typeface="BIZ UDPGothic"/>
                <a:ea typeface="BIZ UDPGothic"/>
              </a:rPr>
              <a:t>認識</a:t>
            </a:r>
          </a:p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現場のエッジAI端末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ドローン・カメラ・センサーが対象（被災者・害獣など）と周囲環境をリアルタイムに認識</a:t>
            </a:r>
          </a:p>
        </p:txBody>
      </p:sp>
      <p:sp>
        <p:nvSpPr>
          <p:cNvPr id="10" name="Chevron 9"/>
          <p:cNvSpPr/>
          <p:nvPr/>
        </p:nvSpPr>
        <p:spPr>
          <a:xfrm>
            <a:off x="3995928" y="2606040"/>
            <a:ext cx="237744" cy="457200"/>
          </a:xfrm>
          <a:prstGeom prst="chevron">
            <a:avLst>
              <a:gd name="adj" fmla="val 80000"/>
            </a:avLst>
          </a:prstGeom>
          <a:solidFill>
            <a:srgbClr val="2A6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783080"/>
            <a:ext cx="3493008" cy="21031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7315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A65F5"/>
                </a:solidFill>
                <a:latin typeface="BIZ UDPGothic"/>
                <a:ea typeface="BIZ UDPGothic"/>
              </a:rPr>
              <a:t>予測</a:t>
            </a:r>
          </a:p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地域デジタルツイン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地域共有型のGPU/NPU基盤上で現実を再現し、氾濫・行動などの未来をシミュレーション</a:t>
            </a:r>
          </a:p>
        </p:txBody>
      </p:sp>
      <p:sp>
        <p:nvSpPr>
          <p:cNvPr id="12" name="Chevron 11"/>
          <p:cNvSpPr/>
          <p:nvPr/>
        </p:nvSpPr>
        <p:spPr>
          <a:xfrm>
            <a:off x="7836407" y="2606040"/>
            <a:ext cx="237744" cy="457200"/>
          </a:xfrm>
          <a:prstGeom prst="chevron">
            <a:avLst>
              <a:gd name="adj" fmla="val 80000"/>
            </a:avLst>
          </a:prstGeom>
          <a:solidFill>
            <a:srgbClr val="2A6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73152" bIns="73152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47304" y="1783080"/>
            <a:ext cx="3493008" cy="210312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46304" bIns="73152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2A65F5"/>
                </a:solidFill>
                <a:latin typeface="BIZ UDPGothic"/>
                <a:ea typeface="BIZ UDPGothic"/>
              </a:rPr>
              <a:t>行動</a:t>
            </a:r>
          </a:p>
          <a:p>
            <a:pPr algn="ctr">
              <a:spcAft>
                <a:spcPts val="700"/>
              </a:spcAft>
            </a:pPr>
            <a:r>
              <a:rPr sz="1500" b="1">
                <a:solidFill>
                  <a:srgbClr val="00219B"/>
                </a:solidFill>
                <a:latin typeface="BIZ UDPGothic"/>
                <a:ea typeface="BIZ UDPGothic"/>
              </a:rPr>
              <a:t>現場へフィードバック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予測結果をエッジへ返し、ドローン群制御・誘導・追い込みなどの協調行動につなげる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" y="4206240"/>
            <a:ext cx="55046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09728" tIns="118872" b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E86487"/>
                </a:solidFill>
                <a:latin typeface="BIZ UDPGothic"/>
                <a:ea typeface="BIZ UDPGothic"/>
              </a:rPr>
              <a:t>■ </a:t>
            </a:r>
            <a:r>
              <a:rPr sz="1300" b="1">
                <a:solidFill>
                  <a:srgbClr val="00219B"/>
                </a:solidFill>
                <a:latin typeface="BIZ UDPGothic"/>
                <a:ea typeface="BIZ UDPGothic"/>
              </a:rPr>
              <a:t>ユースケース：防災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河川監視データから氾濫・浸水を予測し、逃げ遅れをドローンが発見・避難誘導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4206240"/>
            <a:ext cx="5504688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09728" tIns="118872" bIns="73152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5D2D8"/>
                </a:solidFill>
                <a:latin typeface="BIZ UDPGothic"/>
                <a:ea typeface="BIZ UDPGothic"/>
              </a:rPr>
              <a:t>■ </a:t>
            </a:r>
            <a:r>
              <a:rPr sz="1300" b="1">
                <a:solidFill>
                  <a:srgbClr val="00219B"/>
                </a:solidFill>
                <a:latin typeface="BIZ UDPGothic"/>
                <a:ea typeface="BIZ UDPGothic"/>
              </a:rPr>
              <a:t>ユースケース：害獣対策</a:t>
            </a:r>
          </a:p>
          <a:p>
            <a:pPr>
              <a:lnSpc>
                <a:spcPct val="120000"/>
              </a:lnSpc>
            </a:pPr>
            <a:r>
              <a:rPr sz="1150" b="0">
                <a:solidFill>
                  <a:srgbClr val="191919"/>
                </a:solidFill>
                <a:latin typeface="BIZ UDPGothic"/>
                <a:ea typeface="BIZ UDPGothic"/>
              </a:rPr>
              <a:t>行動予知と包囲計算に基づき、ドローン群を再配置して音・光で追い込み・誘導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" y="5715000"/>
            <a:ext cx="111831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050" b="0">
                <a:solidFill>
                  <a:srgbClr val="A7ACAF"/>
                </a:solidFill>
                <a:latin typeface="BIZ UDPGothic"/>
                <a:ea typeface="BIZ UDPGothic"/>
              </a:rPr>
              <a:t>※ エッジAI・ローカル5G・デジタルツインを通信基盤で相互接続する構想。将来はシミュレーション結果の自動運転への応用展開も視野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C61704E3-8110-72C8-5476-DAC03CA6A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まとめ</a:t>
            </a:r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D4C96A99-692B-ED55-FB7F-403B2DCD88C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>
                <a:latin typeface="BIZ UDPGothic"/>
                <a:ea typeface="BIZ UDPGothic"/>
              </a:rPr>
              <a:t>本日押さえてほしい3点と、ディスカッション</a:t>
            </a:r>
            <a:endParaRPr lang="ja-JP" altLang="en-US"/>
          </a:p>
        </p:txBody>
      </p:sp>
      <p:sp>
        <p:nvSpPr>
          <p:cNvPr id="9" name="Oval 8"/>
          <p:cNvSpPr/>
          <p:nvPr/>
        </p:nvSpPr>
        <p:spPr>
          <a:xfrm>
            <a:off x="466344" y="1892807"/>
            <a:ext cx="475488" cy="475488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  <a:ea typeface="BIZ UDPGothi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1783080"/>
            <a:ext cx="10506456" cy="10972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09728" tIns="109728" bIns="73152"/>
          <a:lstStyle/>
          <a:p>
            <a:pPr algn="ctr">
              <a:spcAft>
                <a:spcPts val="3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フィジカルAIは、AI進化の「次章」</a:t>
            </a:r>
          </a:p>
          <a:p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デジタルの知能が現実世界で働く段階へ。出力がテキストから「動作」に変わる</a:t>
            </a:r>
          </a:p>
        </p:txBody>
      </p:sp>
      <p:sp>
        <p:nvSpPr>
          <p:cNvPr id="11" name="Oval 10"/>
          <p:cNvSpPr/>
          <p:nvPr/>
        </p:nvSpPr>
        <p:spPr>
          <a:xfrm>
            <a:off x="466344" y="3154680"/>
            <a:ext cx="475488" cy="475488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  <a:ea typeface="BIZ UDPGothic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044952"/>
            <a:ext cx="10506456" cy="10972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09728" tIns="109728" bIns="73152"/>
          <a:lstStyle/>
          <a:p>
            <a:pPr algn="ctr">
              <a:spcAft>
                <a:spcPts val="3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2025〜26年は実証から初期導入への転換点</a:t>
            </a:r>
          </a:p>
          <a:p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労働力不足を背景に、製造・物流など環境の整った現場から実装が始まっている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" y="4416552"/>
            <a:ext cx="475488" cy="475488"/>
          </a:xfrm>
          <a:prstGeom prst="ellipse">
            <a:avLst/>
          </a:prstGeom>
          <a:solidFill>
            <a:srgbClr val="0021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BIZ UDPGothic"/>
                <a:ea typeface="BIZ UDPGothic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306824"/>
            <a:ext cx="10506456" cy="1097280"/>
          </a:xfrm>
          <a:prstGeom prst="roundRect">
            <a:avLst>
              <a:gd name="adj" fmla="val 8000"/>
            </a:avLst>
          </a:prstGeom>
          <a:solidFill>
            <a:srgbClr val="ED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09728" tIns="109728" bIns="73152"/>
          <a:lstStyle/>
          <a:p>
            <a:pPr algn="ctr">
              <a:spcAft>
                <a:spcPts val="300"/>
              </a:spcAft>
            </a:pPr>
            <a:r>
              <a:rPr sz="1450" b="1">
                <a:solidFill>
                  <a:srgbClr val="00219B"/>
                </a:solidFill>
                <a:latin typeface="BIZ UDPGothic"/>
                <a:ea typeface="BIZ UDPGothic"/>
              </a:rPr>
              <a:t>価値の源泉はハードではなく「統合」</a:t>
            </a:r>
          </a:p>
          <a:p>
            <a:r>
              <a:rPr sz="1200" b="0">
                <a:solidFill>
                  <a:srgbClr val="191919"/>
                </a:solidFill>
                <a:latin typeface="BIZ UDPGothic"/>
                <a:ea typeface="BIZ UDPGothic"/>
              </a:rPr>
              <a:t>基盤モデル × シミュレーション × 現場データ。つなぎ込む力が競争力になる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" y="5532120"/>
            <a:ext cx="1118311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A6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109728" tIns="73152" bIns="73152"/>
          <a:lstStyle/>
          <a:p>
            <a:pPr algn="ctr"/>
            <a:r>
              <a:rPr sz="1300" b="1">
                <a:solidFill>
                  <a:srgbClr val="2A65F5"/>
                </a:solidFill>
                <a:latin typeface="BIZ UDPGothic"/>
                <a:ea typeface="BIZ UDPGothic"/>
              </a:rPr>
              <a:t>ディスカッション：</a:t>
            </a:r>
            <a:r>
              <a:rPr sz="1300" b="1">
                <a:solidFill>
                  <a:srgbClr val="191919"/>
                </a:solidFill>
                <a:latin typeface="BIZ UDPGothic"/>
                <a:ea typeface="BIZ UDPGothic"/>
              </a:rPr>
              <a:t>私たちの顧客の現場で、フィジカルAIが最初に価値を出せそうな業務はどこか？</a:t>
            </a:r>
          </a:p>
        </p:txBody>
      </p:sp>
    </p:spTree>
    <p:extLst>
      <p:ext uri="{BB962C8B-B14F-4D97-AF65-F5344CB8AC3E}">
        <p14:creationId xmlns:p14="http://schemas.microsoft.com/office/powerpoint/2010/main" val="3061702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A871B-1D64-6422-1825-AE06F8DFB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kumimoji="1" lang="en-US" altLang="ja-JP" dirty="0"/>
              <a:t>End of Document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44250D-28F8-6DF2-7E14-230A7268E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8" y="4353680"/>
            <a:ext cx="11184283" cy="784912"/>
          </a:xfrm>
        </p:spPr>
        <p:txBody>
          <a:bodyPr/>
          <a:lstStyle/>
          <a:p>
            <a:r>
              <a:rPr lang="ja-JP" altLang="en-US" dirty="0"/>
              <a:t>双日テックイノベーション、双日テックイノベーションのロゴは、双日テックイノベーション株式会社の登録商標です。 </a:t>
            </a:r>
            <a:endParaRPr lang="en-US" altLang="ja-JP" dirty="0"/>
          </a:p>
          <a:p>
            <a:r>
              <a:rPr lang="ja-JP" altLang="en-US" dirty="0"/>
              <a:t>その他記載されている全ての商標、サービスマーク、登録商標、登録サービスマークは、各所有者に所有権があります。 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本書記載の仕様はすべて予告なく変更される場合があります。</a:t>
            </a:r>
            <a:endParaRPr lang="en-US" altLang="ja-JP" dirty="0"/>
          </a:p>
          <a:p>
            <a:r>
              <a:rPr lang="ja-JP" altLang="en-US" dirty="0"/>
              <a:t>本書の記載内容に誤りがあった場合、 あるいは記載内容を更新する義務が生じた場合も、双日テックイノベーションは一切責任を負いません。 </a:t>
            </a:r>
            <a:endParaRPr lang="en-US" altLang="ja-JP" dirty="0"/>
          </a:p>
          <a:p>
            <a:r>
              <a:rPr lang="ja-JP" altLang="en-US" dirty="0"/>
              <a:t>双日テックイノベーションは、本書を予告無く変更、修正、または改訂する権利を有します。 </a:t>
            </a:r>
            <a:endParaRPr lang="en-US" altLang="ja-JP" dirty="0"/>
          </a:p>
          <a:p>
            <a:r>
              <a:rPr lang="ja-JP" altLang="en-US" dirty="0"/>
              <a:t>本書に記載されている内容を無断で複写、複製することを禁じます。</a:t>
            </a:r>
            <a:endParaRPr lang="en-US" altLang="ja-JP" dirty="0"/>
          </a:p>
          <a:p>
            <a:r>
              <a:rPr lang="ja-JP" altLang="en-US" dirty="0"/>
              <a:t> </a:t>
            </a:r>
            <a:endParaRPr lang="en-US" altLang="ja-JP" dirty="0"/>
          </a:p>
          <a:p>
            <a:r>
              <a:rPr lang="ja-JP" altLang="en-US" dirty="0"/>
              <a:t>記載の価格は参考価格となり、ご検討の際にはお見積りのご依頼をお願いいたします。 </a:t>
            </a:r>
            <a:endParaRPr lang="en-US" altLang="ja-JP" dirty="0"/>
          </a:p>
          <a:p>
            <a:r>
              <a:rPr lang="ja-JP" altLang="en-US" dirty="0"/>
              <a:t>為替変更やメーカーの価格改定により予告なく変更することがあります。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3507851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665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STechI PPT COLOR">
      <a:dk1>
        <a:srgbClr val="191919"/>
      </a:dk1>
      <a:lt1>
        <a:srgbClr val="FFFFFF"/>
      </a:lt1>
      <a:dk2>
        <a:srgbClr val="A7ACAF"/>
      </a:dk2>
      <a:lt2>
        <a:srgbClr val="EDF3F9"/>
      </a:lt2>
      <a:accent1>
        <a:srgbClr val="00209B"/>
      </a:accent1>
      <a:accent2>
        <a:srgbClr val="2A65F5"/>
      </a:accent2>
      <a:accent3>
        <a:srgbClr val="E86487"/>
      </a:accent3>
      <a:accent4>
        <a:srgbClr val="AAA5FD"/>
      </a:accent4>
      <a:accent5>
        <a:srgbClr val="55D2D8"/>
      </a:accent5>
      <a:accent6>
        <a:srgbClr val="6BB8F2"/>
      </a:accent6>
      <a:hlink>
        <a:srgbClr val="6BB8F2"/>
      </a:hlink>
      <a:folHlink>
        <a:srgbClr val="E86487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rtlCol="0" anchor="ctr"/>
      <a:lstStyle>
        <a:defPPr algn="ctr">
          <a:defRPr kumimoji="1" b="1" dirty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b355013-8d7a-41a7-8b7e-f572bfc8f349" xsi:nil="true"/>
    <lcf76f155ced4ddcb4097134ff3c332f xmlns="a8fcbd8c-2aa5-4228-8d5a-43b47d86b154">
      <Terms xmlns="http://schemas.microsoft.com/office/infopath/2007/PartnerControls"/>
    </lcf76f155ced4ddcb4097134ff3c332f>
    <_x5099__x8003_ xmlns="a8fcbd8c-2aa5-4228-8d5a-43b47d86b15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687DEC0F95D374FB7FD557024CCB622" ma:contentTypeVersion="16" ma:contentTypeDescription="新しいドキュメントを作成します。" ma:contentTypeScope="" ma:versionID="b66a505357664b116695fd69ecb67f40">
  <xsd:schema xmlns:xsd="http://www.w3.org/2001/XMLSchema" xmlns:xs="http://www.w3.org/2001/XMLSchema" xmlns:p="http://schemas.microsoft.com/office/2006/metadata/properties" xmlns:ns2="a8fcbd8c-2aa5-4228-8d5a-43b47d86b154" xmlns:ns3="cb355013-8d7a-41a7-8b7e-f572bfc8f349" targetNamespace="http://schemas.microsoft.com/office/2006/metadata/properties" ma:root="true" ma:fieldsID="e34da94b137a7ed678fba1cc545d4988" ns2:_="" ns3:_="">
    <xsd:import namespace="a8fcbd8c-2aa5-4228-8d5a-43b47d86b154"/>
    <xsd:import namespace="cb355013-8d7a-41a7-8b7e-f572bfc8f3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_x5099__x8003_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cbd8c-2aa5-4228-8d5a-43b47d86b1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x5099__x8003_" ma:index="10" nillable="true" ma:displayName="備考" ma:format="Dropdown" ma:internalName="_x5099__x8003_">
      <xsd:simpleType>
        <xsd:restriction base="dms:Note">
          <xsd:maxLength value="255"/>
        </xsd:restriction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b6df4097-6fa1-44ae-95c3-4b33cacb81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355013-8d7a-41a7-8b7e-f572bfc8f34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4256f52-75b8-4886-9f18-1a307df9c87d}" ma:internalName="TaxCatchAll" ma:showField="CatchAllData" ma:web="cb355013-8d7a-41a7-8b7e-f572bfc8f3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D2FE33-A8FE-4994-BBB0-649B948DAB5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36ABB21-D544-4CB2-A13A-0C1AFD84119C}">
  <ds:schemaRefs>
    <ds:schemaRef ds:uri="http://schemas.microsoft.com/office/2006/metadata/properties"/>
    <ds:schemaRef ds:uri="http://schemas.microsoft.com/office/infopath/2007/PartnerControls"/>
    <ds:schemaRef ds:uri="5227c1a8-9380-4cb9-a049-015dc35f74b8"/>
    <ds:schemaRef ds:uri="bc5f12d4-c7da-4e54-a32e-1c57020298bc"/>
    <ds:schemaRef ds:uri="cb355013-8d7a-41a7-8b7e-f572bfc8f349"/>
    <ds:schemaRef ds:uri="a8fcbd8c-2aa5-4228-8d5a-43b47d86b154"/>
  </ds:schemaRefs>
</ds:datastoreItem>
</file>

<file path=customXml/itemProps3.xml><?xml version="1.0" encoding="utf-8"?>
<ds:datastoreItem xmlns:ds="http://schemas.openxmlformats.org/officeDocument/2006/customXml" ds:itemID="{CA4BB487-05B5-4831-B236-54BDA674BB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fcbd8c-2aa5-4228-8d5a-43b47d86b154"/>
    <ds:schemaRef ds:uri="cb355013-8d7a-41a7-8b7e-f572bfc8f3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2437</TotalTime>
  <Words>615</Words>
  <Application>Microsoft Office PowerPoint</Application>
  <PresentationFormat>Widescreen</PresentationFormat>
  <Paragraphs>48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テーマ</vt:lpstr>
      <vt:lpstr>PowerPoint Presentation</vt:lpstr>
      <vt:lpstr>カラーパレット</vt:lpstr>
      <vt:lpstr>カラーパレット 運用ガイド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of Document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Mitsuru Katayanagi</dc:creator>
  <cp:lastModifiedBy>渡部 泉</cp:lastModifiedBy>
  <cp:revision>122</cp:revision>
  <dcterms:created xsi:type="dcterms:W3CDTF">2024-10-20T05:00:09Z</dcterms:created>
  <dcterms:modified xsi:type="dcterms:W3CDTF">2026-07-31T05:17:12Z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0x0101008687DEC0F95D374FB7FD557024CCB622</vt:lpwstr>
  </property>
  <property fmtid="{D5CDD505-2E9C-101B-9397-08002B2CF9AE}" pid="3" name="MediaServiceImageTags">
    <vt:lpwstr/>
  </property>
</Properties>
</file>