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Lst>
  <p:notesMasterIdLst>
    <p:notesMasterId r:id="rId20"/>
  </p:notesMasterIdLst>
  <p:handoutMasterIdLst>
    <p:handoutMasterId r:id="rId21"/>
  </p:handoutMasterIdLst>
  <p:sldIdLst>
    <p:sldId id="300" r:id="rId5"/>
    <p:sldId id="301" r:id="rId10"/>
    <p:sldId id="302" r:id="rId9"/>
    <p:sldId id="303" r:id="rId13"/>
    <p:sldId id="304" r:id="rId29"/>
    <p:sldId id="305" r:id="rId30"/>
    <p:sldId id="306" r:id="rId26"/>
    <p:sldId id="307" r:id="rId31"/>
    <p:sldId id="308" r:id="rId32"/>
    <p:sldId id="309" r:id="rId33"/>
    <p:sldId id="310" r:id="rId27"/>
    <p:sldId id="311" r:id="rId34"/>
    <p:sldId id="312" r:id="rId35"/>
    <p:sldId id="313" r:id="rId43"/>
    <p:sldId id="314" r:id="rId28"/>
    <p:sldId id="315" r:id="rId36"/>
    <p:sldId id="316" r:id="rId37"/>
    <p:sldId id="317" r:id="rId39"/>
    <p:sldId id="318" r:id="rId40"/>
    <p:sldId id="319" r:id="rId41"/>
    <p:sldId id="320" r:id="rId42"/>
    <p:sldId id="321" r:id="rId44"/>
    <p:sldId id="322" r:id="rId38"/>
    <p:sldId id="323" r:id="rId18"/>
    <p:sldId id="32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65F5"/>
    <a:srgbClr val="00219B"/>
    <a:srgbClr val="191919"/>
    <a:srgbClr val="A5ABAD"/>
    <a:srgbClr val="808080"/>
    <a:srgbClr val="B74A1C"/>
    <a:srgbClr val="EDF4F8"/>
    <a:srgbClr val="0020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61"/>
    <p:restoredTop sz="96966"/>
  </p:normalViewPr>
  <p:slideViewPr>
    <p:cSldViewPr snapToGrid="0">
      <p:cViewPr varScale="1">
        <p:scale>
          <a:sx n="78" d="100"/>
          <a:sy n="78" d="100"/>
        </p:scale>
        <p:origin x="148"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3" d="100"/>
          <a:sy n="63" d="100"/>
        </p:scale>
        <p:origin x="3206" y="7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4.xml"/><Relationship Id="rId18" Type="http://schemas.openxmlformats.org/officeDocument/2006/relationships/slide" Target="slides/slide24.xml"/><Relationship Id="rId19" Type="http://schemas.openxmlformats.org/officeDocument/2006/relationships/slide" Target="slides/slide25.xml"/><Relationship Id="rId20" Type="http://schemas.openxmlformats.org/officeDocument/2006/relationships/notesMaster" Target="notesMasters/notesMaster1.xml"/><Relationship Id="rId21" Type="http://schemas.openxmlformats.org/officeDocument/2006/relationships/handoutMaster" Target="handoutMasters/handout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7.xml"/><Relationship Id="rId27" Type="http://schemas.openxmlformats.org/officeDocument/2006/relationships/slide" Target="slides/slide11.xml"/><Relationship Id="rId28" Type="http://schemas.openxmlformats.org/officeDocument/2006/relationships/slide" Target="slides/slide15.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8.xml"/><Relationship Id="rId32" Type="http://schemas.openxmlformats.org/officeDocument/2006/relationships/slide" Target="slides/slide9.xml"/><Relationship Id="rId33" Type="http://schemas.openxmlformats.org/officeDocument/2006/relationships/slide" Target="slides/slide10.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6.xml"/><Relationship Id="rId37" Type="http://schemas.openxmlformats.org/officeDocument/2006/relationships/slide" Target="slides/slide17.xml"/><Relationship Id="rId38" Type="http://schemas.openxmlformats.org/officeDocument/2006/relationships/slide" Target="slides/slide23.xml"/><Relationship Id="rId39" Type="http://schemas.openxmlformats.org/officeDocument/2006/relationships/slide" Target="slides/slide18.xml"/><Relationship Id="rId40" Type="http://schemas.openxmlformats.org/officeDocument/2006/relationships/slide" Target="slides/slide19.xml"/><Relationship Id="rId41" Type="http://schemas.openxmlformats.org/officeDocument/2006/relationships/slide" Target="slides/slide20.xml"/><Relationship Id="rId42" Type="http://schemas.openxmlformats.org/officeDocument/2006/relationships/slide" Target="slides/slide21.xml"/><Relationship Id="rId43" Type="http://schemas.openxmlformats.org/officeDocument/2006/relationships/slide" Target="slides/slide14.xml"/><Relationship Id="rId44"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FDFDA3DB-4ABB-6B6A-B5C6-44033C7B44C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CA5EE10-0835-D895-CAEB-887BDDDC49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842CEEA-E706-4555-A6F2-76CBEE8B0214}" type="datetimeFigureOut">
              <a:rPr kumimoji="1" lang="ja-JP" altLang="en-US" smtClean="0"/>
              <a:t>2026/7/30</a:t>
            </a:fld>
            <a:endParaRPr kumimoji="1" lang="ja-JP" altLang="en-US"/>
          </a:p>
        </p:txBody>
      </p:sp>
      <p:sp>
        <p:nvSpPr>
          <p:cNvPr id="4" name="フッター プレースホルダー 3">
            <a:extLst>
              <a:ext uri="{FF2B5EF4-FFF2-40B4-BE49-F238E27FC236}">
                <a16:creationId xmlns:a16="http://schemas.microsoft.com/office/drawing/2014/main" id="{DE335A0F-F5C0-DEFB-5758-6DB2209195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66453D27-E811-5D11-733F-6E84F98FD42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E36876-DA70-44CA-95E4-4FDEDE03AE33}" type="slidenum">
              <a:rPr kumimoji="1" lang="ja-JP" altLang="en-US" smtClean="0"/>
              <a:t>‹#›</a:t>
            </a:fld>
            <a:endParaRPr kumimoji="1" lang="ja-JP" altLang="en-US"/>
          </a:p>
        </p:txBody>
      </p:sp>
    </p:spTree>
    <p:extLst>
      <p:ext uri="{BB962C8B-B14F-4D97-AF65-F5344CB8AC3E}">
        <p14:creationId xmlns:p14="http://schemas.microsoft.com/office/powerpoint/2010/main" val="4421951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072808-4DA7-7E40-9D76-23B287399EF0}" type="datetimeFigureOut">
              <a:rPr kumimoji="1" lang="ja-JP" altLang="en-US" smtClean="0"/>
              <a:t>2026/7/30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3C2A34-59FF-7345-B7EA-94C85DEA6524}" type="slidenum">
              <a:rPr kumimoji="1" lang="ja-JP" altLang="en-US" smtClean="0"/>
              <a:t>‹#›</a:t>
            </a:fld>
            <a:endParaRPr kumimoji="1" lang="ja-JP" altLang="en-US"/>
          </a:p>
        </p:txBody>
      </p:sp>
    </p:spTree>
    <p:extLst>
      <p:ext uri="{BB962C8B-B14F-4D97-AF65-F5344CB8AC3E}">
        <p14:creationId xmlns:p14="http://schemas.microsoft.com/office/powerpoint/2010/main" val="329176160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お集まりいただきありがとうございます。本日は30〜45分で「フィジカルAI」の勉強会を行います。</a:t>
            </a:r>
          </a:p>
          <a:p>
            <a:r>
              <a:t>最近ニュースでヒューマノイドロボットや自動運転の話題を目にする機会が増えていると思いますが、その裏側で何が起きているのか、なぜ今この分野にお金と技術が集まっているのか、そして私たちの事業とどうつながるのか。この3点を持ち帰っていただくのが今日のゴールです。</a:t>
            </a:r>
          </a:p>
          <a:p>
            <a:r>
              <a:t>途中の質問も歓迎です。それでは始めます。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本日の流れです。5部構成になっています。</a:t>
            </a:r>
          </a:p>
          <a:p>
            <a:r>
              <a:t>まず1章で「フィジカルAIとは何か」の共通認識を作ります。2章で世界の主要プレイヤーの動き、3章では少しだけ技術の中身に踏み込みます。4章でビジネスの視点に引き付けて、最後の5章で「では当社は何をするのか」という話につなげます。</a:t>
            </a:r>
          </a:p>
          <a:p>
            <a:r>
              <a:t>後半に行くほど自分たちの話になっていきますので、前半は前提知識のインプットとしてお聞きください。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まず1章、「フィジカルAIとは何か」です。言葉の定義と、なぜ今このタイミングで盛り上がっているのかを押さえます。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2章では、世界の主要プレイヤーの動きを見ていきます。NVIDIA、テスラ、中国勢…各社がどんな戦略で動いているかを知ると、この市場の構造が見えてきます。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3章は技術の仕組みです。難しい数式は出てきません。「どうやってロボットは学習するのか」「頭の中はどうなっているのか」を、概念レベルで押さえていただければ十分です。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4章では、ビジネスの目線に切り替えます。市場はどのくらい大きくなるのか、普及には何が壁になるのか、そして私たちのようなSIerにどんな商機があるのかを見ていきます。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最後の5章です。ここからは一般論ではなく当社の話をします。市場をどの順番で取りにいくのか、すでにどんな検証を進めているのか、そして最終的にどんな提案像を目指すのかをお話しします。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まず言葉の定義からです。AIの進化はよく4つの波で整理されます。</a:t>
            </a:r>
          </a:p>
          <a:p>
            <a:r>
              <a:t>2012年頃からの「認識AI」。画像に何が写っているかを当てる、音声を文字にする、といった技術です。次が2022年、ChatGPTに代表される「生成AI」。文章や画像を作り出せるようになりました。そして2024年頃からは、AIが自分で段取りを考えて仕事を進める「エージェントAI」が話題になっています。</a:t>
            </a:r>
          </a:p>
          <a:p>
            <a:r>
              <a:t>その次に来るのが、今日の主役「フィジカルAI」です。ポイントは出力の変化です。これまでのAIの出力はテキストや画像、つまりデジタルなものでした。フィジカルAIは、重力や摩擦といった物理法則を理解した上で、現実世界で「動作」を出力します。ロボット、自動運転車、ドローンといった身体を持って、物理的な仕事をするAIです。</a:t>
            </a:r>
          </a:p>
          <a:p>
            <a:r>
              <a:t>この言葉はNVIDIAのCEOがCES 2025の基調講演で大きく打ち出して以降、業界の共通語になっています。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では、なぜ「今」なのか。追い風が3つ重なっています。</a:t>
            </a:r>
          </a:p>
          <a:p>
            <a:r>
              <a:t>1つ目は技術です。これまでのロボットは、決められた動きしかできませんでした。それがLLM・基盤モデルの進化で、言葉と常識を理解できるようになった。加えて、後ほど詳しく説明しますが、シミュレーションで学習させる技術が成熟して、開発のコストと時間が劇的に下がりました。</a:t>
            </a:r>
          </a:p>
          <a:p>
            <a:r>
              <a:t>2つ目は社会です。日本では2030年に約644万人の人手不足という試算があります。特に製造・物流・建設・介護といった「身体を使う仕事」ほど深刻で、自動化はやりたいからやるのではなく、やらざるを得ない状況です。</a:t>
            </a:r>
          </a:p>
          <a:p>
            <a:r>
              <a:t>3つ目は産業界の本気度です。NVIDIAのCEOは「ロボティクスのChatGPTモーメントは目前」と言い切りました。実際、ヒューマノイド系スタートアップには巨額の投資が集まっています。</a:t>
            </a:r>
          </a:p>
          <a:p>
            <a:r>
              <a:t>技術ができて、社会が求めて、お金が集まっている。だから今、なんです。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フィジカルAIは1つの技術ではなく、3つの層の組み合わせです。</a:t>
            </a:r>
          </a:p>
          <a:p>
            <a:r>
              <a:t>一番上が「頭脳」。カメラ映像と人の言葉を理解して、次にどう動くかを決める基盤モデルです。VLAモデルや世界モデルと呼ばれるもので、詳しくは3章で説明します。</a:t>
            </a:r>
          </a:p>
          <a:p>
            <a:r>
              <a:t>真ん中が「訓練場」。ロボットは現実世界でいきなり練習させると、時間もかかるし危険です。そこで物理法則を再現した仮想空間、デジタルツインの中で大量に訓練します。</a:t>
            </a:r>
          </a:p>
          <a:p>
            <a:r>
              <a:t>一番下が「身体」。センサーで周囲を知覚し、関節やモーターで実際に動くロボット本体と、それを現場で動かすためのエッジAIチップです。</a:t>
            </a:r>
          </a:p>
          <a:p>
            <a:r>
              <a:t>この3層が全部そろって初めて機能します。逆に言うと、3層をつなぐプラットフォームを押さえた会社が市場の主導権を握る。これが次の章のNVIDIAの話につながります。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主要プレイヤーの筆頭はNVIDIAです。面白いのは、NVIDIAはロボットを作らないことです。代わりに、ロボットを作る全ての会社に「道具一式」を売る戦略をとっています。</a:t>
            </a:r>
          </a:p>
          <a:p>
            <a:r>
              <a:t>具体的には「3つのコンピュータ」です。1つ目は学習用。データセンターのDGXで大規模な基盤モデルを訓練する。2つ目はシミュレーション用。Omniverseという仮想空間で訓練・検証し、Cosmosという世界モデルが現実さながらの学習データを生成する。3つ目は実行用。Jetson Thorというロボット搭載用のエッジAIコンピュータです。</a:t>
            </a:r>
          </a:p>
          <a:p>
            <a:r>
              <a:t>さらにIsaac GR00Tというヒューマノイド向け基盤モデルを無償公開して、各社に採用を促しています。モデルはタダで配り、開発ツールとチップで回収する。PC時代のWintelのように、フィジカルAIの「OS層」を握りにいく動きです。</a:t>
            </a:r>
          </a:p>
          <a:p>
            <a:r>
              <a:t>ゴールドラッシュで言えば、金を掘るのではなく、つるはしを全員に売る立場ですね。</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【台本】（目安4分）</a:t>
            </a:r>
          </a:p>
          <a:p>
            <a:r>
              <a:t>次にロボット本体、ヒューマノイドの開発競争です。カードの色は地域を表しています。青が米国、赤が中国、緑が日本です。</a:t>
            </a:r>
          </a:p>
          <a:p>
            <a:r>
              <a:t>米国勢はAI、つまりソフトで先行しています。テスラのOptimusは自社工場で使いながら量産を狙う本命。FigureはHelixという独自のVLAモデルを開発し、BMWの工場で実証しています。Boston Dynamicsは動画で有名ですが、電動の新型Atlasでトヨタ系の研究所と組んでいます。GoogleはGemini Roboticsという「頭脳」を各社に提供する立場です。</a:t>
            </a:r>
          </a:p>
          <a:p>
            <a:r>
              <a:t>注目は中国のUnitreeです。G1というヒューマノイドを約1.6万ドル、日本円で250万円程度で売り出しました。自動車1台分の価格です。量産と価格破壊で普及を狙う、まさにEVと同じ構図が始まっています。</a:t>
            </a:r>
          </a:p>
          <a:p>
            <a:r>
              <a:t>日本勢は川崎重工のKaleidoやトヨタなどが研究開発を進めていますが、正直、米中に比べると規模で見劣りするのが現状です。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では、実際にどこから使われ始めるのか。キーワードは「決まった環境 × 繰り返し作業」です。</a:t>
            </a:r>
          </a:p>
          <a:p>
            <a:r>
              <a:t>まず製造業。部品の搬送、組立、検査といった反復作業です。BMWやメルセデスがすでに工場でヒューマノイドの実証を始めています。</a:t>
            </a:r>
          </a:p>
          <a:p>
            <a:r>
              <a:t>次に物流・倉庫。ピッキングや仕分け、トラックの荷降ろしです。Amazonが倉庫での実証を進めています。</a:t>
            </a:r>
          </a:p>
          <a:p>
            <a:r>
              <a:t>建設・インフラ点検では、Spotのような四足ロボットが巡回点検や危険箇所の確認を担い始めています。人が行くには危険な場所の代替ですね。</a:t>
            </a:r>
          </a:p>
          <a:p>
            <a:r>
              <a:t>そして身近なところではサービス・小売。国内ではTelexistenceがコンビニの飲料補充ロボットをすでに数百店舗規模で動かしています。</a:t>
            </a:r>
          </a:p>
          <a:p>
            <a:r>
              <a:t>共通するのは、いきなり家庭で家事をするような汎用ロボットではなく、環境がコントロールされた産業現場の特定業務から始まっている、という点です。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ここから技術の中身です。まず「どうやって学習するのか」。</a:t>
            </a:r>
          </a:p>
          <a:p>
            <a:r>
              <a:t>ChatGPTはWeb上の大量のテキストで学習できました。ところがロボットの場合、「転んで覚える」を現実世界でやると、時間もかかるし、壊れるし、危険です。そこで鍵になるのがシミュレーションです。</a:t>
            </a:r>
          </a:p>
          <a:p>
            <a:r>
              <a:t>手順は3ステップです。まず現場、たとえば工場や倉庫を、物理法則ごと仮想空間に再現します。これがデジタルツインです。次に、その仮想空間の中で数千体のロボットを並列に訓練します。仮想空間なので、実際の時間の数千倍のスピードで試行錯誤ができ、何回転んでも壊れません。最後に、学習済みのモデルを実機に載せて、現実とのわずかなズレを微調整します。この転移がSim2Real、シミュレーションからリアルへ、です。</a:t>
            </a:r>
          </a:p>
          <a:p>
            <a:r>
              <a:t>もう1つのポイントが合成データです。ロボットの学習に使える動作データはWeb上にほとんど存在しません。そこでCosmosのような世界モデルが、物理的に自然な映像やシナリオを人工的に大量生成して、データ不足を補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次に、ロボットの「頭脳」の中身です。VLAモデルと呼ばれます。Vision＝見る、Language＝理解する、Action＝動く、の頭文字です。</a:t>
            </a:r>
          </a:p>
          <a:p>
            <a:r>
              <a:t>流れはシンプルです。入力は2つ。カメラ映像などのセンサー情報と、「棚の飲料を補充して」といった人の言葉による指示です。これをVLAモデルが受け取り、LLM由来の知識と推論力で状況を理解して動作計画を立てる。出力は関節やモーターへの動作指令で、毎秒数十回の連続制御を行います。FigureのHelixやGoogleのGemini Roboticsが代表例です。</a:t>
            </a:r>
          </a:p>
          <a:p>
            <a:r>
              <a:t>従来のロボットとの違いが重要です。従来は動作を1つずつプログラミングしていたので、決められた手順の外に出ると止まってしまう。VLA搭載ロボットは「常識」を持っているので、初めて見る物や初めての指示にもある程度柔軟に対応できます。</a:t>
            </a:r>
          </a:p>
          <a:p>
            <a:r>
              <a:t>乱暴に言えば、「ChatGPTに目と手足がついたもの」とイメージしていただくと近いです。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ここまで最先端の話をしてきましたが、実は「AIの部品」は、すでに私たちの身近な現場で動いています。</a:t>
            </a:r>
          </a:p>
          <a:p>
            <a:r>
              <a:t>左はカメラ映像の物体検知のイメージです。YOLO系と呼ばれるモデルが代表格で、映像から人やモノをリアルタイムに検出します。工場の安全監視、検品、在庫把握など、すでに当たり前に使われている技術です。</a:t>
            </a:r>
          </a:p>
          <a:p>
            <a:r>
              <a:t>VLM、視覚言語モデルは、画像を言葉で理解・説明できるAIです。設備の目視点検の自動化や、点検報告書の自動作成といった応用が進んでいます。</a:t>
            </a:r>
          </a:p>
          <a:p>
            <a:r>
              <a:t>SLAMは自己位置推定と地図生成の技術で、倉庫のAMRやドローンの自律走行を支えています。異常検知・予知保全も、センサーデータの活用として定番になりました。</a:t>
            </a:r>
          </a:p>
          <a:p>
            <a:r>
              <a:t>つまりフィジカルAIは、ゼロから生まれた魔法ではなく、こうした実績ある部品を「身体」と統合して、自律的に動かせるようにしたものです。部品側の技術は、私たちのお客様の現場にもすでに入り始め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ここからビジネスの目線です。まず市場の大きさから。</a:t>
            </a:r>
          </a:p>
          <a:p>
            <a:r>
              <a:t>ゴールドマン・サックスは、ヒューマノイドロボットの世界市場が2035年に約380億ドルになると予測しています。そして日本に目を向けると、国内のフィジカルAI市場はFY30に約2,300億円、年平均成長率36%という予測があります。重要なのは、この市場がまだ立ち上げ初期で、SIの型もユースケースも確立していないという点です。ここは後で当社の話につながる伏線として覚えておいてください。</a:t>
            </a:r>
          </a:p>
          <a:p>
            <a:r>
              <a:t>なお、この手の予測は調査機関によって数字の幅が大きいので、金額そのものより「各機関がこぞって高成長を見込んでいる」という方向感で捉えてください。</a:t>
            </a:r>
          </a:p>
          <a:p>
            <a:r>
              <a:t>一方で、普及までの課題も現実的に見る必要があります。人と同じ空間で働くための安全基準や規制はこれから。本体価格だけでなく周辺システムと運用まで含めた総コスト。長時間稼働の信頼性。そしてバッテリーの稼働時間。この4点は、お客様への導入提案時のチェックリスト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では、私たちのようなSIerにとっての商機はどこにあるのか。</a:t>
            </a:r>
          </a:p>
          <a:p>
            <a:r>
              <a:t>結論から言うと、ロボット本体を作るのはメーカーの土俵です。私たちの商機は、ロボットを「現場で使えるようにする」周辺領域にあります。具体的には4つです。</a:t>
            </a:r>
          </a:p>
          <a:p>
            <a:r>
              <a:t>1つ目、AIインフラ構築。GPUサーバー、エッジからクラウドまでの基盤、ネットワーク。学習と推論を支える土台です。2つ目、既存システムとの連携。ロボットは単体では仕事になりません。WMSやMES、ERPといった業務システムとつないで、初めて現場業務に組み込めます。3つ目、データとデジタルツイン。現場データの収集基盤や、シミュレーション環境の構築支援です。4つ目、運用とセキュリティ。ロボット群の監視、フリート管理、OTセキュリティ。</a:t>
            </a:r>
          </a:p>
          <a:p>
            <a:r>
              <a:t>フィジカルAIの導入は、まさに「IT×OT×AI」の統合プロジェクトです。そしてもう1つ。当社の主要顧客である通信事業者も、DC保守や現場作業といった「物理作業」を大量に抱えています。ここも将来の提案ターゲットになり得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から当社の話です。まず前提の認識として、当社の主戦場であるキャリア向けネットワークは、市場として成熟してきています。通信事業者の投資は2026〜28年で横ばいの見通しで、機器や構築の単体売りだけでは成長が見込めません。だからこそ、運用自動化・AI領域へ商圏を広げにいきます。</a:t>
            </a:r>
          </a:p>
          <a:p>
            <a:r>
              <a:t>ただし、いきなりフィジカルAIに飛ぶわけではありません。3つの時間軸で段階的に攻めます。</a:t>
            </a:r>
          </a:p>
          <a:p>
            <a:r>
              <a:t>短期はAIOps・運用自動化。市場は年率20%で安定成長しており、キャリアNW運用の知見がそのまま活きます。販社でありながら開発まで担える会社は少なく、勝ち筋があります。中期は推論基盤、オンプレ生成AIです。国内生成AI市場はFY30に約1.7兆円、うちオンプレは5,000億円規模と見ています。中長期がフィジカルAI・AIグリッド。約2,300億円の市場で、SIやユースケースはまだ未確立。立ち上げ期の今から仕込めば、エコシステム構築から大手と組める可能性があります。</a:t>
            </a:r>
          </a:p>
          <a:p>
            <a:r>
              <a:t>足元で稼ぎながら技術を積み上げ、フィジカルAIの立ち上がりに間に合わせる。これが当社の段取りです。</a:t>
            </a:r>
          </a:p>
          <a:p>
            <a:r>
              <a:t>※市場数値は技術共有会資料（2026年7月）より。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戦略だけではなく、すでに手も動かしています。4つの技術アセットを紹介します。</a:t>
            </a:r>
          </a:p>
          <a:p>
            <a:r>
              <a:t>1つ目はSTech I-AI-Innovation Suite。neoAI社のLLMとHPEサーバーを事前検証済みの構成でパッケージ化した、オンプレ生成AI基盤です。基盤のSIに加えて、伴走支援やAI教育まで一貫提供できます。</a:t>
            </a:r>
          </a:p>
          <a:p>
            <a:r>
              <a:t>2つ目がEdgeCortixのSAKURA-IIというエッジAIアクセラレータの実機検証です。ここで注目してほしい数字が2つあります。遅延のゆらぎ±1ミリ秒未満、平均消費電力10ワット未満。ロボットのリアルタイム制御には「決まった時間で必ず応答する」低遅延が必須で、バッテリー駆動なので電力制約も厳しい。この2つの数字は、まさにフィジカルAI領域に刺さるスペックです。</a:t>
            </a:r>
          </a:p>
          <a:p>
            <a:r>
              <a:t>3つ目はsimplyblockという分散ストレージ。LLM推論のKVキャッシュを永続化・共有して再計算を減らす、推論基盤の足回りです。</a:t>
            </a:r>
          </a:p>
          <a:p>
            <a:r>
              <a:t>そして4つ目、カメラの物体検知とロボットアームを連携させた社内デモ。青いボールを認識してつかんで置く。小さいですが「認識して動く」フィジカルAIの流れを実際に組んだものです。機会があれば実物をお見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こうしたアセットを組み合わせて、当社が描いている構想の1つがこちらです。エッジAIと地域デジタルツインで「認識・予測・行動」のループを回す、というものです。</a:t>
            </a:r>
          </a:p>
          <a:p>
            <a:r>
              <a:t>まず認識。現場のドローンやカメラ、センサーが、被災者や害獣といった対象と周囲の状況をリアルタイムに捉えます。次に予測。地域で共有するGPU/NPU基盤の上にデジタルツインを構築し、河川の氾濫や動物の行動といった「少し先の未来」をシミュレーションします。そして行動。予測結果を現場のエッジに返して、ドローンの群制御や避難誘導といった協調行動につなげます。</a:t>
            </a:r>
          </a:p>
          <a:p>
            <a:r>
              <a:t>お気づきかもしれませんが、これは3章でお話しした「シミュレーション×現場のAI」というフィジカルAIの構図そのものを、地域課題に応用したものです。</a:t>
            </a:r>
          </a:p>
          <a:p>
            <a:r>
              <a:t>ユースケースとしては防災と害獣対策を想定しています。将来的には、このシミュレーション結果を自動運転へ応用する展開も視野に入れています。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そして、これが当社が最終的に目指す提案像です。「ロボット × ローカル5G × AI集中分析・学習基盤」の3点セットです。</a:t>
            </a:r>
          </a:p>
          <a:p>
            <a:r>
              <a:t>左が現場。ロボット、ドローン、カメラが実際の作業とデータ収集を担います。それぞれにエッジNPU、先ほどのSAKURA-IIを載せて、±1ミリ秒級の即時推論を現場で完結させます。</a:t>
            </a:r>
          </a:p>
          <a:p>
            <a:r>
              <a:t>真ん中がローカル5G。高信頼・低遅延の専用無線で、現場のデータと制御指示を安全に往復させる神経系です。当社が積み上げてきたネットワークインテグレーションの技術がここに直結します。</a:t>
            </a:r>
          </a:p>
          <a:p>
            <a:r>
              <a:t>右が中央のAI集中分析・学習基盤。Kubernetes上で推論と学習を集中実行し、simplyblockのような大規模分散ストレージでデータとKVキャッシュを共有、デジタルツインで予測とシミュレーションを回します。</a:t>
            </a:r>
          </a:p>
          <a:p>
            <a:r>
              <a:t>上りで現場データを集めて学習し、下りで賢くなったモデルと制御を現場に返す。この循環が「現場が自律的に回る」仕組みです。</a:t>
            </a:r>
          </a:p>
          <a:p>
            <a:r>
              <a:t>ネットワーク、基盤、AI、そして現場のデバイス。全部をつないで初めて成立するシステムであり、だからこそSIerである当社がやる意味があります。これが当社のフィジカルAI参入の到達点です。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【台本】（まとめ2分＋ディスカッション5〜10分）</a:t>
            </a:r>
          </a:p>
          <a:p>
            <a:r>
              <a:t>最後にまとめます。今日持ち帰っていただきたいのは3点です。</a:t>
            </a:r>
          </a:p>
          <a:p>
            <a:r>
              <a:t>1つ目。フィジカルAIはAI進化の次章で、AIの出力がテキストから「動作」に変わるということ。2つ目。労働力不足を背景に、2025〜26年は実証から初期導入への転換点で、製造・物流のような環境の整った現場から実装が始まっていること。3つ目。価値の源泉はハード単体ではなく、基盤モデル×シミュレーション×現場データの「統合」にあること。だからこそ、つなぎ込みを生業とする私たちに勝ち筋がある、というのが5章でお話しした当社の戦略です。</a:t>
            </a:r>
          </a:p>
          <a:p>
            <a:r>
              <a:t>では残りの時間でディスカッションをしましょう。問いは1つです。「私たちの顧客の現場で、フィジカルAIが最初に価値を出せそうな業務はどこか？」。皆さんの担当されているお客様を思い浮かべて、意見を聞か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以上で本編は終了です。ご清聴ありがとうございました。資料は後ほど共有しますので、お客様との会話のネタにもぜひ使ってください。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（クロージングスライド。質疑応答の背景として表示したまま、個別の質問を受け付ける）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59489" y="2971784"/>
            <a:ext cx="8135937" cy="568355"/>
          </a:xfrm>
        </p:spPr>
        <p:txBody>
          <a:bodyPr anchor="b">
            <a:normAutofit/>
          </a:bodyPr>
          <a:lstStyle>
            <a:lvl1pPr algn="l">
              <a:defRPr sz="34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スライドタイトル</a:t>
            </a:r>
            <a:endParaRPr lang="en-US" dirty="0"/>
          </a:p>
        </p:txBody>
      </p:sp>
      <p:sp>
        <p:nvSpPr>
          <p:cNvPr id="3" name="Subtitle 2"/>
          <p:cNvSpPr>
            <a:spLocks noGrp="1"/>
          </p:cNvSpPr>
          <p:nvPr>
            <p:ph type="subTitle" idx="1" hasCustomPrompt="1"/>
          </p:nvPr>
        </p:nvSpPr>
        <p:spPr>
          <a:xfrm>
            <a:off x="559490" y="455555"/>
            <a:ext cx="6535562" cy="294943"/>
          </a:xfrm>
        </p:spPr>
        <p:txBody>
          <a:bodyPr>
            <a:noAutofit/>
          </a:bodyPr>
          <a:lstStyle>
            <a:lvl1pPr marL="0" indent="0" algn="l">
              <a:buNone/>
              <a:defRPr sz="1600" b="1" i="0" baseline="0">
                <a:solidFill>
                  <a:schemeClr val="accent1"/>
                </a:solidFill>
                <a:latin typeface="BIZ UDPGothic" panose="020B0400000000000000" pitchFamily="34" charset="-128"/>
                <a:ea typeface="BIZ UDPGothic" panose="020B0400000000000000" pitchFamily="34"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〇〇</a:t>
            </a:r>
            <a:r>
              <a:rPr lang="en-US" altLang="ja-JP" dirty="0" err="1"/>
              <a:t>〇〇〇〇〇〇</a:t>
            </a:r>
            <a:r>
              <a:rPr lang="en-US" dirty="0" err="1"/>
              <a:t>株式会社</a:t>
            </a:r>
            <a:r>
              <a:rPr lang="en-US" dirty="0"/>
              <a:t>   </a:t>
            </a:r>
            <a:r>
              <a:rPr lang="en-US" dirty="0" err="1"/>
              <a:t>御中</a:t>
            </a:r>
            <a:endParaRPr lang="en-US" dirty="0"/>
          </a:p>
        </p:txBody>
      </p:sp>
      <p:pic>
        <p:nvPicPr>
          <p:cNvPr id="12" name="図 11" descr="ロゴ&#10;&#10;中程度の精度で自動的に生成された説明">
            <a:extLst>
              <a:ext uri="{FF2B5EF4-FFF2-40B4-BE49-F238E27FC236}">
                <a16:creationId xmlns:a16="http://schemas.microsoft.com/office/drawing/2014/main" id="{91C61609-E934-6D94-45E8-4C5C7222896B}"/>
              </a:ext>
            </a:extLst>
          </p:cNvPr>
          <p:cNvPicPr>
            <a:picLocks noChangeAspect="1"/>
          </p:cNvPicPr>
          <p:nvPr userDrawn="1"/>
        </p:nvPicPr>
        <p:blipFill>
          <a:blip r:embed="rId2"/>
          <a:stretch>
            <a:fillRect/>
          </a:stretch>
        </p:blipFill>
        <p:spPr>
          <a:xfrm>
            <a:off x="657017" y="5898392"/>
            <a:ext cx="1318254" cy="496733"/>
          </a:xfrm>
          <a:prstGeom prst="rect">
            <a:avLst/>
          </a:prstGeom>
        </p:spPr>
      </p:pic>
      <p:pic>
        <p:nvPicPr>
          <p:cNvPr id="13" name="図 12" descr="図形, 矢印&#10;&#10;自動的に生成された説明">
            <a:extLst>
              <a:ext uri="{FF2B5EF4-FFF2-40B4-BE49-F238E27FC236}">
                <a16:creationId xmlns:a16="http://schemas.microsoft.com/office/drawing/2014/main" id="{77C1A79A-EE6C-3D8D-372B-1EC0B0D96C47}"/>
              </a:ext>
            </a:extLst>
          </p:cNvPr>
          <p:cNvPicPr>
            <a:picLocks noChangeAspect="1"/>
          </p:cNvPicPr>
          <p:nvPr userDrawn="1"/>
        </p:nvPicPr>
        <p:blipFill>
          <a:blip r:embed="rId3"/>
          <a:stretch>
            <a:fillRect/>
          </a:stretch>
        </p:blipFill>
        <p:spPr>
          <a:xfrm>
            <a:off x="7264812" y="0"/>
            <a:ext cx="4695825" cy="6858000"/>
          </a:xfrm>
          <a:prstGeom prst="rect">
            <a:avLst/>
          </a:prstGeom>
        </p:spPr>
      </p:pic>
      <p:pic>
        <p:nvPicPr>
          <p:cNvPr id="14" name="図 13" descr="文字が書かれている&#10;&#10;中程度の精度で自動的に生成された説明">
            <a:extLst>
              <a:ext uri="{FF2B5EF4-FFF2-40B4-BE49-F238E27FC236}">
                <a16:creationId xmlns:a16="http://schemas.microsoft.com/office/drawing/2014/main" id="{3A21D7F1-218B-EF6B-6970-CDF014BDF8F5}"/>
              </a:ext>
            </a:extLst>
          </p:cNvPr>
          <p:cNvPicPr>
            <a:picLocks noChangeAspect="1"/>
          </p:cNvPicPr>
          <p:nvPr userDrawn="1"/>
        </p:nvPicPr>
        <p:blipFill>
          <a:blip r:embed="rId4"/>
          <a:stretch>
            <a:fillRect/>
          </a:stretch>
        </p:blipFill>
        <p:spPr>
          <a:xfrm>
            <a:off x="10272469" y="323523"/>
            <a:ext cx="1518408" cy="367357"/>
          </a:xfrm>
          <a:prstGeom prst="rect">
            <a:avLst/>
          </a:prstGeom>
        </p:spPr>
      </p:pic>
      <p:sp>
        <p:nvSpPr>
          <p:cNvPr id="20" name="テキスト プレースホルダー 19">
            <a:extLst>
              <a:ext uri="{FF2B5EF4-FFF2-40B4-BE49-F238E27FC236}">
                <a16:creationId xmlns:a16="http://schemas.microsoft.com/office/drawing/2014/main" id="{3667EF0E-F860-9065-842F-49984BAD0109}"/>
              </a:ext>
            </a:extLst>
          </p:cNvPr>
          <p:cNvSpPr>
            <a:spLocks noGrp="1"/>
          </p:cNvSpPr>
          <p:nvPr>
            <p:ph type="body" sz="quarter" idx="14" hasCustomPrompt="1"/>
          </p:nvPr>
        </p:nvSpPr>
        <p:spPr>
          <a:xfrm>
            <a:off x="559488" y="4183823"/>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双日テックイノベーション株式会社</a:t>
            </a:r>
            <a:endParaRPr kumimoji="1" lang="en-US" altLang="ja-JP" dirty="0"/>
          </a:p>
        </p:txBody>
      </p:sp>
      <p:sp>
        <p:nvSpPr>
          <p:cNvPr id="6" name="テキスト プレースホルダー 19">
            <a:extLst>
              <a:ext uri="{FF2B5EF4-FFF2-40B4-BE49-F238E27FC236}">
                <a16:creationId xmlns:a16="http://schemas.microsoft.com/office/drawing/2014/main" id="{45B24984-7E4C-DB70-29A4-E3B0EE9BAF20}"/>
              </a:ext>
            </a:extLst>
          </p:cNvPr>
          <p:cNvSpPr>
            <a:spLocks noGrp="1"/>
          </p:cNvSpPr>
          <p:nvPr>
            <p:ph type="body" sz="quarter" idx="15" hasCustomPrompt="1"/>
          </p:nvPr>
        </p:nvSpPr>
        <p:spPr>
          <a:xfrm>
            <a:off x="559488" y="4888095"/>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〇〇〇〇部〇〇〇〇課</a:t>
            </a:r>
          </a:p>
        </p:txBody>
      </p:sp>
      <p:sp>
        <p:nvSpPr>
          <p:cNvPr id="7" name="テキスト プレースホルダー 19">
            <a:extLst>
              <a:ext uri="{FF2B5EF4-FFF2-40B4-BE49-F238E27FC236}">
                <a16:creationId xmlns:a16="http://schemas.microsoft.com/office/drawing/2014/main" id="{FC50F80F-5787-97ED-105C-23577087D626}"/>
              </a:ext>
            </a:extLst>
          </p:cNvPr>
          <p:cNvSpPr>
            <a:spLocks noGrp="1"/>
          </p:cNvSpPr>
          <p:nvPr>
            <p:ph type="body" sz="quarter" idx="16" hasCustomPrompt="1"/>
          </p:nvPr>
        </p:nvSpPr>
        <p:spPr>
          <a:xfrm>
            <a:off x="559488" y="4538770"/>
            <a:ext cx="6535562" cy="289524"/>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〇〇〇〇〇〇〇〇事業本部</a:t>
            </a:r>
            <a:endParaRPr kumimoji="1" lang="en-US" altLang="ja-JP" dirty="0"/>
          </a:p>
        </p:txBody>
      </p:sp>
      <p:sp>
        <p:nvSpPr>
          <p:cNvPr id="4" name="テキスト プレースホルダー 19">
            <a:extLst>
              <a:ext uri="{FF2B5EF4-FFF2-40B4-BE49-F238E27FC236}">
                <a16:creationId xmlns:a16="http://schemas.microsoft.com/office/drawing/2014/main" id="{D7B851B6-8739-6DBD-3433-427387865A33}"/>
              </a:ext>
            </a:extLst>
          </p:cNvPr>
          <p:cNvSpPr>
            <a:spLocks noGrp="1"/>
          </p:cNvSpPr>
          <p:nvPr>
            <p:ph type="body" sz="quarter" idx="17" hasCustomPrompt="1"/>
          </p:nvPr>
        </p:nvSpPr>
        <p:spPr>
          <a:xfrm>
            <a:off x="559488" y="3752762"/>
            <a:ext cx="6535562" cy="294943"/>
          </a:xfrm>
        </p:spPr>
        <p:txBody>
          <a:bodyPr anchor="ctr">
            <a:no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r>
              <a:rPr lang="en-US" altLang="ja-JP" b="0" i="0" dirty="0" err="1">
                <a:latin typeface="BIZ UDPGothic" panose="020B0400000000000000" pitchFamily="34" charset="-128"/>
                <a:ea typeface="BIZ UDPGothic" panose="020B0400000000000000" pitchFamily="34" charset="-128"/>
              </a:rPr>
              <a:t>yyyy</a:t>
            </a:r>
            <a:r>
              <a:rPr lang="ja-JP" altLang="en-US" b="0" i="0" dirty="0">
                <a:latin typeface="BIZ UDPGothic" panose="020B0400000000000000" pitchFamily="34" charset="-128"/>
                <a:ea typeface="BIZ UDPGothic" panose="020B0400000000000000" pitchFamily="34" charset="-128"/>
              </a:rPr>
              <a:t>年</a:t>
            </a:r>
            <a:r>
              <a:rPr lang="en-US" altLang="ja-JP" b="0" i="0" dirty="0">
                <a:latin typeface="BIZ UDPGothic" panose="020B0400000000000000" pitchFamily="34" charset="-128"/>
                <a:ea typeface="BIZ UDPGothic" panose="020B0400000000000000" pitchFamily="34" charset="-128"/>
              </a:rPr>
              <a:t>mm</a:t>
            </a:r>
            <a:r>
              <a:rPr lang="ja-JP" altLang="en-US" b="0" i="0" dirty="0">
                <a:latin typeface="BIZ UDPGothic" panose="020B0400000000000000" pitchFamily="34" charset="-128"/>
                <a:ea typeface="BIZ UDPGothic" panose="020B0400000000000000" pitchFamily="34" charset="-128"/>
              </a:rPr>
              <a:t>月</a:t>
            </a:r>
            <a:r>
              <a:rPr lang="en-US" altLang="ja-JP" b="0" i="0" dirty="0">
                <a:latin typeface="BIZ UDPGothic" panose="020B0400000000000000" pitchFamily="34" charset="-128"/>
                <a:ea typeface="BIZ UDPGothic" panose="020B0400000000000000" pitchFamily="34" charset="-128"/>
              </a:rPr>
              <a:t>dd</a:t>
            </a:r>
            <a:r>
              <a:rPr lang="ja-JP" altLang="en-US" b="0" i="0" dirty="0">
                <a:latin typeface="BIZ UDPGothic" panose="020B0400000000000000" pitchFamily="34" charset="-128"/>
                <a:ea typeface="BIZ UDPGothic" panose="020B0400000000000000" pitchFamily="34" charset="-128"/>
              </a:rPr>
              <a:t>日</a:t>
            </a:r>
            <a:endParaRPr lang="en-US" altLang="ja-JP" b="0" i="0" dirty="0">
              <a:latin typeface="BIZ UDPGothic" panose="020B0400000000000000" pitchFamily="34" charset="-128"/>
              <a:ea typeface="BIZ UDPGothic" panose="020B0400000000000000" pitchFamily="34" charset="-128"/>
            </a:endParaRPr>
          </a:p>
        </p:txBody>
      </p:sp>
      <p:pic>
        <p:nvPicPr>
          <p:cNvPr id="5" name="グラフィックス 4">
            <a:extLst>
              <a:ext uri="{FF2B5EF4-FFF2-40B4-BE49-F238E27FC236}">
                <a16:creationId xmlns:a16="http://schemas.microsoft.com/office/drawing/2014/main" id="{04E82DED-A5F3-B7BA-187C-F48C8E49C312}"/>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472622" y="5860282"/>
            <a:ext cx="1318255" cy="572953"/>
          </a:xfrm>
          <a:prstGeom prst="rect">
            <a:avLst/>
          </a:prstGeom>
        </p:spPr>
      </p:pic>
    </p:spTree>
    <p:extLst>
      <p:ext uri="{BB962C8B-B14F-4D97-AF65-F5344CB8AC3E}">
        <p14:creationId xmlns:p14="http://schemas.microsoft.com/office/powerpoint/2010/main" val="330649011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目次（</a:t>
            </a:r>
            <a:r>
              <a:rPr lang="en-US" altLang="ja-JP" dirty="0"/>
              <a:t>2</a:t>
            </a:r>
            <a:r>
              <a:rPr lang="ja-JP" altLang="en-US" dirty="0"/>
              <a:t>４</a:t>
            </a:r>
            <a:r>
              <a:rPr lang="en-US" altLang="ja-JP" dirty="0"/>
              <a:t>pt</a:t>
            </a:r>
            <a:r>
              <a:rPr lang="ja-JP" altLang="en-US" dirty="0"/>
              <a:t>）</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Content Placeholder 2">
            <a:extLst>
              <a:ext uri="{FF2B5EF4-FFF2-40B4-BE49-F238E27FC236}">
                <a16:creationId xmlns:a16="http://schemas.microsoft.com/office/drawing/2014/main" id="{4225AD9D-E296-7156-536C-D9A7EDA7F415}"/>
              </a:ext>
            </a:extLst>
          </p:cNvPr>
          <p:cNvSpPr>
            <a:spLocks noGrp="1"/>
          </p:cNvSpPr>
          <p:nvPr>
            <p:ph idx="1" hasCustomPrompt="1"/>
          </p:nvPr>
        </p:nvSpPr>
        <p:spPr>
          <a:xfrm>
            <a:off x="460431" y="1186160"/>
            <a:ext cx="11184282" cy="5109933"/>
          </a:xfrm>
        </p:spPr>
        <p:txBody>
          <a:bodyPr>
            <a:normAutofit/>
          </a:bodyPr>
          <a:lstStyle>
            <a:lvl1pPr marL="228600" indent="-228600" algn="dist">
              <a:buClr>
                <a:schemeClr val="tx2"/>
              </a:buClr>
              <a:buSzPct val="100000"/>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4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p:txBody>
      </p:sp>
    </p:spTree>
    <p:extLst>
      <p:ext uri="{BB962C8B-B14F-4D97-AF65-F5344CB8AC3E}">
        <p14:creationId xmlns:p14="http://schemas.microsoft.com/office/powerpoint/2010/main" val="4258253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中表紙 スライド１">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3101039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表紙 スライド２">
    <p:bg>
      <p:bgPr>
        <a:solidFill>
          <a:srgbClr val="2A65F5"/>
        </a:solidFill>
        <a:effectLst/>
      </p:bgPr>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tx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1"/>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1"/>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1"/>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695385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スライド 01-1（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1015193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スライド 01-2（サブタイトルなし・背景色あり）">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24pt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4246441805"/>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コンテンツ スライド 01-3（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3123" y="1580966"/>
            <a:ext cx="11184282" cy="4674307"/>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12pt/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5" name="Content Placeholder 2">
            <a:extLst>
              <a:ext uri="{FF2B5EF4-FFF2-40B4-BE49-F238E27FC236}">
                <a16:creationId xmlns:a16="http://schemas.microsoft.com/office/drawing/2014/main" id="{54D72817-A9A9-B911-F9B5-0FBF688B6B1D}"/>
              </a:ext>
            </a:extLst>
          </p:cNvPr>
          <p:cNvSpPr>
            <a:spLocks noGrp="1"/>
          </p:cNvSpPr>
          <p:nvPr>
            <p:ph idx="11" hasCustomPrompt="1"/>
          </p:nvPr>
        </p:nvSpPr>
        <p:spPr>
          <a:xfrm>
            <a:off x="463123" y="978865"/>
            <a:ext cx="11184282" cy="485437"/>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p>
          <a:p>
            <a:pPr lvl="0"/>
            <a:endParaRPr lang="ja-JP" altLang="en-US" dirty="0"/>
          </a:p>
        </p:txBody>
      </p:sp>
    </p:spTree>
    <p:extLst>
      <p:ext uri="{BB962C8B-B14F-4D97-AF65-F5344CB8AC3E}">
        <p14:creationId xmlns:p14="http://schemas.microsoft.com/office/powerpoint/2010/main" val="1307631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コンテンツ スライド 02-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979783"/>
            <a:ext cx="5447578" cy="5316311"/>
          </a:xfrm>
        </p:spPr>
        <p:txBody>
          <a:bodyPr/>
          <a:lstStyle>
            <a:lvl1pPr marL="228600" indent="-228600">
              <a:buClr>
                <a:schemeClr val="tx2"/>
              </a:buClr>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978865"/>
            <a:ext cx="5447578" cy="5316311"/>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199094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コンテンツ スライド 02-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1"/>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1889453"/>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5" name="Content Placeholder 2">
            <a:extLst>
              <a:ext uri="{FF2B5EF4-FFF2-40B4-BE49-F238E27FC236}">
                <a16:creationId xmlns:a16="http://schemas.microsoft.com/office/drawing/2014/main" id="{A93E328F-114F-7DEB-3AC8-FFB9E7D73DCA}"/>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940521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コンテンツ スライド 03-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984889"/>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984884"/>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984277"/>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2732761"/>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538665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コンテンツ スライド 03-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1888846"/>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3638886"/>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42D4DFD3-A1FA-A9BB-ED06-FB2F6B4C01E1}"/>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ゴシック" panose="020B0400000000000000" pitchFamily="50" charset="-128"/>
                <a:ea typeface="BIZ UDPゴシック" panose="020B0400000000000000" pitchFamily="50"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085363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コンテンツ スライド 04-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56856"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200093"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3734215"/>
            <a:ext cx="5447578" cy="2520453"/>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3734215"/>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Tree>
    <p:extLst>
      <p:ext uri="{BB962C8B-B14F-4D97-AF65-F5344CB8AC3E}">
        <p14:creationId xmlns:p14="http://schemas.microsoft.com/office/powerpoint/2010/main" val="25987603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コンテンツ スライド 04-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190906"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5" name="Content Placeholder 2">
            <a:extLst>
              <a:ext uri="{FF2B5EF4-FFF2-40B4-BE49-F238E27FC236}">
                <a16:creationId xmlns:a16="http://schemas.microsoft.com/office/drawing/2014/main" id="{E519B47D-B6D7-03DF-CA9A-3F1C0C3B9028}"/>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4121087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 スライド 05-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66688" y="984886"/>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2725794"/>
            <a:ext cx="11184283" cy="3569383"/>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14575056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 スライド 05-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6" y="1889453"/>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3639493"/>
            <a:ext cx="11184283"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16F8D7E9-1DA8-3EB3-FDA9-5AED70BACB77}"/>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3467120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最終スライド1">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914400" y="2971784"/>
            <a:ext cx="9086849"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en-US" altLang="ja-JP" dirty="0"/>
              <a:t>End of Document</a:t>
            </a:r>
            <a:endParaRPr lang="en-US" dirty="0"/>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6" name="コンテンツ プレースホルダー 2">
            <a:extLst>
              <a:ext uri="{FF2B5EF4-FFF2-40B4-BE49-F238E27FC236}">
                <a16:creationId xmlns:a16="http://schemas.microsoft.com/office/drawing/2014/main" id="{9893536C-8250-88FE-8899-819CAF117051}"/>
              </a:ext>
            </a:extLst>
          </p:cNvPr>
          <p:cNvSpPr>
            <a:spLocks noGrp="1"/>
          </p:cNvSpPr>
          <p:nvPr>
            <p:ph idx="1" hasCustomPrompt="1"/>
          </p:nvPr>
        </p:nvSpPr>
        <p:spPr>
          <a:xfrm>
            <a:off x="503858" y="5153772"/>
            <a:ext cx="11184283" cy="784912"/>
          </a:xfrm>
        </p:spPr>
        <p:txBody>
          <a:bodyPr lIns="36000" tIns="36000" rIns="36000" bIns="36000">
            <a:noAutofit/>
          </a:bodyPr>
          <a:lstStyle>
            <a:lvl1pPr marL="0" indent="0">
              <a:lnSpc>
                <a:spcPct val="100000"/>
              </a:lnSpc>
              <a:spcBef>
                <a:spcPts val="300"/>
              </a:spcBef>
              <a:buClr>
                <a:schemeClr val="tx2"/>
              </a:buClr>
              <a:buFont typeface="Wingdings" pitchFamily="2" charset="2"/>
              <a:buNone/>
              <a:defRPr sz="1000" b="0"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双日テックイノベーション、双日テックイノベーションのロゴは、双日テックイノベーション株式会社の登録商標です。 </a:t>
            </a:r>
            <a:endParaRPr kumimoji="1" lang="en-US" altLang="ja-JP" dirty="0"/>
          </a:p>
          <a:p>
            <a:pPr lvl="0"/>
            <a:r>
              <a:rPr kumimoji="1" lang="ja-JP" altLang="en-US" dirty="0"/>
              <a:t>その他記載されている全ての商標、サービスマーク、登録商標、登録サービスマークは、各所有者に所有権があります。 </a:t>
            </a:r>
            <a:endParaRPr kumimoji="1" lang="en-US" altLang="ja-JP" dirty="0"/>
          </a:p>
          <a:p>
            <a:pPr lvl="0"/>
            <a:r>
              <a:rPr kumimoji="1" lang="ja-JP" altLang="en-US" dirty="0"/>
              <a:t>本書記載の仕様はすべて予告なく変更される場合があります。本書の記載内容に誤りがあった場合、 あるいは記載内容を更新する義務が生じた場合も、</a:t>
            </a:r>
            <a:endParaRPr kumimoji="1" lang="en-US" altLang="ja-JP" dirty="0"/>
          </a:p>
          <a:p>
            <a:pPr lvl="0"/>
            <a:r>
              <a:rPr kumimoji="1" lang="ja-JP" altLang="en-US" dirty="0"/>
              <a:t>双日テックイノベーションは一切責任を負いません。 双日テックイノベーションは、本書を予告無く変更、修正、または改訂する権利を有します。</a:t>
            </a:r>
            <a:endParaRPr kumimoji="1" lang="en-US" altLang="ja-JP" dirty="0"/>
          </a:p>
          <a:p>
            <a:pPr lvl="0"/>
            <a:r>
              <a:rPr kumimoji="1" lang="ja-JP" altLang="en-US" dirty="0"/>
              <a:t>本書に記載されている内容を無断で複写、複製することを禁じます。</a:t>
            </a:r>
            <a:endParaRPr kumimoji="1" lang="en-US" altLang="ja-JP" dirty="0"/>
          </a:p>
          <a:p>
            <a:pPr lvl="0"/>
            <a:r>
              <a:rPr kumimoji="1" lang="ja-JP" altLang="en-US" dirty="0"/>
              <a:t>記載の価格は参考価格となり、ご検討の際にはお見積りのご依頼をお願いいたします。 為替変更やメーカーの価格改定により予告なく変更することがあります。</a:t>
            </a:r>
            <a:endParaRPr kumimoji="1" lang="en-US" altLang="ja-JP" dirty="0"/>
          </a:p>
        </p:txBody>
      </p:sp>
    </p:spTree>
    <p:extLst>
      <p:ext uri="{BB962C8B-B14F-4D97-AF65-F5344CB8AC3E}">
        <p14:creationId xmlns:p14="http://schemas.microsoft.com/office/powerpoint/2010/main" val="24621389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最終スライド2">
    <p:spTree>
      <p:nvGrpSpPr>
        <p:cNvPr id="1" name=""/>
        <p:cNvGrpSpPr/>
        <p:nvPr/>
      </p:nvGrpSpPr>
      <p:grpSpPr>
        <a:xfrm>
          <a:off x="0" y="0"/>
          <a:ext cx="0" cy="0"/>
          <a:chOff x="0" y="0"/>
          <a:chExt cx="0" cy="0"/>
        </a:xfrm>
      </p:grpSpPr>
      <p:pic>
        <p:nvPicPr>
          <p:cNvPr id="9" name="図 8" descr="グラフィカル ユーザー インターフェイス, Web サイト&#10;&#10;自動的に生成された説明">
            <a:extLst>
              <a:ext uri="{FF2B5EF4-FFF2-40B4-BE49-F238E27FC236}">
                <a16:creationId xmlns:a16="http://schemas.microsoft.com/office/drawing/2014/main" id="{4F1C2A3E-918E-7251-4F66-7A17B6E0BCC7}"/>
              </a:ext>
            </a:extLst>
          </p:cNvPr>
          <p:cNvPicPr>
            <a:picLocks noChangeAspect="1"/>
          </p:cNvPicPr>
          <p:nvPr userDrawn="1"/>
        </p:nvPicPr>
        <p:blipFill>
          <a:blip r:embed="rId2"/>
          <a:stretch>
            <a:fillRect/>
          </a:stretch>
        </p:blipFill>
        <p:spPr>
          <a:xfrm>
            <a:off x="952" y="0"/>
            <a:ext cx="12190095" cy="6858000"/>
          </a:xfrm>
          <a:prstGeom prst="rect">
            <a:avLst/>
          </a:prstGeom>
        </p:spPr>
      </p:pic>
    </p:spTree>
    <p:extLst>
      <p:ext uri="{BB962C8B-B14F-4D97-AF65-F5344CB8AC3E}">
        <p14:creationId xmlns:p14="http://schemas.microsoft.com/office/powerpoint/2010/main" val="12485581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　</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BCD9EE6-AEE6-7D48-8266-9FC509548DD9}" type="datetimeFigureOut">
              <a:rPr kumimoji="1" lang="ja-JP" altLang="en-US" smtClean="0"/>
              <a:t>2026/7/30</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8AB7B2-5B09-794C-A215-5E1D0C2B75B7}" type="slidenum">
              <a:rPr kumimoji="1" lang="ja-JP" altLang="en-US" smtClean="0"/>
              <a:t>‹#›</a:t>
            </a:fld>
            <a:endParaRPr kumimoji="1" lang="ja-JP" altLang="en-US"/>
          </a:p>
        </p:txBody>
      </p:sp>
    </p:spTree>
    <p:extLst>
      <p:ext uri="{BB962C8B-B14F-4D97-AF65-F5344CB8AC3E}">
        <p14:creationId xmlns:p14="http://schemas.microsoft.com/office/powerpoint/2010/main" val="1383032622"/>
      </p:ext>
    </p:extLst>
  </p:cSld>
  <p:clrMap bg1="lt1" tx1="dk1" bg2="lt2" tx2="dk2" accent1="accent1" accent2="accent2" accent3="accent3" accent4="accent4" accent5="accent5" accent6="accent6" hlink="hlink" folHlink="folHlink"/>
  <p:sldLayoutIdLst>
    <p:sldLayoutId id="2147483685" r:id="rId1"/>
    <p:sldLayoutId id="2147483708" r:id="rId2"/>
    <p:sldLayoutId id="2147483696" r:id="rId3"/>
    <p:sldLayoutId id="2147483706" r:id="rId4"/>
    <p:sldLayoutId id="2147483704" r:id="rId5"/>
    <p:sldLayoutId id="2147483710" r:id="rId6"/>
    <p:sldLayoutId id="2147483700" r:id="rId7"/>
    <p:sldLayoutId id="2147483713" r:id="rId8"/>
    <p:sldLayoutId id="2147483701" r:id="rId9"/>
    <p:sldLayoutId id="2147483714" r:id="rId10"/>
    <p:sldLayoutId id="2147483702" r:id="rId11"/>
    <p:sldLayoutId id="2147483715" r:id="rId12"/>
    <p:sldLayoutId id="2147483709" r:id="rId13"/>
    <p:sldLayoutId id="2147483716" r:id="rId14"/>
    <p:sldLayoutId id="2147483699" r:id="rId15"/>
    <p:sldLayoutId id="2147483707" r:id="rId16"/>
    <p:sldLayoutId id="2147483712" r:id="rId1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47" userDrawn="1">
          <p15:clr>
            <a:srgbClr val="F26B43"/>
          </p15:clr>
        </p15:guide>
        <p15:guide id="3" pos="3840" userDrawn="1">
          <p15:clr>
            <a:srgbClr val="F26B43"/>
          </p15:clr>
        </p15:guide>
        <p15:guide id="4" pos="7333" userDrawn="1">
          <p15:clr>
            <a:srgbClr val="F26B43"/>
          </p15:clr>
        </p15:guide>
        <p15:guide id="5" orient="horz" pos="142" userDrawn="1">
          <p15:clr>
            <a:srgbClr val="F26B43"/>
          </p15:clr>
        </p15:guide>
        <p15:guide id="6" orient="horz" pos="41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14.png"/><Relationship Id="rId5"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7.png"/><Relationship Id="rId4" Type="http://schemas.openxmlformats.org/officeDocument/2006/relationships/image" Target="../media/image26.png"/><Relationship Id="rId5"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9.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4.png"/><Relationship Id="rId4" Type="http://schemas.openxmlformats.org/officeDocument/2006/relationships/image" Target="../media/image39.png"/><Relationship Id="rId5" Type="http://schemas.openxmlformats.org/officeDocument/2006/relationships/image" Target="../media/image26.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19.png"/><Relationship Id="rId8" Type="http://schemas.openxmlformats.org/officeDocument/2006/relationships/image" Target="../media/image39.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020FC2-C44C-B63A-BD7C-529E7A693D19}"/>
              </a:ext>
            </a:extLst>
          </p:cNvPr>
          <p:cNvSpPr>
            <a:spLocks noGrp="1"/>
          </p:cNvSpPr>
          <p:nvPr>
            <p:ph type="ctrTitle"/>
          </p:nvPr>
        </p:nvSpPr>
        <p:spPr/>
        <p:txBody>
          <a:bodyPr/>
          <a:lstStyle/>
          <a:p>
            <a:r>
              <a:rPr>
                <a:latin typeface="BIZ UDPGothic"/>
                <a:ea typeface="BIZ UDPGothic"/>
              </a:rPr>
              <a:t>フィジカルAI入門</a:t>
            </a:r>
            <a:endParaRPr kumimoji="1" lang="ja-JP" altLang="en-US"/>
          </a:p>
          <a:p>
            <a:pPr>
              <a:spcBef>
                <a:spcPts val="600"/>
              </a:spcBef>
            </a:pPr>
            <a:r>
              <a:rPr sz="2000" b="1">
                <a:solidFill>
                  <a:srgbClr val="00219B"/>
                </a:solidFill>
                <a:latin typeface="BIZ UDPGothic"/>
                <a:ea typeface="BIZ UDPGothic"/>
              </a:rPr>
              <a:t>〜AIがデジタルから、現実世界へ〜</a:t>
            </a:r>
          </a:p>
        </p:txBody>
      </p:sp>
      <p:sp>
        <p:nvSpPr>
          <p:cNvPr id="3" name="字幕 2">
            <a:extLst>
              <a:ext uri="{FF2B5EF4-FFF2-40B4-BE49-F238E27FC236}">
                <a16:creationId xmlns:a16="http://schemas.microsoft.com/office/drawing/2014/main" id="{158BCF63-43F1-7C5E-5C06-078E758E5529}"/>
              </a:ext>
            </a:extLst>
          </p:cNvPr>
          <p:cNvSpPr>
            <a:spLocks noGrp="1"/>
          </p:cNvSpPr>
          <p:nvPr>
            <p:ph type="subTitle" idx="1"/>
          </p:nvPr>
        </p:nvSpPr>
        <p:spPr/>
        <p:txBody>
          <a:bodyPr/>
          <a:lstStyle/>
          <a:p>
            <a:r>
              <a:rPr>
                <a:latin typeface="BIZ UDPGothic"/>
                <a:ea typeface="BIZ UDPGothic"/>
              </a:rPr>
              <a:t>社内勉強会</a:t>
            </a:r>
            <a:endParaRPr kumimoji="1" lang="ja-JP" altLang="en-US"/>
          </a:p>
        </p:txBody>
      </p:sp>
      <p:sp>
        <p:nvSpPr>
          <p:cNvPr id="4" name="テキスト プレースホルダー 3">
            <a:extLst>
              <a:ext uri="{FF2B5EF4-FFF2-40B4-BE49-F238E27FC236}">
                <a16:creationId xmlns:a16="http://schemas.microsoft.com/office/drawing/2014/main" id="{81F0D390-7D08-18D7-F7E0-2567A722D529}"/>
              </a:ext>
            </a:extLst>
          </p:cNvPr>
          <p:cNvSpPr>
            <a:spLocks noGrp="1"/>
          </p:cNvSpPr>
          <p:nvPr>
            <p:ph type="body" sz="quarter" idx="14"/>
          </p:nvPr>
        </p:nvSpPr>
        <p:spPr/>
        <p:txBody>
          <a:bodyPr>
            <a:normAutofit lnSpcReduction="10000"/>
          </a:bodyPr>
          <a:lstStyle/>
          <a:p>
            <a:r>
              <a:rPr>
                <a:latin typeface="BIZ UDPGothic"/>
                <a:ea typeface="BIZ UDPGothic"/>
              </a:rPr>
              <a:t>双日テックイノベーション株式会社</a:t>
            </a:r>
            <a:endParaRPr kumimoji="1" lang="ja-JP" altLang="en-US"/>
          </a:p>
        </p:txBody>
      </p:sp>
      <p:sp>
        <p:nvSpPr>
          <p:cNvPr id="5" name="テキスト プレースホルダー 4">
            <a:extLst>
              <a:ext uri="{FF2B5EF4-FFF2-40B4-BE49-F238E27FC236}">
                <a16:creationId xmlns:a16="http://schemas.microsoft.com/office/drawing/2014/main" id="{1F3DC3EB-F26E-6036-440B-5FE14FDA43A8}"/>
              </a:ext>
            </a:extLst>
          </p:cNvPr>
          <p:cNvSpPr>
            <a:spLocks noGrp="1"/>
          </p:cNvSpPr>
          <p:nvPr>
            <p:ph type="body" sz="quarter" idx="15"/>
          </p:nvPr>
        </p:nvSpPr>
        <p:spPr/>
        <p:txBody>
          <a:bodyPr>
            <a:normAutofit lnSpcReduction="10000"/>
          </a:bodyPr>
          <a:lstStyle/>
          <a:p>
            <a:endParaRPr kumimoji="1" lang="ja-JP" altLang="en-US"/>
          </a:p>
        </p:txBody>
      </p:sp>
      <p:sp>
        <p:nvSpPr>
          <p:cNvPr id="6" name="テキスト プレースホルダー 5">
            <a:extLst>
              <a:ext uri="{FF2B5EF4-FFF2-40B4-BE49-F238E27FC236}">
                <a16:creationId xmlns:a16="http://schemas.microsoft.com/office/drawing/2014/main" id="{0085B39A-6306-E381-EF50-DFBAE604F612}"/>
              </a:ext>
            </a:extLst>
          </p:cNvPr>
          <p:cNvSpPr>
            <a:spLocks noGrp="1"/>
          </p:cNvSpPr>
          <p:nvPr>
            <p:ph type="body" sz="quarter" idx="16"/>
          </p:nvPr>
        </p:nvSpPr>
        <p:spPr/>
        <p:txBody>
          <a:bodyPr>
            <a:normAutofit lnSpcReduction="10000"/>
          </a:bodyPr>
          <a:lstStyle/>
          <a:p>
            <a:endParaRPr kumimoji="1" lang="ja-JP" altLang="en-US"/>
          </a:p>
        </p:txBody>
      </p:sp>
      <p:sp>
        <p:nvSpPr>
          <p:cNvPr id="7" name="テキスト プレースホルダー 6">
            <a:extLst>
              <a:ext uri="{FF2B5EF4-FFF2-40B4-BE49-F238E27FC236}">
                <a16:creationId xmlns:a16="http://schemas.microsoft.com/office/drawing/2014/main" id="{8917708A-A6DF-ACEB-214F-5FF13FAB8E87}"/>
              </a:ext>
            </a:extLst>
          </p:cNvPr>
          <p:cNvSpPr>
            <a:spLocks noGrp="1"/>
          </p:cNvSpPr>
          <p:nvPr>
            <p:ph type="body" sz="quarter" idx="17"/>
          </p:nvPr>
        </p:nvSpPr>
        <p:spPr/>
        <p:txBody>
          <a:bodyPr/>
          <a:lstStyle/>
          <a:p>
            <a:r>
              <a:rPr>
                <a:latin typeface="BIZ UDPGothic"/>
                <a:ea typeface="BIZ UDPGothic"/>
              </a:rPr>
              <a:t>2026年8月</a:t>
            </a:r>
            <a:endParaRPr kumimoji="1" lang="ja-JP" altLang="en-US"/>
          </a:p>
        </p:txBody>
      </p:sp>
    </p:spTree>
    <p:extLst>
      <p:ext uri="{BB962C8B-B14F-4D97-AF65-F5344CB8AC3E}">
        <p14:creationId xmlns:p14="http://schemas.microsoft.com/office/powerpoint/2010/main" val="1070626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EF019CAF-1F6E-29C8-4189-9BBECDFEDA23}"/>
              </a:ext>
            </a:extLst>
          </p:cNvPr>
          <p:cNvSpPr>
            <a:spLocks noGrp="1"/>
          </p:cNvSpPr>
          <p:nvPr>
            <p:ph type="title"/>
          </p:nvPr>
        </p:nvSpPr>
        <p:spPr/>
        <p:txBody>
          <a:bodyPr/>
          <a:lstStyle/>
          <a:p>
            <a:r>
              <a:rPr>
                <a:latin typeface="BIZ UDPGothic"/>
                <a:ea typeface="BIZ UDPGothic"/>
              </a:rPr>
              <a:t>目次</a:t>
            </a:r>
            <a:endParaRPr lang="ja-JP" altLang="en-US" dirty="0"/>
          </a:p>
        </p:txBody>
      </p:sp>
      <p:sp>
        <p:nvSpPr>
          <p:cNvPr id="4" name="Oval 3"/>
          <p:cNvSpPr/>
          <p:nvPr/>
        </p:nvSpPr>
        <p:spPr>
          <a:xfrm>
            <a:off x="548640" y="141732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01</a:t>
            </a:r>
          </a:p>
        </p:txBody>
      </p:sp>
      <p:sp>
        <p:nvSpPr>
          <p:cNvPr id="5" name="TextBox 4"/>
          <p:cNvSpPr txBox="1"/>
          <p:nvPr/>
        </p:nvSpPr>
        <p:spPr>
          <a:xfrm>
            <a:off x="1188720" y="137160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フィジカルAIとは何か</a:t>
            </a:r>
          </a:p>
          <a:p>
            <a:pPr>
              <a:spcBef>
                <a:spcPts val="200"/>
              </a:spcBef>
            </a:pPr>
            <a:r>
              <a:rPr sz="1150" b="0">
                <a:solidFill>
                  <a:srgbClr val="A7ACAF"/>
                </a:solidFill>
                <a:latin typeface="BIZ UDPGothic"/>
                <a:ea typeface="BIZ UDPGothic"/>
              </a:rPr>
              <a:t>定義とAI進化の流れ、注目される背景、技術の全体像</a:t>
            </a:r>
          </a:p>
        </p:txBody>
      </p:sp>
      <p:sp>
        <p:nvSpPr>
          <p:cNvPr id="6" name="TextBox 5"/>
          <p:cNvSpPr txBox="1"/>
          <p:nvPr/>
        </p:nvSpPr>
        <p:spPr>
          <a:xfrm>
            <a:off x="10469880" y="143560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03</a:t>
            </a:r>
          </a:p>
        </p:txBody>
      </p:sp>
      <p:sp>
        <p:nvSpPr>
          <p:cNvPr id="7" name="Oval 6"/>
          <p:cNvSpPr/>
          <p:nvPr/>
        </p:nvSpPr>
        <p:spPr>
          <a:xfrm>
            <a:off x="548640" y="242316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02</a:t>
            </a:r>
          </a:p>
        </p:txBody>
      </p:sp>
      <p:sp>
        <p:nvSpPr>
          <p:cNvPr id="8" name="TextBox 7"/>
          <p:cNvSpPr txBox="1"/>
          <p:nvPr/>
        </p:nvSpPr>
        <p:spPr>
          <a:xfrm>
            <a:off x="1188720" y="237744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主要プレイヤーと最新動向</a:t>
            </a:r>
          </a:p>
          <a:p>
            <a:pPr>
              <a:spcBef>
                <a:spcPts val="200"/>
              </a:spcBef>
            </a:pPr>
            <a:r>
              <a:rPr sz="1150" b="0">
                <a:solidFill>
                  <a:srgbClr val="A7ACAF"/>
                </a:solidFill>
                <a:latin typeface="BIZ UDPGothic"/>
                <a:ea typeface="BIZ UDPGothic"/>
              </a:rPr>
              <a:t>NVIDIAの戦略、ヒューマノイド開発競争、産業別ユースケース</a:t>
            </a:r>
          </a:p>
        </p:txBody>
      </p:sp>
      <p:sp>
        <p:nvSpPr>
          <p:cNvPr id="9" name="TextBox 8"/>
          <p:cNvSpPr txBox="1"/>
          <p:nvPr/>
        </p:nvSpPr>
        <p:spPr>
          <a:xfrm>
            <a:off x="10469880" y="244144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07</a:t>
            </a:r>
          </a:p>
        </p:txBody>
      </p:sp>
      <p:sp>
        <p:nvSpPr>
          <p:cNvPr id="10" name="Oval 9"/>
          <p:cNvSpPr/>
          <p:nvPr/>
        </p:nvSpPr>
        <p:spPr>
          <a:xfrm>
            <a:off x="548640" y="342900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03</a:t>
            </a:r>
          </a:p>
        </p:txBody>
      </p:sp>
      <p:sp>
        <p:nvSpPr>
          <p:cNvPr id="11" name="TextBox 10"/>
          <p:cNvSpPr txBox="1"/>
          <p:nvPr/>
        </p:nvSpPr>
        <p:spPr>
          <a:xfrm>
            <a:off x="1188720" y="338328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技術の仕組み</a:t>
            </a:r>
          </a:p>
          <a:p>
            <a:pPr>
              <a:spcBef>
                <a:spcPts val="200"/>
              </a:spcBef>
            </a:pPr>
            <a:r>
              <a:rPr sz="1150" b="0">
                <a:solidFill>
                  <a:srgbClr val="A7ACAF"/>
                </a:solidFill>
                <a:latin typeface="BIZ UDPGothic"/>
                <a:ea typeface="BIZ UDPGothic"/>
              </a:rPr>
              <a:t>シミュレーション学習(Sim2Real)、VLAモデル、現場で使われるAI技術</a:t>
            </a:r>
          </a:p>
        </p:txBody>
      </p:sp>
      <p:sp>
        <p:nvSpPr>
          <p:cNvPr id="12" name="TextBox 11"/>
          <p:cNvSpPr txBox="1"/>
          <p:nvPr/>
        </p:nvSpPr>
        <p:spPr>
          <a:xfrm>
            <a:off x="10469880" y="344728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11</a:t>
            </a:r>
          </a:p>
        </p:txBody>
      </p:sp>
      <p:sp>
        <p:nvSpPr>
          <p:cNvPr id="13" name="Oval 12"/>
          <p:cNvSpPr/>
          <p:nvPr/>
        </p:nvSpPr>
        <p:spPr>
          <a:xfrm>
            <a:off x="548640" y="443484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04</a:t>
            </a:r>
          </a:p>
        </p:txBody>
      </p:sp>
      <p:sp>
        <p:nvSpPr>
          <p:cNvPr id="14" name="TextBox 13"/>
          <p:cNvSpPr txBox="1"/>
          <p:nvPr/>
        </p:nvSpPr>
        <p:spPr>
          <a:xfrm>
            <a:off x="1188720" y="438912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ビジネスへの示唆</a:t>
            </a:r>
          </a:p>
          <a:p>
            <a:pPr>
              <a:spcBef>
                <a:spcPts val="200"/>
              </a:spcBef>
            </a:pPr>
            <a:r>
              <a:rPr sz="1150" b="0">
                <a:solidFill>
                  <a:srgbClr val="A7ACAF"/>
                </a:solidFill>
                <a:latin typeface="BIZ UDPGothic"/>
                <a:ea typeface="BIZ UDPGothic"/>
              </a:rPr>
              <a:t>市場予測と普及への課題、私たちの事業との接点</a:t>
            </a:r>
          </a:p>
        </p:txBody>
      </p:sp>
      <p:sp>
        <p:nvSpPr>
          <p:cNvPr id="15" name="TextBox 14"/>
          <p:cNvSpPr txBox="1"/>
          <p:nvPr/>
        </p:nvSpPr>
        <p:spPr>
          <a:xfrm>
            <a:off x="10469880" y="445312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15</a:t>
            </a:r>
          </a:p>
        </p:txBody>
      </p:sp>
      <p:sp>
        <p:nvSpPr>
          <p:cNvPr id="16" name="Oval 15"/>
          <p:cNvSpPr/>
          <p:nvPr/>
        </p:nvSpPr>
        <p:spPr>
          <a:xfrm>
            <a:off x="548640" y="544068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05</a:t>
            </a:r>
          </a:p>
        </p:txBody>
      </p:sp>
      <p:sp>
        <p:nvSpPr>
          <p:cNvPr id="17" name="TextBox 16"/>
          <p:cNvSpPr txBox="1"/>
          <p:nvPr/>
        </p:nvSpPr>
        <p:spPr>
          <a:xfrm>
            <a:off x="1188720" y="539496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当社の取り組み・まとめ</a:t>
            </a:r>
          </a:p>
          <a:p>
            <a:pPr>
              <a:spcBef>
                <a:spcPts val="200"/>
              </a:spcBef>
            </a:pPr>
            <a:r>
              <a:rPr sz="1150" b="0">
                <a:solidFill>
                  <a:srgbClr val="A7ACAF"/>
                </a:solidFill>
                <a:latin typeface="BIZ UDPGothic"/>
                <a:ea typeface="BIZ UDPGothic"/>
              </a:rPr>
              <a:t>市場の狙い方、検証済みアセット、目指す提案像（ロボット×ローカル5G×AI基盤）</a:t>
            </a:r>
          </a:p>
        </p:txBody>
      </p:sp>
      <p:sp>
        <p:nvSpPr>
          <p:cNvPr id="18" name="TextBox 17"/>
          <p:cNvSpPr txBox="1"/>
          <p:nvPr/>
        </p:nvSpPr>
        <p:spPr>
          <a:xfrm>
            <a:off x="10469880" y="545896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18</a:t>
            </a:r>
          </a:p>
        </p:txBody>
      </p:sp>
    </p:spTree>
    <p:extLst>
      <p:ext uri="{BB962C8B-B14F-4D97-AF65-F5344CB8AC3E}">
        <p14:creationId xmlns:p14="http://schemas.microsoft.com/office/powerpoint/2010/main" val="17016237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1．フィジカルAIとは何か</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フィジカルAIとは — AI進化の「第4の波」</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デジタル世界で完結していたAIが、現実世界を知覚し、行動する段階へ</a:t>
            </a:r>
            <a:endParaRPr lang="ja-JP" altLang="en-US"/>
          </a:p>
        </p:txBody>
      </p:sp>
      <p:sp>
        <p:nvSpPr>
          <p:cNvPr id="9" name="Chevron 8"/>
          <p:cNvSpPr/>
          <p:nvPr/>
        </p:nvSpPr>
        <p:spPr>
          <a:xfrm>
            <a:off x="46634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237744" tIns="566928" bIns="73152"/>
          <a:lstStyle/>
          <a:p>
            <a:pPr algn="ctr"/>
            <a:r>
              <a:rPr sz="1400" b="1">
                <a:solidFill>
                  <a:srgbClr val="191919"/>
                </a:solidFill>
                <a:latin typeface="BIZ UDPGothic"/>
                <a:ea typeface="BIZ UDPGothic"/>
              </a:rPr>
              <a:t>認識AI</a:t>
            </a:r>
          </a:p>
          <a:p>
            <a:pPr algn="ctr">
              <a:spcBef>
                <a:spcPts val="400"/>
              </a:spcBef>
            </a:pPr>
            <a:r>
              <a:rPr sz="1050" b="0">
                <a:solidFill>
                  <a:srgbClr val="191919"/>
                </a:solidFill>
                <a:latin typeface="BIZ UDPGothic"/>
                <a:ea typeface="BIZ UDPGothic"/>
              </a:rPr>
              <a:t>画像・音声を認識する</a:t>
            </a:r>
          </a:p>
          <a:p>
            <a:pPr algn="ctr">
              <a:spcBef>
                <a:spcPts val="400"/>
              </a:spcBef>
            </a:pPr>
            <a:r>
              <a:rPr sz="950" b="1">
                <a:solidFill>
                  <a:srgbClr val="A7ACAF"/>
                </a:solidFill>
                <a:latin typeface="BIZ UDPGothic"/>
                <a:ea typeface="BIZ UDPGothic"/>
              </a:rPr>
              <a:t>2012年頃〜</a:t>
            </a:r>
          </a:p>
        </p:txBody>
      </p:sp>
      <p:pic>
        <p:nvPicPr>
          <p:cNvPr id="10" name="Picture 9" descr="eye_n.png"/>
          <p:cNvPicPr>
            <a:picLocks noChangeAspect="1"/>
          </p:cNvPicPr>
          <p:nvPr/>
        </p:nvPicPr>
        <p:blipFill>
          <a:blip r:embed="rId2"/>
          <a:stretch>
            <a:fillRect/>
          </a:stretch>
        </p:blipFill>
        <p:spPr>
          <a:xfrm>
            <a:off x="1687068" y="1920240"/>
            <a:ext cx="347472" cy="347472"/>
          </a:xfrm>
          <a:prstGeom prst="rect">
            <a:avLst/>
          </a:prstGeom>
        </p:spPr>
      </p:pic>
      <p:sp>
        <p:nvSpPr>
          <p:cNvPr id="11" name="Chevron 10"/>
          <p:cNvSpPr/>
          <p:nvPr/>
        </p:nvSpPr>
        <p:spPr>
          <a:xfrm>
            <a:off x="325526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237744" tIns="566928" bIns="73152"/>
          <a:lstStyle/>
          <a:p>
            <a:pPr algn="ctr"/>
            <a:r>
              <a:rPr sz="1400" b="1">
                <a:solidFill>
                  <a:srgbClr val="191919"/>
                </a:solidFill>
                <a:latin typeface="BIZ UDPGothic"/>
                <a:ea typeface="BIZ UDPGothic"/>
              </a:rPr>
              <a:t>生成AI</a:t>
            </a:r>
          </a:p>
          <a:p>
            <a:pPr algn="ctr">
              <a:spcBef>
                <a:spcPts val="400"/>
              </a:spcBef>
            </a:pPr>
            <a:r>
              <a:rPr sz="1050" b="0">
                <a:solidFill>
                  <a:srgbClr val="191919"/>
                </a:solidFill>
                <a:latin typeface="BIZ UDPGothic"/>
                <a:ea typeface="BIZ UDPGothic"/>
              </a:rPr>
              <a:t>文章・画像を生み出す</a:t>
            </a:r>
          </a:p>
          <a:p>
            <a:pPr algn="ctr">
              <a:spcBef>
                <a:spcPts val="400"/>
              </a:spcBef>
            </a:pPr>
            <a:r>
              <a:rPr sz="950" b="1">
                <a:solidFill>
                  <a:srgbClr val="A7ACAF"/>
                </a:solidFill>
                <a:latin typeface="BIZ UDPGothic"/>
                <a:ea typeface="BIZ UDPGothic"/>
              </a:rPr>
              <a:t>2022年頃〜</a:t>
            </a:r>
          </a:p>
        </p:txBody>
      </p:sp>
      <p:pic>
        <p:nvPicPr>
          <p:cNvPr id="12" name="Picture 11" descr="wand_n.png"/>
          <p:cNvPicPr>
            <a:picLocks noChangeAspect="1"/>
          </p:cNvPicPr>
          <p:nvPr/>
        </p:nvPicPr>
        <p:blipFill>
          <a:blip r:embed="rId3"/>
          <a:stretch>
            <a:fillRect/>
          </a:stretch>
        </p:blipFill>
        <p:spPr>
          <a:xfrm>
            <a:off x="4604004" y="1920240"/>
            <a:ext cx="347472" cy="347472"/>
          </a:xfrm>
          <a:prstGeom prst="rect">
            <a:avLst/>
          </a:prstGeom>
        </p:spPr>
      </p:pic>
      <p:sp>
        <p:nvSpPr>
          <p:cNvPr id="13" name="Chevron 12"/>
          <p:cNvSpPr/>
          <p:nvPr/>
        </p:nvSpPr>
        <p:spPr>
          <a:xfrm>
            <a:off x="604418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237744" tIns="566928" bIns="73152"/>
          <a:lstStyle/>
          <a:p>
            <a:pPr algn="ctr"/>
            <a:r>
              <a:rPr sz="1400" b="1">
                <a:solidFill>
                  <a:srgbClr val="191919"/>
                </a:solidFill>
                <a:latin typeface="BIZ UDPGothic"/>
                <a:ea typeface="BIZ UDPGothic"/>
              </a:rPr>
              <a:t>エージェントAI</a:t>
            </a:r>
          </a:p>
          <a:p>
            <a:pPr algn="ctr">
              <a:spcBef>
                <a:spcPts val="400"/>
              </a:spcBef>
            </a:pPr>
            <a:r>
              <a:rPr sz="1050" b="0">
                <a:solidFill>
                  <a:srgbClr val="191919"/>
                </a:solidFill>
                <a:latin typeface="BIZ UDPGothic"/>
                <a:ea typeface="BIZ UDPGothic"/>
              </a:rPr>
              <a:t>自律的に仕事を進める</a:t>
            </a:r>
          </a:p>
          <a:p>
            <a:pPr algn="ctr">
              <a:spcBef>
                <a:spcPts val="400"/>
              </a:spcBef>
            </a:pPr>
            <a:r>
              <a:rPr sz="950" b="1">
                <a:solidFill>
                  <a:srgbClr val="A7ACAF"/>
                </a:solidFill>
                <a:latin typeface="BIZ UDPGothic"/>
                <a:ea typeface="BIZ UDPGothic"/>
              </a:rPr>
              <a:t>2024年頃〜</a:t>
            </a:r>
          </a:p>
        </p:txBody>
      </p:sp>
      <p:pic>
        <p:nvPicPr>
          <p:cNvPr id="14" name="Picture 13" descr="usergear_n.png"/>
          <p:cNvPicPr>
            <a:picLocks noChangeAspect="1"/>
          </p:cNvPicPr>
          <p:nvPr/>
        </p:nvPicPr>
        <p:blipFill>
          <a:blip r:embed="rId4"/>
          <a:stretch>
            <a:fillRect/>
          </a:stretch>
        </p:blipFill>
        <p:spPr>
          <a:xfrm>
            <a:off x="7392924" y="1920240"/>
            <a:ext cx="347472" cy="347472"/>
          </a:xfrm>
          <a:prstGeom prst="rect">
            <a:avLst/>
          </a:prstGeom>
        </p:spPr>
      </p:pic>
      <p:sp>
        <p:nvSpPr>
          <p:cNvPr id="15" name="Chevron 14"/>
          <p:cNvSpPr/>
          <p:nvPr/>
        </p:nvSpPr>
        <p:spPr>
          <a:xfrm>
            <a:off x="8833104" y="1783080"/>
            <a:ext cx="2926080" cy="2011680"/>
          </a:xfrm>
          <a:prstGeom prst="chevron">
            <a:avLst>
              <a:gd name="adj" fmla="val 25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237744" tIns="566928" bIns="73152"/>
          <a:lstStyle/>
          <a:p>
            <a:pPr algn="ctr"/>
            <a:r>
              <a:rPr sz="1400" b="1">
                <a:solidFill>
                  <a:srgbClr val="FFFFFF"/>
                </a:solidFill>
                <a:latin typeface="BIZ UDPGothic"/>
                <a:ea typeface="BIZ UDPGothic"/>
              </a:rPr>
              <a:t>フィジカルAI</a:t>
            </a:r>
          </a:p>
          <a:p>
            <a:pPr algn="ctr">
              <a:spcBef>
                <a:spcPts val="400"/>
              </a:spcBef>
            </a:pPr>
            <a:r>
              <a:rPr sz="1050" b="0">
                <a:solidFill>
                  <a:srgbClr val="FFFFFF"/>
                </a:solidFill>
                <a:latin typeface="BIZ UDPGothic"/>
                <a:ea typeface="BIZ UDPGothic"/>
              </a:rPr>
              <a:t>現実世界で知覚し行動する</a:t>
            </a:r>
          </a:p>
          <a:p>
            <a:pPr algn="ctr">
              <a:spcBef>
                <a:spcPts val="400"/>
              </a:spcBef>
            </a:pPr>
            <a:r>
              <a:rPr sz="950" b="1">
                <a:solidFill>
                  <a:srgbClr val="6BB8F2"/>
                </a:solidFill>
                <a:latin typeface="BIZ UDPGothic"/>
                <a:ea typeface="BIZ UDPGothic"/>
              </a:rPr>
              <a:t>いま・これから</a:t>
            </a:r>
          </a:p>
        </p:txBody>
      </p:sp>
      <p:pic>
        <p:nvPicPr>
          <p:cNvPr id="16" name="Picture 15" descr="robot_w.png"/>
          <p:cNvPicPr>
            <a:picLocks noChangeAspect="1"/>
          </p:cNvPicPr>
          <p:nvPr/>
        </p:nvPicPr>
        <p:blipFill>
          <a:blip r:embed="rId5"/>
          <a:stretch>
            <a:fillRect/>
          </a:stretch>
        </p:blipFill>
        <p:spPr>
          <a:xfrm>
            <a:off x="10181844" y="1920240"/>
            <a:ext cx="347472" cy="347472"/>
          </a:xfrm>
          <a:prstGeom prst="rect">
            <a:avLst/>
          </a:prstGeom>
        </p:spPr>
      </p:pic>
      <p:sp>
        <p:nvSpPr>
          <p:cNvPr id="17" name="Rounded Rectangle 16"/>
          <p:cNvSpPr/>
          <p:nvPr/>
        </p:nvSpPr>
        <p:spPr>
          <a:xfrm>
            <a:off x="466344" y="4069080"/>
            <a:ext cx="11183112"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1463040" tIns="182880" bIns="73152"/>
          <a:lstStyle/>
          <a:p>
            <a:pPr algn="ctr">
              <a:spcAft>
                <a:spcPts val="600"/>
              </a:spcAft>
            </a:pPr>
            <a:r>
              <a:rPr sz="1500" b="1">
                <a:solidFill>
                  <a:srgbClr val="00219B"/>
                </a:solidFill>
                <a:latin typeface="BIZ UDPGothic"/>
                <a:ea typeface="BIZ UDPGothic"/>
              </a:rPr>
              <a:t>フィジカルAI（Physical AI）とは</a:t>
            </a:r>
          </a:p>
          <a:p>
            <a:pPr>
              <a:spcAft>
                <a:spcPts val="400"/>
              </a:spcAft>
            </a:pPr>
            <a:r>
              <a:rPr sz="1300" b="0">
                <a:solidFill>
                  <a:srgbClr val="191919"/>
                </a:solidFill>
                <a:latin typeface="BIZ UDPGothic"/>
                <a:ea typeface="BIZ UDPGothic"/>
              </a:rPr>
              <a:t>物理法則（重力・摩擦・空間など）を理解し、現実世界を</a:t>
            </a:r>
            <a:r>
              <a:rPr sz="1300" b="1">
                <a:solidFill>
                  <a:srgbClr val="00219B"/>
                </a:solidFill>
                <a:latin typeface="BIZ UDPGothic"/>
                <a:ea typeface="BIZ UDPGothic"/>
              </a:rPr>
              <a:t>知覚・判断・行動</a:t>
            </a:r>
            <a:r>
              <a:rPr sz="1300" b="0">
                <a:solidFill>
                  <a:srgbClr val="191919"/>
                </a:solidFill>
                <a:latin typeface="BIZ UDPGothic"/>
                <a:ea typeface="BIZ UDPGothic"/>
              </a:rPr>
              <a:t>する自律的なAIのこと。</a:t>
            </a:r>
          </a:p>
          <a:p>
            <a:pPr>
              <a:spcAft>
                <a:spcPts val="800"/>
              </a:spcAft>
            </a:pPr>
            <a:r>
              <a:rPr sz="1300" b="0">
                <a:solidFill>
                  <a:srgbClr val="191919"/>
                </a:solidFill>
                <a:latin typeface="BIZ UDPGothic"/>
                <a:ea typeface="BIZ UDPGothic"/>
              </a:rPr>
              <a:t>ヒューマノイドロボット・自動運転車・ドローン・AMR（自律走行搬送ロボット）などの「身体」を通じて、物理的な仕事を行う。</a:t>
            </a:r>
          </a:p>
          <a:p>
            <a:r>
              <a:rPr sz="1100" b="0">
                <a:solidFill>
                  <a:srgbClr val="A7ACAF"/>
                </a:solidFill>
                <a:latin typeface="BIZ UDPGothic"/>
                <a:ea typeface="BIZ UDPGothic"/>
              </a:rPr>
              <a:t>NVIDIAのジェンスン・フアンCEOがCES 2025基調講演で提唱して以降、業界共通のキーワードに。</a:t>
            </a:r>
          </a:p>
        </p:txBody>
      </p:sp>
      <p:pic>
        <p:nvPicPr>
          <p:cNvPr id="18" name="Picture 17" descr="robot_b.png"/>
          <p:cNvPicPr>
            <a:picLocks noChangeAspect="1"/>
          </p:cNvPicPr>
          <p:nvPr/>
        </p:nvPicPr>
        <p:blipFill>
          <a:blip r:embed="rId6"/>
          <a:stretch>
            <a:fillRect/>
          </a:stretch>
        </p:blipFill>
        <p:spPr>
          <a:xfrm>
            <a:off x="10469880" y="4572000"/>
            <a:ext cx="960120" cy="960120"/>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なぜ今、フィジカルAIが注目されるのか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技術・社会・産業 — 3つの追い風が重なった</a:t>
            </a:r>
            <a:endParaRPr lang="ja-JP" altLang="en-US"/>
          </a:p>
        </p:txBody>
      </p:sp>
      <p:sp>
        <p:nvSpPr>
          <p:cNvPr id="9" name="Rounded Rectangle 8"/>
          <p:cNvSpPr/>
          <p:nvPr/>
        </p:nvSpPr>
        <p:spPr>
          <a:xfrm>
            <a:off x="466344"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777240" bIns="73152"/>
          <a:lstStyle/>
          <a:p>
            <a:pPr algn="ctr">
              <a:spcAft>
                <a:spcPts val="1000"/>
              </a:spcAft>
            </a:pPr>
            <a:r>
              <a:rPr sz="1600" b="1">
                <a:solidFill>
                  <a:srgbClr val="00219B"/>
                </a:solidFill>
                <a:latin typeface="BIZ UDPGothic"/>
                <a:ea typeface="BIZ UDPGothic"/>
              </a:rPr>
              <a:t>技術が追いついた</a:t>
            </a:r>
          </a:p>
          <a:p>
            <a:pPr marL="182880" indent="-182880">
              <a:lnSpc>
                <a:spcPct val="115000"/>
              </a:lnSpc>
              <a:spcAft>
                <a:spcPts val="800"/>
              </a:spcAft>
              <a:buFont typeface="BIZ UDPGothic"/>
              <a:buChar char="・"/>
            </a:pPr>
            <a:r>
              <a:rPr sz="1250" b="0">
                <a:solidFill>
                  <a:srgbClr val="191919"/>
                </a:solidFill>
                <a:latin typeface="BIZ UDPGothic"/>
                <a:ea typeface="BIZ UDPGothic"/>
              </a:rPr>
              <a:t>LLM・基盤モデルの進化で、ロボットが言葉と「常識」を理解できるようになった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シミュレーション技術の成熟で、学習の時間とコストが劇的に低下</a:t>
            </a:r>
          </a:p>
        </p:txBody>
      </p:sp>
      <p:sp>
        <p:nvSpPr>
          <p:cNvPr id="10" name="Oval 9"/>
          <p:cNvSpPr/>
          <p:nvPr/>
        </p:nvSpPr>
        <p:spPr>
          <a:xfrm>
            <a:off x="2016252" y="2331720"/>
            <a:ext cx="512064" cy="51206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microchip_w.png"/>
          <p:cNvPicPr>
            <a:picLocks noChangeAspect="1"/>
          </p:cNvPicPr>
          <p:nvPr/>
        </p:nvPicPr>
        <p:blipFill>
          <a:blip r:embed="rId2"/>
          <a:stretch>
            <a:fillRect/>
          </a:stretch>
        </p:blipFill>
        <p:spPr>
          <a:xfrm>
            <a:off x="2149388" y="2464856"/>
            <a:ext cx="245790" cy="245790"/>
          </a:xfrm>
          <a:prstGeom prst="rect">
            <a:avLst/>
          </a:prstGeom>
        </p:spPr>
      </p:pic>
      <p:sp>
        <p:nvSpPr>
          <p:cNvPr id="12" name="Rounded Rectangle 11"/>
          <p:cNvSpPr/>
          <p:nvPr/>
        </p:nvSpPr>
        <p:spPr>
          <a:xfrm>
            <a:off x="4251960"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777240" bIns="73152"/>
          <a:lstStyle/>
          <a:p>
            <a:pPr algn="ctr">
              <a:spcAft>
                <a:spcPts val="1000"/>
              </a:spcAft>
            </a:pPr>
            <a:r>
              <a:rPr sz="1600" b="1">
                <a:solidFill>
                  <a:srgbClr val="00219B"/>
                </a:solidFill>
                <a:latin typeface="BIZ UDPGothic"/>
                <a:ea typeface="BIZ UDPGothic"/>
              </a:rPr>
              <a:t>現場の人手が足りない</a:t>
            </a:r>
          </a:p>
          <a:p>
            <a:pPr marL="182880" indent="-182880">
              <a:lnSpc>
                <a:spcPct val="115000"/>
              </a:lnSpc>
              <a:spcAft>
                <a:spcPts val="800"/>
              </a:spcAft>
              <a:buFont typeface="BIZ UDPGothic"/>
              <a:buChar char="・"/>
            </a:pPr>
            <a:r>
              <a:rPr sz="1250" b="0">
                <a:solidFill>
                  <a:srgbClr val="191919"/>
                </a:solidFill>
                <a:latin typeface="BIZ UDPGothic"/>
                <a:ea typeface="BIZ UDPGothic"/>
              </a:rPr>
              <a:t>日本では2030年に約644万人の人手不足という試算（パーソル総合研究所ほか）</a:t>
            </a:r>
          </a:p>
          <a:p>
            <a:pPr marL="182880" indent="-182880">
              <a:lnSpc>
                <a:spcPct val="115000"/>
              </a:lnSpc>
              <a:spcAft>
                <a:spcPts val="800"/>
              </a:spcAft>
              <a:buFont typeface="BIZ UDPGothic"/>
              <a:buChar char="・"/>
            </a:pPr>
            <a:r>
              <a:rPr sz="1250" b="0">
                <a:solidFill>
                  <a:srgbClr val="191919"/>
                </a:solidFill>
                <a:latin typeface="BIZ UDPGothic"/>
                <a:ea typeface="BIZ UDPGothic"/>
              </a:rPr>
              <a:t>製造・物流・建設・介護など、身体を使う仕事ほど自動化ニーズが深刻</a:t>
            </a:r>
          </a:p>
        </p:txBody>
      </p:sp>
      <p:sp>
        <p:nvSpPr>
          <p:cNvPr id="13" name="Oval 12"/>
          <p:cNvSpPr/>
          <p:nvPr/>
        </p:nvSpPr>
        <p:spPr>
          <a:xfrm>
            <a:off x="5801868" y="2331720"/>
            <a:ext cx="512064" cy="51206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4" name="Picture 13" descr="personexcl_w.png"/>
          <p:cNvPicPr>
            <a:picLocks noChangeAspect="1"/>
          </p:cNvPicPr>
          <p:nvPr/>
        </p:nvPicPr>
        <p:blipFill>
          <a:blip r:embed="rId3"/>
          <a:stretch>
            <a:fillRect/>
          </a:stretch>
        </p:blipFill>
        <p:spPr>
          <a:xfrm>
            <a:off x="5935004" y="2464856"/>
            <a:ext cx="245790" cy="245790"/>
          </a:xfrm>
          <a:prstGeom prst="rect">
            <a:avLst/>
          </a:prstGeom>
        </p:spPr>
      </p:pic>
      <p:sp>
        <p:nvSpPr>
          <p:cNvPr id="15" name="Rounded Rectangle 14"/>
          <p:cNvSpPr/>
          <p:nvPr/>
        </p:nvSpPr>
        <p:spPr>
          <a:xfrm>
            <a:off x="8037576"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777240" bIns="73152"/>
          <a:lstStyle/>
          <a:p>
            <a:pPr algn="ctr">
              <a:spcAft>
                <a:spcPts val="1000"/>
              </a:spcAft>
            </a:pPr>
            <a:r>
              <a:rPr sz="1600" b="1">
                <a:solidFill>
                  <a:srgbClr val="00219B"/>
                </a:solidFill>
                <a:latin typeface="BIZ UDPGothic"/>
                <a:ea typeface="BIZ UDPGothic"/>
              </a:rPr>
              <a:t>産業界が本気になった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NVIDIA CEO「ロボティクスのChatGPTモーメントは目前」（CES 2025）</a:t>
            </a:r>
          </a:p>
          <a:p>
            <a:pPr marL="182880" indent="-182880">
              <a:lnSpc>
                <a:spcPct val="115000"/>
              </a:lnSpc>
              <a:spcAft>
                <a:spcPts val="800"/>
              </a:spcAft>
              <a:buFont typeface="BIZ UDPGothic"/>
              <a:buChar char="・"/>
            </a:pPr>
            <a:r>
              <a:rPr sz="1250" b="0">
                <a:solidFill>
                  <a:srgbClr val="191919"/>
                </a:solidFill>
                <a:latin typeface="BIZ UDPGothic"/>
                <a:ea typeface="BIZ UDPGothic"/>
              </a:rPr>
              <a:t>ヒューマノイド各社へ巨額投資が集中し、開発競争が一気に加速</a:t>
            </a:r>
          </a:p>
        </p:txBody>
      </p:sp>
      <p:sp>
        <p:nvSpPr>
          <p:cNvPr id="16" name="Oval 15"/>
          <p:cNvSpPr/>
          <p:nvPr/>
        </p:nvSpPr>
        <p:spPr>
          <a:xfrm>
            <a:off x="9587484" y="2331720"/>
            <a:ext cx="512064" cy="51206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7" name="Picture 16" descr="rocket_w.png"/>
          <p:cNvPicPr>
            <a:picLocks noChangeAspect="1"/>
          </p:cNvPicPr>
          <p:nvPr/>
        </p:nvPicPr>
        <p:blipFill>
          <a:blip r:embed="rId4"/>
          <a:stretch>
            <a:fillRect/>
          </a:stretch>
        </p:blipFill>
        <p:spPr>
          <a:xfrm>
            <a:off x="9720620" y="2464856"/>
            <a:ext cx="245790" cy="245790"/>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フィジカルAIを支える3層の技術スタック</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「頭脳」「訓練場」「身体」の3層がそろって初めて機能する</a:t>
            </a:r>
            <a:endParaRPr lang="ja-JP" altLang="en-US"/>
          </a:p>
        </p:txBody>
      </p:sp>
      <p:sp>
        <p:nvSpPr>
          <p:cNvPr id="9" name="Rounded Rectangle 8"/>
          <p:cNvSpPr/>
          <p:nvPr/>
        </p:nvSpPr>
        <p:spPr>
          <a:xfrm>
            <a:off x="466344" y="1828800"/>
            <a:ext cx="1417320" cy="1207008"/>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621792" bIns="73152"/>
          <a:lstStyle/>
          <a:p>
            <a:pPr algn="ctr"/>
            <a:r>
              <a:rPr sz="1500" b="1">
                <a:solidFill>
                  <a:srgbClr val="FFFFFF"/>
                </a:solidFill>
                <a:latin typeface="BIZ UDPGothic"/>
                <a:ea typeface="BIZ UDPGothic"/>
              </a:rPr>
              <a:t>頭脳</a:t>
            </a:r>
          </a:p>
        </p:txBody>
      </p:sp>
      <p:pic>
        <p:nvPicPr>
          <p:cNvPr id="10" name="Picture 9" descr="brain_w.png"/>
          <p:cNvPicPr>
            <a:picLocks noChangeAspect="1"/>
          </p:cNvPicPr>
          <p:nvPr/>
        </p:nvPicPr>
        <p:blipFill>
          <a:blip r:embed="rId2"/>
          <a:stretch>
            <a:fillRect/>
          </a:stretch>
        </p:blipFill>
        <p:spPr>
          <a:xfrm>
            <a:off x="1001268" y="2011680"/>
            <a:ext cx="347472" cy="347472"/>
          </a:xfrm>
          <a:prstGeom prst="rect">
            <a:avLst/>
          </a:prstGeom>
        </p:spPr>
      </p:pic>
      <p:sp>
        <p:nvSpPr>
          <p:cNvPr id="11" name="Rounded Rectangle 10"/>
          <p:cNvSpPr/>
          <p:nvPr/>
        </p:nvSpPr>
        <p:spPr>
          <a:xfrm>
            <a:off x="2029968" y="1828800"/>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基盤モデル</a:t>
            </a:r>
          </a:p>
          <a:p>
            <a:pPr>
              <a:lnSpc>
                <a:spcPct val="110000"/>
              </a:lnSpc>
            </a:pPr>
            <a:r>
              <a:rPr sz="1200" b="0">
                <a:solidFill>
                  <a:srgbClr val="191919"/>
                </a:solidFill>
                <a:latin typeface="BIZ UDPGothic"/>
                <a:ea typeface="BIZ UDPGothic"/>
              </a:rPr>
              <a:t>カメラ映像と言葉を理解し、次の動作を決める（VLAモデル・世界モデル）</a:t>
            </a:r>
          </a:p>
        </p:txBody>
      </p:sp>
      <p:sp>
        <p:nvSpPr>
          <p:cNvPr id="12" name="Rounded Rectangle 11"/>
          <p:cNvSpPr/>
          <p:nvPr/>
        </p:nvSpPr>
        <p:spPr>
          <a:xfrm>
            <a:off x="8851392" y="1828800"/>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Isaac GR00T ／ Gemini Robotics ／ Cosmos</a:t>
            </a:r>
          </a:p>
        </p:txBody>
      </p:sp>
      <p:sp>
        <p:nvSpPr>
          <p:cNvPr id="13" name="Rounded Rectangle 12"/>
          <p:cNvSpPr/>
          <p:nvPr/>
        </p:nvSpPr>
        <p:spPr>
          <a:xfrm>
            <a:off x="466344" y="3218688"/>
            <a:ext cx="1417320" cy="1207008"/>
          </a:xfrm>
          <a:prstGeom prst="roundRect">
            <a:avLst>
              <a:gd name="adj" fmla="val 8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621792" bIns="73152"/>
          <a:lstStyle/>
          <a:p>
            <a:pPr algn="ctr"/>
            <a:r>
              <a:rPr sz="1500" b="1">
                <a:solidFill>
                  <a:srgbClr val="FFFFFF"/>
                </a:solidFill>
                <a:latin typeface="BIZ UDPGothic"/>
                <a:ea typeface="BIZ UDPGothic"/>
              </a:rPr>
              <a:t>訓練場</a:t>
            </a:r>
          </a:p>
        </p:txBody>
      </p:sp>
      <p:pic>
        <p:nvPicPr>
          <p:cNvPr id="14" name="Picture 13" descr="cubes_w.png"/>
          <p:cNvPicPr>
            <a:picLocks noChangeAspect="1"/>
          </p:cNvPicPr>
          <p:nvPr/>
        </p:nvPicPr>
        <p:blipFill>
          <a:blip r:embed="rId3"/>
          <a:stretch>
            <a:fillRect/>
          </a:stretch>
        </p:blipFill>
        <p:spPr>
          <a:xfrm>
            <a:off x="1001268" y="3401568"/>
            <a:ext cx="347472" cy="347472"/>
          </a:xfrm>
          <a:prstGeom prst="rect">
            <a:avLst/>
          </a:prstGeom>
        </p:spPr>
      </p:pic>
      <p:sp>
        <p:nvSpPr>
          <p:cNvPr id="15" name="Rounded Rectangle 14"/>
          <p:cNvSpPr/>
          <p:nvPr/>
        </p:nvSpPr>
        <p:spPr>
          <a:xfrm>
            <a:off x="2029968" y="3218688"/>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シミュレーション</a:t>
            </a:r>
          </a:p>
          <a:p>
            <a:pPr>
              <a:lnSpc>
                <a:spcPct val="110000"/>
              </a:lnSpc>
            </a:pPr>
            <a:r>
              <a:rPr sz="1200" b="0">
                <a:solidFill>
                  <a:srgbClr val="191919"/>
                </a:solidFill>
                <a:latin typeface="BIZ UDPGothic"/>
                <a:ea typeface="BIZ UDPGothic"/>
              </a:rPr>
              <a:t>物理法則を再現した仮想空間（デジタルツイン）で、安全に大量訓練する</a:t>
            </a:r>
          </a:p>
        </p:txBody>
      </p:sp>
      <p:sp>
        <p:nvSpPr>
          <p:cNvPr id="16" name="Rounded Rectangle 15"/>
          <p:cNvSpPr/>
          <p:nvPr/>
        </p:nvSpPr>
        <p:spPr>
          <a:xfrm>
            <a:off x="8851392" y="3218688"/>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NVIDIA Omniverse ／ Isaac Sim</a:t>
            </a:r>
          </a:p>
        </p:txBody>
      </p:sp>
      <p:sp>
        <p:nvSpPr>
          <p:cNvPr id="17" name="Rounded Rectangle 16"/>
          <p:cNvSpPr/>
          <p:nvPr/>
        </p:nvSpPr>
        <p:spPr>
          <a:xfrm>
            <a:off x="466344" y="4608576"/>
            <a:ext cx="1417320" cy="1207008"/>
          </a:xfrm>
          <a:prstGeom prst="roundRect">
            <a:avLst>
              <a:gd name="adj" fmla="val 8000"/>
            </a:avLst>
          </a:prstGeom>
          <a:solidFill>
            <a:srgbClr val="6BB8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621792" bIns="73152"/>
          <a:lstStyle/>
          <a:p>
            <a:pPr algn="ctr"/>
            <a:r>
              <a:rPr sz="1500" b="1">
                <a:solidFill>
                  <a:srgbClr val="FFFFFF"/>
                </a:solidFill>
                <a:latin typeface="BIZ UDPGothic"/>
                <a:ea typeface="BIZ UDPGothic"/>
              </a:rPr>
              <a:t>身体</a:t>
            </a:r>
          </a:p>
        </p:txBody>
      </p:sp>
      <p:pic>
        <p:nvPicPr>
          <p:cNvPr id="18" name="Picture 17" descr="robot_w.png"/>
          <p:cNvPicPr>
            <a:picLocks noChangeAspect="1"/>
          </p:cNvPicPr>
          <p:nvPr/>
        </p:nvPicPr>
        <p:blipFill>
          <a:blip r:embed="rId4"/>
          <a:stretch>
            <a:fillRect/>
          </a:stretch>
        </p:blipFill>
        <p:spPr>
          <a:xfrm>
            <a:off x="1001268" y="4791456"/>
            <a:ext cx="347472" cy="347472"/>
          </a:xfrm>
          <a:prstGeom prst="rect">
            <a:avLst/>
          </a:prstGeom>
        </p:spPr>
      </p:pic>
      <p:sp>
        <p:nvSpPr>
          <p:cNvPr id="19" name="Rounded Rectangle 18"/>
          <p:cNvSpPr/>
          <p:nvPr/>
        </p:nvSpPr>
        <p:spPr>
          <a:xfrm>
            <a:off x="2029968" y="4608576"/>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ロボット＋エッジAI</a:t>
            </a:r>
          </a:p>
          <a:p>
            <a:pPr>
              <a:lnSpc>
                <a:spcPct val="110000"/>
              </a:lnSpc>
            </a:pPr>
            <a:r>
              <a:rPr sz="1200" b="0">
                <a:solidFill>
                  <a:srgbClr val="191919"/>
                </a:solidFill>
                <a:latin typeface="BIZ UDPGothic"/>
                <a:ea typeface="BIZ UDPGothic"/>
              </a:rPr>
              <a:t>センサーで知覚し、アクチュエータ（関節・モーター）で現実世界に働きかける</a:t>
            </a:r>
          </a:p>
        </p:txBody>
      </p:sp>
      <p:sp>
        <p:nvSpPr>
          <p:cNvPr id="20" name="Rounded Rectangle 19"/>
          <p:cNvSpPr/>
          <p:nvPr/>
        </p:nvSpPr>
        <p:spPr>
          <a:xfrm>
            <a:off x="8851392" y="4608576"/>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ヒューマノイド ／ AMR ／ Jetson Thor</a:t>
            </a:r>
          </a:p>
        </p:txBody>
      </p:sp>
      <p:sp>
        <p:nvSpPr>
          <p:cNvPr id="21" name="TextBox 20"/>
          <p:cNvSpPr txBox="1"/>
          <p:nvPr/>
        </p:nvSpPr>
        <p:spPr>
          <a:xfrm>
            <a:off x="466344" y="6053328"/>
            <a:ext cx="11183112" cy="365760"/>
          </a:xfrm>
          <a:prstGeom prst="rect">
            <a:avLst/>
          </a:prstGeom>
          <a:noFill/>
        </p:spPr>
        <p:txBody>
          <a:bodyPr wrap="square" lIns="0" rIns="0" tIns="0" bIns="0" anchor="t">
            <a:spAutoFit/>
          </a:bodyPr>
          <a:lstStyle/>
          <a:p>
            <a:r>
              <a:rPr sz="1100" b="0">
                <a:solidFill>
                  <a:srgbClr val="A7ACAF"/>
                </a:solidFill>
                <a:latin typeface="BIZ UDPGothic"/>
                <a:ea typeface="BIZ UDPGothic"/>
              </a:rPr>
              <a:t>※ 3層をつなぐ開発プラットフォームを制した企業が市場の主導権を握る構図（後述のNVIDIA戦略）</a:t>
            </a:r>
          </a:p>
        </p:txBody>
      </p:sp>
    </p:spTree>
    <p:extLst>
      <p:ext uri="{BB962C8B-B14F-4D97-AF65-F5344CB8AC3E}">
        <p14:creationId xmlns:p14="http://schemas.microsoft.com/office/powerpoint/2010/main" val="3061702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2．主要プレイヤーと最新動向</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NVIDIA — フィジカルAIの「共通基盤」を狙う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「3つのコンピュータ」でロボット開発の全工程を押さえる戦略</a:t>
            </a:r>
            <a:endParaRPr lang="ja-JP" altLang="en-US"/>
          </a:p>
        </p:txBody>
      </p:sp>
      <p:sp>
        <p:nvSpPr>
          <p:cNvPr id="9" name="Rounded Rectangle 8"/>
          <p:cNvSpPr/>
          <p:nvPr/>
        </p:nvSpPr>
        <p:spPr>
          <a:xfrm>
            <a:off x="46634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学習</a:t>
            </a:r>
          </a:p>
          <a:p>
            <a:pPr algn="ctr">
              <a:spcAft>
                <a:spcPts val="800"/>
              </a:spcAft>
            </a:pPr>
            <a:r>
              <a:rPr sz="1300" b="1">
                <a:solidFill>
                  <a:srgbClr val="2A65F5"/>
                </a:solidFill>
                <a:latin typeface="BIZ UDPGothic"/>
                <a:ea typeface="BIZ UDPGothic"/>
              </a:rPr>
              <a:t>DGX ／ クラウド</a:t>
            </a:r>
          </a:p>
          <a:p>
            <a:pPr>
              <a:lnSpc>
                <a:spcPct val="120000"/>
              </a:lnSpc>
            </a:pPr>
            <a:r>
              <a:rPr sz="1200" b="0">
                <a:solidFill>
                  <a:srgbClr val="191919"/>
                </a:solidFill>
                <a:latin typeface="BIZ UDPGothic"/>
                <a:ea typeface="BIZ UDPGothic"/>
              </a:rPr>
              <a:t>データセンターで大規模な基盤モデルを訓練する</a:t>
            </a:r>
          </a:p>
        </p:txBody>
      </p:sp>
      <p:sp>
        <p:nvSpPr>
          <p:cNvPr id="10" name="Oval 9"/>
          <p:cNvSpPr/>
          <p:nvPr/>
        </p:nvSpPr>
        <p:spPr>
          <a:xfrm>
            <a:off x="630936" y="1947672"/>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server_w.png"/>
          <p:cNvPicPr>
            <a:picLocks noChangeAspect="1"/>
          </p:cNvPicPr>
          <p:nvPr/>
        </p:nvPicPr>
        <p:blipFill>
          <a:blip r:embed="rId2"/>
          <a:stretch>
            <a:fillRect/>
          </a:stretch>
        </p:blipFill>
        <p:spPr>
          <a:xfrm>
            <a:off x="735543" y="2052279"/>
            <a:ext cx="193121" cy="193121"/>
          </a:xfrm>
          <a:prstGeom prst="rect">
            <a:avLst/>
          </a:prstGeom>
        </p:spPr>
      </p:pic>
      <p:sp>
        <p:nvSpPr>
          <p:cNvPr id="12" name="Chevron 11"/>
          <p:cNvSpPr/>
          <p:nvPr/>
        </p:nvSpPr>
        <p:spPr>
          <a:xfrm>
            <a:off x="3995928"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3" name="Rounded Rectangle 12"/>
          <p:cNvSpPr/>
          <p:nvPr/>
        </p:nvSpPr>
        <p:spPr>
          <a:xfrm>
            <a:off x="430682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シミュレーション</a:t>
            </a:r>
          </a:p>
          <a:p>
            <a:pPr algn="ctr">
              <a:spcAft>
                <a:spcPts val="800"/>
              </a:spcAft>
            </a:pPr>
            <a:r>
              <a:rPr sz="1300" b="1">
                <a:solidFill>
                  <a:srgbClr val="2A65F5"/>
                </a:solidFill>
                <a:latin typeface="BIZ UDPGothic"/>
                <a:ea typeface="BIZ UDPGothic"/>
              </a:rPr>
              <a:t>Omniverse ＋ Cosmos</a:t>
            </a:r>
          </a:p>
          <a:p>
            <a:pPr>
              <a:lnSpc>
                <a:spcPct val="120000"/>
              </a:lnSpc>
            </a:pPr>
            <a:r>
              <a:rPr sz="1200" b="0">
                <a:solidFill>
                  <a:srgbClr val="191919"/>
                </a:solidFill>
                <a:latin typeface="BIZ UDPGothic"/>
                <a:ea typeface="BIZ UDPGothic"/>
              </a:rPr>
              <a:t>仮想空間で訓練・検証。世界基盤モデル「Cosmos」が現実さながらの学習データを生成</a:t>
            </a:r>
          </a:p>
        </p:txBody>
      </p:sp>
      <p:sp>
        <p:nvSpPr>
          <p:cNvPr id="14" name="Oval 13"/>
          <p:cNvSpPr/>
          <p:nvPr/>
        </p:nvSpPr>
        <p:spPr>
          <a:xfrm>
            <a:off x="4471416" y="1947672"/>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5" name="Picture 14" descr="cubes_w.png"/>
          <p:cNvPicPr>
            <a:picLocks noChangeAspect="1"/>
          </p:cNvPicPr>
          <p:nvPr/>
        </p:nvPicPr>
        <p:blipFill>
          <a:blip r:embed="rId3"/>
          <a:stretch>
            <a:fillRect/>
          </a:stretch>
        </p:blipFill>
        <p:spPr>
          <a:xfrm>
            <a:off x="4576023" y="2052279"/>
            <a:ext cx="193121" cy="193121"/>
          </a:xfrm>
          <a:prstGeom prst="rect">
            <a:avLst/>
          </a:prstGeom>
        </p:spPr>
      </p:pic>
      <p:sp>
        <p:nvSpPr>
          <p:cNvPr id="16" name="Chevron 15"/>
          <p:cNvSpPr/>
          <p:nvPr/>
        </p:nvSpPr>
        <p:spPr>
          <a:xfrm>
            <a:off x="7836407"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7" name="Rounded Rectangle 16"/>
          <p:cNvSpPr/>
          <p:nvPr/>
        </p:nvSpPr>
        <p:spPr>
          <a:xfrm>
            <a:off x="814730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実行</a:t>
            </a:r>
          </a:p>
          <a:p>
            <a:pPr algn="ctr">
              <a:spcAft>
                <a:spcPts val="800"/>
              </a:spcAft>
            </a:pPr>
            <a:r>
              <a:rPr sz="1300" b="1">
                <a:solidFill>
                  <a:srgbClr val="2A65F5"/>
                </a:solidFill>
                <a:latin typeface="BIZ UDPGothic"/>
                <a:ea typeface="BIZ UDPGothic"/>
              </a:rPr>
              <a:t>Jetson Thor</a:t>
            </a:r>
          </a:p>
          <a:p>
            <a:pPr>
              <a:lnSpc>
                <a:spcPct val="120000"/>
              </a:lnSpc>
            </a:pPr>
            <a:r>
              <a:rPr sz="1200" b="0">
                <a:solidFill>
                  <a:srgbClr val="191919"/>
                </a:solidFill>
                <a:latin typeface="BIZ UDPGothic"/>
                <a:ea typeface="BIZ UDPGothic"/>
              </a:rPr>
              <a:t>ロボット本体に搭載するエッジAIコンピュータ。学習済みモデルを現場で動かす</a:t>
            </a:r>
          </a:p>
        </p:txBody>
      </p:sp>
      <p:sp>
        <p:nvSpPr>
          <p:cNvPr id="18" name="Oval 17"/>
          <p:cNvSpPr/>
          <p:nvPr/>
        </p:nvSpPr>
        <p:spPr>
          <a:xfrm>
            <a:off x="8311896" y="1947672"/>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9" name="Picture 18" descr="microchip_w.png"/>
          <p:cNvPicPr>
            <a:picLocks noChangeAspect="1"/>
          </p:cNvPicPr>
          <p:nvPr/>
        </p:nvPicPr>
        <p:blipFill>
          <a:blip r:embed="rId4"/>
          <a:stretch>
            <a:fillRect/>
          </a:stretch>
        </p:blipFill>
        <p:spPr>
          <a:xfrm>
            <a:off x="8416503" y="2052279"/>
            <a:ext cx="193121" cy="193121"/>
          </a:xfrm>
          <a:prstGeom prst="rect">
            <a:avLst/>
          </a:prstGeom>
        </p:spPr>
      </p:pic>
      <p:sp>
        <p:nvSpPr>
          <p:cNvPr id="20" name="Rounded Rectangle 19"/>
          <p:cNvSpPr/>
          <p:nvPr/>
        </p:nvSpPr>
        <p:spPr>
          <a:xfrm>
            <a:off x="466344" y="4572000"/>
            <a:ext cx="11183112" cy="14630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109728" tIns="146304" bIns="73152"/>
          <a:lstStyle/>
          <a:p>
            <a:pPr algn="ctr">
              <a:spcAft>
                <a:spcPts val="500"/>
              </a:spcAft>
            </a:pPr>
            <a:r>
              <a:rPr sz="1400" b="1">
                <a:solidFill>
                  <a:srgbClr val="FFFFFF"/>
                </a:solidFill>
                <a:latin typeface="BIZ UDPGothic"/>
                <a:ea typeface="BIZ UDPGothic"/>
              </a:rPr>
              <a:t>Isaac GR00T — ヒューマノイド向けのオープンな基盤モデル</a:t>
            </a:r>
          </a:p>
          <a:p>
            <a:pPr>
              <a:lnSpc>
                <a:spcPct val="125000"/>
              </a:lnSpc>
            </a:pPr>
            <a:r>
              <a:rPr sz="1200" b="0">
                <a:solidFill>
                  <a:srgbClr val="EDF4F9"/>
                </a:solidFill>
                <a:latin typeface="BIZ UDPGothic"/>
                <a:ea typeface="BIZ UDPGothic"/>
              </a:rPr>
              <a:t>モデルを無償公開して各社ロボットに採用を促し、開発ツールからチップまで自社基盤で固める。PC時代の「Wintel」のように、フィジカルAIの“OS層”を握りにいく戦略。</a:t>
            </a:r>
          </a:p>
        </p:txBody>
      </p:sp>
    </p:spTree>
    <p:extLst>
      <p:ext uri="{BB962C8B-B14F-4D97-AF65-F5344CB8AC3E}">
        <p14:creationId xmlns:p14="http://schemas.microsoft.com/office/powerpoint/2010/main" val="30617027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加速するヒューマノイド開発競争</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米中のプレイヤーが先行、価格破壊も始まっている</a:t>
            </a:r>
            <a:endParaRPr lang="ja-JP" altLang="en-US"/>
          </a:p>
        </p:txBody>
      </p:sp>
      <p:sp>
        <p:nvSpPr>
          <p:cNvPr id="9" name="Rounded Rectangle 8"/>
          <p:cNvSpPr/>
          <p:nvPr/>
        </p:nvSpPr>
        <p:spPr>
          <a:xfrm>
            <a:off x="466344"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Tesla Optimus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自社工場での活用から量産・外販までを構想。AI・製造力を武器に本命視</a:t>
            </a:r>
          </a:p>
        </p:txBody>
      </p:sp>
      <p:sp>
        <p:nvSpPr>
          <p:cNvPr id="10" name="Oval 9"/>
          <p:cNvSpPr/>
          <p:nvPr/>
        </p:nvSpPr>
        <p:spPr>
          <a:xfrm>
            <a:off x="612648" y="2002536"/>
            <a:ext cx="365760" cy="365760"/>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robot_w.png"/>
          <p:cNvPicPr>
            <a:picLocks noChangeAspect="1"/>
          </p:cNvPicPr>
          <p:nvPr/>
        </p:nvPicPr>
        <p:blipFill>
          <a:blip r:embed="rId2"/>
          <a:stretch>
            <a:fillRect/>
          </a:stretch>
        </p:blipFill>
        <p:spPr>
          <a:xfrm>
            <a:off x="707745" y="2097633"/>
            <a:ext cx="175564" cy="175564"/>
          </a:xfrm>
          <a:prstGeom prst="rect">
            <a:avLst/>
          </a:prstGeom>
        </p:spPr>
      </p:pic>
      <p:sp>
        <p:nvSpPr>
          <p:cNvPr id="12" name="Rounded Rectangle 11"/>
          <p:cNvSpPr/>
          <p:nvPr/>
        </p:nvSpPr>
        <p:spPr>
          <a:xfrm>
            <a:off x="4251960"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Figure</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独自のVLAモデル「Helix」を開発。BMW工場での実証で先行</a:t>
            </a:r>
          </a:p>
        </p:txBody>
      </p:sp>
      <p:sp>
        <p:nvSpPr>
          <p:cNvPr id="13" name="Oval 12"/>
          <p:cNvSpPr/>
          <p:nvPr/>
        </p:nvSpPr>
        <p:spPr>
          <a:xfrm>
            <a:off x="4398264" y="2002536"/>
            <a:ext cx="365760" cy="365760"/>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4" name="Picture 13" descr="robot_w.png"/>
          <p:cNvPicPr>
            <a:picLocks noChangeAspect="1"/>
          </p:cNvPicPr>
          <p:nvPr/>
        </p:nvPicPr>
        <p:blipFill>
          <a:blip r:embed="rId2"/>
          <a:stretch>
            <a:fillRect/>
          </a:stretch>
        </p:blipFill>
        <p:spPr>
          <a:xfrm>
            <a:off x="4493361" y="2097633"/>
            <a:ext cx="175564" cy="175564"/>
          </a:xfrm>
          <a:prstGeom prst="rect">
            <a:avLst/>
          </a:prstGeom>
        </p:spPr>
      </p:pic>
      <p:sp>
        <p:nvSpPr>
          <p:cNvPr id="15" name="Rounded Rectangle 14"/>
          <p:cNvSpPr/>
          <p:nvPr/>
        </p:nvSpPr>
        <p:spPr>
          <a:xfrm>
            <a:off x="8037576"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Boston Dynamics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電動化した新型「Atlas」。トヨタ系研究所と基盤モデルで提携</a:t>
            </a:r>
          </a:p>
        </p:txBody>
      </p:sp>
      <p:sp>
        <p:nvSpPr>
          <p:cNvPr id="16" name="Oval 15"/>
          <p:cNvSpPr/>
          <p:nvPr/>
        </p:nvSpPr>
        <p:spPr>
          <a:xfrm>
            <a:off x="8183880" y="2002536"/>
            <a:ext cx="365760" cy="365760"/>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7" name="Picture 16" descr="robot_w.png"/>
          <p:cNvPicPr>
            <a:picLocks noChangeAspect="1"/>
          </p:cNvPicPr>
          <p:nvPr/>
        </p:nvPicPr>
        <p:blipFill>
          <a:blip r:embed="rId2"/>
          <a:stretch>
            <a:fillRect/>
          </a:stretch>
        </p:blipFill>
        <p:spPr>
          <a:xfrm>
            <a:off x="8278977" y="2097633"/>
            <a:ext cx="175564" cy="175564"/>
          </a:xfrm>
          <a:prstGeom prst="rect">
            <a:avLst/>
          </a:prstGeom>
        </p:spPr>
      </p:pic>
      <p:sp>
        <p:nvSpPr>
          <p:cNvPr id="18" name="Rounded Rectangle 17"/>
          <p:cNvSpPr/>
          <p:nvPr/>
        </p:nvSpPr>
        <p:spPr>
          <a:xfrm>
            <a:off x="466344"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Unitree（宇樹科技）</a:t>
            </a:r>
            <a:r>
              <a:rPr sz="1050" b="1">
                <a:solidFill>
                  <a:srgbClr val="E86487"/>
                </a:solidFill>
                <a:latin typeface="BIZ UDPGothic"/>
                <a:ea typeface="BIZ UDPGothic"/>
              </a:rPr>
              <a:t>　中国</a:t>
            </a:r>
          </a:p>
          <a:p>
            <a:pPr>
              <a:lnSpc>
                <a:spcPct val="118000"/>
              </a:lnSpc>
            </a:pPr>
            <a:r>
              <a:rPr sz="1150" b="0">
                <a:solidFill>
                  <a:srgbClr val="191919"/>
                </a:solidFill>
                <a:latin typeface="BIZ UDPGothic"/>
                <a:ea typeface="BIZ UDPGothic"/>
              </a:rPr>
              <a:t>「G1」を約1.6万ドルで発売。圧倒的な低価格と量産力で普及を狙う</a:t>
            </a:r>
          </a:p>
        </p:txBody>
      </p:sp>
      <p:sp>
        <p:nvSpPr>
          <p:cNvPr id="19" name="Oval 18"/>
          <p:cNvSpPr/>
          <p:nvPr/>
        </p:nvSpPr>
        <p:spPr>
          <a:xfrm>
            <a:off x="612648" y="4133087"/>
            <a:ext cx="365760" cy="365760"/>
          </a:xfrm>
          <a:prstGeom prst="ellipse">
            <a:avLst/>
          </a:prstGeom>
          <a:solidFill>
            <a:srgbClr val="E8648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0" name="Picture 19" descr="robot_w.png"/>
          <p:cNvPicPr>
            <a:picLocks noChangeAspect="1"/>
          </p:cNvPicPr>
          <p:nvPr/>
        </p:nvPicPr>
        <p:blipFill>
          <a:blip r:embed="rId2"/>
          <a:stretch>
            <a:fillRect/>
          </a:stretch>
        </p:blipFill>
        <p:spPr>
          <a:xfrm>
            <a:off x="707745" y="4228185"/>
            <a:ext cx="175564" cy="175564"/>
          </a:xfrm>
          <a:prstGeom prst="rect">
            <a:avLst/>
          </a:prstGeom>
        </p:spPr>
      </p:pic>
      <p:sp>
        <p:nvSpPr>
          <p:cNvPr id="21" name="Rounded Rectangle 20"/>
          <p:cNvSpPr/>
          <p:nvPr/>
        </p:nvSpPr>
        <p:spPr>
          <a:xfrm>
            <a:off x="4251960"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Google DeepMind</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VLAモデル「Gemini Robotics」を開発し、ロボット各社へ頭脳を提供</a:t>
            </a:r>
          </a:p>
        </p:txBody>
      </p:sp>
      <p:sp>
        <p:nvSpPr>
          <p:cNvPr id="22" name="Oval 21"/>
          <p:cNvSpPr/>
          <p:nvPr/>
        </p:nvSpPr>
        <p:spPr>
          <a:xfrm>
            <a:off x="4398264" y="4133087"/>
            <a:ext cx="365760" cy="365760"/>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3" name="Picture 22" descr="robot_w.png"/>
          <p:cNvPicPr>
            <a:picLocks noChangeAspect="1"/>
          </p:cNvPicPr>
          <p:nvPr/>
        </p:nvPicPr>
        <p:blipFill>
          <a:blip r:embed="rId2"/>
          <a:stretch>
            <a:fillRect/>
          </a:stretch>
        </p:blipFill>
        <p:spPr>
          <a:xfrm>
            <a:off x="4493361" y="4228185"/>
            <a:ext cx="175564" cy="175564"/>
          </a:xfrm>
          <a:prstGeom prst="rect">
            <a:avLst/>
          </a:prstGeom>
        </p:spPr>
      </p:pic>
      <p:sp>
        <p:nvSpPr>
          <p:cNvPr id="24" name="Rounded Rectangle 23"/>
          <p:cNvSpPr/>
          <p:nvPr/>
        </p:nvSpPr>
        <p:spPr>
          <a:xfrm>
            <a:off x="8037576"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国内の動き</a:t>
            </a:r>
            <a:r>
              <a:rPr sz="1050" b="1">
                <a:solidFill>
                  <a:srgbClr val="55D2D8"/>
                </a:solidFill>
                <a:latin typeface="BIZ UDPGothic"/>
                <a:ea typeface="BIZ UDPGothic"/>
              </a:rPr>
              <a:t>　日本</a:t>
            </a:r>
          </a:p>
          <a:p>
            <a:pPr>
              <a:lnSpc>
                <a:spcPct val="118000"/>
              </a:lnSpc>
            </a:pPr>
            <a:r>
              <a:rPr sz="1150" b="0">
                <a:solidFill>
                  <a:srgbClr val="191919"/>
                </a:solidFill>
                <a:latin typeface="BIZ UDPGothic"/>
                <a:ea typeface="BIZ UDPGothic"/>
              </a:rPr>
              <a:t>川崎重工「Kaleido」、トヨタ、ソニーGなどが研究開発を推進</a:t>
            </a:r>
          </a:p>
        </p:txBody>
      </p:sp>
      <p:sp>
        <p:nvSpPr>
          <p:cNvPr id="25" name="Oval 24"/>
          <p:cNvSpPr/>
          <p:nvPr/>
        </p:nvSpPr>
        <p:spPr>
          <a:xfrm>
            <a:off x="8183880" y="4133087"/>
            <a:ext cx="365760" cy="365760"/>
          </a:xfrm>
          <a:prstGeom prst="ellipse">
            <a:avLst/>
          </a:prstGeom>
          <a:solidFill>
            <a:srgbClr val="55D2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6" name="Picture 25" descr="robot_w.png"/>
          <p:cNvPicPr>
            <a:picLocks noChangeAspect="1"/>
          </p:cNvPicPr>
          <p:nvPr/>
        </p:nvPicPr>
        <p:blipFill>
          <a:blip r:embed="rId2"/>
          <a:stretch>
            <a:fillRect/>
          </a:stretch>
        </p:blipFill>
        <p:spPr>
          <a:xfrm>
            <a:off x="8278977" y="4228185"/>
            <a:ext cx="175564" cy="175564"/>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産業別ユースケース — どこから使われ始めるか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まずは「決まった環境 × 繰り返し作業」の現場から広がる</a:t>
            </a:r>
            <a:endParaRPr lang="ja-JP" altLang="en-US"/>
          </a:p>
        </p:txBody>
      </p:sp>
      <p:sp>
        <p:nvSpPr>
          <p:cNvPr id="9" name="Rounded Rectangle 8"/>
          <p:cNvSpPr/>
          <p:nvPr/>
        </p:nvSpPr>
        <p:spPr>
          <a:xfrm>
            <a:off x="466344"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製造</a:t>
            </a:r>
          </a:p>
          <a:p>
            <a:pPr>
              <a:lnSpc>
                <a:spcPct val="125000"/>
              </a:lnSpc>
            </a:pPr>
            <a:r>
              <a:rPr sz="1250" b="0">
                <a:solidFill>
                  <a:srgbClr val="191919"/>
                </a:solidFill>
                <a:latin typeface="BIZ UDPGothic"/>
                <a:ea typeface="BIZ UDPGothic"/>
              </a:rPr>
              <a:t>部品搬送・組立・検査などの反復作業。BMWやMercedes-Benzが工場でヒューマノイドを実証中</a:t>
            </a:r>
          </a:p>
        </p:txBody>
      </p:sp>
      <p:sp>
        <p:nvSpPr>
          <p:cNvPr id="10" name="Oval 9"/>
          <p:cNvSpPr/>
          <p:nvPr/>
        </p:nvSpPr>
        <p:spPr>
          <a:xfrm>
            <a:off x="667512" y="1947672"/>
            <a:ext cx="438912" cy="438912"/>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industry_w.png"/>
          <p:cNvPicPr>
            <a:picLocks noChangeAspect="1"/>
          </p:cNvPicPr>
          <p:nvPr/>
        </p:nvPicPr>
        <p:blipFill>
          <a:blip r:embed="rId2"/>
          <a:stretch>
            <a:fillRect/>
          </a:stretch>
        </p:blipFill>
        <p:spPr>
          <a:xfrm>
            <a:off x="781629" y="2061789"/>
            <a:ext cx="210677" cy="210677"/>
          </a:xfrm>
          <a:prstGeom prst="rect">
            <a:avLst/>
          </a:prstGeom>
        </p:spPr>
      </p:pic>
      <p:sp>
        <p:nvSpPr>
          <p:cNvPr id="12" name="Rounded Rectangle 11"/>
          <p:cNvSpPr/>
          <p:nvPr/>
        </p:nvSpPr>
        <p:spPr>
          <a:xfrm>
            <a:off x="6144768"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物流・倉庫</a:t>
            </a:r>
          </a:p>
          <a:p>
            <a:pPr>
              <a:lnSpc>
                <a:spcPct val="125000"/>
              </a:lnSpc>
            </a:pPr>
            <a:r>
              <a:rPr sz="1250" b="0">
                <a:solidFill>
                  <a:srgbClr val="191919"/>
                </a:solidFill>
                <a:latin typeface="BIZ UDPGothic"/>
                <a:ea typeface="BIZ UDPGothic"/>
              </a:rPr>
              <a:t>ピッキング・仕分け・荷降ろし。Amazonなどが倉庫でのロボット活用実証を推進</a:t>
            </a:r>
          </a:p>
        </p:txBody>
      </p:sp>
      <p:sp>
        <p:nvSpPr>
          <p:cNvPr id="13" name="Oval 12"/>
          <p:cNvSpPr/>
          <p:nvPr/>
        </p:nvSpPr>
        <p:spPr>
          <a:xfrm>
            <a:off x="6345936" y="1947672"/>
            <a:ext cx="438912" cy="438912"/>
          </a:xfrm>
          <a:prstGeom prst="ellipse">
            <a:avLst/>
          </a:prstGeom>
          <a:solidFill>
            <a:srgbClr val="55D2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4" name="Picture 13" descr="warehouse_w.png"/>
          <p:cNvPicPr>
            <a:picLocks noChangeAspect="1"/>
          </p:cNvPicPr>
          <p:nvPr/>
        </p:nvPicPr>
        <p:blipFill>
          <a:blip r:embed="rId3"/>
          <a:stretch>
            <a:fillRect/>
          </a:stretch>
        </p:blipFill>
        <p:spPr>
          <a:xfrm>
            <a:off x="6460053" y="2061789"/>
            <a:ext cx="210677" cy="210677"/>
          </a:xfrm>
          <a:prstGeom prst="rect">
            <a:avLst/>
          </a:prstGeom>
        </p:spPr>
      </p:pic>
      <p:sp>
        <p:nvSpPr>
          <p:cNvPr id="15" name="Rounded Rectangle 14"/>
          <p:cNvSpPr/>
          <p:nvPr/>
        </p:nvSpPr>
        <p:spPr>
          <a:xfrm>
            <a:off x="466344"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建設・インフラ点検</a:t>
            </a:r>
          </a:p>
          <a:p>
            <a:pPr>
              <a:lnSpc>
                <a:spcPct val="125000"/>
              </a:lnSpc>
            </a:pPr>
            <a:r>
              <a:rPr sz="1250" b="0">
                <a:solidFill>
                  <a:srgbClr val="191919"/>
                </a:solidFill>
                <a:latin typeface="BIZ UDPGothic"/>
                <a:ea typeface="BIZ UDPGothic"/>
              </a:rPr>
              <a:t>四足ロボット（例：Spot）による巡回・危険箇所の点検で、危険作業を代替</a:t>
            </a:r>
          </a:p>
        </p:txBody>
      </p:sp>
      <p:sp>
        <p:nvSpPr>
          <p:cNvPr id="16" name="Oval 15"/>
          <p:cNvSpPr/>
          <p:nvPr/>
        </p:nvSpPr>
        <p:spPr>
          <a:xfrm>
            <a:off x="667512" y="4142232"/>
            <a:ext cx="438912" cy="438912"/>
          </a:xfrm>
          <a:prstGeom prst="ellipse">
            <a:avLst/>
          </a:prstGeom>
          <a:solidFill>
            <a:srgbClr val="AAA5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7" name="Picture 16" descr="helmet_w.png"/>
          <p:cNvPicPr>
            <a:picLocks noChangeAspect="1"/>
          </p:cNvPicPr>
          <p:nvPr/>
        </p:nvPicPr>
        <p:blipFill>
          <a:blip r:embed="rId4"/>
          <a:stretch>
            <a:fillRect/>
          </a:stretch>
        </p:blipFill>
        <p:spPr>
          <a:xfrm>
            <a:off x="781629" y="4256349"/>
            <a:ext cx="210677" cy="210677"/>
          </a:xfrm>
          <a:prstGeom prst="rect">
            <a:avLst/>
          </a:prstGeom>
        </p:spPr>
      </p:pic>
      <p:sp>
        <p:nvSpPr>
          <p:cNvPr id="18" name="Rounded Rectangle 17"/>
          <p:cNvSpPr/>
          <p:nvPr/>
        </p:nvSpPr>
        <p:spPr>
          <a:xfrm>
            <a:off x="6144768"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サービス・小売</a:t>
            </a:r>
          </a:p>
          <a:p>
            <a:pPr>
              <a:lnSpc>
                <a:spcPct val="125000"/>
              </a:lnSpc>
            </a:pPr>
            <a:r>
              <a:rPr sz="1250" b="0">
                <a:solidFill>
                  <a:srgbClr val="191919"/>
                </a:solidFill>
                <a:latin typeface="BIZ UDPGothic"/>
                <a:ea typeface="BIZ UDPGothic"/>
              </a:rPr>
              <a:t>品出し・清掃・警備など。国内ではTelexistenceがコンビニの飲料補充を自動化</a:t>
            </a:r>
          </a:p>
        </p:txBody>
      </p:sp>
      <p:sp>
        <p:nvSpPr>
          <p:cNvPr id="19" name="Oval 18"/>
          <p:cNvSpPr/>
          <p:nvPr/>
        </p:nvSpPr>
        <p:spPr>
          <a:xfrm>
            <a:off x="6345936" y="4142232"/>
            <a:ext cx="438912" cy="438912"/>
          </a:xfrm>
          <a:prstGeom prst="ellipse">
            <a:avLst/>
          </a:prstGeom>
          <a:solidFill>
            <a:srgbClr val="E8648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0" name="Picture 19" descr="store_w.png"/>
          <p:cNvPicPr>
            <a:picLocks noChangeAspect="1"/>
          </p:cNvPicPr>
          <p:nvPr/>
        </p:nvPicPr>
        <p:blipFill>
          <a:blip r:embed="rId5"/>
          <a:stretch>
            <a:fillRect/>
          </a:stretch>
        </p:blipFill>
        <p:spPr>
          <a:xfrm>
            <a:off x="6460053" y="4256349"/>
            <a:ext cx="210677" cy="210677"/>
          </a:xfrm>
          <a:prstGeom prst="rect">
            <a:avLst/>
          </a:prstGeom>
        </p:spPr>
      </p:pic>
      <p:sp>
        <p:nvSpPr>
          <p:cNvPr id="21" name="TextBox 20"/>
          <p:cNvSpPr txBox="1"/>
          <p:nvPr/>
        </p:nvSpPr>
        <p:spPr>
          <a:xfrm>
            <a:off x="466344" y="6053328"/>
            <a:ext cx="11183112" cy="365760"/>
          </a:xfrm>
          <a:prstGeom prst="rect">
            <a:avLst/>
          </a:prstGeom>
          <a:noFill/>
        </p:spPr>
        <p:txBody>
          <a:bodyPr wrap="square" lIns="0" rIns="0" tIns="0" bIns="0" anchor="t">
            <a:spAutoFit/>
          </a:bodyPr>
          <a:lstStyle/>
          <a:p>
            <a:r>
              <a:rPr sz="1100" b="0">
                <a:solidFill>
                  <a:srgbClr val="A7ACAF"/>
                </a:solidFill>
                <a:latin typeface="BIZ UDPGothic"/>
                <a:ea typeface="BIZ UDPGothic"/>
              </a:rPr>
              <a:t>※ 完全な汎用ロボットの前に、環境が管理された現場（工場・倉庫）での特定業務から実用化が進む見込み</a:t>
            </a:r>
          </a:p>
        </p:txBody>
      </p:sp>
    </p:spTree>
    <p:extLst>
      <p:ext uri="{BB962C8B-B14F-4D97-AF65-F5344CB8AC3E}">
        <p14:creationId xmlns:p14="http://schemas.microsoft.com/office/powerpoint/2010/main" val="3061702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3．技術の仕組み</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どうやって学習するのか — 鍵はシミュレーション</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現実での試行錯誤は遅くて危険。だから仮想世界で学び、現実へ転移する</a:t>
            </a:r>
            <a:endParaRPr lang="ja-JP" altLang="en-US"/>
          </a:p>
        </p:txBody>
      </p:sp>
      <p:sp>
        <p:nvSpPr>
          <p:cNvPr id="9" name="Rounded Rectangle 8"/>
          <p:cNvSpPr/>
          <p:nvPr/>
        </p:nvSpPr>
        <p:spPr>
          <a:xfrm>
            <a:off x="46634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1</a:t>
            </a:r>
          </a:p>
          <a:p>
            <a:pPr algn="ctr">
              <a:spcAft>
                <a:spcPts val="700"/>
              </a:spcAft>
            </a:pPr>
            <a:r>
              <a:rPr sz="1500" b="1">
                <a:solidFill>
                  <a:srgbClr val="00219B"/>
                </a:solidFill>
                <a:latin typeface="BIZ UDPGothic"/>
                <a:ea typeface="BIZ UDPGothic"/>
              </a:rPr>
              <a:t>現場をデジタルツイン化</a:t>
            </a:r>
          </a:p>
          <a:p>
            <a:pPr>
              <a:lnSpc>
                <a:spcPct val="120000"/>
              </a:lnSpc>
            </a:pPr>
            <a:r>
              <a:rPr sz="1200" b="0">
                <a:solidFill>
                  <a:srgbClr val="191919"/>
                </a:solidFill>
                <a:latin typeface="BIZ UDPGothic"/>
                <a:ea typeface="BIZ UDPGothic"/>
              </a:rPr>
              <a:t>工場・倉庫などの現場を、物理法則ごと仮想空間に忠実に再現する</a:t>
            </a:r>
          </a:p>
        </p:txBody>
      </p:sp>
      <p:sp>
        <p:nvSpPr>
          <p:cNvPr id="10" name="Oval 9"/>
          <p:cNvSpPr/>
          <p:nvPr/>
        </p:nvSpPr>
        <p:spPr>
          <a:xfrm>
            <a:off x="3392424"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building_w.png"/>
          <p:cNvPicPr>
            <a:picLocks noChangeAspect="1"/>
          </p:cNvPicPr>
          <p:nvPr/>
        </p:nvPicPr>
        <p:blipFill>
          <a:blip r:embed="rId2"/>
          <a:stretch>
            <a:fillRect/>
          </a:stretch>
        </p:blipFill>
        <p:spPr>
          <a:xfrm>
            <a:off x="3497031" y="2033991"/>
            <a:ext cx="193121" cy="193121"/>
          </a:xfrm>
          <a:prstGeom prst="rect">
            <a:avLst/>
          </a:prstGeom>
        </p:spPr>
      </p:pic>
      <p:sp>
        <p:nvSpPr>
          <p:cNvPr id="12" name="Chevron 11"/>
          <p:cNvSpPr/>
          <p:nvPr/>
        </p:nvSpPr>
        <p:spPr>
          <a:xfrm>
            <a:off x="3995928"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3" name="Rounded Rectangle 12"/>
          <p:cNvSpPr/>
          <p:nvPr/>
        </p:nvSpPr>
        <p:spPr>
          <a:xfrm>
            <a:off x="430682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2</a:t>
            </a:r>
          </a:p>
          <a:p>
            <a:pPr algn="ctr">
              <a:spcAft>
                <a:spcPts val="700"/>
              </a:spcAft>
            </a:pPr>
            <a:r>
              <a:rPr sz="1500" b="1">
                <a:solidFill>
                  <a:srgbClr val="00219B"/>
                </a:solidFill>
                <a:latin typeface="BIZ UDPGothic"/>
                <a:ea typeface="BIZ UDPGothic"/>
              </a:rPr>
              <a:t>仮想空間で大量訓練</a:t>
            </a:r>
          </a:p>
          <a:p>
            <a:pPr>
              <a:lnSpc>
                <a:spcPct val="120000"/>
              </a:lnSpc>
            </a:pPr>
            <a:r>
              <a:rPr sz="1200" b="0">
                <a:solidFill>
                  <a:srgbClr val="191919"/>
                </a:solidFill>
                <a:latin typeface="BIZ UDPGothic"/>
                <a:ea typeface="BIZ UDPGothic"/>
              </a:rPr>
              <a:t>数千体のロボットを並列で訓練。実時間の数千倍の速度で試行錯誤を繰り返す</a:t>
            </a:r>
          </a:p>
        </p:txBody>
      </p:sp>
      <p:sp>
        <p:nvSpPr>
          <p:cNvPr id="14" name="Oval 13"/>
          <p:cNvSpPr/>
          <p:nvPr/>
        </p:nvSpPr>
        <p:spPr>
          <a:xfrm>
            <a:off x="7232903"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5" name="Picture 14" descr="cubes_w.png"/>
          <p:cNvPicPr>
            <a:picLocks noChangeAspect="1"/>
          </p:cNvPicPr>
          <p:nvPr/>
        </p:nvPicPr>
        <p:blipFill>
          <a:blip r:embed="rId3"/>
          <a:stretch>
            <a:fillRect/>
          </a:stretch>
        </p:blipFill>
        <p:spPr>
          <a:xfrm>
            <a:off x="7337511" y="2033991"/>
            <a:ext cx="193121" cy="193121"/>
          </a:xfrm>
          <a:prstGeom prst="rect">
            <a:avLst/>
          </a:prstGeom>
        </p:spPr>
      </p:pic>
      <p:sp>
        <p:nvSpPr>
          <p:cNvPr id="16" name="Chevron 15"/>
          <p:cNvSpPr/>
          <p:nvPr/>
        </p:nvSpPr>
        <p:spPr>
          <a:xfrm>
            <a:off x="7836407"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7" name="Rounded Rectangle 16"/>
          <p:cNvSpPr/>
          <p:nvPr/>
        </p:nvSpPr>
        <p:spPr>
          <a:xfrm>
            <a:off x="814730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3</a:t>
            </a:r>
          </a:p>
          <a:p>
            <a:pPr algn="ctr">
              <a:spcAft>
                <a:spcPts val="700"/>
              </a:spcAft>
            </a:pPr>
            <a:r>
              <a:rPr sz="1500" b="1">
                <a:solidFill>
                  <a:srgbClr val="00219B"/>
                </a:solidFill>
                <a:latin typeface="BIZ UDPGothic"/>
                <a:ea typeface="BIZ UDPGothic"/>
              </a:rPr>
              <a:t>実機へ転移（Sim2Real）</a:t>
            </a:r>
          </a:p>
          <a:p>
            <a:pPr>
              <a:lnSpc>
                <a:spcPct val="120000"/>
              </a:lnSpc>
            </a:pPr>
            <a:r>
              <a:rPr sz="1200" b="0">
                <a:solidFill>
                  <a:srgbClr val="191919"/>
                </a:solidFill>
                <a:latin typeface="BIZ UDPGothic"/>
                <a:ea typeface="BIZ UDPGothic"/>
              </a:rPr>
              <a:t>学習済みモデルを実機に載せ、現実とのわずかなズレを微調整して仕上げる</a:t>
            </a:r>
          </a:p>
        </p:txBody>
      </p:sp>
      <p:sp>
        <p:nvSpPr>
          <p:cNvPr id="18" name="Oval 17"/>
          <p:cNvSpPr/>
          <p:nvPr/>
        </p:nvSpPr>
        <p:spPr>
          <a:xfrm>
            <a:off x="11073384"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9" name="Picture 18" descr="robot_w.png"/>
          <p:cNvPicPr>
            <a:picLocks noChangeAspect="1"/>
          </p:cNvPicPr>
          <p:nvPr/>
        </p:nvPicPr>
        <p:blipFill>
          <a:blip r:embed="rId4"/>
          <a:stretch>
            <a:fillRect/>
          </a:stretch>
        </p:blipFill>
        <p:spPr>
          <a:xfrm>
            <a:off x="11177991" y="2033991"/>
            <a:ext cx="193121" cy="193121"/>
          </a:xfrm>
          <a:prstGeom prst="rect">
            <a:avLst/>
          </a:prstGeom>
        </p:spPr>
      </p:pic>
      <p:sp>
        <p:nvSpPr>
          <p:cNvPr id="20" name="Rounded Rectangle 19"/>
          <p:cNvSpPr/>
          <p:nvPr/>
        </p:nvSpPr>
        <p:spPr>
          <a:xfrm>
            <a:off x="466344" y="4251960"/>
            <a:ext cx="11183112"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109728" tIns="146304" bIns="73152"/>
          <a:lstStyle/>
          <a:p>
            <a:pPr algn="ctr">
              <a:spcAft>
                <a:spcPts val="500"/>
              </a:spcAft>
            </a:pPr>
            <a:r>
              <a:rPr sz="1400" b="1">
                <a:solidFill>
                  <a:srgbClr val="00219B"/>
                </a:solidFill>
                <a:latin typeface="BIZ UDPGothic"/>
                <a:ea typeface="BIZ UDPGothic"/>
              </a:rPr>
              <a:t>ポイント：足りない現実データは「合成データ」で補う</a:t>
            </a:r>
          </a:p>
          <a:p>
            <a:pPr>
              <a:lnSpc>
                <a:spcPct val="125000"/>
              </a:lnSpc>
            </a:pPr>
            <a:r>
              <a:rPr sz="1200" b="0">
                <a:solidFill>
                  <a:srgbClr val="191919"/>
                </a:solidFill>
                <a:latin typeface="BIZ UDPGothic"/>
                <a:ea typeface="BIZ UDPGothic"/>
              </a:rPr>
              <a:t>テキストと違い、ロボットの学習データ（動作・映像）はWeb上にほとんど存在しない。世界モデル（Cosmosなど）が物理的に自然な映像・状況データを大量生成し、このギャップを埋めている。</a:t>
            </a:r>
          </a:p>
        </p:txBody>
      </p:sp>
    </p:spTree>
    <p:extLst>
      <p:ext uri="{BB962C8B-B14F-4D97-AF65-F5344CB8AC3E}">
        <p14:creationId xmlns:p14="http://schemas.microsoft.com/office/powerpoint/2010/main" val="3061702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VLAモデル — ロボットの頭脳のしくみ</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Vision（見る）・Language（理解する）・Action（動く）を1つのモデルで</a:t>
            </a:r>
            <a:endParaRPr lang="ja-JP" altLang="en-US"/>
          </a:p>
        </p:txBody>
      </p:sp>
      <p:sp>
        <p:nvSpPr>
          <p:cNvPr id="9" name="Rounded Rectangle 8"/>
          <p:cNvSpPr/>
          <p:nvPr/>
        </p:nvSpPr>
        <p:spPr>
          <a:xfrm>
            <a:off x="466344" y="1783080"/>
            <a:ext cx="3246120"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621792" tIns="146304" bIns="73152"/>
          <a:lstStyle/>
          <a:p>
            <a:pPr algn="ctr">
              <a:spcAft>
                <a:spcPts val="500"/>
              </a:spcAft>
            </a:pPr>
            <a:r>
              <a:rPr sz="1300" b="1">
                <a:solidFill>
                  <a:srgbClr val="A7ACAF"/>
                </a:solidFill>
                <a:latin typeface="BIZ UDPGothic"/>
                <a:ea typeface="BIZ UDPGothic"/>
              </a:rPr>
              <a:t>入力</a:t>
            </a:r>
          </a:p>
          <a:p>
            <a:pPr>
              <a:spcAft>
                <a:spcPts val="400"/>
              </a:spcAft>
            </a:pPr>
            <a:r>
              <a:rPr sz="1250" b="1">
                <a:solidFill>
                  <a:srgbClr val="00219B"/>
                </a:solidFill>
                <a:latin typeface="BIZ UDPGothic"/>
                <a:ea typeface="BIZ UDPGothic"/>
              </a:rPr>
              <a:t>Vision：カメラ映像・センサー情報</a:t>
            </a:r>
          </a:p>
          <a:p>
            <a:pPr>
              <a:spcAft>
                <a:spcPts val="800"/>
              </a:spcAft>
            </a:pPr>
            <a:r>
              <a:rPr sz="1250" b="1">
                <a:solidFill>
                  <a:srgbClr val="00219B"/>
                </a:solidFill>
                <a:latin typeface="BIZ UDPGothic"/>
                <a:ea typeface="BIZ UDPGothic"/>
              </a:rPr>
              <a:t>Language：「棚の飲料を補充して」などの自然言語の指示</a:t>
            </a:r>
          </a:p>
          <a:p>
            <a:pPr>
              <a:lnSpc>
                <a:spcPct val="120000"/>
              </a:lnSpc>
            </a:pPr>
            <a:r>
              <a:rPr sz="1100" b="0">
                <a:solidFill>
                  <a:srgbClr val="191919"/>
                </a:solidFill>
                <a:latin typeface="BIZ UDPGothic"/>
                <a:ea typeface="BIZ UDPGothic"/>
              </a:rPr>
              <a:t>人がロボット言語を覚えるのではなく、ロボットが人の言葉を理解する</a:t>
            </a:r>
          </a:p>
        </p:txBody>
      </p:sp>
      <p:sp>
        <p:nvSpPr>
          <p:cNvPr id="10" name="Oval 9"/>
          <p:cNvSpPr/>
          <p:nvPr/>
        </p:nvSpPr>
        <p:spPr>
          <a:xfrm>
            <a:off x="3145535"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camera_w.png"/>
          <p:cNvPicPr>
            <a:picLocks noChangeAspect="1"/>
          </p:cNvPicPr>
          <p:nvPr/>
        </p:nvPicPr>
        <p:blipFill>
          <a:blip r:embed="rId2"/>
          <a:stretch>
            <a:fillRect/>
          </a:stretch>
        </p:blipFill>
        <p:spPr>
          <a:xfrm>
            <a:off x="3250143" y="2033991"/>
            <a:ext cx="193121" cy="193121"/>
          </a:xfrm>
          <a:prstGeom prst="rect">
            <a:avLst/>
          </a:prstGeom>
        </p:spPr>
      </p:pic>
      <p:sp>
        <p:nvSpPr>
          <p:cNvPr id="12" name="Chevron 11"/>
          <p:cNvSpPr/>
          <p:nvPr/>
        </p:nvSpPr>
        <p:spPr>
          <a:xfrm>
            <a:off x="380390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3" name="Rounded Rectangle 12"/>
          <p:cNvSpPr/>
          <p:nvPr/>
        </p:nvSpPr>
        <p:spPr>
          <a:xfrm>
            <a:off x="4169663" y="1783080"/>
            <a:ext cx="3749039" cy="246888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19456" rIns="219456" tIns="73152" bIns="73152"/>
          <a:lstStyle/>
          <a:p>
            <a:pPr algn="ctr">
              <a:spcAft>
                <a:spcPts val="600"/>
              </a:spcAft>
            </a:pPr>
            <a:r>
              <a:rPr sz="1700" b="1">
                <a:solidFill>
                  <a:srgbClr val="FFFFFF"/>
                </a:solidFill>
                <a:latin typeface="BIZ UDPGothic"/>
                <a:ea typeface="BIZ UDPGothic"/>
              </a:rPr>
              <a:t>VLAモデル</a:t>
            </a:r>
          </a:p>
          <a:p>
            <a:pPr algn="ctr">
              <a:lnSpc>
                <a:spcPct val="125000"/>
              </a:lnSpc>
              <a:spcAft>
                <a:spcPts val="600"/>
              </a:spcAft>
            </a:pPr>
            <a:r>
              <a:rPr sz="1200" b="0">
                <a:solidFill>
                  <a:srgbClr val="EDF4F9"/>
                </a:solidFill>
                <a:latin typeface="BIZ UDPGothic"/>
                <a:ea typeface="BIZ UDPGothic"/>
              </a:rPr>
              <a:t>LLM由来の知識・推論力を土台に、状況を理解して動作計画を立てる</a:t>
            </a:r>
          </a:p>
          <a:p>
            <a:pPr algn="ctr">
              <a:lnSpc>
                <a:spcPct val="120000"/>
              </a:lnSpc>
            </a:pPr>
            <a:r>
              <a:rPr sz="1050" b="0">
                <a:solidFill>
                  <a:srgbClr val="6BB8F2"/>
                </a:solidFill>
                <a:latin typeface="BIZ UDPGothic"/>
                <a:ea typeface="BIZ UDPGothic"/>
              </a:rPr>
              <a:t>例：Helix（Figure）／ Gemini Robotics ／ π0（Physical Intelligence）</a:t>
            </a:r>
          </a:p>
        </p:txBody>
      </p:sp>
      <p:pic>
        <p:nvPicPr>
          <p:cNvPr id="14" name="Picture 13" descr="brain_w.png"/>
          <p:cNvPicPr>
            <a:picLocks noChangeAspect="1"/>
          </p:cNvPicPr>
          <p:nvPr/>
        </p:nvPicPr>
        <p:blipFill>
          <a:blip r:embed="rId3"/>
          <a:stretch>
            <a:fillRect/>
          </a:stretch>
        </p:blipFill>
        <p:spPr>
          <a:xfrm>
            <a:off x="5870447" y="1920240"/>
            <a:ext cx="347472" cy="347472"/>
          </a:xfrm>
          <a:prstGeom prst="rect">
            <a:avLst/>
          </a:prstGeom>
        </p:spPr>
      </p:pic>
      <p:sp>
        <p:nvSpPr>
          <p:cNvPr id="15" name="Chevron 14"/>
          <p:cNvSpPr/>
          <p:nvPr/>
        </p:nvSpPr>
        <p:spPr>
          <a:xfrm>
            <a:off x="801014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6" name="Rounded Rectangle 15"/>
          <p:cNvSpPr/>
          <p:nvPr/>
        </p:nvSpPr>
        <p:spPr>
          <a:xfrm>
            <a:off x="8375904" y="1783080"/>
            <a:ext cx="3273552"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621792" tIns="146304" bIns="73152"/>
          <a:lstStyle/>
          <a:p>
            <a:pPr algn="ctr">
              <a:spcAft>
                <a:spcPts val="500"/>
              </a:spcAft>
            </a:pPr>
            <a:r>
              <a:rPr sz="1300" b="1">
                <a:solidFill>
                  <a:srgbClr val="A7ACAF"/>
                </a:solidFill>
                <a:latin typeface="BIZ UDPGothic"/>
                <a:ea typeface="BIZ UDPGothic"/>
              </a:rPr>
              <a:t>出力</a:t>
            </a:r>
          </a:p>
          <a:p>
            <a:pPr>
              <a:spcAft>
                <a:spcPts val="800"/>
              </a:spcAft>
            </a:pPr>
            <a:r>
              <a:rPr sz="1250" b="1">
                <a:solidFill>
                  <a:srgbClr val="00219B"/>
                </a:solidFill>
                <a:latin typeface="BIZ UDPGothic"/>
                <a:ea typeface="BIZ UDPGothic"/>
              </a:rPr>
              <a:t>Action：関節・モーターへの動作指令</a:t>
            </a:r>
          </a:p>
          <a:p>
            <a:pPr>
              <a:lnSpc>
                <a:spcPct val="120000"/>
              </a:lnSpc>
            </a:pPr>
            <a:r>
              <a:rPr sz="1100" b="0">
                <a:solidFill>
                  <a:srgbClr val="191919"/>
                </a:solidFill>
                <a:latin typeface="BIZ UDPGothic"/>
                <a:ea typeface="BIZ UDPGothic"/>
              </a:rPr>
              <a:t>毎秒数十回の連続制御で、つかむ・運ぶ・置くなどの動作を実行</a:t>
            </a:r>
          </a:p>
        </p:txBody>
      </p:sp>
      <p:sp>
        <p:nvSpPr>
          <p:cNvPr id="17" name="Oval 16"/>
          <p:cNvSpPr/>
          <p:nvPr/>
        </p:nvSpPr>
        <p:spPr>
          <a:xfrm>
            <a:off x="11082528"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8" name="Picture 17" descr="arm_w.png"/>
          <p:cNvPicPr>
            <a:picLocks noChangeAspect="1"/>
          </p:cNvPicPr>
          <p:nvPr/>
        </p:nvPicPr>
        <p:blipFill>
          <a:blip r:embed="rId4"/>
          <a:stretch>
            <a:fillRect/>
          </a:stretch>
        </p:blipFill>
        <p:spPr>
          <a:xfrm>
            <a:off x="11187135" y="2033991"/>
            <a:ext cx="193121" cy="193121"/>
          </a:xfrm>
          <a:prstGeom prst="rect">
            <a:avLst/>
          </a:prstGeom>
        </p:spPr>
      </p:pic>
      <p:sp>
        <p:nvSpPr>
          <p:cNvPr id="19" name="Rounded Rectangle 18"/>
          <p:cNvSpPr/>
          <p:nvPr/>
        </p:nvSpPr>
        <p:spPr>
          <a:xfrm>
            <a:off x="466344" y="4572000"/>
            <a:ext cx="5504688" cy="150876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300" b="1">
                <a:solidFill>
                  <a:srgbClr val="A7ACAF"/>
                </a:solidFill>
                <a:latin typeface="BIZ UDPGothic"/>
                <a:ea typeface="BIZ UDPGothic"/>
              </a:rPr>
              <a:t>従来のロボット</a:t>
            </a:r>
          </a:p>
          <a:p>
            <a:pPr>
              <a:lnSpc>
                <a:spcPct val="120000"/>
              </a:lnSpc>
            </a:pPr>
            <a:r>
              <a:rPr sz="1200" b="0">
                <a:solidFill>
                  <a:srgbClr val="191919"/>
                </a:solidFill>
                <a:latin typeface="BIZ UDPGothic"/>
                <a:ea typeface="BIZ UDPGothic"/>
              </a:rPr>
              <a:t>動作を1つずつプログラミング。決められた環境・手順の外に出ると対応できない</a:t>
            </a:r>
          </a:p>
        </p:txBody>
      </p:sp>
      <p:sp>
        <p:nvSpPr>
          <p:cNvPr id="20" name="Rounded Rectangle 19"/>
          <p:cNvSpPr/>
          <p:nvPr/>
        </p:nvSpPr>
        <p:spPr>
          <a:xfrm>
            <a:off x="6144768" y="4572000"/>
            <a:ext cx="5504688"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300" b="1">
                <a:solidFill>
                  <a:srgbClr val="00219B"/>
                </a:solidFill>
                <a:latin typeface="BIZ UDPGothic"/>
                <a:ea typeface="BIZ UDPGothic"/>
              </a:rPr>
              <a:t>VLA搭載ロボット</a:t>
            </a:r>
          </a:p>
          <a:p>
            <a:pPr>
              <a:lnSpc>
                <a:spcPct val="120000"/>
              </a:lnSpc>
            </a:pPr>
            <a:r>
              <a:rPr sz="1200" b="0">
                <a:solidFill>
                  <a:srgbClr val="191919"/>
                </a:solidFill>
                <a:latin typeface="BIZ UDPGothic"/>
                <a:ea typeface="BIZ UDPGothic"/>
              </a:rPr>
              <a:t>「常識」を持ち、初めて見る物・初めての指示にも柔軟に対応できる（汎用性）</a:t>
            </a:r>
          </a:p>
        </p:txBody>
      </p:sp>
    </p:spTree>
    <p:extLst>
      <p:ext uri="{BB962C8B-B14F-4D97-AF65-F5344CB8AC3E}">
        <p14:creationId xmlns:p14="http://schemas.microsoft.com/office/powerpoint/2010/main" val="3061702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現場ではすでに「AIの部品」が実用段階</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物体検知・VLM・自律移動 — フィジカルAIはこれらを統合したもの</a:t>
            </a:r>
            <a:endParaRPr lang="ja-JP" altLang="en-US"/>
          </a:p>
        </p:txBody>
      </p:sp>
      <p:sp>
        <p:nvSpPr>
          <p:cNvPr id="9" name="Rounded Rectangle 8"/>
          <p:cNvSpPr/>
          <p:nvPr/>
        </p:nvSpPr>
        <p:spPr>
          <a:xfrm>
            <a:off x="466344" y="1783080"/>
            <a:ext cx="3840480" cy="2651760"/>
          </a:xfrm>
          <a:prstGeom prst="roundRect">
            <a:avLst>
              <a:gd name="adj" fmla="val 5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09728" bIns="73152"/>
          <a:lstStyle/>
          <a:p>
            <a:pPr algn="ctr"/>
            <a:r>
              <a:rPr sz="1050" b="1">
                <a:solidFill>
                  <a:srgbClr val="6BB8F2"/>
                </a:solidFill>
                <a:latin typeface="BIZ UDPGothic"/>
                <a:ea typeface="BIZ UDPGothic"/>
              </a:rPr>
              <a:t>物体検知のイメージ（カメラ映像）</a:t>
            </a:r>
          </a:p>
        </p:txBody>
      </p:sp>
      <p:sp>
        <p:nvSpPr>
          <p:cNvPr id="10" name="Rectangle 9"/>
          <p:cNvSpPr/>
          <p:nvPr/>
        </p:nvSpPr>
        <p:spPr>
          <a:xfrm>
            <a:off x="868680" y="2331720"/>
            <a:ext cx="1188720" cy="1783080"/>
          </a:xfrm>
          <a:prstGeom prst="rect">
            <a:avLst/>
          </a:prstGeom>
          <a:noFill/>
          <a:ln w="25400">
            <a:solidFill>
              <a:srgbClr val="55D2D8"/>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person_w.png"/>
          <p:cNvPicPr>
            <a:picLocks noChangeAspect="1"/>
          </p:cNvPicPr>
          <p:nvPr/>
        </p:nvPicPr>
        <p:blipFill>
          <a:blip r:embed="rId2"/>
          <a:stretch>
            <a:fillRect/>
          </a:stretch>
        </p:blipFill>
        <p:spPr>
          <a:xfrm>
            <a:off x="1170432" y="2606040"/>
            <a:ext cx="566928" cy="566928"/>
          </a:xfrm>
          <a:prstGeom prst="rect">
            <a:avLst/>
          </a:prstGeom>
        </p:spPr>
      </p:pic>
      <p:sp>
        <p:nvSpPr>
          <p:cNvPr id="12" name="TextBox 11"/>
          <p:cNvSpPr txBox="1"/>
          <p:nvPr/>
        </p:nvSpPr>
        <p:spPr>
          <a:xfrm>
            <a:off x="868680" y="2121408"/>
            <a:ext cx="1463040" cy="274320"/>
          </a:xfrm>
          <a:prstGeom prst="rect">
            <a:avLst/>
          </a:prstGeom>
          <a:noFill/>
        </p:spPr>
        <p:txBody>
          <a:bodyPr wrap="square" lIns="0" rIns="0" tIns="0" bIns="0" anchor="t">
            <a:spAutoFit/>
          </a:bodyPr>
          <a:lstStyle/>
          <a:p>
            <a:r>
              <a:rPr sz="950" b="1">
                <a:solidFill>
                  <a:srgbClr val="55D2D8"/>
                </a:solidFill>
                <a:latin typeface="BIZ UDPGothic"/>
                <a:ea typeface="BIZ UDPGothic"/>
              </a:rPr>
              <a:t>作業員 0.97</a:t>
            </a:r>
          </a:p>
        </p:txBody>
      </p:sp>
      <p:sp>
        <p:nvSpPr>
          <p:cNvPr id="13" name="Rectangle 12"/>
          <p:cNvSpPr/>
          <p:nvPr/>
        </p:nvSpPr>
        <p:spPr>
          <a:xfrm>
            <a:off x="2514600" y="3017520"/>
            <a:ext cx="1417320" cy="1097280"/>
          </a:xfrm>
          <a:prstGeom prst="rect">
            <a:avLst/>
          </a:prstGeom>
          <a:noFill/>
          <a:ln w="25400">
            <a:solidFill>
              <a:srgbClr val="E86487"/>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4" name="Picture 13" descr="boxopen_w.png"/>
          <p:cNvPicPr>
            <a:picLocks noChangeAspect="1"/>
          </p:cNvPicPr>
          <p:nvPr/>
        </p:nvPicPr>
        <p:blipFill>
          <a:blip r:embed="rId3"/>
          <a:stretch>
            <a:fillRect/>
          </a:stretch>
        </p:blipFill>
        <p:spPr>
          <a:xfrm>
            <a:off x="2944368" y="3246120"/>
            <a:ext cx="548640" cy="548640"/>
          </a:xfrm>
          <a:prstGeom prst="rect">
            <a:avLst/>
          </a:prstGeom>
        </p:spPr>
      </p:pic>
      <p:sp>
        <p:nvSpPr>
          <p:cNvPr id="15" name="TextBox 14"/>
          <p:cNvSpPr txBox="1"/>
          <p:nvPr/>
        </p:nvSpPr>
        <p:spPr>
          <a:xfrm>
            <a:off x="2514600" y="2807208"/>
            <a:ext cx="1463040" cy="274320"/>
          </a:xfrm>
          <a:prstGeom prst="rect">
            <a:avLst/>
          </a:prstGeom>
          <a:noFill/>
        </p:spPr>
        <p:txBody>
          <a:bodyPr wrap="square" lIns="0" rIns="0" tIns="0" bIns="0" anchor="t">
            <a:spAutoFit/>
          </a:bodyPr>
          <a:lstStyle/>
          <a:p>
            <a:r>
              <a:rPr sz="950" b="1">
                <a:solidFill>
                  <a:srgbClr val="E86487"/>
                </a:solidFill>
                <a:latin typeface="BIZ UDPGothic"/>
                <a:ea typeface="BIZ UDPGothic"/>
              </a:rPr>
              <a:t>パレット 0.88</a:t>
            </a:r>
          </a:p>
        </p:txBody>
      </p:sp>
      <p:sp>
        <p:nvSpPr>
          <p:cNvPr id="16" name="TextBox 15"/>
          <p:cNvSpPr txBox="1"/>
          <p:nvPr/>
        </p:nvSpPr>
        <p:spPr>
          <a:xfrm>
            <a:off x="466344" y="4572000"/>
            <a:ext cx="3840480" cy="1463040"/>
          </a:xfrm>
          <a:prstGeom prst="rect">
            <a:avLst/>
          </a:prstGeom>
          <a:noFill/>
        </p:spPr>
        <p:txBody>
          <a:bodyPr wrap="square" lIns="0" rIns="0" tIns="0" bIns="0" anchor="t">
            <a:spAutoFit/>
          </a:bodyPr>
          <a:lstStyle/>
          <a:p>
            <a:pPr>
              <a:lnSpc>
                <a:spcPct val="130000"/>
              </a:lnSpc>
            </a:pPr>
            <a:r>
              <a:rPr sz="1100" b="0">
                <a:solidFill>
                  <a:srgbClr val="191919"/>
                </a:solidFill>
                <a:latin typeface="BIZ UDPGothic"/>
                <a:ea typeface="BIZ UDPGothic"/>
              </a:rPr>
              <a:t>カメラ映像から人やモノを囲って検出し、数値は確信度を表す。この「見える化」が現場AIの出発点</a:t>
            </a:r>
          </a:p>
        </p:txBody>
      </p:sp>
      <p:sp>
        <p:nvSpPr>
          <p:cNvPr id="17" name="Rounded Rectangle 16"/>
          <p:cNvSpPr/>
          <p:nvPr/>
        </p:nvSpPr>
        <p:spPr>
          <a:xfrm>
            <a:off x="4526280" y="1783080"/>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物体検知（YOLO系）</a:t>
            </a:r>
          </a:p>
          <a:p>
            <a:r>
              <a:rPr sz="1150" b="0">
                <a:solidFill>
                  <a:srgbClr val="191919"/>
                </a:solidFill>
                <a:latin typeface="BIZ UDPGothic"/>
                <a:ea typeface="BIZ UDPGothic"/>
              </a:rPr>
              <a:t>カメラ映像から人・モノをリアルタイム検出。安全監視・検品・在庫把握で定着済み</a:t>
            </a:r>
          </a:p>
        </p:txBody>
      </p:sp>
      <p:sp>
        <p:nvSpPr>
          <p:cNvPr id="18" name="Oval 17"/>
          <p:cNvSpPr/>
          <p:nvPr/>
        </p:nvSpPr>
        <p:spPr>
          <a:xfrm>
            <a:off x="4709160" y="2029967"/>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9" name="Picture 18" descr="crosshairs_w.png"/>
          <p:cNvPicPr>
            <a:picLocks noChangeAspect="1"/>
          </p:cNvPicPr>
          <p:nvPr/>
        </p:nvPicPr>
        <p:blipFill>
          <a:blip r:embed="rId4"/>
          <a:stretch>
            <a:fillRect/>
          </a:stretch>
        </p:blipFill>
        <p:spPr>
          <a:xfrm>
            <a:off x="4818522" y="2139330"/>
            <a:ext cx="201899" cy="201899"/>
          </a:xfrm>
          <a:prstGeom prst="rect">
            <a:avLst/>
          </a:prstGeom>
        </p:spPr>
      </p:pic>
      <p:sp>
        <p:nvSpPr>
          <p:cNvPr id="20" name="Rounded Rectangle 19"/>
          <p:cNvSpPr/>
          <p:nvPr/>
        </p:nvSpPr>
        <p:spPr>
          <a:xfrm>
            <a:off x="4526280" y="2807208"/>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VLM（視覚言語モデル）</a:t>
            </a:r>
          </a:p>
          <a:p>
            <a:r>
              <a:rPr sz="1150" b="0">
                <a:solidFill>
                  <a:srgbClr val="191919"/>
                </a:solidFill>
                <a:latin typeface="BIZ UDPGothic"/>
                <a:ea typeface="BIZ UDPGothic"/>
              </a:rPr>
              <a:t>画像を言葉で理解・説明するAI。目視点検の自動化や報告書作成への応用が進む</a:t>
            </a:r>
          </a:p>
        </p:txBody>
      </p:sp>
      <p:sp>
        <p:nvSpPr>
          <p:cNvPr id="21" name="Oval 20"/>
          <p:cNvSpPr/>
          <p:nvPr/>
        </p:nvSpPr>
        <p:spPr>
          <a:xfrm>
            <a:off x="4709160" y="3054096"/>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2" name="Picture 21" descr="image_w.png"/>
          <p:cNvPicPr>
            <a:picLocks noChangeAspect="1"/>
          </p:cNvPicPr>
          <p:nvPr/>
        </p:nvPicPr>
        <p:blipFill>
          <a:blip r:embed="rId5"/>
          <a:stretch>
            <a:fillRect/>
          </a:stretch>
        </p:blipFill>
        <p:spPr>
          <a:xfrm>
            <a:off x="4818522" y="3163458"/>
            <a:ext cx="201899" cy="201899"/>
          </a:xfrm>
          <a:prstGeom prst="rect">
            <a:avLst/>
          </a:prstGeom>
        </p:spPr>
      </p:pic>
      <p:sp>
        <p:nvSpPr>
          <p:cNvPr id="23" name="Rounded Rectangle 22"/>
          <p:cNvSpPr/>
          <p:nvPr/>
        </p:nvSpPr>
        <p:spPr>
          <a:xfrm>
            <a:off x="4526280" y="3831336"/>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SLAM・自律移動</a:t>
            </a:r>
          </a:p>
          <a:p>
            <a:r>
              <a:rPr sz="1150" b="0">
                <a:solidFill>
                  <a:srgbClr val="191919"/>
                </a:solidFill>
                <a:latin typeface="BIZ UDPGothic"/>
                <a:ea typeface="BIZ UDPGothic"/>
              </a:rPr>
              <a:t>自己位置推定と地図生成でAMR・ドローンが自律走行。倉庫・工場で実用段階</a:t>
            </a:r>
          </a:p>
        </p:txBody>
      </p:sp>
      <p:sp>
        <p:nvSpPr>
          <p:cNvPr id="24" name="Oval 23"/>
          <p:cNvSpPr/>
          <p:nvPr/>
        </p:nvSpPr>
        <p:spPr>
          <a:xfrm>
            <a:off x="4709160" y="4078224"/>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5" name="Picture 24" descr="route_w.png"/>
          <p:cNvPicPr>
            <a:picLocks noChangeAspect="1"/>
          </p:cNvPicPr>
          <p:nvPr/>
        </p:nvPicPr>
        <p:blipFill>
          <a:blip r:embed="rId6"/>
          <a:stretch>
            <a:fillRect/>
          </a:stretch>
        </p:blipFill>
        <p:spPr>
          <a:xfrm>
            <a:off x="4818522" y="4187586"/>
            <a:ext cx="201899" cy="201899"/>
          </a:xfrm>
          <a:prstGeom prst="rect">
            <a:avLst/>
          </a:prstGeom>
        </p:spPr>
      </p:pic>
      <p:sp>
        <p:nvSpPr>
          <p:cNvPr id="26" name="Rounded Rectangle 25"/>
          <p:cNvSpPr/>
          <p:nvPr/>
        </p:nvSpPr>
        <p:spPr>
          <a:xfrm>
            <a:off x="4526280" y="4855464"/>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異常検知・予知保全</a:t>
            </a:r>
          </a:p>
          <a:p>
            <a:r>
              <a:rPr sz="1150" b="0">
                <a:solidFill>
                  <a:srgbClr val="191919"/>
                </a:solidFill>
                <a:latin typeface="BIZ UDPGothic"/>
                <a:ea typeface="BIZ UDPGothic"/>
              </a:rPr>
              <a:t>センサーデータから故障の予兆を検出。設備保全の定番手法に</a:t>
            </a:r>
          </a:p>
        </p:txBody>
      </p:sp>
      <p:sp>
        <p:nvSpPr>
          <p:cNvPr id="27" name="Oval 26"/>
          <p:cNvSpPr/>
          <p:nvPr/>
        </p:nvSpPr>
        <p:spPr>
          <a:xfrm>
            <a:off x="4709160" y="5102352"/>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8" name="Picture 27" descr="glasschart_w.png"/>
          <p:cNvPicPr>
            <a:picLocks noChangeAspect="1"/>
          </p:cNvPicPr>
          <p:nvPr/>
        </p:nvPicPr>
        <p:blipFill>
          <a:blip r:embed="rId7"/>
          <a:stretch>
            <a:fillRect/>
          </a:stretch>
        </p:blipFill>
        <p:spPr>
          <a:xfrm>
            <a:off x="4818522" y="5211714"/>
            <a:ext cx="201899" cy="201899"/>
          </a:xfrm>
          <a:prstGeom prst="rect">
            <a:avLst/>
          </a:prstGeom>
        </p:spPr>
      </p:pic>
      <p:sp>
        <p:nvSpPr>
          <p:cNvPr id="29" name="Rounded Rectangle 28"/>
          <p:cNvSpPr/>
          <p:nvPr/>
        </p:nvSpPr>
        <p:spPr>
          <a:xfrm>
            <a:off x="4526280" y="5897880"/>
            <a:ext cx="7123176" cy="50292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09728" tIns="73152" bIns="73152"/>
          <a:lstStyle/>
          <a:p>
            <a:pPr algn="ctr"/>
            <a:r>
              <a:rPr sz="1200" b="1">
                <a:solidFill>
                  <a:srgbClr val="00219B"/>
                </a:solidFill>
                <a:latin typeface="BIZ UDPGothic"/>
                <a:ea typeface="BIZ UDPGothic"/>
              </a:rPr>
              <a:t>これらの「部品」をロボットの身体と統合し、自律的に動かすのがフィジカルAI</a:t>
            </a:r>
          </a:p>
        </p:txBody>
      </p:sp>
    </p:spTree>
    <p:extLst>
      <p:ext uri="{BB962C8B-B14F-4D97-AF65-F5344CB8AC3E}">
        <p14:creationId xmlns:p14="http://schemas.microsoft.com/office/powerpoint/2010/main" val="3061702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4．ビジネスへの示唆</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市場予測と、普及までの課題</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期待は大きい。ただし「現場で使える」までのハードルも現実的に見る</a:t>
            </a:r>
            <a:endParaRPr lang="ja-JP" altLang="en-US"/>
          </a:p>
        </p:txBody>
      </p:sp>
      <p:sp>
        <p:nvSpPr>
          <p:cNvPr id="9" name="Rounded Rectangle 8"/>
          <p:cNvSpPr/>
          <p:nvPr/>
        </p:nvSpPr>
        <p:spPr>
          <a:xfrm>
            <a:off x="466344" y="1783080"/>
            <a:ext cx="4754880" cy="42062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219456" bIns="73152"/>
          <a:lstStyle/>
          <a:p>
            <a:pPr algn="ctr">
              <a:spcAft>
                <a:spcPts val="1000"/>
              </a:spcAft>
            </a:pPr>
            <a:r>
              <a:rPr sz="1400" b="1">
                <a:solidFill>
                  <a:srgbClr val="6BB8F2"/>
                </a:solidFill>
                <a:latin typeface="BIZ UDPGothic"/>
                <a:ea typeface="BIZ UDPGothic"/>
              </a:rPr>
              <a:t>市場予測</a:t>
            </a:r>
          </a:p>
          <a:p>
            <a:pPr>
              <a:spcAft>
                <a:spcPts val="200"/>
              </a:spcAft>
            </a:pPr>
            <a:r>
              <a:rPr sz="3600" b="1">
                <a:solidFill>
                  <a:srgbClr val="FFFFFF"/>
                </a:solidFill>
                <a:latin typeface="BIZ UDPGothic"/>
                <a:ea typeface="BIZ UDPGothic"/>
              </a:rPr>
              <a:t>約380億ドル</a:t>
            </a:r>
          </a:p>
          <a:p>
            <a:pPr>
              <a:lnSpc>
                <a:spcPct val="125000"/>
              </a:lnSpc>
              <a:spcAft>
                <a:spcPts val="1200"/>
              </a:spcAft>
            </a:pPr>
            <a:r>
              <a:rPr sz="1150" b="0">
                <a:solidFill>
                  <a:srgbClr val="EDF4F9"/>
                </a:solidFill>
                <a:latin typeface="BIZ UDPGothic"/>
                <a:ea typeface="BIZ UDPGothic"/>
              </a:rPr>
              <a:t>ヒューマノイドロボットの世界市場規模（2035年、Goldman Sachs予測）</a:t>
            </a:r>
          </a:p>
          <a:p>
            <a:pPr>
              <a:spcAft>
                <a:spcPts val="200"/>
              </a:spcAft>
            </a:pPr>
            <a:r>
              <a:rPr sz="2800" b="1">
                <a:solidFill>
                  <a:srgbClr val="FFFFFF"/>
                </a:solidFill>
                <a:latin typeface="BIZ UDPGothic"/>
                <a:ea typeface="BIZ UDPGothic"/>
              </a:rPr>
              <a:t>約2,300億円</a:t>
            </a:r>
          </a:p>
          <a:p>
            <a:pPr>
              <a:lnSpc>
                <a:spcPct val="125000"/>
              </a:lnSpc>
              <a:spcAft>
                <a:spcPts val="1200"/>
              </a:spcAft>
            </a:pPr>
            <a:r>
              <a:rPr sz="1150" b="0">
                <a:solidFill>
                  <a:srgbClr val="EDF4F9"/>
                </a:solidFill>
                <a:latin typeface="BIZ UDPGothic"/>
                <a:ea typeface="BIZ UDPGothic"/>
              </a:rPr>
              <a:t>日本のフィジカルAI市場規模（FY30予測、CAGR 36.2%）。市場は立ち上げ初期で、SIやユースケースはまだ確立していない</a:t>
            </a:r>
          </a:p>
          <a:p>
            <a:pPr>
              <a:lnSpc>
                <a:spcPct val="125000"/>
              </a:lnSpc>
            </a:pPr>
            <a:r>
              <a:rPr sz="1000" b="0">
                <a:solidFill>
                  <a:srgbClr val="6BB8F2"/>
                </a:solidFill>
                <a:latin typeface="BIZ UDPGothic"/>
                <a:ea typeface="BIZ UDPGothic"/>
              </a:rPr>
              <a:t>※ 予測値は調査機関によって幅が大きい。金額そのものより「各機関がこぞって高成長市場と見ている」という方向感で捉える</a:t>
            </a:r>
          </a:p>
        </p:txBody>
      </p:sp>
      <p:pic>
        <p:nvPicPr>
          <p:cNvPr id="10" name="Picture 9" descr="chartline_b.png"/>
          <p:cNvPicPr>
            <a:picLocks noChangeAspect="1"/>
          </p:cNvPicPr>
          <p:nvPr/>
        </p:nvPicPr>
        <p:blipFill>
          <a:blip r:embed="rId2"/>
          <a:stretch>
            <a:fillRect/>
          </a:stretch>
        </p:blipFill>
        <p:spPr>
          <a:xfrm>
            <a:off x="4535424" y="2011680"/>
            <a:ext cx="411480" cy="411480"/>
          </a:xfrm>
          <a:prstGeom prst="rect">
            <a:avLst/>
          </a:prstGeom>
        </p:spPr>
      </p:pic>
      <p:sp>
        <p:nvSpPr>
          <p:cNvPr id="11" name="Rounded Rectangle 10"/>
          <p:cNvSpPr/>
          <p:nvPr/>
        </p:nvSpPr>
        <p:spPr>
          <a:xfrm>
            <a:off x="5440680" y="1783080"/>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安全性</a:t>
            </a:r>
          </a:p>
          <a:p>
            <a:r>
              <a:rPr sz="1150" b="0">
                <a:solidFill>
                  <a:srgbClr val="191919"/>
                </a:solidFill>
                <a:latin typeface="BIZ UDPGothic"/>
                <a:ea typeface="BIZ UDPGothic"/>
              </a:rPr>
              <a:t>人と同じ空間で働くための安全基準・規制の整備はこれから</a:t>
            </a:r>
          </a:p>
        </p:txBody>
      </p:sp>
      <p:sp>
        <p:nvSpPr>
          <p:cNvPr id="12" name="Oval 11"/>
          <p:cNvSpPr/>
          <p:nvPr/>
        </p:nvSpPr>
        <p:spPr>
          <a:xfrm>
            <a:off x="5605272" y="2039112"/>
            <a:ext cx="402336" cy="402336"/>
          </a:xfrm>
          <a:prstGeom prst="ellipse">
            <a:avLst/>
          </a:prstGeom>
          <a:solidFill>
            <a:srgbClr val="A7ACA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3" name="Picture 12" descr="warning_w.png"/>
          <p:cNvPicPr>
            <a:picLocks noChangeAspect="1"/>
          </p:cNvPicPr>
          <p:nvPr/>
        </p:nvPicPr>
        <p:blipFill>
          <a:blip r:embed="rId3"/>
          <a:stretch>
            <a:fillRect/>
          </a:stretch>
        </p:blipFill>
        <p:spPr>
          <a:xfrm>
            <a:off x="5709879" y="2143719"/>
            <a:ext cx="193121" cy="193121"/>
          </a:xfrm>
          <a:prstGeom prst="rect">
            <a:avLst/>
          </a:prstGeom>
        </p:spPr>
      </p:pic>
      <p:sp>
        <p:nvSpPr>
          <p:cNvPr id="14" name="Rounded Rectangle 13"/>
          <p:cNvSpPr/>
          <p:nvPr/>
        </p:nvSpPr>
        <p:spPr>
          <a:xfrm>
            <a:off x="5440680" y="2871215"/>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コスト</a:t>
            </a:r>
          </a:p>
          <a:p>
            <a:r>
              <a:rPr sz="1150" b="0">
                <a:solidFill>
                  <a:srgbClr val="191919"/>
                </a:solidFill>
                <a:latin typeface="BIZ UDPGothic"/>
                <a:ea typeface="BIZ UDPGothic"/>
              </a:rPr>
              <a:t>本体価格に加え、周辺システムと運用まで含めた総コストが課題</a:t>
            </a:r>
          </a:p>
        </p:txBody>
      </p:sp>
      <p:sp>
        <p:nvSpPr>
          <p:cNvPr id="15" name="Oval 14"/>
          <p:cNvSpPr/>
          <p:nvPr/>
        </p:nvSpPr>
        <p:spPr>
          <a:xfrm>
            <a:off x="5605272" y="3127248"/>
            <a:ext cx="402336" cy="402336"/>
          </a:xfrm>
          <a:prstGeom prst="ellipse">
            <a:avLst/>
          </a:prstGeom>
          <a:solidFill>
            <a:srgbClr val="A7ACA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6" name="Picture 15" descr="warning_w.png"/>
          <p:cNvPicPr>
            <a:picLocks noChangeAspect="1"/>
          </p:cNvPicPr>
          <p:nvPr/>
        </p:nvPicPr>
        <p:blipFill>
          <a:blip r:embed="rId3"/>
          <a:stretch>
            <a:fillRect/>
          </a:stretch>
        </p:blipFill>
        <p:spPr>
          <a:xfrm>
            <a:off x="5709879" y="3231855"/>
            <a:ext cx="193121" cy="193121"/>
          </a:xfrm>
          <a:prstGeom prst="rect">
            <a:avLst/>
          </a:prstGeom>
        </p:spPr>
      </p:pic>
      <p:sp>
        <p:nvSpPr>
          <p:cNvPr id="17" name="Rounded Rectangle 16"/>
          <p:cNvSpPr/>
          <p:nvPr/>
        </p:nvSpPr>
        <p:spPr>
          <a:xfrm>
            <a:off x="5440680" y="3959352"/>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信頼性</a:t>
            </a:r>
          </a:p>
          <a:p>
            <a:r>
              <a:rPr sz="1150" b="0">
                <a:solidFill>
                  <a:srgbClr val="191919"/>
                </a:solidFill>
                <a:latin typeface="BIZ UDPGothic"/>
                <a:ea typeface="BIZ UDPGothic"/>
              </a:rPr>
              <a:t>長時間の連続稼働、故障時の対応など現場品質はまだ発展途上</a:t>
            </a:r>
          </a:p>
        </p:txBody>
      </p:sp>
      <p:sp>
        <p:nvSpPr>
          <p:cNvPr id="18" name="Oval 17"/>
          <p:cNvSpPr/>
          <p:nvPr/>
        </p:nvSpPr>
        <p:spPr>
          <a:xfrm>
            <a:off x="5605272" y="4215384"/>
            <a:ext cx="402336" cy="402336"/>
          </a:xfrm>
          <a:prstGeom prst="ellipse">
            <a:avLst/>
          </a:prstGeom>
          <a:solidFill>
            <a:srgbClr val="A7ACA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9" name="Picture 18" descr="warning_w.png"/>
          <p:cNvPicPr>
            <a:picLocks noChangeAspect="1"/>
          </p:cNvPicPr>
          <p:nvPr/>
        </p:nvPicPr>
        <p:blipFill>
          <a:blip r:embed="rId3"/>
          <a:stretch>
            <a:fillRect/>
          </a:stretch>
        </p:blipFill>
        <p:spPr>
          <a:xfrm>
            <a:off x="5709879" y="4319991"/>
            <a:ext cx="193121" cy="193121"/>
          </a:xfrm>
          <a:prstGeom prst="rect">
            <a:avLst/>
          </a:prstGeom>
        </p:spPr>
      </p:pic>
      <p:sp>
        <p:nvSpPr>
          <p:cNvPr id="20" name="Rounded Rectangle 19"/>
          <p:cNvSpPr/>
          <p:nvPr/>
        </p:nvSpPr>
        <p:spPr>
          <a:xfrm>
            <a:off x="5440680" y="5047488"/>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電力・バッテリー</a:t>
            </a:r>
          </a:p>
          <a:p>
            <a:r>
              <a:rPr sz="1150" b="0">
                <a:solidFill>
                  <a:srgbClr val="191919"/>
                </a:solidFill>
                <a:latin typeface="BIZ UDPGothic"/>
                <a:ea typeface="BIZ UDPGothic"/>
              </a:rPr>
              <a:t>稼働時間の短さ（数時間程度）が実用化の壁</a:t>
            </a:r>
          </a:p>
        </p:txBody>
      </p:sp>
      <p:sp>
        <p:nvSpPr>
          <p:cNvPr id="21" name="Oval 20"/>
          <p:cNvSpPr/>
          <p:nvPr/>
        </p:nvSpPr>
        <p:spPr>
          <a:xfrm>
            <a:off x="5605272" y="5303520"/>
            <a:ext cx="402336" cy="402336"/>
          </a:xfrm>
          <a:prstGeom prst="ellipse">
            <a:avLst/>
          </a:prstGeom>
          <a:solidFill>
            <a:srgbClr val="A7ACA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2" name="Picture 21" descr="warning_w.png"/>
          <p:cNvPicPr>
            <a:picLocks noChangeAspect="1"/>
          </p:cNvPicPr>
          <p:nvPr/>
        </p:nvPicPr>
        <p:blipFill>
          <a:blip r:embed="rId3"/>
          <a:stretch>
            <a:fillRect/>
          </a:stretch>
        </p:blipFill>
        <p:spPr>
          <a:xfrm>
            <a:off x="5709879" y="5408127"/>
            <a:ext cx="193121" cy="193121"/>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私たちのビジネスへの示唆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ロボットを「作る」のではなく、「現場で使えるようにする」領域に商機</a:t>
            </a:r>
            <a:endParaRPr lang="ja-JP" altLang="en-US"/>
          </a:p>
        </p:txBody>
      </p:sp>
      <p:sp>
        <p:nvSpPr>
          <p:cNvPr id="9" name="Rounded Rectangle 8"/>
          <p:cNvSpPr/>
          <p:nvPr/>
        </p:nvSpPr>
        <p:spPr>
          <a:xfrm>
            <a:off x="466344"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AIインフラ構築</a:t>
            </a:r>
          </a:p>
          <a:p>
            <a:pPr>
              <a:lnSpc>
                <a:spcPct val="122000"/>
              </a:lnSpc>
            </a:pPr>
            <a:r>
              <a:rPr sz="1200" b="0">
                <a:solidFill>
                  <a:srgbClr val="191919"/>
                </a:solidFill>
                <a:latin typeface="BIZ UDPGothic"/>
                <a:ea typeface="BIZ UDPGothic"/>
              </a:rPr>
              <a:t>GPUサーバー・エッジ〜クラウド基盤・ネットワークの設計構築。学習と推論を支える土台</a:t>
            </a:r>
          </a:p>
        </p:txBody>
      </p:sp>
      <p:sp>
        <p:nvSpPr>
          <p:cNvPr id="10" name="Oval 9"/>
          <p:cNvSpPr/>
          <p:nvPr/>
        </p:nvSpPr>
        <p:spPr>
          <a:xfrm>
            <a:off x="667512" y="1929384"/>
            <a:ext cx="438912" cy="438912"/>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server_w.png"/>
          <p:cNvPicPr>
            <a:picLocks noChangeAspect="1"/>
          </p:cNvPicPr>
          <p:nvPr/>
        </p:nvPicPr>
        <p:blipFill>
          <a:blip r:embed="rId2"/>
          <a:stretch>
            <a:fillRect/>
          </a:stretch>
        </p:blipFill>
        <p:spPr>
          <a:xfrm>
            <a:off x="781629" y="2043501"/>
            <a:ext cx="210677" cy="210677"/>
          </a:xfrm>
          <a:prstGeom prst="rect">
            <a:avLst/>
          </a:prstGeom>
        </p:spPr>
      </p:pic>
      <p:sp>
        <p:nvSpPr>
          <p:cNvPr id="12" name="Rounded Rectangle 11"/>
          <p:cNvSpPr/>
          <p:nvPr/>
        </p:nvSpPr>
        <p:spPr>
          <a:xfrm>
            <a:off x="6144768"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既存システムとの連携</a:t>
            </a:r>
          </a:p>
          <a:p>
            <a:pPr>
              <a:lnSpc>
                <a:spcPct val="122000"/>
              </a:lnSpc>
            </a:pPr>
            <a:r>
              <a:rPr sz="1200" b="0">
                <a:solidFill>
                  <a:srgbClr val="191919"/>
                </a:solidFill>
                <a:latin typeface="BIZ UDPGothic"/>
                <a:ea typeface="BIZ UDPGothic"/>
              </a:rPr>
              <a:t>WMS・MES・ERPなどの業務システムとロボットの接続。現場業務に組み込むSI</a:t>
            </a:r>
          </a:p>
        </p:txBody>
      </p:sp>
      <p:sp>
        <p:nvSpPr>
          <p:cNvPr id="13" name="Oval 12"/>
          <p:cNvSpPr/>
          <p:nvPr/>
        </p:nvSpPr>
        <p:spPr>
          <a:xfrm>
            <a:off x="6345936" y="1929384"/>
            <a:ext cx="438912" cy="438912"/>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4" name="Picture 13" descr="network_w.png"/>
          <p:cNvPicPr>
            <a:picLocks noChangeAspect="1"/>
          </p:cNvPicPr>
          <p:nvPr/>
        </p:nvPicPr>
        <p:blipFill>
          <a:blip r:embed="rId3"/>
          <a:stretch>
            <a:fillRect/>
          </a:stretch>
        </p:blipFill>
        <p:spPr>
          <a:xfrm>
            <a:off x="6460053" y="2043501"/>
            <a:ext cx="210677" cy="210677"/>
          </a:xfrm>
          <a:prstGeom prst="rect">
            <a:avLst/>
          </a:prstGeom>
        </p:spPr>
      </p:pic>
      <p:sp>
        <p:nvSpPr>
          <p:cNvPr id="15" name="Rounded Rectangle 14"/>
          <p:cNvSpPr/>
          <p:nvPr/>
        </p:nvSpPr>
        <p:spPr>
          <a:xfrm>
            <a:off x="466344"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データ・デジタルツイン</a:t>
            </a:r>
          </a:p>
          <a:p>
            <a:pPr>
              <a:lnSpc>
                <a:spcPct val="122000"/>
              </a:lnSpc>
            </a:pPr>
            <a:r>
              <a:rPr sz="1200" b="0">
                <a:solidFill>
                  <a:srgbClr val="191919"/>
                </a:solidFill>
                <a:latin typeface="BIZ UDPGothic"/>
                <a:ea typeface="BIZ UDPGothic"/>
              </a:rPr>
              <a:t>現場データの収集基盤や、シミュレーション環境の構築を支援</a:t>
            </a:r>
          </a:p>
        </p:txBody>
      </p:sp>
      <p:sp>
        <p:nvSpPr>
          <p:cNvPr id="16" name="Oval 15"/>
          <p:cNvSpPr/>
          <p:nvPr/>
        </p:nvSpPr>
        <p:spPr>
          <a:xfrm>
            <a:off x="667512" y="3895344"/>
            <a:ext cx="438912" cy="438912"/>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7" name="Picture 16" descr="database_w.png"/>
          <p:cNvPicPr>
            <a:picLocks noChangeAspect="1"/>
          </p:cNvPicPr>
          <p:nvPr/>
        </p:nvPicPr>
        <p:blipFill>
          <a:blip r:embed="rId4"/>
          <a:stretch>
            <a:fillRect/>
          </a:stretch>
        </p:blipFill>
        <p:spPr>
          <a:xfrm>
            <a:off x="781629" y="4009461"/>
            <a:ext cx="210677" cy="210677"/>
          </a:xfrm>
          <a:prstGeom prst="rect">
            <a:avLst/>
          </a:prstGeom>
        </p:spPr>
      </p:pic>
      <p:sp>
        <p:nvSpPr>
          <p:cNvPr id="18" name="Rounded Rectangle 17"/>
          <p:cNvSpPr/>
          <p:nvPr/>
        </p:nvSpPr>
        <p:spPr>
          <a:xfrm>
            <a:off x="6144768"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運用・セキュリティ</a:t>
            </a:r>
          </a:p>
          <a:p>
            <a:pPr>
              <a:lnSpc>
                <a:spcPct val="122000"/>
              </a:lnSpc>
            </a:pPr>
            <a:r>
              <a:rPr sz="1200" b="0">
                <a:solidFill>
                  <a:srgbClr val="191919"/>
                </a:solidFill>
                <a:latin typeface="BIZ UDPGothic"/>
                <a:ea typeface="BIZ UDPGothic"/>
              </a:rPr>
              <a:t>ロボット群の監視・フリート管理・安全運用。OTセキュリティの知見が活きる</a:t>
            </a:r>
          </a:p>
        </p:txBody>
      </p:sp>
      <p:sp>
        <p:nvSpPr>
          <p:cNvPr id="19" name="Oval 18"/>
          <p:cNvSpPr/>
          <p:nvPr/>
        </p:nvSpPr>
        <p:spPr>
          <a:xfrm>
            <a:off x="6345936" y="3895344"/>
            <a:ext cx="438912" cy="438912"/>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0" name="Picture 19" descr="shield_w.png"/>
          <p:cNvPicPr>
            <a:picLocks noChangeAspect="1"/>
          </p:cNvPicPr>
          <p:nvPr/>
        </p:nvPicPr>
        <p:blipFill>
          <a:blip r:embed="rId5"/>
          <a:stretch>
            <a:fillRect/>
          </a:stretch>
        </p:blipFill>
        <p:spPr>
          <a:xfrm>
            <a:off x="6460053" y="4009461"/>
            <a:ext cx="210677" cy="210677"/>
          </a:xfrm>
          <a:prstGeom prst="rect">
            <a:avLst/>
          </a:prstGeom>
        </p:spPr>
      </p:pic>
      <p:sp>
        <p:nvSpPr>
          <p:cNvPr id="21" name="Rounded Rectangle 20"/>
          <p:cNvSpPr/>
          <p:nvPr/>
        </p:nvSpPr>
        <p:spPr>
          <a:xfrm>
            <a:off x="466344" y="5577840"/>
            <a:ext cx="11183112" cy="82296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09728" tIns="73152" bIns="73152"/>
          <a:lstStyle/>
          <a:p>
            <a:pPr algn="ctr">
              <a:spcAft>
                <a:spcPts val="300"/>
              </a:spcAft>
            </a:pPr>
            <a:r>
              <a:rPr sz="1300" b="1">
                <a:solidFill>
                  <a:srgbClr val="FFFFFF"/>
                </a:solidFill>
                <a:latin typeface="BIZ UDPGothic"/>
                <a:ea typeface="BIZ UDPGothic"/>
              </a:rPr>
              <a:t>フィジカルAIの導入は「IT × OT × AI」の統合プロジェクト — SIerの知見がそのまま活きる領域</a:t>
            </a:r>
          </a:p>
          <a:p>
            <a:r>
              <a:rPr sz="1100" b="0">
                <a:solidFill>
                  <a:srgbClr val="EDF4F9"/>
                </a:solidFill>
                <a:latin typeface="BIZ UDPGothic"/>
                <a:ea typeface="BIZ UDPGothic"/>
              </a:rPr>
              <a:t>通信事業者のDC保守・現場作業など、既存顧客の「物理作業」も将来の提案ターゲットになり得る</a:t>
            </a:r>
          </a:p>
        </p:txBody>
      </p:sp>
    </p:spTree>
    <p:extLst>
      <p:ext uri="{BB962C8B-B14F-4D97-AF65-F5344CB8AC3E}">
        <p14:creationId xmlns:p14="http://schemas.microsoft.com/office/powerpoint/2010/main" val="3061702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5．当社の取り組み・まとめ</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当社の狙い — 3つの時間軸で市場を取りにいく</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キャリアNW市場が成熟する中、運用自動化・AI領域へ段階的に商圏を広げる</a:t>
            </a:r>
            <a:endParaRPr lang="ja-JP" altLang="en-US"/>
          </a:p>
        </p:txBody>
      </p:sp>
      <p:sp>
        <p:nvSpPr>
          <p:cNvPr id="9" name="Rounded Rectangle 8"/>
          <p:cNvSpPr/>
          <p:nvPr/>
        </p:nvSpPr>
        <p:spPr>
          <a:xfrm>
            <a:off x="466344"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200"/>
              </a:spcAft>
            </a:pPr>
            <a:r>
              <a:rPr sz="1200" b="1">
                <a:solidFill>
                  <a:srgbClr val="2A65F5"/>
                </a:solidFill>
                <a:latin typeface="BIZ UDPGothic"/>
                <a:ea typeface="BIZ UDPGothic"/>
              </a:rPr>
              <a:t>短期</a:t>
            </a:r>
          </a:p>
          <a:p>
            <a:pPr algn="ctr">
              <a:spcAft>
                <a:spcPts val="800"/>
              </a:spcAft>
            </a:pPr>
            <a:r>
              <a:rPr sz="1450" b="1">
                <a:solidFill>
                  <a:srgbClr val="00219B"/>
                </a:solidFill>
                <a:latin typeface="BIZ UDPGothic"/>
                <a:ea typeface="BIZ UDPGothic"/>
              </a:rPr>
              <a:t>AIOps・運用自動化</a:t>
            </a:r>
          </a:p>
          <a:p>
            <a:pPr marL="182880" indent="-182880">
              <a:lnSpc>
                <a:spcPct val="115000"/>
              </a:lnSpc>
              <a:spcAft>
                <a:spcPts val="600"/>
              </a:spcAft>
              <a:buFont typeface="BIZ UDPGothic"/>
              <a:buChar char="・"/>
            </a:pPr>
            <a:r>
              <a:rPr sz="1150" b="0">
                <a:solidFill>
                  <a:srgbClr val="191919"/>
                </a:solidFill>
                <a:latin typeface="BIZ UDPGothic"/>
                <a:ea typeface="BIZ UDPGothic"/>
              </a:rPr>
              <a:t>市場はCAGR約20%で安定成長</a:t>
            </a:r>
          </a:p>
          <a:p>
            <a:pPr marL="182880" indent="-182880">
              <a:lnSpc>
                <a:spcPct val="115000"/>
              </a:lnSpc>
              <a:spcAft>
                <a:spcPts val="600"/>
              </a:spcAft>
              <a:buFont typeface="BIZ UDPGothic"/>
              <a:buChar char="・"/>
            </a:pPr>
            <a:r>
              <a:rPr sz="1150" b="0">
                <a:solidFill>
                  <a:srgbClr val="191919"/>
                </a:solidFill>
                <a:latin typeface="BIZ UDPGothic"/>
                <a:ea typeface="BIZ UDPGothic"/>
              </a:rPr>
              <a:t>キャリアNW運用の知見を活かし、人手不足・運用高度化ニーズに応える</a:t>
            </a:r>
          </a:p>
          <a:p>
            <a:pPr marL="182880" indent="-182880">
              <a:lnSpc>
                <a:spcPct val="115000"/>
              </a:lnSpc>
              <a:spcAft>
                <a:spcPts val="600"/>
              </a:spcAft>
              <a:buFont typeface="BIZ UDPGothic"/>
              <a:buChar char="・"/>
            </a:pPr>
            <a:r>
              <a:rPr sz="1150" b="0">
                <a:solidFill>
                  <a:srgbClr val="191919"/>
                </a:solidFill>
                <a:latin typeface="BIZ UDPGothic"/>
                <a:ea typeface="BIZ UDPGothic"/>
              </a:rPr>
              <a:t>「販社かつ開発まで担える」企業は少なく、商圏獲得の見込みが高い</a:t>
            </a:r>
          </a:p>
        </p:txBody>
      </p:sp>
      <p:sp>
        <p:nvSpPr>
          <p:cNvPr id="10" name="Oval 9"/>
          <p:cNvSpPr/>
          <p:nvPr/>
        </p:nvSpPr>
        <p:spPr>
          <a:xfrm>
            <a:off x="3511296" y="1883664"/>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gears_w.png"/>
          <p:cNvPicPr>
            <a:picLocks noChangeAspect="1"/>
          </p:cNvPicPr>
          <p:nvPr/>
        </p:nvPicPr>
        <p:blipFill>
          <a:blip r:embed="rId2"/>
          <a:stretch>
            <a:fillRect/>
          </a:stretch>
        </p:blipFill>
        <p:spPr>
          <a:xfrm>
            <a:off x="3615903" y="1988271"/>
            <a:ext cx="193121" cy="193121"/>
          </a:xfrm>
          <a:prstGeom prst="rect">
            <a:avLst/>
          </a:prstGeom>
        </p:spPr>
      </p:pic>
      <p:sp>
        <p:nvSpPr>
          <p:cNvPr id="12" name="Rounded Rectangle 11"/>
          <p:cNvSpPr/>
          <p:nvPr/>
        </p:nvSpPr>
        <p:spPr>
          <a:xfrm>
            <a:off x="4251960"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200"/>
              </a:spcAft>
            </a:pPr>
            <a:r>
              <a:rPr sz="1200" b="1">
                <a:solidFill>
                  <a:srgbClr val="2A65F5"/>
                </a:solidFill>
                <a:latin typeface="BIZ UDPGothic"/>
                <a:ea typeface="BIZ UDPGothic"/>
              </a:rPr>
              <a:t>中期</a:t>
            </a:r>
          </a:p>
          <a:p>
            <a:pPr algn="ctr">
              <a:spcAft>
                <a:spcPts val="800"/>
              </a:spcAft>
            </a:pPr>
            <a:r>
              <a:rPr sz="1450" b="1">
                <a:solidFill>
                  <a:srgbClr val="00219B"/>
                </a:solidFill>
                <a:latin typeface="BIZ UDPGothic"/>
                <a:ea typeface="BIZ UDPGothic"/>
              </a:rPr>
              <a:t>推論基盤（オンプレ生成AI）</a:t>
            </a:r>
          </a:p>
          <a:p>
            <a:pPr marL="182880" indent="-182880">
              <a:lnSpc>
                <a:spcPct val="115000"/>
              </a:lnSpc>
              <a:spcAft>
                <a:spcPts val="600"/>
              </a:spcAft>
              <a:buFont typeface="BIZ UDPGothic"/>
              <a:buChar char="・"/>
            </a:pPr>
            <a:r>
              <a:rPr sz="1150" b="0">
                <a:solidFill>
                  <a:srgbClr val="191919"/>
                </a:solidFill>
                <a:latin typeface="BIZ UDPGothic"/>
                <a:ea typeface="BIZ UDPGothic"/>
              </a:rPr>
              <a:t>国内生成AI市場はFY30に約1.7兆円（CAGR 47%）</a:t>
            </a:r>
          </a:p>
          <a:p>
            <a:pPr marL="182880" indent="-182880">
              <a:lnSpc>
                <a:spcPct val="115000"/>
              </a:lnSpc>
              <a:spcAft>
                <a:spcPts val="600"/>
              </a:spcAft>
              <a:buFont typeface="BIZ UDPGothic"/>
              <a:buChar char="・"/>
            </a:pPr>
            <a:r>
              <a:rPr sz="1150" b="0">
                <a:solidFill>
                  <a:srgbClr val="191919"/>
                </a:solidFill>
                <a:latin typeface="BIZ UDPGothic"/>
                <a:ea typeface="BIZ UDPGothic"/>
              </a:rPr>
              <a:t>オンプレ比率3割とすると約5,000億円規模と推計</a:t>
            </a:r>
          </a:p>
          <a:p>
            <a:pPr marL="182880" indent="-182880">
              <a:lnSpc>
                <a:spcPct val="115000"/>
              </a:lnSpc>
              <a:spcAft>
                <a:spcPts val="600"/>
              </a:spcAft>
              <a:buFont typeface="BIZ UDPGothic"/>
              <a:buChar char="・"/>
            </a:pPr>
            <a:r>
              <a:rPr sz="1150" b="0">
                <a:solidFill>
                  <a:srgbClr val="191919"/>
                </a:solidFill>
                <a:latin typeface="BIZ UDPGothic"/>
                <a:ea typeface="BIZ UDPGothic"/>
              </a:rPr>
              <a:t>データ主権・コスト・低遅延の要求から、オンプレ・エッジ推論の構築需要が拡大</a:t>
            </a:r>
          </a:p>
        </p:txBody>
      </p:sp>
      <p:sp>
        <p:nvSpPr>
          <p:cNvPr id="13" name="Oval 12"/>
          <p:cNvSpPr/>
          <p:nvPr/>
        </p:nvSpPr>
        <p:spPr>
          <a:xfrm>
            <a:off x="7296912" y="1883664"/>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4" name="Picture 13" descr="server_w.png"/>
          <p:cNvPicPr>
            <a:picLocks noChangeAspect="1"/>
          </p:cNvPicPr>
          <p:nvPr/>
        </p:nvPicPr>
        <p:blipFill>
          <a:blip r:embed="rId3"/>
          <a:stretch>
            <a:fillRect/>
          </a:stretch>
        </p:blipFill>
        <p:spPr>
          <a:xfrm>
            <a:off x="7401519" y="1988271"/>
            <a:ext cx="193121" cy="193121"/>
          </a:xfrm>
          <a:prstGeom prst="rect">
            <a:avLst/>
          </a:prstGeom>
        </p:spPr>
      </p:pic>
      <p:sp>
        <p:nvSpPr>
          <p:cNvPr id="15" name="Rounded Rectangle 14"/>
          <p:cNvSpPr/>
          <p:nvPr/>
        </p:nvSpPr>
        <p:spPr>
          <a:xfrm>
            <a:off x="8037576"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200"/>
              </a:spcAft>
            </a:pPr>
            <a:r>
              <a:rPr sz="1200" b="1">
                <a:solidFill>
                  <a:srgbClr val="2A65F5"/>
                </a:solidFill>
                <a:latin typeface="BIZ UDPGothic"/>
                <a:ea typeface="BIZ UDPGothic"/>
              </a:rPr>
              <a:t>中長期</a:t>
            </a:r>
          </a:p>
          <a:p>
            <a:pPr algn="ctr">
              <a:spcAft>
                <a:spcPts val="800"/>
              </a:spcAft>
            </a:pPr>
            <a:r>
              <a:rPr sz="1450" b="1">
                <a:solidFill>
                  <a:srgbClr val="00219B"/>
                </a:solidFill>
                <a:latin typeface="BIZ UDPGothic"/>
                <a:ea typeface="BIZ UDPGothic"/>
              </a:rPr>
              <a:t>フィジカルAI・AIグリッド</a:t>
            </a:r>
          </a:p>
          <a:p>
            <a:pPr marL="182880" indent="-182880">
              <a:lnSpc>
                <a:spcPct val="115000"/>
              </a:lnSpc>
              <a:spcAft>
                <a:spcPts val="600"/>
              </a:spcAft>
              <a:buFont typeface="BIZ UDPGothic"/>
              <a:buChar char="・"/>
            </a:pPr>
            <a:r>
              <a:rPr sz="1150" b="0">
                <a:solidFill>
                  <a:srgbClr val="191919"/>
                </a:solidFill>
                <a:latin typeface="BIZ UDPGothic"/>
                <a:ea typeface="BIZ UDPGothic"/>
              </a:rPr>
              <a:t>国内フィジカルAI市場はFY30に約2,300億円（CAGR 36.2%）</a:t>
            </a:r>
          </a:p>
          <a:p>
            <a:pPr marL="182880" indent="-182880">
              <a:lnSpc>
                <a:spcPct val="115000"/>
              </a:lnSpc>
              <a:spcAft>
                <a:spcPts val="600"/>
              </a:spcAft>
              <a:buFont typeface="BIZ UDPGothic"/>
              <a:buChar char="・"/>
            </a:pPr>
            <a:r>
              <a:rPr sz="1150" b="0">
                <a:solidFill>
                  <a:srgbClr val="191919"/>
                </a:solidFill>
                <a:latin typeface="BIZ UDPGothic"/>
                <a:ea typeface="BIZ UDPGothic"/>
              </a:rPr>
              <a:t>GPU・ロボット本体は激戦区だが、SI・ユースケースは未確立</a:t>
            </a:r>
          </a:p>
          <a:p>
            <a:pPr marL="182880" indent="-182880">
              <a:lnSpc>
                <a:spcPct val="115000"/>
              </a:lnSpc>
              <a:spcAft>
                <a:spcPts val="600"/>
              </a:spcAft>
              <a:buFont typeface="BIZ UDPGothic"/>
              <a:buChar char="・"/>
            </a:pPr>
            <a:r>
              <a:rPr sz="1150" b="0">
                <a:solidFill>
                  <a:srgbClr val="191919"/>
                </a:solidFill>
                <a:latin typeface="BIZ UDPGothic"/>
                <a:ea typeface="BIZ UDPGothic"/>
              </a:rPr>
              <a:t>立ち上げ期の今なら、エコシステム構築から大手とも組める</a:t>
            </a:r>
          </a:p>
        </p:txBody>
      </p:sp>
      <p:sp>
        <p:nvSpPr>
          <p:cNvPr id="16" name="Oval 15"/>
          <p:cNvSpPr/>
          <p:nvPr/>
        </p:nvSpPr>
        <p:spPr>
          <a:xfrm>
            <a:off x="11082528" y="1883664"/>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7" name="Picture 16" descr="robot_w.png"/>
          <p:cNvPicPr>
            <a:picLocks noChangeAspect="1"/>
          </p:cNvPicPr>
          <p:nvPr/>
        </p:nvPicPr>
        <p:blipFill>
          <a:blip r:embed="rId4"/>
          <a:stretch>
            <a:fillRect/>
          </a:stretch>
        </p:blipFill>
        <p:spPr>
          <a:xfrm>
            <a:off x="11187135" y="1988271"/>
            <a:ext cx="193121" cy="193121"/>
          </a:xfrm>
          <a:prstGeom prst="rect">
            <a:avLst/>
          </a:prstGeom>
        </p:spPr>
      </p:pic>
      <p:sp>
        <p:nvSpPr>
          <p:cNvPr id="18" name="Rounded Rectangle 17"/>
          <p:cNvSpPr/>
          <p:nvPr/>
        </p:nvSpPr>
        <p:spPr>
          <a:xfrm>
            <a:off x="466344" y="5257800"/>
            <a:ext cx="11183112" cy="96012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09728" tIns="73152" bIns="73152"/>
          <a:lstStyle/>
          <a:p>
            <a:pPr algn="ctr">
              <a:spcAft>
                <a:spcPts val="300"/>
              </a:spcAft>
            </a:pPr>
            <a:r>
              <a:rPr sz="1300" b="1">
                <a:solidFill>
                  <a:srgbClr val="FFFFFF"/>
                </a:solidFill>
                <a:latin typeface="BIZ UDPGothic"/>
                <a:ea typeface="BIZ UDPGothic"/>
              </a:rPr>
              <a:t>技術獲得のステップ：基礎技術（Kubernetes・Python・IaC）→ AIOps → 推論基盤 → AIグリッド・フィジカルAI</a:t>
            </a:r>
          </a:p>
          <a:p>
            <a:r>
              <a:rPr sz="1100" b="0">
                <a:solidFill>
                  <a:srgbClr val="EDF4F9"/>
                </a:solidFill>
                <a:latin typeface="BIZ UDPGothic"/>
                <a:ea typeface="BIZ UDPGothic"/>
              </a:rPr>
              <a:t>足元の商圏で稼ぎながら技術を積み上げ、フィジカルAIの立ち上がりに間に合わせる段階的アプローチ</a:t>
            </a:r>
          </a:p>
        </p:txBody>
      </p:sp>
    </p:spTree>
    <p:extLst>
      <p:ext uri="{BB962C8B-B14F-4D97-AF65-F5344CB8AC3E}">
        <p14:creationId xmlns:p14="http://schemas.microsoft.com/office/powerpoint/2010/main" val="3061702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検証で積み上げてきた技術アセット</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机上調査ではなく、実機検証・パッケージ化まで進めている</a:t>
            </a:r>
            <a:endParaRPr lang="ja-JP" altLang="en-US"/>
          </a:p>
        </p:txBody>
      </p:sp>
      <p:sp>
        <p:nvSpPr>
          <p:cNvPr id="9" name="Rounded Rectangle 8"/>
          <p:cNvSpPr/>
          <p:nvPr/>
        </p:nvSpPr>
        <p:spPr>
          <a:xfrm>
            <a:off x="466344" y="173736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オンプレ生成AI基盤パッケージ</a:t>
            </a:r>
          </a:p>
          <a:p>
            <a:pPr algn="ctr">
              <a:spcAft>
                <a:spcPts val="600"/>
              </a:spcAft>
            </a:pPr>
            <a:r>
              <a:rPr sz="1500" b="1">
                <a:solidFill>
                  <a:srgbClr val="00219B"/>
                </a:solidFill>
                <a:latin typeface="BIZ UDPGothic"/>
                <a:ea typeface="BIZ UDPGothic"/>
              </a:rPr>
              <a:t>STech I-AI-Innovation Suite</a:t>
            </a:r>
          </a:p>
          <a:p>
            <a:pPr>
              <a:lnSpc>
                <a:spcPct val="120000"/>
              </a:lnSpc>
            </a:pPr>
            <a:r>
              <a:rPr sz="1150" b="0">
                <a:solidFill>
                  <a:srgbClr val="191919"/>
                </a:solidFill>
                <a:latin typeface="BIZ UDPGothic"/>
                <a:ea typeface="BIZ UDPGothic"/>
              </a:rPr>
              <a:t>neoAI社LLM × HPEサーバーの事前検証済み構成。基盤SIに加え、伴走支援・AI教育まで一貫提供</a:t>
            </a:r>
          </a:p>
        </p:txBody>
      </p:sp>
      <p:sp>
        <p:nvSpPr>
          <p:cNvPr id="10" name="Oval 9"/>
          <p:cNvSpPr/>
          <p:nvPr/>
        </p:nvSpPr>
        <p:spPr>
          <a:xfrm>
            <a:off x="649224" y="1883664"/>
            <a:ext cx="420624" cy="420624"/>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boxopen_w.png"/>
          <p:cNvPicPr>
            <a:picLocks noChangeAspect="1"/>
          </p:cNvPicPr>
          <p:nvPr/>
        </p:nvPicPr>
        <p:blipFill>
          <a:blip r:embed="rId2"/>
          <a:stretch>
            <a:fillRect/>
          </a:stretch>
        </p:blipFill>
        <p:spPr>
          <a:xfrm>
            <a:off x="758586" y="1993026"/>
            <a:ext cx="201899" cy="201899"/>
          </a:xfrm>
          <a:prstGeom prst="rect">
            <a:avLst/>
          </a:prstGeom>
        </p:spPr>
      </p:pic>
      <p:sp>
        <p:nvSpPr>
          <p:cNvPr id="12" name="Rounded Rectangle 11"/>
          <p:cNvSpPr/>
          <p:nvPr/>
        </p:nvSpPr>
        <p:spPr>
          <a:xfrm>
            <a:off x="6144768" y="173736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エッジAIアクセラレータ実機検証</a:t>
            </a:r>
          </a:p>
          <a:p>
            <a:pPr algn="ctr">
              <a:spcAft>
                <a:spcPts val="600"/>
              </a:spcAft>
            </a:pPr>
            <a:r>
              <a:rPr sz="1500" b="1">
                <a:solidFill>
                  <a:srgbClr val="00219B"/>
                </a:solidFill>
                <a:latin typeface="BIZ UDPGothic"/>
                <a:ea typeface="BIZ UDPGothic"/>
              </a:rPr>
              <a:t>EdgeCortix SAKURA-II</a:t>
            </a:r>
          </a:p>
          <a:p>
            <a:pPr>
              <a:lnSpc>
                <a:spcPct val="120000"/>
              </a:lnSpc>
            </a:pPr>
            <a:r>
              <a:rPr sz="1150" b="0">
                <a:solidFill>
                  <a:srgbClr val="191919"/>
                </a:solidFill>
                <a:latin typeface="BIZ UDPGothic"/>
                <a:ea typeface="BIZ UDPGothic"/>
              </a:rPr>
              <a:t>データフロー型NPUで、遅延ゆらぎ±1ms未満・平均消費電力10W未満を実証。ロボット・VLA・自動運転などフィジカルAI領域に適合</a:t>
            </a:r>
          </a:p>
        </p:txBody>
      </p:sp>
      <p:sp>
        <p:nvSpPr>
          <p:cNvPr id="13" name="Oval 12"/>
          <p:cNvSpPr/>
          <p:nvPr/>
        </p:nvSpPr>
        <p:spPr>
          <a:xfrm>
            <a:off x="6327648" y="1883664"/>
            <a:ext cx="420624" cy="420624"/>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4" name="Picture 13" descr="microchip_w.png"/>
          <p:cNvPicPr>
            <a:picLocks noChangeAspect="1"/>
          </p:cNvPicPr>
          <p:nvPr/>
        </p:nvPicPr>
        <p:blipFill>
          <a:blip r:embed="rId3"/>
          <a:stretch>
            <a:fillRect/>
          </a:stretch>
        </p:blipFill>
        <p:spPr>
          <a:xfrm>
            <a:off x="6437010" y="1993026"/>
            <a:ext cx="201899" cy="201899"/>
          </a:xfrm>
          <a:prstGeom prst="rect">
            <a:avLst/>
          </a:prstGeom>
        </p:spPr>
      </p:pic>
      <p:sp>
        <p:nvSpPr>
          <p:cNvPr id="15" name="Rounded Rectangle 14"/>
          <p:cNvSpPr/>
          <p:nvPr/>
        </p:nvSpPr>
        <p:spPr>
          <a:xfrm>
            <a:off x="466344" y="393192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AI推論を支える分散ストレージ</a:t>
            </a:r>
          </a:p>
          <a:p>
            <a:pPr algn="ctr">
              <a:spcAft>
                <a:spcPts val="600"/>
              </a:spcAft>
            </a:pPr>
            <a:r>
              <a:rPr sz="1500" b="1">
                <a:solidFill>
                  <a:srgbClr val="00219B"/>
                </a:solidFill>
                <a:latin typeface="BIZ UDPGothic"/>
                <a:ea typeface="BIZ UDPGothic"/>
              </a:rPr>
              <a:t>simplyblock</a:t>
            </a:r>
          </a:p>
          <a:p>
            <a:pPr>
              <a:lnSpc>
                <a:spcPct val="120000"/>
              </a:lnSpc>
            </a:pPr>
            <a:r>
              <a:rPr sz="1150" b="0">
                <a:solidFill>
                  <a:srgbClr val="191919"/>
                </a:solidFill>
                <a:latin typeface="BIZ UDPGothic"/>
                <a:ea typeface="BIZ UDPGothic"/>
              </a:rPr>
              <a:t>LLM推論のKVキャッシュを永続化・ノード間共有して再計算を削減。Kubernetesネイティブな推論基盤を検証</a:t>
            </a:r>
          </a:p>
        </p:txBody>
      </p:sp>
      <p:sp>
        <p:nvSpPr>
          <p:cNvPr id="16" name="Oval 15"/>
          <p:cNvSpPr/>
          <p:nvPr/>
        </p:nvSpPr>
        <p:spPr>
          <a:xfrm>
            <a:off x="649224" y="4078224"/>
            <a:ext cx="420624" cy="420624"/>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7" name="Picture 16" descr="harddrive_w.png"/>
          <p:cNvPicPr>
            <a:picLocks noChangeAspect="1"/>
          </p:cNvPicPr>
          <p:nvPr/>
        </p:nvPicPr>
        <p:blipFill>
          <a:blip r:embed="rId4"/>
          <a:stretch>
            <a:fillRect/>
          </a:stretch>
        </p:blipFill>
        <p:spPr>
          <a:xfrm>
            <a:off x="758586" y="4187586"/>
            <a:ext cx="201899" cy="201899"/>
          </a:xfrm>
          <a:prstGeom prst="rect">
            <a:avLst/>
          </a:prstGeom>
        </p:spPr>
      </p:pic>
      <p:sp>
        <p:nvSpPr>
          <p:cNvPr id="18" name="Rounded Rectangle 17"/>
          <p:cNvSpPr/>
          <p:nvPr/>
        </p:nvSpPr>
        <p:spPr>
          <a:xfrm>
            <a:off x="6144768" y="393192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「認識して動く」社内デモ</a:t>
            </a:r>
          </a:p>
          <a:p>
            <a:pPr algn="ctr">
              <a:spcAft>
                <a:spcPts val="600"/>
              </a:spcAft>
            </a:pPr>
            <a:r>
              <a:rPr sz="1500" b="1">
                <a:solidFill>
                  <a:srgbClr val="00219B"/>
                </a:solidFill>
                <a:latin typeface="BIZ UDPGothic"/>
                <a:ea typeface="BIZ UDPGothic"/>
              </a:rPr>
              <a:t>ロボットアーム連携</a:t>
            </a:r>
          </a:p>
          <a:p>
            <a:pPr>
              <a:lnSpc>
                <a:spcPct val="120000"/>
              </a:lnSpc>
            </a:pPr>
            <a:r>
              <a:rPr sz="1150" b="0">
                <a:solidFill>
                  <a:srgbClr val="191919"/>
                </a:solidFill>
                <a:latin typeface="BIZ UDPGothic"/>
                <a:ea typeface="BIZ UDPGothic"/>
              </a:rPr>
              <a:t>カメラの物体検知（エッジNPU）とロボットアームを連携。青いボールを認識してつかみ、所定位置へ配置する一連動作を実装</a:t>
            </a:r>
          </a:p>
        </p:txBody>
      </p:sp>
      <p:sp>
        <p:nvSpPr>
          <p:cNvPr id="19" name="Oval 18"/>
          <p:cNvSpPr/>
          <p:nvPr/>
        </p:nvSpPr>
        <p:spPr>
          <a:xfrm>
            <a:off x="6327648" y="4078224"/>
            <a:ext cx="420624" cy="420624"/>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20" name="Picture 19" descr="arm_w.png"/>
          <p:cNvPicPr>
            <a:picLocks noChangeAspect="1"/>
          </p:cNvPicPr>
          <p:nvPr/>
        </p:nvPicPr>
        <p:blipFill>
          <a:blip r:embed="rId5"/>
          <a:stretch>
            <a:fillRect/>
          </a:stretch>
        </p:blipFill>
        <p:spPr>
          <a:xfrm>
            <a:off x="6437010" y="4187586"/>
            <a:ext cx="201899" cy="201899"/>
          </a:xfrm>
          <a:prstGeom prst="rect">
            <a:avLst/>
          </a:prstGeom>
        </p:spPr>
      </p:pic>
      <p:sp>
        <p:nvSpPr>
          <p:cNvPr id="21" name="TextBox 20"/>
          <p:cNvSpPr txBox="1"/>
          <p:nvPr/>
        </p:nvSpPr>
        <p:spPr>
          <a:xfrm>
            <a:off x="466344" y="5989320"/>
            <a:ext cx="11183112" cy="365760"/>
          </a:xfrm>
          <a:prstGeom prst="rect">
            <a:avLst/>
          </a:prstGeom>
          <a:noFill/>
        </p:spPr>
        <p:txBody>
          <a:bodyPr wrap="square" lIns="0" rIns="0" tIns="0" bIns="0" anchor="t">
            <a:spAutoFit/>
          </a:bodyPr>
          <a:lstStyle/>
          <a:p>
            <a:r>
              <a:rPr sz="1050" b="0">
                <a:solidFill>
                  <a:srgbClr val="A7ACAF"/>
                </a:solidFill>
                <a:latin typeface="BIZ UDPGothic"/>
                <a:ea typeface="BIZ UDPGothic"/>
              </a:rPr>
              <a:t>※ 検証結果の詳細は技術共有会資料（2026年7月・ネットワークインテグレーション事業本部）を参照</a:t>
            </a:r>
          </a:p>
        </p:txBody>
      </p:sp>
    </p:spTree>
    <p:extLst>
      <p:ext uri="{BB962C8B-B14F-4D97-AF65-F5344CB8AC3E}">
        <p14:creationId xmlns:p14="http://schemas.microsoft.com/office/powerpoint/2010/main" val="30617027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構想 — エッジAI × 地域デジタルツインで「認識・予測・行動」を回す</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フィジカルAIの構成要素を、防災・害獣対策などの地域課題に応用する</a:t>
            </a:r>
            <a:endParaRPr lang="ja-JP" altLang="en-US"/>
          </a:p>
        </p:txBody>
      </p:sp>
      <p:sp>
        <p:nvSpPr>
          <p:cNvPr id="9" name="Rounded Rectangle 8"/>
          <p:cNvSpPr/>
          <p:nvPr/>
        </p:nvSpPr>
        <p:spPr>
          <a:xfrm>
            <a:off x="46634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認識</a:t>
            </a:r>
          </a:p>
          <a:p>
            <a:pPr algn="ctr">
              <a:spcAft>
                <a:spcPts val="700"/>
              </a:spcAft>
            </a:pPr>
            <a:r>
              <a:rPr sz="1500" b="1">
                <a:solidFill>
                  <a:srgbClr val="00219B"/>
                </a:solidFill>
                <a:latin typeface="BIZ UDPGothic"/>
                <a:ea typeface="BIZ UDPGothic"/>
              </a:rPr>
              <a:t>現場のエッジAI端末</a:t>
            </a:r>
          </a:p>
          <a:p>
            <a:pPr>
              <a:lnSpc>
                <a:spcPct val="120000"/>
              </a:lnSpc>
            </a:pPr>
            <a:r>
              <a:rPr sz="1150" b="0">
                <a:solidFill>
                  <a:srgbClr val="191919"/>
                </a:solidFill>
                <a:latin typeface="BIZ UDPGothic"/>
                <a:ea typeface="BIZ UDPGothic"/>
              </a:rPr>
              <a:t>ドローン・カメラ・センサーが対象（被災者・害獣など）と周囲環境をリアルタイムに認識</a:t>
            </a:r>
          </a:p>
        </p:txBody>
      </p:sp>
      <p:sp>
        <p:nvSpPr>
          <p:cNvPr id="10" name="Oval 9"/>
          <p:cNvSpPr/>
          <p:nvPr/>
        </p:nvSpPr>
        <p:spPr>
          <a:xfrm>
            <a:off x="3392424"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1" name="Picture 10" descr="eye_w.png"/>
          <p:cNvPicPr>
            <a:picLocks noChangeAspect="1"/>
          </p:cNvPicPr>
          <p:nvPr/>
        </p:nvPicPr>
        <p:blipFill>
          <a:blip r:embed="rId2"/>
          <a:stretch>
            <a:fillRect/>
          </a:stretch>
        </p:blipFill>
        <p:spPr>
          <a:xfrm>
            <a:off x="3497031" y="2033991"/>
            <a:ext cx="193121" cy="193121"/>
          </a:xfrm>
          <a:prstGeom prst="rect">
            <a:avLst/>
          </a:prstGeom>
        </p:spPr>
      </p:pic>
      <p:sp>
        <p:nvSpPr>
          <p:cNvPr id="12" name="Chevron 11"/>
          <p:cNvSpPr/>
          <p:nvPr/>
        </p:nvSpPr>
        <p:spPr>
          <a:xfrm>
            <a:off x="3995928"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3" name="Rounded Rectangle 12"/>
          <p:cNvSpPr/>
          <p:nvPr/>
        </p:nvSpPr>
        <p:spPr>
          <a:xfrm>
            <a:off x="430682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予測</a:t>
            </a:r>
          </a:p>
          <a:p>
            <a:pPr algn="ctr">
              <a:spcAft>
                <a:spcPts val="700"/>
              </a:spcAft>
            </a:pPr>
            <a:r>
              <a:rPr sz="1500" b="1">
                <a:solidFill>
                  <a:srgbClr val="00219B"/>
                </a:solidFill>
                <a:latin typeface="BIZ UDPGothic"/>
                <a:ea typeface="BIZ UDPGothic"/>
              </a:rPr>
              <a:t>地域デジタルツイン</a:t>
            </a:r>
          </a:p>
          <a:p>
            <a:pPr>
              <a:lnSpc>
                <a:spcPct val="120000"/>
              </a:lnSpc>
            </a:pPr>
            <a:r>
              <a:rPr sz="1150" b="0">
                <a:solidFill>
                  <a:srgbClr val="191919"/>
                </a:solidFill>
                <a:latin typeface="BIZ UDPGothic"/>
                <a:ea typeface="BIZ UDPGothic"/>
              </a:rPr>
              <a:t>地域共有型のGPU/NPU基盤上で現実を再現し、氾濫・行動などの未来をシミュレーション</a:t>
            </a:r>
          </a:p>
        </p:txBody>
      </p:sp>
      <p:sp>
        <p:nvSpPr>
          <p:cNvPr id="14" name="Oval 13"/>
          <p:cNvSpPr/>
          <p:nvPr/>
        </p:nvSpPr>
        <p:spPr>
          <a:xfrm>
            <a:off x="7232903"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5" name="Picture 14" descr="maploc_w.png"/>
          <p:cNvPicPr>
            <a:picLocks noChangeAspect="1"/>
          </p:cNvPicPr>
          <p:nvPr/>
        </p:nvPicPr>
        <p:blipFill>
          <a:blip r:embed="rId3"/>
          <a:stretch>
            <a:fillRect/>
          </a:stretch>
        </p:blipFill>
        <p:spPr>
          <a:xfrm>
            <a:off x="7337511" y="2033991"/>
            <a:ext cx="193121" cy="193121"/>
          </a:xfrm>
          <a:prstGeom prst="rect">
            <a:avLst/>
          </a:prstGeom>
        </p:spPr>
      </p:pic>
      <p:sp>
        <p:nvSpPr>
          <p:cNvPr id="16" name="Chevron 15"/>
          <p:cNvSpPr/>
          <p:nvPr/>
        </p:nvSpPr>
        <p:spPr>
          <a:xfrm>
            <a:off x="7836407"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7" name="Rounded Rectangle 16"/>
          <p:cNvSpPr/>
          <p:nvPr/>
        </p:nvSpPr>
        <p:spPr>
          <a:xfrm>
            <a:off x="814730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行動</a:t>
            </a:r>
          </a:p>
          <a:p>
            <a:pPr algn="ctr">
              <a:spcAft>
                <a:spcPts val="700"/>
              </a:spcAft>
            </a:pPr>
            <a:r>
              <a:rPr sz="1500" b="1">
                <a:solidFill>
                  <a:srgbClr val="00219B"/>
                </a:solidFill>
                <a:latin typeface="BIZ UDPGothic"/>
                <a:ea typeface="BIZ UDPGothic"/>
              </a:rPr>
              <a:t>現場へフィードバック</a:t>
            </a:r>
          </a:p>
          <a:p>
            <a:pPr>
              <a:lnSpc>
                <a:spcPct val="120000"/>
              </a:lnSpc>
            </a:pPr>
            <a:r>
              <a:rPr sz="1150" b="0">
                <a:solidFill>
                  <a:srgbClr val="191919"/>
                </a:solidFill>
                <a:latin typeface="BIZ UDPGothic"/>
                <a:ea typeface="BIZ UDPGothic"/>
              </a:rPr>
              <a:t>予測結果をエッジへ返し、ドローン群制御・誘導・追い込みなどの協調行動につなげる</a:t>
            </a:r>
          </a:p>
        </p:txBody>
      </p:sp>
      <p:sp>
        <p:nvSpPr>
          <p:cNvPr id="18" name="Oval 17"/>
          <p:cNvSpPr/>
          <p:nvPr/>
        </p:nvSpPr>
        <p:spPr>
          <a:xfrm>
            <a:off x="11073384" y="1929384"/>
            <a:ext cx="402336" cy="402336"/>
          </a:xfrm>
          <a:prstGeom prst="ellipse">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pic>
        <p:nvPicPr>
          <p:cNvPr id="19" name="Picture 18" descr="drone_w.png"/>
          <p:cNvPicPr>
            <a:picLocks noChangeAspect="1"/>
          </p:cNvPicPr>
          <p:nvPr/>
        </p:nvPicPr>
        <p:blipFill>
          <a:blip r:embed="rId4"/>
          <a:stretch>
            <a:fillRect/>
          </a:stretch>
        </p:blipFill>
        <p:spPr>
          <a:xfrm>
            <a:off x="11177991" y="2033991"/>
            <a:ext cx="193121" cy="193121"/>
          </a:xfrm>
          <a:prstGeom prst="rect">
            <a:avLst/>
          </a:prstGeom>
        </p:spPr>
      </p:pic>
      <p:sp>
        <p:nvSpPr>
          <p:cNvPr id="20" name="Rounded Rectangle 19"/>
          <p:cNvSpPr/>
          <p:nvPr/>
        </p:nvSpPr>
        <p:spPr>
          <a:xfrm>
            <a:off x="466344" y="4206240"/>
            <a:ext cx="5504688" cy="1234440"/>
          </a:xfrm>
          <a:prstGeom prst="roundRect">
            <a:avLst>
              <a:gd name="adj" fmla="val 8000"/>
            </a:avLst>
          </a:prstGeom>
          <a:solidFill>
            <a:srgbClr val="FFFFFF"/>
          </a:solidFill>
          <a:ln w="12700">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18872" bIns="73152"/>
          <a:lstStyle/>
          <a:p>
            <a:pPr algn="ctr">
              <a:spcAft>
                <a:spcPts val="400"/>
              </a:spcAft>
            </a:pPr>
            <a:r>
              <a:rPr sz="1200" b="1">
                <a:solidFill>
                  <a:srgbClr val="E86487"/>
                </a:solidFill>
                <a:latin typeface="BIZ UDPGothic"/>
                <a:ea typeface="BIZ UDPGothic"/>
              </a:rPr>
              <a:t>■ </a:t>
            </a:r>
            <a:r>
              <a:rPr sz="1300" b="1">
                <a:solidFill>
                  <a:srgbClr val="00219B"/>
                </a:solidFill>
                <a:latin typeface="BIZ UDPGothic"/>
                <a:ea typeface="BIZ UDPGothic"/>
              </a:rPr>
              <a:t>ユースケース：防災</a:t>
            </a:r>
          </a:p>
          <a:p>
            <a:pPr>
              <a:lnSpc>
                <a:spcPct val="120000"/>
              </a:lnSpc>
            </a:pPr>
            <a:r>
              <a:rPr sz="1150" b="0">
                <a:solidFill>
                  <a:srgbClr val="191919"/>
                </a:solidFill>
                <a:latin typeface="BIZ UDPGothic"/>
                <a:ea typeface="BIZ UDPGothic"/>
              </a:rPr>
              <a:t>河川監視データから氾濫・浸水を予測し、逃げ遅れをドローンが発見・避難誘導</a:t>
            </a:r>
          </a:p>
        </p:txBody>
      </p:sp>
      <p:sp>
        <p:nvSpPr>
          <p:cNvPr id="21" name="Rounded Rectangle 20"/>
          <p:cNvSpPr/>
          <p:nvPr/>
        </p:nvSpPr>
        <p:spPr>
          <a:xfrm>
            <a:off x="6144768" y="4206240"/>
            <a:ext cx="5504688" cy="1234440"/>
          </a:xfrm>
          <a:prstGeom prst="roundRect">
            <a:avLst>
              <a:gd name="adj" fmla="val 8000"/>
            </a:avLst>
          </a:prstGeom>
          <a:solidFill>
            <a:srgbClr val="FFFFFF"/>
          </a:solidFill>
          <a:ln w="12700">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18872" bIns="73152"/>
          <a:lstStyle/>
          <a:p>
            <a:pPr algn="ctr">
              <a:spcAft>
                <a:spcPts val="400"/>
              </a:spcAft>
            </a:pPr>
            <a:r>
              <a:rPr sz="1200" b="1">
                <a:solidFill>
                  <a:srgbClr val="55D2D8"/>
                </a:solidFill>
                <a:latin typeface="BIZ UDPGothic"/>
                <a:ea typeface="BIZ UDPGothic"/>
              </a:rPr>
              <a:t>■ </a:t>
            </a:r>
            <a:r>
              <a:rPr sz="1300" b="1">
                <a:solidFill>
                  <a:srgbClr val="00219B"/>
                </a:solidFill>
                <a:latin typeface="BIZ UDPGothic"/>
                <a:ea typeface="BIZ UDPGothic"/>
              </a:rPr>
              <a:t>ユースケース：害獣対策</a:t>
            </a:r>
          </a:p>
          <a:p>
            <a:pPr>
              <a:lnSpc>
                <a:spcPct val="120000"/>
              </a:lnSpc>
            </a:pPr>
            <a:r>
              <a:rPr sz="1150" b="0">
                <a:solidFill>
                  <a:srgbClr val="191919"/>
                </a:solidFill>
                <a:latin typeface="BIZ UDPGothic"/>
                <a:ea typeface="BIZ UDPGothic"/>
              </a:rPr>
              <a:t>行動予知と包囲計算に基づき、ドローン群を再配置して音・光で追い込み・誘導</a:t>
            </a:r>
          </a:p>
        </p:txBody>
      </p:sp>
      <p:sp>
        <p:nvSpPr>
          <p:cNvPr id="22" name="TextBox 21"/>
          <p:cNvSpPr txBox="1"/>
          <p:nvPr/>
        </p:nvSpPr>
        <p:spPr>
          <a:xfrm>
            <a:off x="466344" y="5715000"/>
            <a:ext cx="11183112" cy="548640"/>
          </a:xfrm>
          <a:prstGeom prst="rect">
            <a:avLst/>
          </a:prstGeom>
          <a:noFill/>
        </p:spPr>
        <p:txBody>
          <a:bodyPr wrap="square" lIns="0" rIns="0" tIns="0" bIns="0" anchor="t">
            <a:spAutoFit/>
          </a:bodyPr>
          <a:lstStyle/>
          <a:p>
            <a:pPr>
              <a:lnSpc>
                <a:spcPct val="120000"/>
              </a:lnSpc>
            </a:pPr>
            <a:r>
              <a:rPr sz="1050" b="0">
                <a:solidFill>
                  <a:srgbClr val="A7ACAF"/>
                </a:solidFill>
                <a:latin typeface="BIZ UDPGothic"/>
                <a:ea typeface="BIZ UDPGothic"/>
              </a:rPr>
              <a:t>※ エッジAI・ローカル5G・デジタルツインを通信基盤で相互接続する構想。将来はシミュレーション結果の自動運転への応用展開も視野</a:t>
            </a:r>
          </a:p>
        </p:txBody>
      </p:sp>
    </p:spTree>
    <p:extLst>
      <p:ext uri="{BB962C8B-B14F-4D97-AF65-F5344CB8AC3E}">
        <p14:creationId xmlns:p14="http://schemas.microsoft.com/office/powerpoint/2010/main" val="30617027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目指す提案像 — ロボット × ローカル5G × AI集中分析・学習基盤</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検証済みアセットを組み合わせ、「現場が自律的に回る」仕組みを一気通貫で提供する</a:t>
            </a:r>
            <a:endParaRPr lang="ja-JP" altLang="en-US"/>
          </a:p>
        </p:txBody>
      </p:sp>
      <p:sp>
        <p:nvSpPr>
          <p:cNvPr id="9" name="Rounded Rectangle 8"/>
          <p:cNvSpPr/>
          <p:nvPr/>
        </p:nvSpPr>
        <p:spPr>
          <a:xfrm>
            <a:off x="466344" y="1920240"/>
            <a:ext cx="3291840" cy="30175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914400" bIns="73152"/>
          <a:lstStyle/>
          <a:p>
            <a:pPr algn="ctr">
              <a:spcAft>
                <a:spcPts val="600"/>
              </a:spcAft>
            </a:pPr>
            <a:r>
              <a:rPr sz="1500" b="1">
                <a:solidFill>
                  <a:srgbClr val="00219B"/>
                </a:solidFill>
                <a:latin typeface="BIZ UDPGothic"/>
                <a:ea typeface="BIZ UDPGothic"/>
              </a:rPr>
              <a:t>現場（エッジ）</a:t>
            </a:r>
          </a:p>
          <a:p>
            <a:pPr>
              <a:lnSpc>
                <a:spcPct val="120000"/>
              </a:lnSpc>
              <a:spcAft>
                <a:spcPts val="400"/>
              </a:spcAft>
            </a:pPr>
            <a:r>
              <a:rPr sz="1150" b="0">
                <a:solidFill>
                  <a:srgbClr val="191919"/>
                </a:solidFill>
                <a:latin typeface="BIZ UDPGothic"/>
                <a:ea typeface="BIZ UDPGothic"/>
              </a:rPr>
              <a:t>ロボット・ドローン・カメラが作業と収集を担う</a:t>
            </a:r>
          </a:p>
          <a:p>
            <a:pPr>
              <a:lnSpc>
                <a:spcPct val="120000"/>
              </a:lnSpc>
            </a:pPr>
            <a:r>
              <a:rPr sz="1150" b="0">
                <a:solidFill>
                  <a:srgbClr val="191919"/>
                </a:solidFill>
                <a:latin typeface="BIZ UDPGothic"/>
                <a:ea typeface="BIZ UDPGothic"/>
              </a:rPr>
              <a:t>エッジNPU（SAKURA-II）で±1ms級の即時推論</a:t>
            </a:r>
          </a:p>
        </p:txBody>
      </p:sp>
      <p:pic>
        <p:nvPicPr>
          <p:cNvPr id="10" name="Picture 9" descr="robot_n.png"/>
          <p:cNvPicPr>
            <a:picLocks noChangeAspect="1"/>
          </p:cNvPicPr>
          <p:nvPr/>
        </p:nvPicPr>
        <p:blipFill>
          <a:blip r:embed="rId2"/>
          <a:stretch>
            <a:fillRect/>
          </a:stretch>
        </p:blipFill>
        <p:spPr>
          <a:xfrm>
            <a:off x="1106424" y="2121408"/>
            <a:ext cx="475488" cy="475488"/>
          </a:xfrm>
          <a:prstGeom prst="rect">
            <a:avLst/>
          </a:prstGeom>
        </p:spPr>
      </p:pic>
      <p:pic>
        <p:nvPicPr>
          <p:cNvPr id="11" name="Picture 10" descr="drone_n.png"/>
          <p:cNvPicPr>
            <a:picLocks noChangeAspect="1"/>
          </p:cNvPicPr>
          <p:nvPr/>
        </p:nvPicPr>
        <p:blipFill>
          <a:blip r:embed="rId3"/>
          <a:stretch>
            <a:fillRect/>
          </a:stretch>
        </p:blipFill>
        <p:spPr>
          <a:xfrm>
            <a:off x="1792224" y="2121408"/>
            <a:ext cx="475488" cy="475488"/>
          </a:xfrm>
          <a:prstGeom prst="rect">
            <a:avLst/>
          </a:prstGeom>
        </p:spPr>
      </p:pic>
      <p:pic>
        <p:nvPicPr>
          <p:cNvPr id="12" name="Picture 11" descr="camera_n.png"/>
          <p:cNvPicPr>
            <a:picLocks noChangeAspect="1"/>
          </p:cNvPicPr>
          <p:nvPr/>
        </p:nvPicPr>
        <p:blipFill>
          <a:blip r:embed="rId4"/>
          <a:stretch>
            <a:fillRect/>
          </a:stretch>
        </p:blipFill>
        <p:spPr>
          <a:xfrm>
            <a:off x="2478024" y="2121408"/>
            <a:ext cx="475488" cy="475488"/>
          </a:xfrm>
          <a:prstGeom prst="rect">
            <a:avLst/>
          </a:prstGeom>
        </p:spPr>
      </p:pic>
      <p:sp>
        <p:nvSpPr>
          <p:cNvPr id="13" name="Rounded Rectangle 12"/>
          <p:cNvSpPr/>
          <p:nvPr/>
        </p:nvSpPr>
        <p:spPr>
          <a:xfrm>
            <a:off x="4306824" y="1920240"/>
            <a:ext cx="2377440" cy="3017520"/>
          </a:xfrm>
          <a:prstGeom prst="roundRect">
            <a:avLst>
              <a:gd name="adj" fmla="val 8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0" bIns="73152"/>
          <a:lstStyle/>
          <a:p>
            <a:pPr algn="ctr">
              <a:spcAft>
                <a:spcPts val="600"/>
              </a:spcAft>
            </a:pPr>
            <a:r>
              <a:rPr sz="1500" b="1">
                <a:solidFill>
                  <a:srgbClr val="FFFFFF"/>
                </a:solidFill>
                <a:latin typeface="BIZ UDPGothic"/>
                <a:ea typeface="BIZ UDPGothic"/>
              </a:rPr>
              <a:t>ローカル5G</a:t>
            </a:r>
          </a:p>
          <a:p>
            <a:pPr algn="ctr">
              <a:lnSpc>
                <a:spcPct val="125000"/>
              </a:lnSpc>
            </a:pPr>
            <a:r>
              <a:rPr sz="1150" b="0">
                <a:solidFill>
                  <a:srgbClr val="EDF4F9"/>
                </a:solidFill>
                <a:latin typeface="BIZ UDPGothic"/>
                <a:ea typeface="BIZ UDPGothic"/>
              </a:rPr>
              <a:t>高信頼・低遅延の専用無線で、現場データと制御指示を安全に往復</a:t>
            </a:r>
          </a:p>
        </p:txBody>
      </p:sp>
      <p:pic>
        <p:nvPicPr>
          <p:cNvPr id="14" name="Picture 13" descr="tower_w.png"/>
          <p:cNvPicPr>
            <a:picLocks noChangeAspect="1"/>
          </p:cNvPicPr>
          <p:nvPr/>
        </p:nvPicPr>
        <p:blipFill>
          <a:blip r:embed="rId5"/>
          <a:stretch>
            <a:fillRect/>
          </a:stretch>
        </p:blipFill>
        <p:spPr>
          <a:xfrm>
            <a:off x="5221224" y="2121408"/>
            <a:ext cx="548640" cy="548640"/>
          </a:xfrm>
          <a:prstGeom prst="rect">
            <a:avLst/>
          </a:prstGeom>
        </p:spPr>
      </p:pic>
      <p:sp>
        <p:nvSpPr>
          <p:cNvPr id="15" name="Rounded Rectangle 14"/>
          <p:cNvSpPr/>
          <p:nvPr/>
        </p:nvSpPr>
        <p:spPr>
          <a:xfrm>
            <a:off x="7598664" y="1920240"/>
            <a:ext cx="4050791" cy="301752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0" bIns="73152"/>
          <a:lstStyle/>
          <a:p>
            <a:pPr algn="ctr">
              <a:spcAft>
                <a:spcPts val="600"/>
              </a:spcAft>
            </a:pPr>
            <a:r>
              <a:rPr sz="1500" b="1">
                <a:solidFill>
                  <a:srgbClr val="FFFFFF"/>
                </a:solidFill>
                <a:latin typeface="BIZ UDPGothic"/>
                <a:ea typeface="BIZ UDPGothic"/>
              </a:rPr>
              <a:t>AI集中分析・学習基盤</a:t>
            </a:r>
          </a:p>
          <a:p>
            <a:pPr marL="182880" indent="-182880">
              <a:lnSpc>
                <a:spcPct val="120000"/>
              </a:lnSpc>
              <a:spcAft>
                <a:spcPts val="300"/>
              </a:spcAft>
              <a:buFont typeface="BIZ UDPGothic"/>
              <a:buChar char="・"/>
            </a:pPr>
            <a:r>
              <a:rPr sz="1150" b="0">
                <a:solidFill>
                  <a:srgbClr val="EDF4F9"/>
                </a:solidFill>
                <a:latin typeface="BIZ UDPGothic"/>
                <a:ea typeface="BIZ UDPGothic"/>
              </a:rPr>
              <a:t>Kubernetes基盤で推論・学習を集中実行</a:t>
            </a:r>
          </a:p>
          <a:p>
            <a:pPr marL="182880" indent="-182880">
              <a:lnSpc>
                <a:spcPct val="120000"/>
              </a:lnSpc>
              <a:spcAft>
                <a:spcPts val="300"/>
              </a:spcAft>
              <a:buFont typeface="BIZ UDPGothic"/>
              <a:buChar char="・"/>
            </a:pPr>
            <a:r>
              <a:rPr sz="1150" b="0">
                <a:solidFill>
                  <a:srgbClr val="EDF4F9"/>
                </a:solidFill>
                <a:latin typeface="BIZ UDPGothic"/>
                <a:ea typeface="BIZ UDPGothic"/>
              </a:rPr>
              <a:t>大規模分散ストレージ（simplyblock）でデータ・KVキャッシュを共有</a:t>
            </a:r>
          </a:p>
          <a:p>
            <a:pPr marL="182880" indent="-182880">
              <a:lnSpc>
                <a:spcPct val="120000"/>
              </a:lnSpc>
              <a:buFont typeface="BIZ UDPGothic"/>
              <a:buChar char="・"/>
            </a:pPr>
            <a:r>
              <a:rPr sz="1150" b="0">
                <a:solidFill>
                  <a:srgbClr val="EDF4F9"/>
                </a:solidFill>
                <a:latin typeface="BIZ UDPGothic"/>
                <a:ea typeface="BIZ UDPGothic"/>
              </a:rPr>
              <a:t>デジタルツインで予測・シミュレーション</a:t>
            </a:r>
          </a:p>
        </p:txBody>
      </p:sp>
      <p:pic>
        <p:nvPicPr>
          <p:cNvPr id="16" name="Picture 15" descr="k8s_w.png"/>
          <p:cNvPicPr>
            <a:picLocks noChangeAspect="1"/>
          </p:cNvPicPr>
          <p:nvPr/>
        </p:nvPicPr>
        <p:blipFill>
          <a:blip r:embed="rId6"/>
          <a:stretch>
            <a:fillRect/>
          </a:stretch>
        </p:blipFill>
        <p:spPr>
          <a:xfrm>
            <a:off x="8732520" y="2121408"/>
            <a:ext cx="475488" cy="475488"/>
          </a:xfrm>
          <a:prstGeom prst="rect">
            <a:avLst/>
          </a:prstGeom>
        </p:spPr>
      </p:pic>
      <p:pic>
        <p:nvPicPr>
          <p:cNvPr id="17" name="Picture 16" descr="server_w.png"/>
          <p:cNvPicPr>
            <a:picLocks noChangeAspect="1"/>
          </p:cNvPicPr>
          <p:nvPr/>
        </p:nvPicPr>
        <p:blipFill>
          <a:blip r:embed="rId7"/>
          <a:stretch>
            <a:fillRect/>
          </a:stretch>
        </p:blipFill>
        <p:spPr>
          <a:xfrm>
            <a:off x="9418320" y="2121408"/>
            <a:ext cx="475488" cy="475488"/>
          </a:xfrm>
          <a:prstGeom prst="rect">
            <a:avLst/>
          </a:prstGeom>
        </p:spPr>
      </p:pic>
      <p:pic>
        <p:nvPicPr>
          <p:cNvPr id="18" name="Picture 17" descr="harddrive_w.png"/>
          <p:cNvPicPr>
            <a:picLocks noChangeAspect="1"/>
          </p:cNvPicPr>
          <p:nvPr/>
        </p:nvPicPr>
        <p:blipFill>
          <a:blip r:embed="rId8"/>
          <a:stretch>
            <a:fillRect/>
          </a:stretch>
        </p:blipFill>
        <p:spPr>
          <a:xfrm>
            <a:off x="10104120" y="2121408"/>
            <a:ext cx="475488" cy="475488"/>
          </a:xfrm>
          <a:prstGeom prst="rect">
            <a:avLst/>
          </a:prstGeom>
        </p:spPr>
      </p:pic>
      <p:sp>
        <p:nvSpPr>
          <p:cNvPr id="19" name="Left-Right Arrow 18"/>
          <p:cNvSpPr/>
          <p:nvPr/>
        </p:nvSpPr>
        <p:spPr>
          <a:xfrm>
            <a:off x="381304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20" name="Left-Right Arrow 19"/>
          <p:cNvSpPr/>
          <p:nvPr/>
        </p:nvSpPr>
        <p:spPr>
          <a:xfrm>
            <a:off x="673912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21" name="TextBox 20"/>
          <p:cNvSpPr txBox="1"/>
          <p:nvPr/>
        </p:nvSpPr>
        <p:spPr>
          <a:xfrm>
            <a:off x="466344" y="5074920"/>
            <a:ext cx="11183112" cy="365760"/>
          </a:xfrm>
          <a:prstGeom prst="rect">
            <a:avLst/>
          </a:prstGeom>
          <a:noFill/>
        </p:spPr>
        <p:txBody>
          <a:bodyPr wrap="square" lIns="0" rIns="0" tIns="0" bIns="0" anchor="t">
            <a:spAutoFit/>
          </a:bodyPr>
          <a:lstStyle/>
          <a:p>
            <a:pPr algn="ctr"/>
            <a:r>
              <a:rPr sz="1150" b="1">
                <a:solidFill>
                  <a:srgbClr val="2A65F5"/>
                </a:solidFill>
                <a:latin typeface="BIZ UDPGothic"/>
                <a:ea typeface="BIZ UDPGothic"/>
              </a:rPr>
              <a:t>上り：現場のデータを収集・集約　／　下り：学習済みモデル・制御指示を現場へ配信</a:t>
            </a:r>
          </a:p>
        </p:txBody>
      </p:sp>
      <p:sp>
        <p:nvSpPr>
          <p:cNvPr id="22" name="Rounded Rectangle 21"/>
          <p:cNvSpPr/>
          <p:nvPr/>
        </p:nvSpPr>
        <p:spPr>
          <a:xfrm>
            <a:off x="466344" y="5532120"/>
            <a:ext cx="11183112" cy="7772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09728" tIns="73152" bIns="73152"/>
          <a:lstStyle/>
          <a:p>
            <a:pPr algn="ctr"/>
            <a:r>
              <a:rPr sz="1300" b="1">
                <a:solidFill>
                  <a:srgbClr val="FFFFFF"/>
                </a:solidFill>
                <a:latin typeface="BIZ UDPGothic"/>
                <a:ea typeface="BIZ UDPGothic"/>
              </a:rPr>
              <a:t>AIOps・推論基盤で培う技術と検証済みアセットを統合し、この提案像を実装していく — 当社のフィジカルAI参入の到達点</a:t>
            </a:r>
          </a:p>
        </p:txBody>
      </p:sp>
    </p:spTree>
    <p:extLst>
      <p:ext uri="{BB962C8B-B14F-4D97-AF65-F5344CB8AC3E}">
        <p14:creationId xmlns:p14="http://schemas.microsoft.com/office/powerpoint/2010/main" val="3061702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まとめ</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本日押さえてほしい3点と、ディスカッション</a:t>
            </a:r>
            <a:endParaRPr lang="ja-JP" altLang="en-US"/>
          </a:p>
        </p:txBody>
      </p:sp>
      <p:sp>
        <p:nvSpPr>
          <p:cNvPr id="9" name="Oval 8"/>
          <p:cNvSpPr/>
          <p:nvPr/>
        </p:nvSpPr>
        <p:spPr>
          <a:xfrm>
            <a:off x="466344" y="1892807"/>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1</a:t>
            </a:r>
          </a:p>
        </p:txBody>
      </p:sp>
      <p:sp>
        <p:nvSpPr>
          <p:cNvPr id="10" name="Rounded Rectangle 9"/>
          <p:cNvSpPr/>
          <p:nvPr/>
        </p:nvSpPr>
        <p:spPr>
          <a:xfrm>
            <a:off x="1143000" y="1783080"/>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フィジカルAIは、AI進化の「次章」</a:t>
            </a:r>
          </a:p>
          <a:p>
            <a:r>
              <a:rPr sz="1200" b="0">
                <a:solidFill>
                  <a:srgbClr val="191919"/>
                </a:solidFill>
                <a:latin typeface="BIZ UDPGothic"/>
                <a:ea typeface="BIZ UDPGothic"/>
              </a:rPr>
              <a:t>デジタルの知能が現実世界で働く段階へ。出力がテキストから「動作」に変わる</a:t>
            </a:r>
          </a:p>
        </p:txBody>
      </p:sp>
      <p:sp>
        <p:nvSpPr>
          <p:cNvPr id="11" name="Oval 10"/>
          <p:cNvSpPr/>
          <p:nvPr/>
        </p:nvSpPr>
        <p:spPr>
          <a:xfrm>
            <a:off x="466344" y="3154680"/>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2</a:t>
            </a:r>
          </a:p>
        </p:txBody>
      </p:sp>
      <p:sp>
        <p:nvSpPr>
          <p:cNvPr id="12" name="Rounded Rectangle 11"/>
          <p:cNvSpPr/>
          <p:nvPr/>
        </p:nvSpPr>
        <p:spPr>
          <a:xfrm>
            <a:off x="1143000" y="3044952"/>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2025〜26年は実証から初期導入への転換点</a:t>
            </a:r>
          </a:p>
          <a:p>
            <a:r>
              <a:rPr sz="1200" b="0">
                <a:solidFill>
                  <a:srgbClr val="191919"/>
                </a:solidFill>
                <a:latin typeface="BIZ UDPGothic"/>
                <a:ea typeface="BIZ UDPGothic"/>
              </a:rPr>
              <a:t>労働力不足を背景に、製造・物流など環境の整った現場から実装が始まっている</a:t>
            </a:r>
          </a:p>
        </p:txBody>
      </p:sp>
      <p:sp>
        <p:nvSpPr>
          <p:cNvPr id="13" name="Oval 12"/>
          <p:cNvSpPr/>
          <p:nvPr/>
        </p:nvSpPr>
        <p:spPr>
          <a:xfrm>
            <a:off x="466344" y="4416552"/>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3</a:t>
            </a:r>
          </a:p>
        </p:txBody>
      </p:sp>
      <p:sp>
        <p:nvSpPr>
          <p:cNvPr id="14" name="Rounded Rectangle 13"/>
          <p:cNvSpPr/>
          <p:nvPr/>
        </p:nvSpPr>
        <p:spPr>
          <a:xfrm>
            <a:off x="1143000" y="4306824"/>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価値の源泉はハードではなく「統合」</a:t>
            </a:r>
          </a:p>
          <a:p>
            <a:r>
              <a:rPr sz="1200" b="0">
                <a:solidFill>
                  <a:srgbClr val="191919"/>
                </a:solidFill>
                <a:latin typeface="BIZ UDPGothic"/>
                <a:ea typeface="BIZ UDPGothic"/>
              </a:rPr>
              <a:t>基盤モデル × シミュレーション × 現場データ。つなぎ込む力が競争力になる</a:t>
            </a:r>
          </a:p>
        </p:txBody>
      </p:sp>
      <p:sp>
        <p:nvSpPr>
          <p:cNvPr id="15" name="Rounded Rectangle 14"/>
          <p:cNvSpPr/>
          <p:nvPr/>
        </p:nvSpPr>
        <p:spPr>
          <a:xfrm>
            <a:off x="466344" y="5532120"/>
            <a:ext cx="11183112" cy="77724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09728" tIns="73152" bIns="73152"/>
          <a:lstStyle/>
          <a:p>
            <a:pPr algn="ctr"/>
            <a:r>
              <a:rPr sz="1300" b="1">
                <a:solidFill>
                  <a:srgbClr val="2A65F5"/>
                </a:solidFill>
                <a:latin typeface="BIZ UDPGothic"/>
                <a:ea typeface="BIZ UDPGothic"/>
              </a:rPr>
              <a:t>ディスカッション：</a:t>
            </a:r>
            <a:r>
              <a:rPr sz="1300" b="1">
                <a:solidFill>
                  <a:srgbClr val="191919"/>
                </a:solidFill>
                <a:latin typeface="BIZ UDPGothic"/>
                <a:ea typeface="BIZ UDPGothic"/>
              </a:rPr>
              <a:t>私たちの顧客の現場で、フィジカルAIが最初に価値を出せそうな業務はどこか？</a:t>
            </a:r>
          </a:p>
        </p:txBody>
      </p:sp>
    </p:spTree>
    <p:extLst>
      <p:ext uri="{BB962C8B-B14F-4D97-AF65-F5344CB8AC3E}">
        <p14:creationId xmlns:p14="http://schemas.microsoft.com/office/powerpoint/2010/main" val="3061702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CA871B-1D64-6422-1825-AE06F8DFBBC1}"/>
              </a:ext>
            </a:extLst>
          </p:cNvPr>
          <p:cNvSpPr>
            <a:spLocks noGrp="1"/>
          </p:cNvSpPr>
          <p:nvPr>
            <p:ph type="ctrTitle"/>
          </p:nvPr>
        </p:nvSpPr>
        <p:spPr/>
        <p:txBody>
          <a:bodyPr/>
          <a:lstStyle/>
          <a:p>
            <a:pPr algn="l"/>
            <a:r>
              <a:rPr kumimoji="1" lang="en-US" altLang="ja-JP" dirty="0"/>
              <a:t>End of Document</a:t>
            </a:r>
            <a:endParaRPr kumimoji="1" lang="ja-JP" altLang="en-US" dirty="0"/>
          </a:p>
        </p:txBody>
      </p:sp>
      <p:sp>
        <p:nvSpPr>
          <p:cNvPr id="3" name="コンテンツ プレースホルダー 2">
            <a:extLst>
              <a:ext uri="{FF2B5EF4-FFF2-40B4-BE49-F238E27FC236}">
                <a16:creationId xmlns:a16="http://schemas.microsoft.com/office/drawing/2014/main" id="{7644250D-28F8-6DF2-7E14-230A7268ED08}"/>
              </a:ext>
            </a:extLst>
          </p:cNvPr>
          <p:cNvSpPr>
            <a:spLocks noGrp="1"/>
          </p:cNvSpPr>
          <p:nvPr>
            <p:ph idx="1"/>
          </p:nvPr>
        </p:nvSpPr>
        <p:spPr>
          <a:xfrm>
            <a:off x="503858" y="4353680"/>
            <a:ext cx="11184283" cy="784912"/>
          </a:xfrm>
        </p:spPr>
        <p:txBody>
          <a:bodyPr/>
          <a:lstStyle/>
          <a:p>
            <a:r>
              <a:rPr lang="ja-JP" altLang="en-US" dirty="0"/>
              <a:t>双日テックイノベーション、双日テックイノベーションのロゴは、双日テックイノベーション株式会社の登録商標です。 </a:t>
            </a:r>
            <a:endParaRPr lang="en-US" altLang="ja-JP" dirty="0"/>
          </a:p>
          <a:p>
            <a:r>
              <a:rPr lang="ja-JP" altLang="en-US" dirty="0"/>
              <a:t>その他記載されている全ての商標、サービスマーク、登録商標、登録サービスマークは、各所有者に所有権があります。 </a:t>
            </a:r>
            <a:endParaRPr lang="en-US" altLang="ja-JP" dirty="0"/>
          </a:p>
          <a:p>
            <a:endParaRPr lang="en-US" altLang="ja-JP" dirty="0"/>
          </a:p>
          <a:p>
            <a:r>
              <a:rPr lang="ja-JP" altLang="en-US" dirty="0"/>
              <a:t>本書記載の仕様はすべて予告なく変更される場合があります。</a:t>
            </a:r>
            <a:endParaRPr lang="en-US" altLang="ja-JP" dirty="0"/>
          </a:p>
          <a:p>
            <a:r>
              <a:rPr lang="ja-JP" altLang="en-US" dirty="0"/>
              <a:t>本書の記載内容に誤りがあった場合、 あるいは記載内容を更新する義務が生じた場合も、双日テックイノベーションは一切責任を負いません。 </a:t>
            </a:r>
            <a:endParaRPr lang="en-US" altLang="ja-JP" dirty="0"/>
          </a:p>
          <a:p>
            <a:r>
              <a:rPr lang="ja-JP" altLang="en-US" dirty="0"/>
              <a:t>双日テックイノベーションは、本書を予告無く変更、修正、または改訂する権利を有します。 </a:t>
            </a:r>
            <a:endParaRPr lang="en-US" altLang="ja-JP" dirty="0"/>
          </a:p>
          <a:p>
            <a:r>
              <a:rPr lang="ja-JP" altLang="en-US" dirty="0"/>
              <a:t>本書に記載されている内容を無断で複写、複製することを禁じます。</a:t>
            </a:r>
            <a:endParaRPr lang="en-US" altLang="ja-JP" dirty="0"/>
          </a:p>
          <a:p>
            <a:r>
              <a:rPr lang="ja-JP" altLang="en-US" dirty="0"/>
              <a:t> </a:t>
            </a:r>
            <a:endParaRPr lang="en-US" altLang="ja-JP" dirty="0"/>
          </a:p>
          <a:p>
            <a:r>
              <a:rPr lang="ja-JP" altLang="en-US" dirty="0"/>
              <a:t>記載の価格は参考価格となり、ご検討の際にはお見積りのご依頼をお願いいたします。 </a:t>
            </a:r>
            <a:endParaRPr lang="en-US" altLang="ja-JP" dirty="0"/>
          </a:p>
          <a:p>
            <a:r>
              <a:rPr lang="ja-JP" altLang="en-US" dirty="0"/>
              <a:t>為替変更やメーカーの価格改定により予告なく変更することがあります。</a:t>
            </a:r>
          </a:p>
        </p:txBody>
      </p:sp>
    </p:spTree>
    <p:extLst>
      <p:ext uri="{BB962C8B-B14F-4D97-AF65-F5344CB8AC3E}">
        <p14:creationId xmlns:p14="http://schemas.microsoft.com/office/powerpoint/2010/main" val="35078510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665860"/>
      </p:ext>
    </p:extLst>
  </p:cSld>
  <p:clrMapOvr>
    <a:masterClrMapping/>
  </p:clrMapOvr>
</p:sld>
</file>

<file path=ppt/theme/theme1.xml><?xml version="1.0" encoding="utf-8"?>
<a:theme xmlns:a="http://schemas.openxmlformats.org/drawingml/2006/main" name="Office テーマ">
  <a:themeElements>
    <a:clrScheme name="STechI PPT COLOR">
      <a:dk1>
        <a:srgbClr val="191919"/>
      </a:dk1>
      <a:lt1>
        <a:srgbClr val="FFFFFF"/>
      </a:lt1>
      <a:dk2>
        <a:srgbClr val="A7ACAF"/>
      </a:dk2>
      <a:lt2>
        <a:srgbClr val="EDF3F9"/>
      </a:lt2>
      <a:accent1>
        <a:srgbClr val="00209B"/>
      </a:accent1>
      <a:accent2>
        <a:srgbClr val="2A65F5"/>
      </a:accent2>
      <a:accent3>
        <a:srgbClr val="E86487"/>
      </a:accent3>
      <a:accent4>
        <a:srgbClr val="AAA5FD"/>
      </a:accent4>
      <a:accent5>
        <a:srgbClr val="55D2D8"/>
      </a:accent5>
      <a:accent6>
        <a:srgbClr val="6BB8F2"/>
      </a:accent6>
      <a:hlink>
        <a:srgbClr val="6BB8F2"/>
      </a:hlink>
      <a:folHlink>
        <a:srgbClr val="E86487"/>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defRPr kumimoji="1" b="1" dirty="0" smtClean="0">
            <a:latin typeface="BIZ UDPゴシック" panose="020B0400000000000000" pitchFamily="50" charset="-128"/>
            <a:ea typeface="BIZ UDPゴシック" panose="020B0400000000000000" pitchFamily="50" charset="-128"/>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b355013-8d7a-41a7-8b7e-f572bfc8f349" xsi:nil="true"/>
    <lcf76f155ced4ddcb4097134ff3c332f xmlns="a8fcbd8c-2aa5-4228-8d5a-43b47d86b154">
      <Terms xmlns="http://schemas.microsoft.com/office/infopath/2007/PartnerControls"/>
    </lcf76f155ced4ddcb4097134ff3c332f>
    <_x5099__x8003_ xmlns="a8fcbd8c-2aa5-4228-8d5a-43b47d86b15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687DEC0F95D374FB7FD557024CCB622" ma:contentTypeVersion="16" ma:contentTypeDescription="新しいドキュメントを作成します。" ma:contentTypeScope="" ma:versionID="b66a505357664b116695fd69ecb67f40">
  <xsd:schema xmlns:xsd="http://www.w3.org/2001/XMLSchema" xmlns:xs="http://www.w3.org/2001/XMLSchema" xmlns:p="http://schemas.microsoft.com/office/2006/metadata/properties" xmlns:ns2="a8fcbd8c-2aa5-4228-8d5a-43b47d86b154" xmlns:ns3="cb355013-8d7a-41a7-8b7e-f572bfc8f349" targetNamespace="http://schemas.microsoft.com/office/2006/metadata/properties" ma:root="true" ma:fieldsID="e34da94b137a7ed678fba1cc545d4988" ns2:_="" ns3:_="">
    <xsd:import namespace="a8fcbd8c-2aa5-4228-8d5a-43b47d86b154"/>
    <xsd:import namespace="cb355013-8d7a-41a7-8b7e-f572bfc8f349"/>
    <xsd:element name="properties">
      <xsd:complexType>
        <xsd:sequence>
          <xsd:element name="documentManagement">
            <xsd:complexType>
              <xsd:all>
                <xsd:element ref="ns2:MediaServiceMetadata" minOccurs="0"/>
                <xsd:element ref="ns2:MediaServiceFastMetadata" minOccurs="0"/>
                <xsd:element ref="ns2:_x5099__x8003_"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lcf76f155ced4ddcb4097134ff3c332f" minOccurs="0"/>
                <xsd:element ref="ns3:TaxCatchAll" minOccurs="0"/>
                <xsd:element ref="ns2:MediaServiceDateTake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fcbd8c-2aa5-4228-8d5a-43b47d86b1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x5099__x8003_" ma:index="10" nillable="true" ma:displayName="備考" ma:format="Dropdown" ma:internalName="_x5099__x8003_">
      <xsd:simpleType>
        <xsd:restriction base="dms:Note">
          <xsd:maxLength value="255"/>
        </xsd:restriction>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lcf76f155ced4ddcb4097134ff3c332f" ma:index="19" nillable="true" ma:taxonomy="true" ma:internalName="lcf76f155ced4ddcb4097134ff3c332f" ma:taxonomyFieldName="MediaServiceImageTags" ma:displayName="画像タグ" ma:readOnly="false" ma:fieldId="{5cf76f15-5ced-4ddc-b409-7134ff3c332f}" ma:taxonomyMulti="true" ma:sspId="b6df4097-6fa1-44ae-95c3-4b33cacb8142" ma:termSetId="09814cd3-568e-fe90-9814-8d621ff8fb84" ma:anchorId="fba54fb3-c3e1-fe81-a776-ca4b69148c4d" ma:open="true" ma:isKeyword="false">
      <xsd:complexType>
        <xsd:sequence>
          <xsd:element ref="pc:Terms" minOccurs="0" maxOccurs="1"/>
        </xsd:sequence>
      </xsd:complex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b355013-8d7a-41a7-8b7e-f572bfc8f349" elementFormDefault="qualified">
    <xsd:import namespace="http://schemas.microsoft.com/office/2006/documentManagement/types"/>
    <xsd:import namespace="http://schemas.microsoft.com/office/infopath/2007/PartnerControls"/>
    <xsd:element name="SharedWithUsers" ma:index="15"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有相手の詳細情報" ma:internalName="SharedWithDetails" ma:readOnly="true">
      <xsd:simpleType>
        <xsd:restriction base="dms:Note">
          <xsd:maxLength value="255"/>
        </xsd:restriction>
      </xsd:simpleType>
    </xsd:element>
    <xsd:element name="TaxCatchAll" ma:index="20" nillable="true" ma:displayName="Taxonomy Catch All Column" ma:hidden="true" ma:list="{94256f52-75b8-4886-9f18-1a307df9c87d}" ma:internalName="TaxCatchAll" ma:showField="CatchAllData" ma:web="cb355013-8d7a-41a7-8b7e-f572bfc8f34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BD2FE33-A8FE-4994-BBB0-649B948DAB57}">
  <ds:schemaRefs>
    <ds:schemaRef ds:uri="http://schemas.microsoft.com/sharepoint/v3/contenttype/forms"/>
  </ds:schemaRefs>
</ds:datastoreItem>
</file>

<file path=customXml/itemProps2.xml><?xml version="1.0" encoding="utf-8"?>
<ds:datastoreItem xmlns:ds="http://schemas.openxmlformats.org/officeDocument/2006/customXml" ds:itemID="{036ABB21-D544-4CB2-A13A-0C1AFD84119C}">
  <ds:schemaRefs>
    <ds:schemaRef ds:uri="http://schemas.microsoft.com/office/2006/metadata/properties"/>
    <ds:schemaRef ds:uri="http://schemas.microsoft.com/office/infopath/2007/PartnerControls"/>
    <ds:schemaRef ds:uri="5227c1a8-9380-4cb9-a049-015dc35f74b8"/>
    <ds:schemaRef ds:uri="bc5f12d4-c7da-4e54-a32e-1c57020298bc"/>
    <ds:schemaRef ds:uri="cb355013-8d7a-41a7-8b7e-f572bfc8f349"/>
    <ds:schemaRef ds:uri="a8fcbd8c-2aa5-4228-8d5a-43b47d86b154"/>
  </ds:schemaRefs>
</ds:datastoreItem>
</file>

<file path=customXml/itemProps3.xml><?xml version="1.0" encoding="utf-8"?>
<ds:datastoreItem xmlns:ds="http://schemas.openxmlformats.org/officeDocument/2006/customXml" ds:itemID="{CA4BB487-05B5-4831-B236-54BDA674BB9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fcbd8c-2aa5-4228-8d5a-43b47d86b154"/>
    <ds:schemaRef ds:uri="cb355013-8d7a-41a7-8b7e-f572bfc8f3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2437</TotalTime>
  <Words>615</Words>
  <Application>Microsoft Office PowerPoint</Application>
  <PresentationFormat>Widescreen</PresentationFormat>
  <Paragraphs>48</Paragraphs>
  <Slides>15</Slides>
  <Notes>0</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テーマ</vt:lpstr>
      <vt:lpstr>PowerPoint Presentation</vt:lpstr>
      <vt:lpstr>カラーパレット</vt:lpstr>
      <vt:lpstr>カラーパレット 運用ガイド</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End of Document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Mitsuru Katayanagi</dc:creator>
  <cp:lastModifiedBy>渡部 泉</cp:lastModifiedBy>
  <cp:revision>122</cp:revision>
  <dcterms:created xsi:type="dcterms:W3CDTF">2024-10-20T05:00:09Z</dcterms:created>
  <dcterms:modified xsi:type="dcterms:W3CDTF">2026-07-31T05:17:12Z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0x0101008687DEC0F95D374FB7FD557024CCB622</vt:lpwstr>
  </property>
  <property fmtid="{D5CDD505-2E9C-101B-9397-08002B2CF9AE}" pid="3" name="MediaServiceImageTags">
    <vt:lpwstr/>
  </property>
</Properties>
</file>