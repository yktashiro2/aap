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20"/>
  </p:notesMasterIdLst>
  <p:handoutMasterIdLst>
    <p:handoutMasterId r:id="rId21"/>
  </p:handoutMasterIdLst>
  <p:sldIdLst>
    <p:sldId id="300" r:id="rId5"/>
    <p:sldId id="301" r:id="rId10"/>
    <p:sldId id="302" r:id="rId9"/>
    <p:sldId id="303" r:id="rId13"/>
    <p:sldId id="304" r:id="rId29"/>
    <p:sldId id="305" r:id="rId30"/>
    <p:sldId id="306" r:id="rId26"/>
    <p:sldId id="307" r:id="rId31"/>
    <p:sldId id="308" r:id="rId32"/>
    <p:sldId id="309" r:id="rId33"/>
    <p:sldId id="310" r:id="rId27"/>
    <p:sldId id="311" r:id="rId34"/>
    <p:sldId id="312" r:id="rId35"/>
    <p:sldId id="313" r:id="rId28"/>
    <p:sldId id="314" r:id="rId36"/>
    <p:sldId id="315" r:id="rId37"/>
    <p:sldId id="316" r:id="rId38"/>
    <p:sldId id="317" r:id="rId18"/>
    <p:sldId id="318"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65F5"/>
    <a:srgbClr val="00219B"/>
    <a:srgbClr val="191919"/>
    <a:srgbClr val="A5ABAD"/>
    <a:srgbClr val="808080"/>
    <a:srgbClr val="B74A1C"/>
    <a:srgbClr val="EDF4F8"/>
    <a:srgbClr val="0020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61"/>
    <p:restoredTop sz="96966"/>
  </p:normalViewPr>
  <p:slideViewPr>
    <p:cSldViewPr snapToGrid="0">
      <p:cViewPr varScale="1">
        <p:scale>
          <a:sx n="78" d="100"/>
          <a:sy n="78" d="100"/>
        </p:scale>
        <p:origin x="148"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3" d="100"/>
          <a:sy n="63" d="100"/>
        </p:scale>
        <p:origin x="3206"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4.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handoutMaster" Target="handoutMasters/handout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7.xml"/><Relationship Id="rId27" Type="http://schemas.openxmlformats.org/officeDocument/2006/relationships/slide" Target="slides/slide11.xml"/><Relationship Id="rId28" Type="http://schemas.openxmlformats.org/officeDocument/2006/relationships/slide" Target="slides/slide1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5.xml"/><Relationship Id="rId37" Type="http://schemas.openxmlformats.org/officeDocument/2006/relationships/slide" Target="slides/slide16.xml"/><Relationship Id="rId38"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FDFDA3DB-4ABB-6B6A-B5C6-44033C7B44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CA5EE10-0835-D895-CAEB-887BDDDC49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842CEEA-E706-4555-A6F2-76CBEE8B0214}" type="datetimeFigureOut">
              <a:rPr kumimoji="1" lang="ja-JP" altLang="en-US" smtClean="0"/>
              <a:t>2026/7/30</a:t>
            </a:fld>
            <a:endParaRPr kumimoji="1" lang="ja-JP" altLang="en-US"/>
          </a:p>
        </p:txBody>
      </p:sp>
      <p:sp>
        <p:nvSpPr>
          <p:cNvPr id="4" name="フッター プレースホルダー 3">
            <a:extLst>
              <a:ext uri="{FF2B5EF4-FFF2-40B4-BE49-F238E27FC236}">
                <a16:creationId xmlns:a16="http://schemas.microsoft.com/office/drawing/2014/main" id="{DE335A0F-F5C0-DEFB-5758-6DB2209195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66453D27-E811-5D11-733F-6E84F98FD42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E36876-DA70-44CA-95E4-4FDEDE03AE33}" type="slidenum">
              <a:rPr kumimoji="1" lang="ja-JP" altLang="en-US" smtClean="0"/>
              <a:t>‹#›</a:t>
            </a:fld>
            <a:endParaRPr kumimoji="1" lang="ja-JP" altLang="en-US"/>
          </a:p>
        </p:txBody>
      </p:sp>
    </p:spTree>
    <p:extLst>
      <p:ext uri="{BB962C8B-B14F-4D97-AF65-F5344CB8AC3E}">
        <p14:creationId xmlns:p14="http://schemas.microsoft.com/office/powerpoint/2010/main" val="4421951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072808-4DA7-7E40-9D76-23B287399EF0}" type="datetimeFigureOut">
              <a:rPr kumimoji="1" lang="ja-JP" altLang="en-US" smtClean="0"/>
              <a:t>2026/7/30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3C2A34-59FF-7345-B7EA-94C85DEA6524}" type="slidenum">
              <a:rPr kumimoji="1" lang="ja-JP" altLang="en-US" smtClean="0"/>
              <a:t>‹#›</a:t>
            </a:fld>
            <a:endParaRPr kumimoji="1" lang="ja-JP" altLang="en-US"/>
          </a:p>
        </p:txBody>
      </p:sp>
    </p:spTree>
    <p:extLst>
      <p:ext uri="{BB962C8B-B14F-4D97-AF65-F5344CB8AC3E}">
        <p14:creationId xmlns:p14="http://schemas.microsoft.com/office/powerpoint/2010/main" val="329176160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本日は30〜45分でフィジカルAIの全体像を掴むことをゴールにします。前半は「何か・なぜ今か」、中盤は「誰が・どう動いているか」、後半は「仕組みとビジネスへの示唆」です。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4部構成です。1章で共通認識を作り、2章で世の中の動き、3章で技術を少しだけ深掘り、4章で自分たちの話に引き付けます。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約3分。AIの進化を4段階で整理。認識→生成→エージェント→フィジカル。ポイントは「出力がテキストや画像ではなく、物理的な動作になる」こと。</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約3分。技術（できるようになった）・社会（やらざるを得ない）・産業（金が集まる）の3点セット。人手不足の数字は聴衆の実感に繋がりやすいので強調。</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約3分。ChatGPTでいう「モデル＋クラウド＋端末」に相当する3層構造。次章のNVIDIAの話への伏線として「全部押さえたら強い」ことを示唆。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約3分。NVIDIAは「ロボットを作らずに、全ロボット会社に売る」ポジション。3つのコンピュータ＝学習・シミュレーション・実行。GPU需要が続く構造も補足。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約4分。地域で色分け：米国はAI・ソフト先行、中国は量産と価格、日本は要素技術と現場。Unitreeの1.6万ドルは驚きポイントとして紹介。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約3分。「いきなり家庭にヒューマノイド」ではなく、環境が整った産業現場から。自社顧客の業界に近い例があれば口頭で補足。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約3分。LLMはWebのテキストで学べたが、ロボットは「転んで学ぶ」わけにいかない。シミュレーション＋合成データがブレイクスルーの核心。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約3分。VLA＝LLMの目と手足がついたもの、という説明が伝わりやすい。従来型との違い（汎用性）を対比で締める。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約3分。数字は「方向感」として紹介（予測は機関でブレが大きい）。課題4点は導入検討時のチェックリストにもなる。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約3分。ロボット本体はメーカーの土俵。我々の商機は周辺＝インフラ・連携・データ・運用。顧客の困りごとから逆算する視点を促す。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約2分でまとめ→残り時間でディスカッション（5〜10分）。問いは1つに絞り、参加者の担当顧客・業界の具体例を引き出す。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59489" y="2971784"/>
            <a:ext cx="8135937" cy="568355"/>
          </a:xfrm>
        </p:spPr>
        <p:txBody>
          <a:bodyPr anchor="b">
            <a:normAutofit/>
          </a:bodyPr>
          <a:lstStyle>
            <a:lvl1pPr algn="l">
              <a:defRPr sz="34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スライドタイトル</a:t>
            </a:r>
            <a:endParaRPr lang="en-US" dirty="0"/>
          </a:p>
        </p:txBody>
      </p:sp>
      <p:sp>
        <p:nvSpPr>
          <p:cNvPr id="3" name="Subtitle 2"/>
          <p:cNvSpPr>
            <a:spLocks noGrp="1"/>
          </p:cNvSpPr>
          <p:nvPr>
            <p:ph type="subTitle" idx="1" hasCustomPrompt="1"/>
          </p:nvPr>
        </p:nvSpPr>
        <p:spPr>
          <a:xfrm>
            <a:off x="559490" y="455555"/>
            <a:ext cx="6535562" cy="294943"/>
          </a:xfrm>
        </p:spPr>
        <p:txBody>
          <a:bodyPr>
            <a:noAutofit/>
          </a:bodyPr>
          <a:lstStyle>
            <a:lvl1pPr marL="0" indent="0" algn="l">
              <a:buNone/>
              <a:defRPr sz="1600" b="1" i="0" baseline="0">
                <a:solidFill>
                  <a:schemeClr val="accent1"/>
                </a:solidFill>
                <a:latin typeface="BIZ UDPGothic" panose="020B0400000000000000" pitchFamily="34" charset="-128"/>
                <a:ea typeface="BIZ UDPGothic" panose="020B0400000000000000" pitchFamily="34"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〇〇</a:t>
            </a:r>
            <a:r>
              <a:rPr lang="en-US" altLang="ja-JP" dirty="0" err="1"/>
              <a:t>〇〇〇〇〇〇</a:t>
            </a:r>
            <a:r>
              <a:rPr lang="en-US" dirty="0" err="1"/>
              <a:t>株式会社</a:t>
            </a:r>
            <a:r>
              <a:rPr lang="en-US" dirty="0"/>
              <a:t>   </a:t>
            </a:r>
            <a:r>
              <a:rPr lang="en-US" dirty="0" err="1"/>
              <a:t>御中</a:t>
            </a:r>
            <a:endParaRPr lang="en-US" dirty="0"/>
          </a:p>
        </p:txBody>
      </p:sp>
      <p:pic>
        <p:nvPicPr>
          <p:cNvPr id="12" name="図 11" descr="ロゴ&#10;&#10;中程度の精度で自動的に生成された説明">
            <a:extLst>
              <a:ext uri="{FF2B5EF4-FFF2-40B4-BE49-F238E27FC236}">
                <a16:creationId xmlns:a16="http://schemas.microsoft.com/office/drawing/2014/main" id="{91C61609-E934-6D94-45E8-4C5C7222896B}"/>
              </a:ext>
            </a:extLst>
          </p:cNvPr>
          <p:cNvPicPr>
            <a:picLocks noChangeAspect="1"/>
          </p:cNvPicPr>
          <p:nvPr userDrawn="1"/>
        </p:nvPicPr>
        <p:blipFill>
          <a:blip r:embed="rId2"/>
          <a:stretch>
            <a:fillRect/>
          </a:stretch>
        </p:blipFill>
        <p:spPr>
          <a:xfrm>
            <a:off x="657017" y="5898392"/>
            <a:ext cx="1318254" cy="496733"/>
          </a:xfrm>
          <a:prstGeom prst="rect">
            <a:avLst/>
          </a:prstGeom>
        </p:spPr>
      </p:pic>
      <p:pic>
        <p:nvPicPr>
          <p:cNvPr id="13" name="図 12" descr="図形, 矢印&#10;&#10;自動的に生成された説明">
            <a:extLst>
              <a:ext uri="{FF2B5EF4-FFF2-40B4-BE49-F238E27FC236}">
                <a16:creationId xmlns:a16="http://schemas.microsoft.com/office/drawing/2014/main" id="{77C1A79A-EE6C-3D8D-372B-1EC0B0D96C47}"/>
              </a:ext>
            </a:extLst>
          </p:cNvPr>
          <p:cNvPicPr>
            <a:picLocks noChangeAspect="1"/>
          </p:cNvPicPr>
          <p:nvPr userDrawn="1"/>
        </p:nvPicPr>
        <p:blipFill>
          <a:blip r:embed="rId3"/>
          <a:stretch>
            <a:fillRect/>
          </a:stretch>
        </p:blipFill>
        <p:spPr>
          <a:xfrm>
            <a:off x="7264812" y="0"/>
            <a:ext cx="4695825" cy="6858000"/>
          </a:xfrm>
          <a:prstGeom prst="rect">
            <a:avLst/>
          </a:prstGeom>
        </p:spPr>
      </p:pic>
      <p:pic>
        <p:nvPicPr>
          <p:cNvPr id="14" name="図 13" descr="文字が書かれている&#10;&#10;中程度の精度で自動的に生成された説明">
            <a:extLst>
              <a:ext uri="{FF2B5EF4-FFF2-40B4-BE49-F238E27FC236}">
                <a16:creationId xmlns:a16="http://schemas.microsoft.com/office/drawing/2014/main" id="{3A21D7F1-218B-EF6B-6970-CDF014BDF8F5}"/>
              </a:ext>
            </a:extLst>
          </p:cNvPr>
          <p:cNvPicPr>
            <a:picLocks noChangeAspect="1"/>
          </p:cNvPicPr>
          <p:nvPr userDrawn="1"/>
        </p:nvPicPr>
        <p:blipFill>
          <a:blip r:embed="rId4"/>
          <a:stretch>
            <a:fillRect/>
          </a:stretch>
        </p:blipFill>
        <p:spPr>
          <a:xfrm>
            <a:off x="10272469" y="323523"/>
            <a:ext cx="1518408" cy="367357"/>
          </a:xfrm>
          <a:prstGeom prst="rect">
            <a:avLst/>
          </a:prstGeom>
        </p:spPr>
      </p:pic>
      <p:sp>
        <p:nvSpPr>
          <p:cNvPr id="20" name="テキスト プレースホルダー 19">
            <a:extLst>
              <a:ext uri="{FF2B5EF4-FFF2-40B4-BE49-F238E27FC236}">
                <a16:creationId xmlns:a16="http://schemas.microsoft.com/office/drawing/2014/main" id="{3667EF0E-F860-9065-842F-49984BAD0109}"/>
              </a:ext>
            </a:extLst>
          </p:cNvPr>
          <p:cNvSpPr>
            <a:spLocks noGrp="1"/>
          </p:cNvSpPr>
          <p:nvPr>
            <p:ph type="body" sz="quarter" idx="14" hasCustomPrompt="1"/>
          </p:nvPr>
        </p:nvSpPr>
        <p:spPr>
          <a:xfrm>
            <a:off x="559488" y="4183823"/>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双日テックイノベーション株式会社</a:t>
            </a:r>
            <a:endParaRPr kumimoji="1" lang="en-US" altLang="ja-JP" dirty="0"/>
          </a:p>
        </p:txBody>
      </p:sp>
      <p:sp>
        <p:nvSpPr>
          <p:cNvPr id="6" name="テキスト プレースホルダー 19">
            <a:extLst>
              <a:ext uri="{FF2B5EF4-FFF2-40B4-BE49-F238E27FC236}">
                <a16:creationId xmlns:a16="http://schemas.microsoft.com/office/drawing/2014/main" id="{45B24984-7E4C-DB70-29A4-E3B0EE9BAF20}"/>
              </a:ext>
            </a:extLst>
          </p:cNvPr>
          <p:cNvSpPr>
            <a:spLocks noGrp="1"/>
          </p:cNvSpPr>
          <p:nvPr>
            <p:ph type="body" sz="quarter" idx="15" hasCustomPrompt="1"/>
          </p:nvPr>
        </p:nvSpPr>
        <p:spPr>
          <a:xfrm>
            <a:off x="559488" y="4888095"/>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〇〇〇〇部〇〇〇〇課</a:t>
            </a:r>
          </a:p>
        </p:txBody>
      </p:sp>
      <p:sp>
        <p:nvSpPr>
          <p:cNvPr id="7" name="テキスト プレースホルダー 19">
            <a:extLst>
              <a:ext uri="{FF2B5EF4-FFF2-40B4-BE49-F238E27FC236}">
                <a16:creationId xmlns:a16="http://schemas.microsoft.com/office/drawing/2014/main" id="{FC50F80F-5787-97ED-105C-23577087D626}"/>
              </a:ext>
            </a:extLst>
          </p:cNvPr>
          <p:cNvSpPr>
            <a:spLocks noGrp="1"/>
          </p:cNvSpPr>
          <p:nvPr>
            <p:ph type="body" sz="quarter" idx="16" hasCustomPrompt="1"/>
          </p:nvPr>
        </p:nvSpPr>
        <p:spPr>
          <a:xfrm>
            <a:off x="559488" y="4538770"/>
            <a:ext cx="6535562" cy="289524"/>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〇〇〇〇〇〇〇〇事業本部</a:t>
            </a:r>
            <a:endParaRPr kumimoji="1" lang="en-US" altLang="ja-JP" dirty="0"/>
          </a:p>
        </p:txBody>
      </p:sp>
      <p:sp>
        <p:nvSpPr>
          <p:cNvPr id="4" name="テキスト プレースホルダー 19">
            <a:extLst>
              <a:ext uri="{FF2B5EF4-FFF2-40B4-BE49-F238E27FC236}">
                <a16:creationId xmlns:a16="http://schemas.microsoft.com/office/drawing/2014/main" id="{D7B851B6-8739-6DBD-3433-427387865A33}"/>
              </a:ext>
            </a:extLst>
          </p:cNvPr>
          <p:cNvSpPr>
            <a:spLocks noGrp="1"/>
          </p:cNvSpPr>
          <p:nvPr>
            <p:ph type="body" sz="quarter" idx="17" hasCustomPrompt="1"/>
          </p:nvPr>
        </p:nvSpPr>
        <p:spPr>
          <a:xfrm>
            <a:off x="559488" y="3752762"/>
            <a:ext cx="6535562" cy="294943"/>
          </a:xfrm>
        </p:spPr>
        <p:txBody>
          <a:bodyPr anchor="ctr">
            <a:no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r>
              <a:rPr lang="en-US" altLang="ja-JP" b="0" i="0" dirty="0" err="1">
                <a:latin typeface="BIZ UDPGothic" panose="020B0400000000000000" pitchFamily="34" charset="-128"/>
                <a:ea typeface="BIZ UDPGothic" panose="020B0400000000000000" pitchFamily="34" charset="-128"/>
              </a:rPr>
              <a:t>yyyy</a:t>
            </a:r>
            <a:r>
              <a:rPr lang="ja-JP" altLang="en-US" b="0" i="0" dirty="0">
                <a:latin typeface="BIZ UDPGothic" panose="020B0400000000000000" pitchFamily="34" charset="-128"/>
                <a:ea typeface="BIZ UDPGothic" panose="020B0400000000000000" pitchFamily="34" charset="-128"/>
              </a:rPr>
              <a:t>年</a:t>
            </a:r>
            <a:r>
              <a:rPr lang="en-US" altLang="ja-JP" b="0" i="0" dirty="0">
                <a:latin typeface="BIZ UDPGothic" panose="020B0400000000000000" pitchFamily="34" charset="-128"/>
                <a:ea typeface="BIZ UDPGothic" panose="020B0400000000000000" pitchFamily="34" charset="-128"/>
              </a:rPr>
              <a:t>mm</a:t>
            </a:r>
            <a:r>
              <a:rPr lang="ja-JP" altLang="en-US" b="0" i="0" dirty="0">
                <a:latin typeface="BIZ UDPGothic" panose="020B0400000000000000" pitchFamily="34" charset="-128"/>
                <a:ea typeface="BIZ UDPGothic" panose="020B0400000000000000" pitchFamily="34" charset="-128"/>
              </a:rPr>
              <a:t>月</a:t>
            </a:r>
            <a:r>
              <a:rPr lang="en-US" altLang="ja-JP" b="0" i="0" dirty="0">
                <a:latin typeface="BIZ UDPGothic" panose="020B0400000000000000" pitchFamily="34" charset="-128"/>
                <a:ea typeface="BIZ UDPGothic" panose="020B0400000000000000" pitchFamily="34" charset="-128"/>
              </a:rPr>
              <a:t>dd</a:t>
            </a:r>
            <a:r>
              <a:rPr lang="ja-JP" altLang="en-US" b="0" i="0" dirty="0">
                <a:latin typeface="BIZ UDPGothic" panose="020B0400000000000000" pitchFamily="34" charset="-128"/>
                <a:ea typeface="BIZ UDPGothic" panose="020B0400000000000000" pitchFamily="34" charset="-128"/>
              </a:rPr>
              <a:t>日</a:t>
            </a:r>
            <a:endParaRPr lang="en-US" altLang="ja-JP" b="0" i="0" dirty="0">
              <a:latin typeface="BIZ UDPGothic" panose="020B0400000000000000" pitchFamily="34" charset="-128"/>
              <a:ea typeface="BIZ UDPGothic" panose="020B0400000000000000" pitchFamily="34" charset="-128"/>
            </a:endParaRPr>
          </a:p>
        </p:txBody>
      </p:sp>
      <p:pic>
        <p:nvPicPr>
          <p:cNvPr id="5" name="グラフィックス 4">
            <a:extLst>
              <a:ext uri="{FF2B5EF4-FFF2-40B4-BE49-F238E27FC236}">
                <a16:creationId xmlns:a16="http://schemas.microsoft.com/office/drawing/2014/main" id="{04E82DED-A5F3-B7BA-187C-F48C8E49C312}"/>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472622" y="5860282"/>
            <a:ext cx="1318255" cy="572953"/>
          </a:xfrm>
          <a:prstGeom prst="rect">
            <a:avLst/>
          </a:prstGeom>
        </p:spPr>
      </p:pic>
    </p:spTree>
    <p:extLst>
      <p:ext uri="{BB962C8B-B14F-4D97-AF65-F5344CB8AC3E}">
        <p14:creationId xmlns:p14="http://schemas.microsoft.com/office/powerpoint/2010/main" val="330649011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目次（</a:t>
            </a:r>
            <a:r>
              <a:rPr lang="en-US" altLang="ja-JP" dirty="0"/>
              <a:t>2</a:t>
            </a:r>
            <a:r>
              <a:rPr lang="ja-JP" altLang="en-US" dirty="0"/>
              <a:t>４</a:t>
            </a:r>
            <a:r>
              <a:rPr lang="en-US" altLang="ja-JP" dirty="0"/>
              <a:t>pt</a:t>
            </a:r>
            <a:r>
              <a:rPr lang="ja-JP" altLang="en-US" dirty="0"/>
              <a:t>）</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Content Placeholder 2">
            <a:extLst>
              <a:ext uri="{FF2B5EF4-FFF2-40B4-BE49-F238E27FC236}">
                <a16:creationId xmlns:a16="http://schemas.microsoft.com/office/drawing/2014/main" id="{4225AD9D-E296-7156-536C-D9A7EDA7F415}"/>
              </a:ext>
            </a:extLst>
          </p:cNvPr>
          <p:cNvSpPr>
            <a:spLocks noGrp="1"/>
          </p:cNvSpPr>
          <p:nvPr>
            <p:ph idx="1" hasCustomPrompt="1"/>
          </p:nvPr>
        </p:nvSpPr>
        <p:spPr>
          <a:xfrm>
            <a:off x="460431" y="1186160"/>
            <a:ext cx="11184282" cy="5109933"/>
          </a:xfrm>
        </p:spPr>
        <p:txBody>
          <a:bodyPr>
            <a:normAutofit/>
          </a:bodyPr>
          <a:lstStyle>
            <a:lvl1pPr marL="228600" indent="-228600" algn="dist">
              <a:buClr>
                <a:schemeClr val="tx2"/>
              </a:buClr>
              <a:buSzPct val="100000"/>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4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p:txBody>
      </p:sp>
    </p:spTree>
    <p:extLst>
      <p:ext uri="{BB962C8B-B14F-4D97-AF65-F5344CB8AC3E}">
        <p14:creationId xmlns:p14="http://schemas.microsoft.com/office/powerpoint/2010/main" val="4258253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中表紙 スライド１">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310103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表紙 スライド２">
    <p:bg>
      <p:bgPr>
        <a:solidFill>
          <a:srgbClr val="2A65F5"/>
        </a:solidFill>
        <a:effectLst/>
      </p:bgPr>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tx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1"/>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1"/>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1"/>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69538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スライド 01-1（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1015193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スライド 01-2（サブタイトルなし・背景色あり）">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24pt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424644180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コンテンツ スライド 01-3（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3123" y="1580966"/>
            <a:ext cx="11184282" cy="4674307"/>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12pt/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5" name="Content Placeholder 2">
            <a:extLst>
              <a:ext uri="{FF2B5EF4-FFF2-40B4-BE49-F238E27FC236}">
                <a16:creationId xmlns:a16="http://schemas.microsoft.com/office/drawing/2014/main" id="{54D72817-A9A9-B911-F9B5-0FBF688B6B1D}"/>
              </a:ext>
            </a:extLst>
          </p:cNvPr>
          <p:cNvSpPr>
            <a:spLocks noGrp="1"/>
          </p:cNvSpPr>
          <p:nvPr>
            <p:ph idx="11" hasCustomPrompt="1"/>
          </p:nvPr>
        </p:nvSpPr>
        <p:spPr>
          <a:xfrm>
            <a:off x="463123" y="978865"/>
            <a:ext cx="11184282" cy="485437"/>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p>
          <a:p>
            <a:pPr lvl="0"/>
            <a:endParaRPr lang="ja-JP" altLang="en-US" dirty="0"/>
          </a:p>
        </p:txBody>
      </p:sp>
    </p:spTree>
    <p:extLst>
      <p:ext uri="{BB962C8B-B14F-4D97-AF65-F5344CB8AC3E}">
        <p14:creationId xmlns:p14="http://schemas.microsoft.com/office/powerpoint/2010/main" val="1307631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コンテンツ スライド 02-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979783"/>
            <a:ext cx="5447578" cy="5316311"/>
          </a:xfrm>
        </p:spPr>
        <p:txBody>
          <a:bodyPr/>
          <a:lstStyle>
            <a:lvl1pPr marL="228600" indent="-228600">
              <a:buClr>
                <a:schemeClr val="tx2"/>
              </a:buClr>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978865"/>
            <a:ext cx="5447578" cy="5316311"/>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1990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コンテンツ スライド 02-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1"/>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1889453"/>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5" name="Content Placeholder 2">
            <a:extLst>
              <a:ext uri="{FF2B5EF4-FFF2-40B4-BE49-F238E27FC236}">
                <a16:creationId xmlns:a16="http://schemas.microsoft.com/office/drawing/2014/main" id="{A93E328F-114F-7DEB-3AC8-FFB9E7D73DCA}"/>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940521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コンテンツ スライド 03-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984889"/>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984884"/>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984277"/>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2732761"/>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538665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コンテンツ スライド 03-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1888846"/>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3638886"/>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42D4DFD3-A1FA-A9BB-ED06-FB2F6B4C01E1}"/>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ゴシック" panose="020B0400000000000000" pitchFamily="50" charset="-128"/>
                <a:ea typeface="BIZ UDPゴシック" panose="020B0400000000000000" pitchFamily="50"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085363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コンテンツ スライド 04-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56856"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200093"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3734215"/>
            <a:ext cx="5447578" cy="2520453"/>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3734215"/>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Tree>
    <p:extLst>
      <p:ext uri="{BB962C8B-B14F-4D97-AF65-F5344CB8AC3E}">
        <p14:creationId xmlns:p14="http://schemas.microsoft.com/office/powerpoint/2010/main" val="2598760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コンテンツ スライド 04-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190906"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5" name="Content Placeholder 2">
            <a:extLst>
              <a:ext uri="{FF2B5EF4-FFF2-40B4-BE49-F238E27FC236}">
                <a16:creationId xmlns:a16="http://schemas.microsoft.com/office/drawing/2014/main" id="{E519B47D-B6D7-03DF-CA9A-3F1C0C3B9028}"/>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41210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 スライド 05-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66688" y="984886"/>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2725794"/>
            <a:ext cx="11184283" cy="3569383"/>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14575056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 スライド 05-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6" y="1889453"/>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3639493"/>
            <a:ext cx="11184283"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16F8D7E9-1DA8-3EB3-FDA9-5AED70BACB77}"/>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3467120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最終スライド1">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914400" y="2971784"/>
            <a:ext cx="9086849"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en-US" altLang="ja-JP" dirty="0"/>
              <a:t>End of Document</a:t>
            </a:r>
            <a:endParaRPr lang="en-US" dirty="0"/>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コンテンツ プレースホルダー 2">
            <a:extLst>
              <a:ext uri="{FF2B5EF4-FFF2-40B4-BE49-F238E27FC236}">
                <a16:creationId xmlns:a16="http://schemas.microsoft.com/office/drawing/2014/main" id="{9893536C-8250-88FE-8899-819CAF117051}"/>
              </a:ext>
            </a:extLst>
          </p:cNvPr>
          <p:cNvSpPr>
            <a:spLocks noGrp="1"/>
          </p:cNvSpPr>
          <p:nvPr>
            <p:ph idx="1" hasCustomPrompt="1"/>
          </p:nvPr>
        </p:nvSpPr>
        <p:spPr>
          <a:xfrm>
            <a:off x="503858" y="5153772"/>
            <a:ext cx="11184283" cy="784912"/>
          </a:xfrm>
        </p:spPr>
        <p:txBody>
          <a:bodyPr lIns="36000" tIns="36000" rIns="36000" bIns="36000">
            <a:noAutofit/>
          </a:bodyPr>
          <a:lstStyle>
            <a:lvl1pPr marL="0" indent="0">
              <a:lnSpc>
                <a:spcPct val="100000"/>
              </a:lnSpc>
              <a:spcBef>
                <a:spcPts val="300"/>
              </a:spcBef>
              <a:buClr>
                <a:schemeClr val="tx2"/>
              </a:buClr>
              <a:buFont typeface="Wingdings" pitchFamily="2" charset="2"/>
              <a:buNone/>
              <a:defRPr sz="1000" b="0"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双日テックイノベーション、双日テックイノベーションのロゴは、双日テックイノベーション株式会社の登録商標です。 </a:t>
            </a:r>
            <a:endParaRPr kumimoji="1" lang="en-US" altLang="ja-JP" dirty="0"/>
          </a:p>
          <a:p>
            <a:pPr lvl="0"/>
            <a:r>
              <a:rPr kumimoji="1" lang="ja-JP" altLang="en-US" dirty="0"/>
              <a:t>その他記載されている全ての商標、サービスマーク、登録商標、登録サービスマークは、各所有者に所有権があります。 </a:t>
            </a:r>
            <a:endParaRPr kumimoji="1" lang="en-US" altLang="ja-JP" dirty="0"/>
          </a:p>
          <a:p>
            <a:pPr lvl="0"/>
            <a:r>
              <a:rPr kumimoji="1" lang="ja-JP" altLang="en-US" dirty="0"/>
              <a:t>本書記載の仕様はすべて予告なく変更される場合があります。本書の記載内容に誤りがあった場合、 あるいは記載内容を更新する義務が生じた場合も、</a:t>
            </a:r>
            <a:endParaRPr kumimoji="1" lang="en-US" altLang="ja-JP" dirty="0"/>
          </a:p>
          <a:p>
            <a:pPr lvl="0"/>
            <a:r>
              <a:rPr kumimoji="1" lang="ja-JP" altLang="en-US" dirty="0"/>
              <a:t>双日テックイノベーションは一切責任を負いません。 双日テックイノベーションは、本書を予告無く変更、修正、または改訂する権利を有します。</a:t>
            </a:r>
            <a:endParaRPr kumimoji="1" lang="en-US" altLang="ja-JP" dirty="0"/>
          </a:p>
          <a:p>
            <a:pPr lvl="0"/>
            <a:r>
              <a:rPr kumimoji="1" lang="ja-JP" altLang="en-US" dirty="0"/>
              <a:t>本書に記載されている内容を無断で複写、複製することを禁じます。</a:t>
            </a:r>
            <a:endParaRPr kumimoji="1" lang="en-US" altLang="ja-JP" dirty="0"/>
          </a:p>
          <a:p>
            <a:pPr lvl="0"/>
            <a:r>
              <a:rPr kumimoji="1" lang="ja-JP" altLang="en-US" dirty="0"/>
              <a:t>記載の価格は参考価格となり、ご検討の際にはお見積りのご依頼をお願いいたします。 為替変更やメーカーの価格改定により予告なく変更することがあります。</a:t>
            </a:r>
            <a:endParaRPr kumimoji="1" lang="en-US" altLang="ja-JP" dirty="0"/>
          </a:p>
        </p:txBody>
      </p:sp>
    </p:spTree>
    <p:extLst>
      <p:ext uri="{BB962C8B-B14F-4D97-AF65-F5344CB8AC3E}">
        <p14:creationId xmlns:p14="http://schemas.microsoft.com/office/powerpoint/2010/main" val="24621389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最終スライド2">
    <p:spTree>
      <p:nvGrpSpPr>
        <p:cNvPr id="1" name=""/>
        <p:cNvGrpSpPr/>
        <p:nvPr/>
      </p:nvGrpSpPr>
      <p:grpSpPr>
        <a:xfrm>
          <a:off x="0" y="0"/>
          <a:ext cx="0" cy="0"/>
          <a:chOff x="0" y="0"/>
          <a:chExt cx="0" cy="0"/>
        </a:xfrm>
      </p:grpSpPr>
      <p:pic>
        <p:nvPicPr>
          <p:cNvPr id="9" name="図 8" descr="グラフィカル ユーザー インターフェイス, Web サイト&#10;&#10;自動的に生成された説明">
            <a:extLst>
              <a:ext uri="{FF2B5EF4-FFF2-40B4-BE49-F238E27FC236}">
                <a16:creationId xmlns:a16="http://schemas.microsoft.com/office/drawing/2014/main" id="{4F1C2A3E-918E-7251-4F66-7A17B6E0BCC7}"/>
              </a:ext>
            </a:extLst>
          </p:cNvPr>
          <p:cNvPicPr>
            <a:picLocks noChangeAspect="1"/>
          </p:cNvPicPr>
          <p:nvPr userDrawn="1"/>
        </p:nvPicPr>
        <p:blipFill>
          <a:blip r:embed="rId2"/>
          <a:stretch>
            <a:fillRect/>
          </a:stretch>
        </p:blipFill>
        <p:spPr>
          <a:xfrm>
            <a:off x="952" y="0"/>
            <a:ext cx="12190095" cy="6858000"/>
          </a:xfrm>
          <a:prstGeom prst="rect">
            <a:avLst/>
          </a:prstGeom>
        </p:spPr>
      </p:pic>
    </p:spTree>
    <p:extLst>
      <p:ext uri="{BB962C8B-B14F-4D97-AF65-F5344CB8AC3E}">
        <p14:creationId xmlns:p14="http://schemas.microsoft.com/office/powerpoint/2010/main" val="12485581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　</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CD9EE6-AEE6-7D48-8266-9FC509548DD9}" type="datetimeFigureOut">
              <a:rPr kumimoji="1" lang="ja-JP" altLang="en-US" smtClean="0"/>
              <a:t>2026/7/30</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8AB7B2-5B09-794C-A215-5E1D0C2B75B7}" type="slidenum">
              <a:rPr kumimoji="1" lang="ja-JP" altLang="en-US" smtClean="0"/>
              <a:t>‹#›</a:t>
            </a:fld>
            <a:endParaRPr kumimoji="1" lang="ja-JP" altLang="en-US"/>
          </a:p>
        </p:txBody>
      </p:sp>
    </p:spTree>
    <p:extLst>
      <p:ext uri="{BB962C8B-B14F-4D97-AF65-F5344CB8AC3E}">
        <p14:creationId xmlns:p14="http://schemas.microsoft.com/office/powerpoint/2010/main" val="1383032622"/>
      </p:ext>
    </p:extLst>
  </p:cSld>
  <p:clrMap bg1="lt1" tx1="dk1" bg2="lt2" tx2="dk2" accent1="accent1" accent2="accent2" accent3="accent3" accent4="accent4" accent5="accent5" accent6="accent6" hlink="hlink" folHlink="folHlink"/>
  <p:sldLayoutIdLst>
    <p:sldLayoutId id="2147483685" r:id="rId1"/>
    <p:sldLayoutId id="2147483708" r:id="rId2"/>
    <p:sldLayoutId id="2147483696" r:id="rId3"/>
    <p:sldLayoutId id="2147483706" r:id="rId4"/>
    <p:sldLayoutId id="2147483704" r:id="rId5"/>
    <p:sldLayoutId id="2147483710" r:id="rId6"/>
    <p:sldLayoutId id="2147483700" r:id="rId7"/>
    <p:sldLayoutId id="2147483713" r:id="rId8"/>
    <p:sldLayoutId id="2147483701" r:id="rId9"/>
    <p:sldLayoutId id="2147483714" r:id="rId10"/>
    <p:sldLayoutId id="2147483702" r:id="rId11"/>
    <p:sldLayoutId id="2147483715" r:id="rId12"/>
    <p:sldLayoutId id="2147483709" r:id="rId13"/>
    <p:sldLayoutId id="2147483716" r:id="rId14"/>
    <p:sldLayoutId id="2147483699" r:id="rId15"/>
    <p:sldLayoutId id="2147483707" r:id="rId16"/>
    <p:sldLayoutId id="2147483712" r:id="rId1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47" userDrawn="1">
          <p15:clr>
            <a:srgbClr val="F26B43"/>
          </p15:clr>
        </p15:guide>
        <p15:guide id="3" pos="3840" userDrawn="1">
          <p15:clr>
            <a:srgbClr val="F26B43"/>
          </p15:clr>
        </p15:guide>
        <p15:guide id="4" pos="7333" userDrawn="1">
          <p15:clr>
            <a:srgbClr val="F26B43"/>
          </p15:clr>
        </p15:guide>
        <p15:guide id="5" orient="horz" pos="142" userDrawn="1">
          <p15:clr>
            <a:srgbClr val="F26B43"/>
          </p15:clr>
        </p15:guide>
        <p15:guide id="6" orient="horz" pos="41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020FC2-C44C-B63A-BD7C-529E7A693D19}"/>
              </a:ext>
            </a:extLst>
          </p:cNvPr>
          <p:cNvSpPr>
            <a:spLocks noGrp="1"/>
          </p:cNvSpPr>
          <p:nvPr>
            <p:ph type="ctrTitle"/>
          </p:nvPr>
        </p:nvSpPr>
        <p:spPr/>
        <p:txBody>
          <a:bodyPr/>
          <a:lstStyle/>
          <a:p>
            <a:r>
              <a:rPr>
                <a:latin typeface="BIZ UDPGothic"/>
                <a:ea typeface="BIZ UDPGothic"/>
              </a:rPr>
              <a:t>フィジカルAI入門</a:t>
            </a:r>
            <a:endParaRPr kumimoji="1" lang="ja-JP" altLang="en-US"/>
          </a:p>
          <a:p>
            <a:pPr>
              <a:spcBef>
                <a:spcPts val="600"/>
              </a:spcBef>
            </a:pPr>
            <a:r>
              <a:rPr sz="2000" b="1">
                <a:solidFill>
                  <a:srgbClr val="00219B"/>
                </a:solidFill>
                <a:latin typeface="BIZ UDPGothic"/>
                <a:ea typeface="BIZ UDPGothic"/>
              </a:rPr>
              <a:t>〜AIがデジタルから、現実世界へ〜</a:t>
            </a:r>
          </a:p>
        </p:txBody>
      </p:sp>
      <p:sp>
        <p:nvSpPr>
          <p:cNvPr id="3" name="字幕 2">
            <a:extLst>
              <a:ext uri="{FF2B5EF4-FFF2-40B4-BE49-F238E27FC236}">
                <a16:creationId xmlns:a16="http://schemas.microsoft.com/office/drawing/2014/main" id="{158BCF63-43F1-7C5E-5C06-078E758E5529}"/>
              </a:ext>
            </a:extLst>
          </p:cNvPr>
          <p:cNvSpPr>
            <a:spLocks noGrp="1"/>
          </p:cNvSpPr>
          <p:nvPr>
            <p:ph type="subTitle" idx="1"/>
          </p:nvPr>
        </p:nvSpPr>
        <p:spPr/>
        <p:txBody>
          <a:bodyPr/>
          <a:lstStyle/>
          <a:p>
            <a:r>
              <a:rPr>
                <a:latin typeface="BIZ UDPGothic"/>
                <a:ea typeface="BIZ UDPGothic"/>
              </a:rPr>
              <a:t>社内勉強会</a:t>
            </a:r>
            <a:endParaRPr kumimoji="1" lang="ja-JP" altLang="en-US"/>
          </a:p>
        </p:txBody>
      </p:sp>
      <p:sp>
        <p:nvSpPr>
          <p:cNvPr id="4" name="テキスト プレースホルダー 3">
            <a:extLst>
              <a:ext uri="{FF2B5EF4-FFF2-40B4-BE49-F238E27FC236}">
                <a16:creationId xmlns:a16="http://schemas.microsoft.com/office/drawing/2014/main" id="{81F0D390-7D08-18D7-F7E0-2567A722D529}"/>
              </a:ext>
            </a:extLst>
          </p:cNvPr>
          <p:cNvSpPr>
            <a:spLocks noGrp="1"/>
          </p:cNvSpPr>
          <p:nvPr>
            <p:ph type="body" sz="quarter" idx="14"/>
          </p:nvPr>
        </p:nvSpPr>
        <p:spPr/>
        <p:txBody>
          <a:bodyPr>
            <a:normAutofit lnSpcReduction="10000"/>
          </a:bodyPr>
          <a:lstStyle/>
          <a:p>
            <a:r>
              <a:rPr>
                <a:latin typeface="BIZ UDPGothic"/>
                <a:ea typeface="BIZ UDPGothic"/>
              </a:rPr>
              <a:t>双日テックイノベーション株式会社</a:t>
            </a:r>
            <a:endParaRPr kumimoji="1" lang="ja-JP" altLang="en-US"/>
          </a:p>
        </p:txBody>
      </p:sp>
      <p:sp>
        <p:nvSpPr>
          <p:cNvPr id="5" name="テキスト プレースホルダー 4">
            <a:extLst>
              <a:ext uri="{FF2B5EF4-FFF2-40B4-BE49-F238E27FC236}">
                <a16:creationId xmlns:a16="http://schemas.microsoft.com/office/drawing/2014/main" id="{1F3DC3EB-F26E-6036-440B-5FE14FDA43A8}"/>
              </a:ext>
            </a:extLst>
          </p:cNvPr>
          <p:cNvSpPr>
            <a:spLocks noGrp="1"/>
          </p:cNvSpPr>
          <p:nvPr>
            <p:ph type="body" sz="quarter" idx="15"/>
          </p:nvPr>
        </p:nvSpPr>
        <p:spPr/>
        <p:txBody>
          <a:bodyPr>
            <a:normAutofit lnSpcReduction="10000"/>
          </a:bodyPr>
          <a:lstStyle/>
          <a:p>
            <a:endParaRPr kumimoji="1" lang="ja-JP" altLang="en-US"/>
          </a:p>
        </p:txBody>
      </p:sp>
      <p:sp>
        <p:nvSpPr>
          <p:cNvPr id="6" name="テキスト プレースホルダー 5">
            <a:extLst>
              <a:ext uri="{FF2B5EF4-FFF2-40B4-BE49-F238E27FC236}">
                <a16:creationId xmlns:a16="http://schemas.microsoft.com/office/drawing/2014/main" id="{0085B39A-6306-E381-EF50-DFBAE604F612}"/>
              </a:ext>
            </a:extLst>
          </p:cNvPr>
          <p:cNvSpPr>
            <a:spLocks noGrp="1"/>
          </p:cNvSpPr>
          <p:nvPr>
            <p:ph type="body" sz="quarter" idx="16"/>
          </p:nvPr>
        </p:nvSpPr>
        <p:spPr/>
        <p:txBody>
          <a:bodyPr>
            <a:normAutofit lnSpcReduction="10000"/>
          </a:bodyPr>
          <a:lstStyle/>
          <a:p>
            <a:endParaRPr kumimoji="1" lang="ja-JP" altLang="en-US"/>
          </a:p>
        </p:txBody>
      </p:sp>
      <p:sp>
        <p:nvSpPr>
          <p:cNvPr id="7" name="テキスト プレースホルダー 6">
            <a:extLst>
              <a:ext uri="{FF2B5EF4-FFF2-40B4-BE49-F238E27FC236}">
                <a16:creationId xmlns:a16="http://schemas.microsoft.com/office/drawing/2014/main" id="{8917708A-A6DF-ACEB-214F-5FF13FAB8E87}"/>
              </a:ext>
            </a:extLst>
          </p:cNvPr>
          <p:cNvSpPr>
            <a:spLocks noGrp="1"/>
          </p:cNvSpPr>
          <p:nvPr>
            <p:ph type="body" sz="quarter" idx="17"/>
          </p:nvPr>
        </p:nvSpPr>
        <p:spPr/>
        <p:txBody>
          <a:bodyPr/>
          <a:lstStyle/>
          <a:p>
            <a:r>
              <a:rPr>
                <a:latin typeface="BIZ UDPGothic"/>
                <a:ea typeface="BIZ UDPGothic"/>
              </a:rPr>
              <a:t>2026年8月</a:t>
            </a:r>
            <a:endParaRPr kumimoji="1" lang="ja-JP" altLang="en-US"/>
          </a:p>
        </p:txBody>
      </p:sp>
    </p:spTree>
    <p:extLst>
      <p:ext uri="{BB962C8B-B14F-4D97-AF65-F5344CB8AC3E}">
        <p14:creationId xmlns:p14="http://schemas.microsoft.com/office/powerpoint/2010/main" val="107062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EF019CAF-1F6E-29C8-4189-9BBECDFEDA23}"/>
              </a:ext>
            </a:extLst>
          </p:cNvPr>
          <p:cNvSpPr>
            <a:spLocks noGrp="1"/>
          </p:cNvSpPr>
          <p:nvPr>
            <p:ph type="title"/>
          </p:nvPr>
        </p:nvSpPr>
        <p:spPr/>
        <p:txBody>
          <a:bodyPr/>
          <a:lstStyle/>
          <a:p>
            <a:r>
              <a:rPr>
                <a:latin typeface="BIZ UDPGothic"/>
                <a:ea typeface="BIZ UDPGothic"/>
              </a:rPr>
              <a:t>目次</a:t>
            </a:r>
            <a:endParaRPr lang="ja-JP" altLang="en-US" dirty="0"/>
          </a:p>
        </p:txBody>
      </p:sp>
      <p:sp>
        <p:nvSpPr>
          <p:cNvPr id="4" name="Oval 3"/>
          <p:cNvSpPr/>
          <p:nvPr/>
        </p:nvSpPr>
        <p:spPr>
          <a:xfrm>
            <a:off x="548640" y="160020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01</a:t>
            </a:r>
          </a:p>
        </p:txBody>
      </p:sp>
      <p:sp>
        <p:nvSpPr>
          <p:cNvPr id="5" name="TextBox 4"/>
          <p:cNvSpPr txBox="1"/>
          <p:nvPr/>
        </p:nvSpPr>
        <p:spPr>
          <a:xfrm>
            <a:off x="1188720" y="1554480"/>
            <a:ext cx="8412480" cy="914400"/>
          </a:xfrm>
          <a:prstGeom prst="rect">
            <a:avLst/>
          </a:prstGeom>
          <a:noFill/>
        </p:spPr>
        <p:txBody>
          <a:bodyPr wrap="square" lIns="0" rIns="0" tIns="0" bIns="0" anchor="t">
            <a:spAutoFit/>
          </a:bodyPr>
          <a:lstStyle/>
          <a:p>
            <a:r>
              <a:rPr sz="2000" b="1">
                <a:solidFill>
                  <a:srgbClr val="191919"/>
                </a:solidFill>
                <a:latin typeface="BIZ UDPGothic"/>
                <a:ea typeface="BIZ UDPGothic"/>
              </a:rPr>
              <a:t>フィジカルAIとは何か</a:t>
            </a:r>
          </a:p>
          <a:p>
            <a:pPr>
              <a:spcBef>
                <a:spcPts val="200"/>
              </a:spcBef>
            </a:pPr>
            <a:r>
              <a:rPr sz="1200" b="0">
                <a:solidFill>
                  <a:srgbClr val="A7ACAF"/>
                </a:solidFill>
                <a:latin typeface="BIZ UDPGothic"/>
                <a:ea typeface="BIZ UDPGothic"/>
              </a:rPr>
              <a:t>定義とAI進化の流れ、注目される背景、技術の全体像</a:t>
            </a:r>
          </a:p>
        </p:txBody>
      </p:sp>
      <p:sp>
        <p:nvSpPr>
          <p:cNvPr id="6" name="TextBox 5"/>
          <p:cNvSpPr txBox="1"/>
          <p:nvPr/>
        </p:nvSpPr>
        <p:spPr>
          <a:xfrm>
            <a:off x="10469880" y="161848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03</a:t>
            </a:r>
          </a:p>
        </p:txBody>
      </p:sp>
      <p:sp>
        <p:nvSpPr>
          <p:cNvPr id="7" name="Oval 6"/>
          <p:cNvSpPr/>
          <p:nvPr/>
        </p:nvSpPr>
        <p:spPr>
          <a:xfrm>
            <a:off x="548640" y="2715768"/>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02</a:t>
            </a:r>
          </a:p>
        </p:txBody>
      </p:sp>
      <p:sp>
        <p:nvSpPr>
          <p:cNvPr id="8" name="TextBox 7"/>
          <p:cNvSpPr txBox="1"/>
          <p:nvPr/>
        </p:nvSpPr>
        <p:spPr>
          <a:xfrm>
            <a:off x="1188720" y="2670048"/>
            <a:ext cx="8412480" cy="914400"/>
          </a:xfrm>
          <a:prstGeom prst="rect">
            <a:avLst/>
          </a:prstGeom>
          <a:noFill/>
        </p:spPr>
        <p:txBody>
          <a:bodyPr wrap="square" lIns="0" rIns="0" tIns="0" bIns="0" anchor="t">
            <a:spAutoFit/>
          </a:bodyPr>
          <a:lstStyle/>
          <a:p>
            <a:r>
              <a:rPr sz="2000" b="1">
                <a:solidFill>
                  <a:srgbClr val="191919"/>
                </a:solidFill>
                <a:latin typeface="BIZ UDPGothic"/>
                <a:ea typeface="BIZ UDPGothic"/>
              </a:rPr>
              <a:t>主要プレイヤーと最新動向</a:t>
            </a:r>
          </a:p>
          <a:p>
            <a:pPr>
              <a:spcBef>
                <a:spcPts val="200"/>
              </a:spcBef>
            </a:pPr>
            <a:r>
              <a:rPr sz="1200" b="0">
                <a:solidFill>
                  <a:srgbClr val="A7ACAF"/>
                </a:solidFill>
                <a:latin typeface="BIZ UDPGothic"/>
                <a:ea typeface="BIZ UDPGothic"/>
              </a:rPr>
              <a:t>NVIDIAの戦略、ヒューマノイド開発競争、産業別ユースケース</a:t>
            </a:r>
          </a:p>
        </p:txBody>
      </p:sp>
      <p:sp>
        <p:nvSpPr>
          <p:cNvPr id="9" name="TextBox 8"/>
          <p:cNvSpPr txBox="1"/>
          <p:nvPr/>
        </p:nvSpPr>
        <p:spPr>
          <a:xfrm>
            <a:off x="10469880" y="2734056"/>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07</a:t>
            </a:r>
          </a:p>
        </p:txBody>
      </p:sp>
      <p:sp>
        <p:nvSpPr>
          <p:cNvPr id="10" name="Oval 9"/>
          <p:cNvSpPr/>
          <p:nvPr/>
        </p:nvSpPr>
        <p:spPr>
          <a:xfrm>
            <a:off x="548640" y="3831335"/>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03</a:t>
            </a:r>
          </a:p>
        </p:txBody>
      </p:sp>
      <p:sp>
        <p:nvSpPr>
          <p:cNvPr id="11" name="TextBox 10"/>
          <p:cNvSpPr txBox="1"/>
          <p:nvPr/>
        </p:nvSpPr>
        <p:spPr>
          <a:xfrm>
            <a:off x="1188720" y="3785615"/>
            <a:ext cx="8412480" cy="914400"/>
          </a:xfrm>
          <a:prstGeom prst="rect">
            <a:avLst/>
          </a:prstGeom>
          <a:noFill/>
        </p:spPr>
        <p:txBody>
          <a:bodyPr wrap="square" lIns="0" rIns="0" tIns="0" bIns="0" anchor="t">
            <a:spAutoFit/>
          </a:bodyPr>
          <a:lstStyle/>
          <a:p>
            <a:r>
              <a:rPr sz="2000" b="1">
                <a:solidFill>
                  <a:srgbClr val="191919"/>
                </a:solidFill>
                <a:latin typeface="BIZ UDPGothic"/>
                <a:ea typeface="BIZ UDPGothic"/>
              </a:rPr>
              <a:t>技術の仕組み</a:t>
            </a:r>
          </a:p>
          <a:p>
            <a:pPr>
              <a:spcBef>
                <a:spcPts val="200"/>
              </a:spcBef>
            </a:pPr>
            <a:r>
              <a:rPr sz="1200" b="0">
                <a:solidFill>
                  <a:srgbClr val="A7ACAF"/>
                </a:solidFill>
                <a:latin typeface="BIZ UDPGothic"/>
                <a:ea typeface="BIZ UDPGothic"/>
              </a:rPr>
              <a:t>シミュレーション学習(Sim2Real)とVLAモデル</a:t>
            </a:r>
          </a:p>
        </p:txBody>
      </p:sp>
      <p:sp>
        <p:nvSpPr>
          <p:cNvPr id="12" name="TextBox 11"/>
          <p:cNvSpPr txBox="1"/>
          <p:nvPr/>
        </p:nvSpPr>
        <p:spPr>
          <a:xfrm>
            <a:off x="10469880" y="3849623"/>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11</a:t>
            </a:r>
          </a:p>
        </p:txBody>
      </p:sp>
      <p:sp>
        <p:nvSpPr>
          <p:cNvPr id="13" name="Oval 12"/>
          <p:cNvSpPr/>
          <p:nvPr/>
        </p:nvSpPr>
        <p:spPr>
          <a:xfrm>
            <a:off x="548640" y="4946903"/>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04</a:t>
            </a:r>
          </a:p>
        </p:txBody>
      </p:sp>
      <p:sp>
        <p:nvSpPr>
          <p:cNvPr id="14" name="TextBox 13"/>
          <p:cNvSpPr txBox="1"/>
          <p:nvPr/>
        </p:nvSpPr>
        <p:spPr>
          <a:xfrm>
            <a:off x="1188720" y="4901183"/>
            <a:ext cx="8412480" cy="914400"/>
          </a:xfrm>
          <a:prstGeom prst="rect">
            <a:avLst/>
          </a:prstGeom>
          <a:noFill/>
        </p:spPr>
        <p:txBody>
          <a:bodyPr wrap="square" lIns="0" rIns="0" tIns="0" bIns="0" anchor="t">
            <a:spAutoFit/>
          </a:bodyPr>
          <a:lstStyle/>
          <a:p>
            <a:r>
              <a:rPr sz="2000" b="1">
                <a:solidFill>
                  <a:srgbClr val="191919"/>
                </a:solidFill>
                <a:latin typeface="BIZ UDPGothic"/>
                <a:ea typeface="BIZ UDPGothic"/>
              </a:rPr>
              <a:t>ビジネスへの示唆・まとめ</a:t>
            </a:r>
          </a:p>
          <a:p>
            <a:pPr>
              <a:spcBef>
                <a:spcPts val="200"/>
              </a:spcBef>
            </a:pPr>
            <a:r>
              <a:rPr sz="1200" b="0">
                <a:solidFill>
                  <a:srgbClr val="A7ACAF"/>
                </a:solidFill>
                <a:latin typeface="BIZ UDPGothic"/>
                <a:ea typeface="BIZ UDPGothic"/>
              </a:rPr>
              <a:t>市場予測と課題、私たちの事業との接点</a:t>
            </a:r>
          </a:p>
        </p:txBody>
      </p:sp>
      <p:sp>
        <p:nvSpPr>
          <p:cNvPr id="15" name="TextBox 14"/>
          <p:cNvSpPr txBox="1"/>
          <p:nvPr/>
        </p:nvSpPr>
        <p:spPr>
          <a:xfrm>
            <a:off x="10469880" y="4965191"/>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14</a:t>
            </a:r>
          </a:p>
        </p:txBody>
      </p:sp>
    </p:spTree>
    <p:extLst>
      <p:ext uri="{BB962C8B-B14F-4D97-AF65-F5344CB8AC3E}">
        <p14:creationId xmlns:p14="http://schemas.microsoft.com/office/powerpoint/2010/main" val="17016237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1．フィジカルAIとは何か</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フィジカルAIとは — AI進化の「第4の波」</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デジタル世界で完結していたAIが、現実世界を知覚し、行動する段階へ</a:t>
            </a:r>
            <a:endParaRPr lang="ja-JP" altLang="en-US"/>
          </a:p>
        </p:txBody>
      </p:sp>
      <p:sp>
        <p:nvSpPr>
          <p:cNvPr id="9" name="Chevron 8"/>
          <p:cNvSpPr/>
          <p:nvPr/>
        </p:nvSpPr>
        <p:spPr>
          <a:xfrm>
            <a:off x="466344" y="1783080"/>
            <a:ext cx="2926080" cy="1874519"/>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237744" tIns="73152" bIns="73152"/>
          <a:lstStyle/>
          <a:p>
            <a:pPr algn="ctr"/>
            <a:r>
              <a:rPr sz="1500" b="1">
                <a:solidFill>
                  <a:srgbClr val="191919"/>
                </a:solidFill>
                <a:latin typeface="BIZ UDPGothic"/>
                <a:ea typeface="BIZ UDPGothic"/>
              </a:rPr>
              <a:t>認識AI</a:t>
            </a:r>
          </a:p>
          <a:p>
            <a:pPr>
              <a:spcBef>
                <a:spcPts val="400"/>
              </a:spcBef>
            </a:pPr>
            <a:r>
              <a:rPr sz="1100" b="0">
                <a:solidFill>
                  <a:srgbClr val="191919"/>
                </a:solidFill>
                <a:latin typeface="BIZ UDPGothic"/>
                <a:ea typeface="BIZ UDPGothic"/>
              </a:rPr>
              <a:t>画像・音声を認識する</a:t>
            </a:r>
          </a:p>
          <a:p>
            <a:pPr>
              <a:spcBef>
                <a:spcPts val="400"/>
              </a:spcBef>
            </a:pPr>
            <a:r>
              <a:rPr sz="1000" b="1">
                <a:solidFill>
                  <a:srgbClr val="A7ACAF"/>
                </a:solidFill>
                <a:latin typeface="BIZ UDPGothic"/>
                <a:ea typeface="BIZ UDPGothic"/>
              </a:rPr>
              <a:t>2012年頃〜</a:t>
            </a:r>
          </a:p>
        </p:txBody>
      </p:sp>
      <p:sp>
        <p:nvSpPr>
          <p:cNvPr id="10" name="Chevron 9"/>
          <p:cNvSpPr/>
          <p:nvPr/>
        </p:nvSpPr>
        <p:spPr>
          <a:xfrm>
            <a:off x="3255264" y="1783080"/>
            <a:ext cx="2926080" cy="1874519"/>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237744" tIns="73152" bIns="73152"/>
          <a:lstStyle/>
          <a:p>
            <a:pPr algn="ctr"/>
            <a:r>
              <a:rPr sz="1500" b="1">
                <a:solidFill>
                  <a:srgbClr val="191919"/>
                </a:solidFill>
                <a:latin typeface="BIZ UDPGothic"/>
                <a:ea typeface="BIZ UDPGothic"/>
              </a:rPr>
              <a:t>生成AI</a:t>
            </a:r>
          </a:p>
          <a:p>
            <a:pPr>
              <a:spcBef>
                <a:spcPts val="400"/>
              </a:spcBef>
            </a:pPr>
            <a:r>
              <a:rPr sz="1100" b="0">
                <a:solidFill>
                  <a:srgbClr val="191919"/>
                </a:solidFill>
                <a:latin typeface="BIZ UDPGothic"/>
                <a:ea typeface="BIZ UDPGothic"/>
              </a:rPr>
              <a:t>文章・画像を生み出す</a:t>
            </a:r>
          </a:p>
          <a:p>
            <a:pPr>
              <a:spcBef>
                <a:spcPts val="400"/>
              </a:spcBef>
            </a:pPr>
            <a:r>
              <a:rPr sz="1000" b="1">
                <a:solidFill>
                  <a:srgbClr val="A7ACAF"/>
                </a:solidFill>
                <a:latin typeface="BIZ UDPGothic"/>
                <a:ea typeface="BIZ UDPGothic"/>
              </a:rPr>
              <a:t>2022年頃〜</a:t>
            </a:r>
          </a:p>
        </p:txBody>
      </p:sp>
      <p:sp>
        <p:nvSpPr>
          <p:cNvPr id="11" name="Chevron 10"/>
          <p:cNvSpPr/>
          <p:nvPr/>
        </p:nvSpPr>
        <p:spPr>
          <a:xfrm>
            <a:off x="6044184" y="1783080"/>
            <a:ext cx="2926080" cy="1874519"/>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237744" tIns="73152" bIns="73152"/>
          <a:lstStyle/>
          <a:p>
            <a:pPr algn="ctr"/>
            <a:r>
              <a:rPr sz="1500" b="1">
                <a:solidFill>
                  <a:srgbClr val="191919"/>
                </a:solidFill>
                <a:latin typeface="BIZ UDPGothic"/>
                <a:ea typeface="BIZ UDPGothic"/>
              </a:rPr>
              <a:t>エージェントAI</a:t>
            </a:r>
          </a:p>
          <a:p>
            <a:pPr>
              <a:spcBef>
                <a:spcPts val="400"/>
              </a:spcBef>
            </a:pPr>
            <a:r>
              <a:rPr sz="1100" b="0">
                <a:solidFill>
                  <a:srgbClr val="191919"/>
                </a:solidFill>
                <a:latin typeface="BIZ UDPGothic"/>
                <a:ea typeface="BIZ UDPGothic"/>
              </a:rPr>
              <a:t>自律的に仕事を進める</a:t>
            </a:r>
          </a:p>
          <a:p>
            <a:pPr>
              <a:spcBef>
                <a:spcPts val="400"/>
              </a:spcBef>
            </a:pPr>
            <a:r>
              <a:rPr sz="1000" b="1">
                <a:solidFill>
                  <a:srgbClr val="A7ACAF"/>
                </a:solidFill>
                <a:latin typeface="BIZ UDPGothic"/>
                <a:ea typeface="BIZ UDPGothic"/>
              </a:rPr>
              <a:t>2024年頃〜</a:t>
            </a:r>
          </a:p>
        </p:txBody>
      </p:sp>
      <p:sp>
        <p:nvSpPr>
          <p:cNvPr id="12" name="Chevron 11"/>
          <p:cNvSpPr/>
          <p:nvPr/>
        </p:nvSpPr>
        <p:spPr>
          <a:xfrm>
            <a:off x="8833104" y="1783080"/>
            <a:ext cx="2926080" cy="1874519"/>
          </a:xfrm>
          <a:prstGeom prst="chevron">
            <a:avLst>
              <a:gd name="adj" fmla="val 25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237744" tIns="73152" bIns="73152"/>
          <a:lstStyle/>
          <a:p>
            <a:pPr algn="ctr"/>
            <a:r>
              <a:rPr sz="1500" b="1">
                <a:solidFill>
                  <a:srgbClr val="FFFFFF"/>
                </a:solidFill>
                <a:latin typeface="BIZ UDPGothic"/>
                <a:ea typeface="BIZ UDPGothic"/>
              </a:rPr>
              <a:t>フィジカルAI</a:t>
            </a:r>
          </a:p>
          <a:p>
            <a:pPr>
              <a:spcBef>
                <a:spcPts val="400"/>
              </a:spcBef>
            </a:pPr>
            <a:r>
              <a:rPr sz="1100" b="0">
                <a:solidFill>
                  <a:srgbClr val="FFFFFF"/>
                </a:solidFill>
                <a:latin typeface="BIZ UDPGothic"/>
                <a:ea typeface="BIZ UDPGothic"/>
              </a:rPr>
              <a:t>現実世界で知覚し行動する</a:t>
            </a:r>
          </a:p>
          <a:p>
            <a:pPr>
              <a:spcBef>
                <a:spcPts val="400"/>
              </a:spcBef>
            </a:pPr>
            <a:r>
              <a:rPr sz="1000" b="1">
                <a:solidFill>
                  <a:srgbClr val="6BB8F2"/>
                </a:solidFill>
                <a:latin typeface="BIZ UDPGothic"/>
                <a:ea typeface="BIZ UDPGothic"/>
              </a:rPr>
              <a:t>いま・これから</a:t>
            </a:r>
          </a:p>
        </p:txBody>
      </p:sp>
      <p:sp>
        <p:nvSpPr>
          <p:cNvPr id="13" name="Rounded Rectangle 12"/>
          <p:cNvSpPr/>
          <p:nvPr/>
        </p:nvSpPr>
        <p:spPr>
          <a:xfrm>
            <a:off x="466344" y="4069080"/>
            <a:ext cx="11183112"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82880" bIns="73152"/>
          <a:lstStyle/>
          <a:p>
            <a:pPr algn="ctr">
              <a:spcAft>
                <a:spcPts val="600"/>
              </a:spcAft>
            </a:pPr>
            <a:r>
              <a:rPr sz="1500" b="1">
                <a:solidFill>
                  <a:srgbClr val="00219B"/>
                </a:solidFill>
                <a:latin typeface="BIZ UDPGothic"/>
                <a:ea typeface="BIZ UDPGothic"/>
              </a:rPr>
              <a:t>フィジカルAI（Physical AI）とは</a:t>
            </a:r>
          </a:p>
          <a:p>
            <a:pPr>
              <a:spcAft>
                <a:spcPts val="400"/>
              </a:spcAft>
            </a:pPr>
            <a:r>
              <a:rPr sz="1300" b="0">
                <a:solidFill>
                  <a:srgbClr val="191919"/>
                </a:solidFill>
                <a:latin typeface="BIZ UDPGothic"/>
                <a:ea typeface="BIZ UDPGothic"/>
              </a:rPr>
              <a:t>物理法則（重力・摩擦・空間など）を理解し、現実世界を</a:t>
            </a:r>
            <a:r>
              <a:rPr sz="1300" b="1">
                <a:solidFill>
                  <a:srgbClr val="00219B"/>
                </a:solidFill>
                <a:latin typeface="BIZ UDPGothic"/>
                <a:ea typeface="BIZ UDPGothic"/>
              </a:rPr>
              <a:t>知覚・判断・行動</a:t>
            </a:r>
            <a:r>
              <a:rPr sz="1300" b="0">
                <a:solidFill>
                  <a:srgbClr val="191919"/>
                </a:solidFill>
                <a:latin typeface="BIZ UDPGothic"/>
                <a:ea typeface="BIZ UDPGothic"/>
              </a:rPr>
              <a:t>する自律的なAIのこと。</a:t>
            </a:r>
          </a:p>
          <a:p>
            <a:pPr>
              <a:spcAft>
                <a:spcPts val="800"/>
              </a:spcAft>
            </a:pPr>
            <a:r>
              <a:rPr sz="1300" b="0">
                <a:solidFill>
                  <a:srgbClr val="191919"/>
                </a:solidFill>
                <a:latin typeface="BIZ UDPGothic"/>
                <a:ea typeface="BIZ UDPGothic"/>
              </a:rPr>
              <a:t>ヒューマノイドロボット・自動運転車・ドローン・AMR（自律走行搬送ロボット）などの「身体」を通じて、物理的な仕事を行う。</a:t>
            </a:r>
          </a:p>
          <a:p>
            <a:r>
              <a:rPr sz="1100" b="0">
                <a:solidFill>
                  <a:srgbClr val="A7ACAF"/>
                </a:solidFill>
                <a:latin typeface="BIZ UDPGothic"/>
                <a:ea typeface="BIZ UDPGothic"/>
              </a:rPr>
              <a:t>NVIDIAのジェンスン・フアンCEOがCES 2025基調講演で提唱して以降、業界共通のキーワードに。</a:t>
            </a:r>
          </a:p>
        </p:txBody>
      </p:sp>
    </p:spTree>
    <p:extLst>
      <p:ext uri="{BB962C8B-B14F-4D97-AF65-F5344CB8AC3E}">
        <p14:creationId xmlns:p14="http://schemas.microsoft.com/office/powerpoint/2010/main" val="306170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なぜ今、フィジカルAIが注目されるのか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技術・社会・産業 — 3つの追い風が重なった</a:t>
            </a:r>
            <a:endParaRPr lang="ja-JP" altLang="en-US"/>
          </a:p>
        </p:txBody>
      </p:sp>
      <p:sp>
        <p:nvSpPr>
          <p:cNvPr id="9" name="Rounded Rectangle 8"/>
          <p:cNvSpPr/>
          <p:nvPr/>
        </p:nvSpPr>
        <p:spPr>
          <a:xfrm>
            <a:off x="466344"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685800" bIns="73152"/>
          <a:lstStyle/>
          <a:p>
            <a:pPr algn="ctr">
              <a:spcAft>
                <a:spcPts val="1000"/>
              </a:spcAft>
            </a:pPr>
            <a:r>
              <a:rPr sz="1600" b="1">
                <a:solidFill>
                  <a:srgbClr val="00219B"/>
                </a:solidFill>
                <a:latin typeface="BIZ UDPGothic"/>
                <a:ea typeface="BIZ UDPGothic"/>
              </a:rPr>
              <a:t>技術が追いついた</a:t>
            </a:r>
          </a:p>
          <a:p>
            <a:pPr marL="182880" indent="-182880">
              <a:lnSpc>
                <a:spcPct val="115000"/>
              </a:lnSpc>
              <a:spcAft>
                <a:spcPts val="800"/>
              </a:spcAft>
              <a:buFont typeface="BIZ UDPGothic"/>
              <a:buChar char="・"/>
            </a:pPr>
            <a:r>
              <a:rPr sz="1250" b="0">
                <a:solidFill>
                  <a:srgbClr val="191919"/>
                </a:solidFill>
                <a:latin typeface="BIZ UDPGothic"/>
                <a:ea typeface="BIZ UDPGothic"/>
              </a:rPr>
              <a:t>LLM・基盤モデルの進化で、ロボットが言葉と「常識」を理解できるようになった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シミュレーション技術の成熟で、学習の時間とコストが劇的に低下</a:t>
            </a:r>
          </a:p>
        </p:txBody>
      </p:sp>
      <p:sp>
        <p:nvSpPr>
          <p:cNvPr id="10" name="Oval 9"/>
          <p:cNvSpPr/>
          <p:nvPr/>
        </p:nvSpPr>
        <p:spPr>
          <a:xfrm>
            <a:off x="667512" y="2331720"/>
            <a:ext cx="384048" cy="38404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BIZ UDPGothic"/>
                <a:ea typeface="BIZ UDPGothic"/>
              </a:rPr>
              <a:t>1</a:t>
            </a:r>
          </a:p>
        </p:txBody>
      </p:sp>
      <p:sp>
        <p:nvSpPr>
          <p:cNvPr id="11" name="Rounded Rectangle 10"/>
          <p:cNvSpPr/>
          <p:nvPr/>
        </p:nvSpPr>
        <p:spPr>
          <a:xfrm>
            <a:off x="4251960"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685800" bIns="73152"/>
          <a:lstStyle/>
          <a:p>
            <a:pPr algn="ctr">
              <a:spcAft>
                <a:spcPts val="1000"/>
              </a:spcAft>
            </a:pPr>
            <a:r>
              <a:rPr sz="1600" b="1">
                <a:solidFill>
                  <a:srgbClr val="00219B"/>
                </a:solidFill>
                <a:latin typeface="BIZ UDPGothic"/>
                <a:ea typeface="BIZ UDPGothic"/>
              </a:rPr>
              <a:t>現場の人手が足りない</a:t>
            </a:r>
          </a:p>
          <a:p>
            <a:pPr marL="182880" indent="-182880">
              <a:lnSpc>
                <a:spcPct val="115000"/>
              </a:lnSpc>
              <a:spcAft>
                <a:spcPts val="800"/>
              </a:spcAft>
              <a:buFont typeface="BIZ UDPGothic"/>
              <a:buChar char="・"/>
            </a:pPr>
            <a:r>
              <a:rPr sz="1250" b="0">
                <a:solidFill>
                  <a:srgbClr val="191919"/>
                </a:solidFill>
                <a:latin typeface="BIZ UDPGothic"/>
                <a:ea typeface="BIZ UDPGothic"/>
              </a:rPr>
              <a:t>日本では2030年に約644万人の人手不足という試算（パーソル総合研究所ほか）</a:t>
            </a:r>
          </a:p>
          <a:p>
            <a:pPr marL="182880" indent="-182880">
              <a:lnSpc>
                <a:spcPct val="115000"/>
              </a:lnSpc>
              <a:spcAft>
                <a:spcPts val="800"/>
              </a:spcAft>
              <a:buFont typeface="BIZ UDPGothic"/>
              <a:buChar char="・"/>
            </a:pPr>
            <a:r>
              <a:rPr sz="1250" b="0">
                <a:solidFill>
                  <a:srgbClr val="191919"/>
                </a:solidFill>
                <a:latin typeface="BIZ UDPGothic"/>
                <a:ea typeface="BIZ UDPGothic"/>
              </a:rPr>
              <a:t>製造・物流・建設・介護など、身体を使う仕事ほど自動化ニーズが深刻</a:t>
            </a:r>
          </a:p>
        </p:txBody>
      </p:sp>
      <p:sp>
        <p:nvSpPr>
          <p:cNvPr id="12" name="Oval 11"/>
          <p:cNvSpPr/>
          <p:nvPr/>
        </p:nvSpPr>
        <p:spPr>
          <a:xfrm>
            <a:off x="4453128" y="2331720"/>
            <a:ext cx="384048" cy="38404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BIZ UDPGothic"/>
                <a:ea typeface="BIZ UDPGothic"/>
              </a:rPr>
              <a:t>2</a:t>
            </a:r>
          </a:p>
        </p:txBody>
      </p:sp>
      <p:sp>
        <p:nvSpPr>
          <p:cNvPr id="13" name="Rounded Rectangle 12"/>
          <p:cNvSpPr/>
          <p:nvPr/>
        </p:nvSpPr>
        <p:spPr>
          <a:xfrm>
            <a:off x="8037576"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685800" bIns="73152"/>
          <a:lstStyle/>
          <a:p>
            <a:pPr algn="ctr">
              <a:spcAft>
                <a:spcPts val="1000"/>
              </a:spcAft>
            </a:pPr>
            <a:r>
              <a:rPr sz="1600" b="1">
                <a:solidFill>
                  <a:srgbClr val="00219B"/>
                </a:solidFill>
                <a:latin typeface="BIZ UDPGothic"/>
                <a:ea typeface="BIZ UDPGothic"/>
              </a:rPr>
              <a:t>産業界が本気になった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NVIDIA CEO「ロボティクスのChatGPTモーメントは目前」（CES 2025）</a:t>
            </a:r>
          </a:p>
          <a:p>
            <a:pPr marL="182880" indent="-182880">
              <a:lnSpc>
                <a:spcPct val="115000"/>
              </a:lnSpc>
              <a:spcAft>
                <a:spcPts val="800"/>
              </a:spcAft>
              <a:buFont typeface="BIZ UDPGothic"/>
              <a:buChar char="・"/>
            </a:pPr>
            <a:r>
              <a:rPr sz="1250" b="0">
                <a:solidFill>
                  <a:srgbClr val="191919"/>
                </a:solidFill>
                <a:latin typeface="BIZ UDPGothic"/>
                <a:ea typeface="BIZ UDPGothic"/>
              </a:rPr>
              <a:t>ヒューマノイド各社へ巨額投資が集中し、開発競争が一気に加速</a:t>
            </a:r>
          </a:p>
        </p:txBody>
      </p:sp>
      <p:sp>
        <p:nvSpPr>
          <p:cNvPr id="14" name="Oval 13"/>
          <p:cNvSpPr/>
          <p:nvPr/>
        </p:nvSpPr>
        <p:spPr>
          <a:xfrm>
            <a:off x="8238744" y="2331720"/>
            <a:ext cx="384048" cy="38404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BIZ UDPGothic"/>
                <a:ea typeface="BIZ UDPGothic"/>
              </a:rPr>
              <a:t>3</a:t>
            </a:r>
          </a:p>
        </p:txBody>
      </p:sp>
    </p:spTree>
    <p:extLst>
      <p:ext uri="{BB962C8B-B14F-4D97-AF65-F5344CB8AC3E}">
        <p14:creationId xmlns:p14="http://schemas.microsoft.com/office/powerpoint/2010/main" val="3061702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フィジカルAIを支える3層の技術スタック</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「頭脳」「訓練場」「身体」の3層がそろって初めて機能する</a:t>
            </a:r>
            <a:endParaRPr lang="ja-JP" altLang="en-US"/>
          </a:p>
        </p:txBody>
      </p:sp>
      <p:sp>
        <p:nvSpPr>
          <p:cNvPr id="9" name="Rounded Rectangle 8"/>
          <p:cNvSpPr/>
          <p:nvPr/>
        </p:nvSpPr>
        <p:spPr>
          <a:xfrm>
            <a:off x="466344" y="1828800"/>
            <a:ext cx="1417320" cy="1207008"/>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700" b="1">
                <a:solidFill>
                  <a:srgbClr val="FFFFFF"/>
                </a:solidFill>
                <a:latin typeface="BIZ UDPGothic"/>
                <a:ea typeface="BIZ UDPGothic"/>
              </a:rPr>
              <a:t>頭脳</a:t>
            </a:r>
          </a:p>
        </p:txBody>
      </p:sp>
      <p:sp>
        <p:nvSpPr>
          <p:cNvPr id="10" name="Rounded Rectangle 9"/>
          <p:cNvSpPr/>
          <p:nvPr/>
        </p:nvSpPr>
        <p:spPr>
          <a:xfrm>
            <a:off x="2029968" y="1828800"/>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基盤モデル</a:t>
            </a:r>
          </a:p>
          <a:p>
            <a:pPr>
              <a:lnSpc>
                <a:spcPct val="110000"/>
              </a:lnSpc>
            </a:pPr>
            <a:r>
              <a:rPr sz="1200" b="0">
                <a:solidFill>
                  <a:srgbClr val="191919"/>
                </a:solidFill>
                <a:latin typeface="BIZ UDPGothic"/>
                <a:ea typeface="BIZ UDPGothic"/>
              </a:rPr>
              <a:t>カメラ映像と言葉を理解し、次の動作を決める（VLAモデル・世界モデル）</a:t>
            </a:r>
          </a:p>
        </p:txBody>
      </p:sp>
      <p:sp>
        <p:nvSpPr>
          <p:cNvPr id="11" name="Rounded Rectangle 10"/>
          <p:cNvSpPr/>
          <p:nvPr/>
        </p:nvSpPr>
        <p:spPr>
          <a:xfrm>
            <a:off x="8851392" y="1828800"/>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Isaac GR00T ／ Gemini Robotics ／ Cosmos</a:t>
            </a:r>
          </a:p>
        </p:txBody>
      </p:sp>
      <p:sp>
        <p:nvSpPr>
          <p:cNvPr id="12" name="Rounded Rectangle 11"/>
          <p:cNvSpPr/>
          <p:nvPr/>
        </p:nvSpPr>
        <p:spPr>
          <a:xfrm>
            <a:off x="466344" y="3218688"/>
            <a:ext cx="1417320" cy="1207008"/>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700" b="1">
                <a:solidFill>
                  <a:srgbClr val="FFFFFF"/>
                </a:solidFill>
                <a:latin typeface="BIZ UDPGothic"/>
                <a:ea typeface="BIZ UDPGothic"/>
              </a:rPr>
              <a:t>訓練場</a:t>
            </a:r>
          </a:p>
        </p:txBody>
      </p:sp>
      <p:sp>
        <p:nvSpPr>
          <p:cNvPr id="13" name="Rounded Rectangle 12"/>
          <p:cNvSpPr/>
          <p:nvPr/>
        </p:nvSpPr>
        <p:spPr>
          <a:xfrm>
            <a:off x="2029968" y="3218688"/>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シミュレーション</a:t>
            </a:r>
          </a:p>
          <a:p>
            <a:pPr>
              <a:lnSpc>
                <a:spcPct val="110000"/>
              </a:lnSpc>
            </a:pPr>
            <a:r>
              <a:rPr sz="1200" b="0">
                <a:solidFill>
                  <a:srgbClr val="191919"/>
                </a:solidFill>
                <a:latin typeface="BIZ UDPGothic"/>
                <a:ea typeface="BIZ UDPGothic"/>
              </a:rPr>
              <a:t>物理法則を再現した仮想空間（デジタルツイン）で、安全に大量訓練する</a:t>
            </a:r>
          </a:p>
        </p:txBody>
      </p:sp>
      <p:sp>
        <p:nvSpPr>
          <p:cNvPr id="14" name="Rounded Rectangle 13"/>
          <p:cNvSpPr/>
          <p:nvPr/>
        </p:nvSpPr>
        <p:spPr>
          <a:xfrm>
            <a:off x="8851392" y="3218688"/>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NVIDIA Omniverse ／ Isaac Sim</a:t>
            </a:r>
          </a:p>
        </p:txBody>
      </p:sp>
      <p:sp>
        <p:nvSpPr>
          <p:cNvPr id="15" name="Rounded Rectangle 14"/>
          <p:cNvSpPr/>
          <p:nvPr/>
        </p:nvSpPr>
        <p:spPr>
          <a:xfrm>
            <a:off x="466344" y="4608576"/>
            <a:ext cx="1417320" cy="1207008"/>
          </a:xfrm>
          <a:prstGeom prst="roundRect">
            <a:avLst>
              <a:gd name="adj" fmla="val 8000"/>
            </a:avLst>
          </a:prstGeom>
          <a:solidFill>
            <a:srgbClr val="6BB8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700" b="1">
                <a:solidFill>
                  <a:srgbClr val="FFFFFF"/>
                </a:solidFill>
                <a:latin typeface="BIZ UDPGothic"/>
                <a:ea typeface="BIZ UDPGothic"/>
              </a:rPr>
              <a:t>身体</a:t>
            </a:r>
          </a:p>
        </p:txBody>
      </p:sp>
      <p:sp>
        <p:nvSpPr>
          <p:cNvPr id="16" name="Rounded Rectangle 15"/>
          <p:cNvSpPr/>
          <p:nvPr/>
        </p:nvSpPr>
        <p:spPr>
          <a:xfrm>
            <a:off x="2029968" y="4608576"/>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ロボット＋エッジAI</a:t>
            </a:r>
          </a:p>
          <a:p>
            <a:pPr>
              <a:lnSpc>
                <a:spcPct val="110000"/>
              </a:lnSpc>
            </a:pPr>
            <a:r>
              <a:rPr sz="1200" b="0">
                <a:solidFill>
                  <a:srgbClr val="191919"/>
                </a:solidFill>
                <a:latin typeface="BIZ UDPGothic"/>
                <a:ea typeface="BIZ UDPGothic"/>
              </a:rPr>
              <a:t>センサーで知覚し、アクチュエータ（関節・モーター）で現実世界に働きかける</a:t>
            </a:r>
          </a:p>
        </p:txBody>
      </p:sp>
      <p:sp>
        <p:nvSpPr>
          <p:cNvPr id="17" name="Rounded Rectangle 16"/>
          <p:cNvSpPr/>
          <p:nvPr/>
        </p:nvSpPr>
        <p:spPr>
          <a:xfrm>
            <a:off x="8851392" y="4608576"/>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ヒューマノイド ／ AMR ／ Jetson Thor</a:t>
            </a:r>
          </a:p>
        </p:txBody>
      </p:sp>
      <p:sp>
        <p:nvSpPr>
          <p:cNvPr id="18" name="TextBox 17"/>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3層をつなぐ開発プラットフォームを制した企業が市場の主導権を握る構図（後述のNVIDIA戦略）</a:t>
            </a:r>
          </a:p>
        </p:txBody>
      </p:sp>
    </p:spTree>
    <p:extLst>
      <p:ext uri="{BB962C8B-B14F-4D97-AF65-F5344CB8AC3E}">
        <p14:creationId xmlns:p14="http://schemas.microsoft.com/office/powerpoint/2010/main" val="306170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2．主要プレイヤーと最新動向</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NVIDIA — フィジカルAIの「共通基盤」を狙う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「3つのコンピュータ」でロボット開発の全工程を押さえる戦略</a:t>
            </a:r>
            <a:endParaRPr lang="ja-JP" altLang="en-US"/>
          </a:p>
        </p:txBody>
      </p:sp>
      <p:sp>
        <p:nvSpPr>
          <p:cNvPr id="9" name="Rounded Rectangle 8"/>
          <p:cNvSpPr/>
          <p:nvPr/>
        </p:nvSpPr>
        <p:spPr>
          <a:xfrm>
            <a:off x="46634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学習</a:t>
            </a:r>
          </a:p>
          <a:p>
            <a:pPr algn="ctr">
              <a:spcAft>
                <a:spcPts val="800"/>
              </a:spcAft>
            </a:pPr>
            <a:r>
              <a:rPr sz="1300" b="1">
                <a:solidFill>
                  <a:srgbClr val="2A65F5"/>
                </a:solidFill>
                <a:latin typeface="BIZ UDPGothic"/>
                <a:ea typeface="BIZ UDPGothic"/>
              </a:rPr>
              <a:t>DGX ／ クラウド</a:t>
            </a:r>
          </a:p>
          <a:p>
            <a:pPr>
              <a:lnSpc>
                <a:spcPct val="120000"/>
              </a:lnSpc>
            </a:pPr>
            <a:r>
              <a:rPr sz="1200" b="0">
                <a:solidFill>
                  <a:srgbClr val="191919"/>
                </a:solidFill>
                <a:latin typeface="BIZ UDPGothic"/>
                <a:ea typeface="BIZ UDPGothic"/>
              </a:rPr>
              <a:t>データセンターで大規模な基盤モデルを訓練する</a:t>
            </a:r>
          </a:p>
        </p:txBody>
      </p:sp>
      <p:sp>
        <p:nvSpPr>
          <p:cNvPr id="10" name="Chevron 9"/>
          <p:cNvSpPr/>
          <p:nvPr/>
        </p:nvSpPr>
        <p:spPr>
          <a:xfrm>
            <a:off x="3995928"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1" name="Rounded Rectangle 10"/>
          <p:cNvSpPr/>
          <p:nvPr/>
        </p:nvSpPr>
        <p:spPr>
          <a:xfrm>
            <a:off x="430682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シミュレーション</a:t>
            </a:r>
          </a:p>
          <a:p>
            <a:pPr algn="ctr">
              <a:spcAft>
                <a:spcPts val="800"/>
              </a:spcAft>
            </a:pPr>
            <a:r>
              <a:rPr sz="1300" b="1">
                <a:solidFill>
                  <a:srgbClr val="2A65F5"/>
                </a:solidFill>
                <a:latin typeface="BIZ UDPGothic"/>
                <a:ea typeface="BIZ UDPGothic"/>
              </a:rPr>
              <a:t>Omniverse ＋ Cosmos</a:t>
            </a:r>
          </a:p>
          <a:p>
            <a:pPr>
              <a:lnSpc>
                <a:spcPct val="120000"/>
              </a:lnSpc>
            </a:pPr>
            <a:r>
              <a:rPr sz="1200" b="0">
                <a:solidFill>
                  <a:srgbClr val="191919"/>
                </a:solidFill>
                <a:latin typeface="BIZ UDPGothic"/>
                <a:ea typeface="BIZ UDPGothic"/>
              </a:rPr>
              <a:t>仮想空間で訓練・検証。世界基盤モデル「Cosmos」が現実さながらの学習データを生成</a:t>
            </a:r>
          </a:p>
        </p:txBody>
      </p:sp>
      <p:sp>
        <p:nvSpPr>
          <p:cNvPr id="12" name="Chevron 11"/>
          <p:cNvSpPr/>
          <p:nvPr/>
        </p:nvSpPr>
        <p:spPr>
          <a:xfrm>
            <a:off x="7836407"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814730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実行</a:t>
            </a:r>
          </a:p>
          <a:p>
            <a:pPr algn="ctr">
              <a:spcAft>
                <a:spcPts val="800"/>
              </a:spcAft>
            </a:pPr>
            <a:r>
              <a:rPr sz="1300" b="1">
                <a:solidFill>
                  <a:srgbClr val="2A65F5"/>
                </a:solidFill>
                <a:latin typeface="BIZ UDPGothic"/>
                <a:ea typeface="BIZ UDPGothic"/>
              </a:rPr>
              <a:t>Jetson Thor</a:t>
            </a:r>
          </a:p>
          <a:p>
            <a:pPr>
              <a:lnSpc>
                <a:spcPct val="120000"/>
              </a:lnSpc>
            </a:pPr>
            <a:r>
              <a:rPr sz="1200" b="0">
                <a:solidFill>
                  <a:srgbClr val="191919"/>
                </a:solidFill>
                <a:latin typeface="BIZ UDPGothic"/>
                <a:ea typeface="BIZ UDPGothic"/>
              </a:rPr>
              <a:t>ロボット本体に搭載するエッジAIコンピュータ。学習済みモデルを現場で動かす</a:t>
            </a:r>
          </a:p>
        </p:txBody>
      </p:sp>
      <p:sp>
        <p:nvSpPr>
          <p:cNvPr id="14" name="Rounded Rectangle 13"/>
          <p:cNvSpPr/>
          <p:nvPr/>
        </p:nvSpPr>
        <p:spPr>
          <a:xfrm>
            <a:off x="466344" y="4572000"/>
            <a:ext cx="11183112" cy="14630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FFFFFF"/>
                </a:solidFill>
                <a:latin typeface="BIZ UDPGothic"/>
                <a:ea typeface="BIZ UDPGothic"/>
              </a:rPr>
              <a:t>Isaac GR00T — ヒューマノイド向けのオープンな基盤モデル</a:t>
            </a:r>
          </a:p>
          <a:p>
            <a:pPr>
              <a:lnSpc>
                <a:spcPct val="125000"/>
              </a:lnSpc>
            </a:pPr>
            <a:r>
              <a:rPr sz="1200" b="0">
                <a:solidFill>
                  <a:srgbClr val="EDF4F9"/>
                </a:solidFill>
                <a:latin typeface="BIZ UDPGothic"/>
                <a:ea typeface="BIZ UDPGothic"/>
              </a:rPr>
              <a:t>モデルを無償公開して各社ロボットに採用を促し、開発ツールからチップまで自社基盤で固める。PC時代の「Wintel」のように、フィジカルAIの“OS層”を握りにいく戦略。</a:t>
            </a:r>
          </a:p>
        </p:txBody>
      </p:sp>
    </p:spTree>
    <p:extLst>
      <p:ext uri="{BB962C8B-B14F-4D97-AF65-F5344CB8AC3E}">
        <p14:creationId xmlns:p14="http://schemas.microsoft.com/office/powerpoint/2010/main" val="30617027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加速するヒューマノイド開発競争</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米中のプレイヤーが先行、価格破壊も始まっている</a:t>
            </a:r>
            <a:endParaRPr lang="ja-JP" altLang="en-US"/>
          </a:p>
        </p:txBody>
      </p:sp>
      <p:sp>
        <p:nvSpPr>
          <p:cNvPr id="9" name="Rounded Rectangle 8"/>
          <p:cNvSpPr/>
          <p:nvPr/>
        </p:nvSpPr>
        <p:spPr>
          <a:xfrm>
            <a:off x="466344"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Tesla Optimus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自社工場での活用から量産・外販までを構想。AI・製造力を武器に本命視</a:t>
            </a:r>
          </a:p>
        </p:txBody>
      </p:sp>
      <p:sp>
        <p:nvSpPr>
          <p:cNvPr id="10" name="Rounded Rectangle 9"/>
          <p:cNvSpPr/>
          <p:nvPr/>
        </p:nvSpPr>
        <p:spPr>
          <a:xfrm>
            <a:off x="4251960"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Figure</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独自のVLAモデル「Helix」を開発。BMW工場での実証で先行</a:t>
            </a:r>
          </a:p>
        </p:txBody>
      </p:sp>
      <p:sp>
        <p:nvSpPr>
          <p:cNvPr id="11" name="Rounded Rectangle 10"/>
          <p:cNvSpPr/>
          <p:nvPr/>
        </p:nvSpPr>
        <p:spPr>
          <a:xfrm>
            <a:off x="8037576"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Boston Dynamics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電動化した新型「Atlas」。トヨタ系研究所と基盤モデルで提携</a:t>
            </a:r>
          </a:p>
        </p:txBody>
      </p:sp>
      <p:sp>
        <p:nvSpPr>
          <p:cNvPr id="12" name="Rounded Rectangle 11"/>
          <p:cNvSpPr/>
          <p:nvPr/>
        </p:nvSpPr>
        <p:spPr>
          <a:xfrm>
            <a:off x="466344"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Unitree（宇樹科技）</a:t>
            </a:r>
            <a:r>
              <a:rPr sz="1050" b="1">
                <a:solidFill>
                  <a:srgbClr val="E86487"/>
                </a:solidFill>
                <a:latin typeface="BIZ UDPGothic"/>
                <a:ea typeface="BIZ UDPGothic"/>
              </a:rPr>
              <a:t>　中国</a:t>
            </a:r>
          </a:p>
          <a:p>
            <a:pPr>
              <a:lnSpc>
                <a:spcPct val="118000"/>
              </a:lnSpc>
            </a:pPr>
            <a:r>
              <a:rPr sz="1150" b="0">
                <a:solidFill>
                  <a:srgbClr val="191919"/>
                </a:solidFill>
                <a:latin typeface="BIZ UDPGothic"/>
                <a:ea typeface="BIZ UDPGothic"/>
              </a:rPr>
              <a:t>「G1」を約1.6万ドルで発売。圧倒的な低価格と量産力で普及を狙う</a:t>
            </a:r>
          </a:p>
        </p:txBody>
      </p:sp>
      <p:sp>
        <p:nvSpPr>
          <p:cNvPr id="13" name="Rounded Rectangle 12"/>
          <p:cNvSpPr/>
          <p:nvPr/>
        </p:nvSpPr>
        <p:spPr>
          <a:xfrm>
            <a:off x="4251960"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Google DeepMind</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VLAモデル「Gemini Robotics」を開発し、ロボット各社へ頭脳を提供</a:t>
            </a:r>
          </a:p>
        </p:txBody>
      </p:sp>
      <p:sp>
        <p:nvSpPr>
          <p:cNvPr id="14" name="Rounded Rectangle 13"/>
          <p:cNvSpPr/>
          <p:nvPr/>
        </p:nvSpPr>
        <p:spPr>
          <a:xfrm>
            <a:off x="8037576"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64592" tIns="128016" bIns="73152"/>
          <a:lstStyle/>
          <a:p>
            <a:pPr algn="ctr">
              <a:spcAft>
                <a:spcPts val="500"/>
              </a:spcAft>
            </a:pPr>
            <a:r>
              <a:rPr sz="1400" b="1">
                <a:solidFill>
                  <a:srgbClr val="00219B"/>
                </a:solidFill>
                <a:latin typeface="BIZ UDPGothic"/>
                <a:ea typeface="BIZ UDPGothic"/>
              </a:rPr>
              <a:t>国内の動き</a:t>
            </a:r>
            <a:r>
              <a:rPr sz="1050" b="1">
                <a:solidFill>
                  <a:srgbClr val="55D2D8"/>
                </a:solidFill>
                <a:latin typeface="BIZ UDPGothic"/>
                <a:ea typeface="BIZ UDPGothic"/>
              </a:rPr>
              <a:t>　日本</a:t>
            </a:r>
          </a:p>
          <a:p>
            <a:pPr>
              <a:lnSpc>
                <a:spcPct val="118000"/>
              </a:lnSpc>
            </a:pPr>
            <a:r>
              <a:rPr sz="1150" b="0">
                <a:solidFill>
                  <a:srgbClr val="191919"/>
                </a:solidFill>
                <a:latin typeface="BIZ UDPGothic"/>
                <a:ea typeface="BIZ UDPGothic"/>
              </a:rPr>
              <a:t>川崎重工「Kaleido」、トヨタ、ソニーGなどが研究開発を推進</a:t>
            </a:r>
          </a:p>
        </p:txBody>
      </p:sp>
    </p:spTree>
    <p:extLst>
      <p:ext uri="{BB962C8B-B14F-4D97-AF65-F5344CB8AC3E}">
        <p14:creationId xmlns:p14="http://schemas.microsoft.com/office/powerpoint/2010/main" val="3061702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産業別ユースケース — どこから使われ始めるか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まずは「決まった環境 × 繰り返し作業」の現場から広がる</a:t>
            </a:r>
            <a:endParaRPr lang="ja-JP" altLang="en-US"/>
          </a:p>
        </p:txBody>
      </p:sp>
      <p:sp>
        <p:nvSpPr>
          <p:cNvPr id="9" name="Rounded Rectangle 8"/>
          <p:cNvSpPr/>
          <p:nvPr/>
        </p:nvSpPr>
        <p:spPr>
          <a:xfrm>
            <a:off x="466344"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201168" tIns="164592" bIns="73152"/>
          <a:lstStyle/>
          <a:p>
            <a:pPr algn="ctr">
              <a:spcAft>
                <a:spcPts val="600"/>
              </a:spcAft>
            </a:pPr>
            <a:r>
              <a:rPr sz="1400" b="1">
                <a:solidFill>
                  <a:srgbClr val="2A65F5"/>
                </a:solidFill>
                <a:latin typeface="BIZ UDPGothic"/>
                <a:ea typeface="BIZ UDPGothic"/>
              </a:rPr>
              <a:t>■ </a:t>
            </a:r>
            <a:r>
              <a:rPr sz="1500" b="1">
                <a:solidFill>
                  <a:srgbClr val="00219B"/>
                </a:solidFill>
                <a:latin typeface="BIZ UDPGothic"/>
                <a:ea typeface="BIZ UDPGothic"/>
              </a:rPr>
              <a:t>製造</a:t>
            </a:r>
          </a:p>
          <a:p>
            <a:pPr>
              <a:lnSpc>
                <a:spcPct val="125000"/>
              </a:lnSpc>
            </a:pPr>
            <a:r>
              <a:rPr sz="1250" b="0">
                <a:solidFill>
                  <a:srgbClr val="191919"/>
                </a:solidFill>
                <a:latin typeface="BIZ UDPGothic"/>
                <a:ea typeface="BIZ UDPGothic"/>
              </a:rPr>
              <a:t>部品搬送・組立・検査などの反復作業。BMWやMercedes-Benzが工場でヒューマノイドを実証中</a:t>
            </a:r>
          </a:p>
        </p:txBody>
      </p:sp>
      <p:sp>
        <p:nvSpPr>
          <p:cNvPr id="10" name="Rounded Rectangle 9"/>
          <p:cNvSpPr/>
          <p:nvPr/>
        </p:nvSpPr>
        <p:spPr>
          <a:xfrm>
            <a:off x="6144768"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201168" tIns="164592" bIns="73152"/>
          <a:lstStyle/>
          <a:p>
            <a:pPr algn="ctr">
              <a:spcAft>
                <a:spcPts val="600"/>
              </a:spcAft>
            </a:pPr>
            <a:r>
              <a:rPr sz="1400" b="1">
                <a:solidFill>
                  <a:srgbClr val="55D2D8"/>
                </a:solidFill>
                <a:latin typeface="BIZ UDPGothic"/>
                <a:ea typeface="BIZ UDPGothic"/>
              </a:rPr>
              <a:t>■ </a:t>
            </a:r>
            <a:r>
              <a:rPr sz="1500" b="1">
                <a:solidFill>
                  <a:srgbClr val="00219B"/>
                </a:solidFill>
                <a:latin typeface="BIZ UDPGothic"/>
                <a:ea typeface="BIZ UDPGothic"/>
              </a:rPr>
              <a:t>物流・倉庫</a:t>
            </a:r>
          </a:p>
          <a:p>
            <a:pPr>
              <a:lnSpc>
                <a:spcPct val="125000"/>
              </a:lnSpc>
            </a:pPr>
            <a:r>
              <a:rPr sz="1250" b="0">
                <a:solidFill>
                  <a:srgbClr val="191919"/>
                </a:solidFill>
                <a:latin typeface="BIZ UDPGothic"/>
                <a:ea typeface="BIZ UDPGothic"/>
              </a:rPr>
              <a:t>ピッキング・仕分け・荷降ろし。Amazonなどが倉庫でのロボット活用実証を推進</a:t>
            </a:r>
          </a:p>
        </p:txBody>
      </p:sp>
      <p:sp>
        <p:nvSpPr>
          <p:cNvPr id="11" name="Rounded Rectangle 10"/>
          <p:cNvSpPr/>
          <p:nvPr/>
        </p:nvSpPr>
        <p:spPr>
          <a:xfrm>
            <a:off x="466344"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201168" tIns="164592" bIns="73152"/>
          <a:lstStyle/>
          <a:p>
            <a:pPr algn="ctr">
              <a:spcAft>
                <a:spcPts val="600"/>
              </a:spcAft>
            </a:pPr>
            <a:r>
              <a:rPr sz="1400" b="1">
                <a:solidFill>
                  <a:srgbClr val="AAA5FD"/>
                </a:solidFill>
                <a:latin typeface="BIZ UDPGothic"/>
                <a:ea typeface="BIZ UDPGothic"/>
              </a:rPr>
              <a:t>■ </a:t>
            </a:r>
            <a:r>
              <a:rPr sz="1500" b="1">
                <a:solidFill>
                  <a:srgbClr val="00219B"/>
                </a:solidFill>
                <a:latin typeface="BIZ UDPGothic"/>
                <a:ea typeface="BIZ UDPGothic"/>
              </a:rPr>
              <a:t>建設・インフラ点検</a:t>
            </a:r>
          </a:p>
          <a:p>
            <a:pPr>
              <a:lnSpc>
                <a:spcPct val="125000"/>
              </a:lnSpc>
            </a:pPr>
            <a:r>
              <a:rPr sz="1250" b="0">
                <a:solidFill>
                  <a:srgbClr val="191919"/>
                </a:solidFill>
                <a:latin typeface="BIZ UDPGothic"/>
                <a:ea typeface="BIZ UDPGothic"/>
              </a:rPr>
              <a:t>四足ロボット（例：Spot）による巡回・危険箇所の点検で、危険作業を代替</a:t>
            </a:r>
          </a:p>
        </p:txBody>
      </p:sp>
      <p:sp>
        <p:nvSpPr>
          <p:cNvPr id="12" name="Rounded Rectangle 11"/>
          <p:cNvSpPr/>
          <p:nvPr/>
        </p:nvSpPr>
        <p:spPr>
          <a:xfrm>
            <a:off x="6144768"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201168" tIns="164592" bIns="73152"/>
          <a:lstStyle/>
          <a:p>
            <a:pPr algn="ctr">
              <a:spcAft>
                <a:spcPts val="600"/>
              </a:spcAft>
            </a:pPr>
            <a:r>
              <a:rPr sz="1400" b="1">
                <a:solidFill>
                  <a:srgbClr val="E86487"/>
                </a:solidFill>
                <a:latin typeface="BIZ UDPGothic"/>
                <a:ea typeface="BIZ UDPGothic"/>
              </a:rPr>
              <a:t>■ </a:t>
            </a:r>
            <a:r>
              <a:rPr sz="1500" b="1">
                <a:solidFill>
                  <a:srgbClr val="00219B"/>
                </a:solidFill>
                <a:latin typeface="BIZ UDPGothic"/>
                <a:ea typeface="BIZ UDPGothic"/>
              </a:rPr>
              <a:t>サービス・小売</a:t>
            </a:r>
          </a:p>
          <a:p>
            <a:pPr>
              <a:lnSpc>
                <a:spcPct val="125000"/>
              </a:lnSpc>
            </a:pPr>
            <a:r>
              <a:rPr sz="1250" b="0">
                <a:solidFill>
                  <a:srgbClr val="191919"/>
                </a:solidFill>
                <a:latin typeface="BIZ UDPGothic"/>
                <a:ea typeface="BIZ UDPGothic"/>
              </a:rPr>
              <a:t>品出し・清掃・警備など。国内ではTelexistenceがコンビニの飲料補充を自動化</a:t>
            </a:r>
          </a:p>
        </p:txBody>
      </p:sp>
      <p:sp>
        <p:nvSpPr>
          <p:cNvPr id="13" name="TextBox 12"/>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完全な汎用ロボットの前に、環境が管理された現場（工場・倉庫）での特定業務から実用化が進む見込み</a:t>
            </a:r>
          </a:p>
        </p:txBody>
      </p:sp>
    </p:spTree>
    <p:extLst>
      <p:ext uri="{BB962C8B-B14F-4D97-AF65-F5344CB8AC3E}">
        <p14:creationId xmlns:p14="http://schemas.microsoft.com/office/powerpoint/2010/main" val="3061702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3．技術の仕組み</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どうやって学習するのか — 鍵はシミュレーション</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現実での試行錯誤は遅くて危険。だから仮想世界で学び、現実へ転移する</a:t>
            </a:r>
            <a:endParaRPr lang="ja-JP" altLang="en-US"/>
          </a:p>
        </p:txBody>
      </p:sp>
      <p:sp>
        <p:nvSpPr>
          <p:cNvPr id="9" name="Rounded Rectangle 8"/>
          <p:cNvSpPr/>
          <p:nvPr/>
        </p:nvSpPr>
        <p:spPr>
          <a:xfrm>
            <a:off x="46634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1</a:t>
            </a:r>
          </a:p>
          <a:p>
            <a:pPr algn="ctr">
              <a:spcAft>
                <a:spcPts val="700"/>
              </a:spcAft>
            </a:pPr>
            <a:r>
              <a:rPr sz="1500" b="1">
                <a:solidFill>
                  <a:srgbClr val="00219B"/>
                </a:solidFill>
                <a:latin typeface="BIZ UDPGothic"/>
                <a:ea typeface="BIZ UDPGothic"/>
              </a:rPr>
              <a:t>現場をデジタルツイン化</a:t>
            </a:r>
          </a:p>
          <a:p>
            <a:pPr>
              <a:lnSpc>
                <a:spcPct val="120000"/>
              </a:lnSpc>
            </a:pPr>
            <a:r>
              <a:rPr sz="1200" b="0">
                <a:solidFill>
                  <a:srgbClr val="191919"/>
                </a:solidFill>
                <a:latin typeface="BIZ UDPGothic"/>
                <a:ea typeface="BIZ UDPGothic"/>
              </a:rPr>
              <a:t>工場・倉庫などの現場を、物理法則ごと仮想空間に忠実に再現する</a:t>
            </a:r>
          </a:p>
        </p:txBody>
      </p:sp>
      <p:sp>
        <p:nvSpPr>
          <p:cNvPr id="10" name="Chevron 9"/>
          <p:cNvSpPr/>
          <p:nvPr/>
        </p:nvSpPr>
        <p:spPr>
          <a:xfrm>
            <a:off x="3995928"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1" name="Rounded Rectangle 10"/>
          <p:cNvSpPr/>
          <p:nvPr/>
        </p:nvSpPr>
        <p:spPr>
          <a:xfrm>
            <a:off x="430682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2</a:t>
            </a:r>
          </a:p>
          <a:p>
            <a:pPr algn="ctr">
              <a:spcAft>
                <a:spcPts val="700"/>
              </a:spcAft>
            </a:pPr>
            <a:r>
              <a:rPr sz="1500" b="1">
                <a:solidFill>
                  <a:srgbClr val="00219B"/>
                </a:solidFill>
                <a:latin typeface="BIZ UDPGothic"/>
                <a:ea typeface="BIZ UDPGothic"/>
              </a:rPr>
              <a:t>仮想空間で大量訓練</a:t>
            </a:r>
          </a:p>
          <a:p>
            <a:pPr>
              <a:lnSpc>
                <a:spcPct val="120000"/>
              </a:lnSpc>
            </a:pPr>
            <a:r>
              <a:rPr sz="1200" b="0">
                <a:solidFill>
                  <a:srgbClr val="191919"/>
                </a:solidFill>
                <a:latin typeface="BIZ UDPGothic"/>
                <a:ea typeface="BIZ UDPGothic"/>
              </a:rPr>
              <a:t>数千体のロボットを並列で訓練。実時間の数千倍の速度で試行錯誤を繰り返す</a:t>
            </a:r>
          </a:p>
        </p:txBody>
      </p:sp>
      <p:sp>
        <p:nvSpPr>
          <p:cNvPr id="12" name="Chevron 11"/>
          <p:cNvSpPr/>
          <p:nvPr/>
        </p:nvSpPr>
        <p:spPr>
          <a:xfrm>
            <a:off x="7836407"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814730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3</a:t>
            </a:r>
          </a:p>
          <a:p>
            <a:pPr algn="ctr">
              <a:spcAft>
                <a:spcPts val="700"/>
              </a:spcAft>
            </a:pPr>
            <a:r>
              <a:rPr sz="1500" b="1">
                <a:solidFill>
                  <a:srgbClr val="00219B"/>
                </a:solidFill>
                <a:latin typeface="BIZ UDPGothic"/>
                <a:ea typeface="BIZ UDPGothic"/>
              </a:rPr>
              <a:t>実機へ転移（Sim2Real）</a:t>
            </a:r>
          </a:p>
          <a:p>
            <a:pPr>
              <a:lnSpc>
                <a:spcPct val="120000"/>
              </a:lnSpc>
            </a:pPr>
            <a:r>
              <a:rPr sz="1200" b="0">
                <a:solidFill>
                  <a:srgbClr val="191919"/>
                </a:solidFill>
                <a:latin typeface="BIZ UDPGothic"/>
                <a:ea typeface="BIZ UDPGothic"/>
              </a:rPr>
              <a:t>学習済みモデルを実機に載せ、現実とのわずかなズレを微調整して仕上げる</a:t>
            </a:r>
          </a:p>
        </p:txBody>
      </p:sp>
      <p:sp>
        <p:nvSpPr>
          <p:cNvPr id="14" name="Rounded Rectangle 13"/>
          <p:cNvSpPr/>
          <p:nvPr/>
        </p:nvSpPr>
        <p:spPr>
          <a:xfrm>
            <a:off x="466344" y="4251960"/>
            <a:ext cx="11183112"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00219B"/>
                </a:solidFill>
                <a:latin typeface="BIZ UDPGothic"/>
                <a:ea typeface="BIZ UDPGothic"/>
              </a:rPr>
              <a:t>ポイント：足りない現実データは「合成データ」で補う</a:t>
            </a:r>
          </a:p>
          <a:p>
            <a:pPr>
              <a:lnSpc>
                <a:spcPct val="125000"/>
              </a:lnSpc>
            </a:pPr>
            <a:r>
              <a:rPr sz="1200" b="0">
                <a:solidFill>
                  <a:srgbClr val="191919"/>
                </a:solidFill>
                <a:latin typeface="BIZ UDPGothic"/>
                <a:ea typeface="BIZ UDPGothic"/>
              </a:rPr>
              <a:t>テキストと違い、ロボットの学習データ（動作・映像）はWeb上にほとんど存在しない。世界モデル（Cosmosなど）が物理的に自然な映像・状況データを大量生成し、このギャップを埋めている。</a:t>
            </a:r>
          </a:p>
        </p:txBody>
      </p:sp>
    </p:spTree>
    <p:extLst>
      <p:ext uri="{BB962C8B-B14F-4D97-AF65-F5344CB8AC3E}">
        <p14:creationId xmlns:p14="http://schemas.microsoft.com/office/powerpoint/2010/main" val="3061702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VLAモデル — ロボットの頭脳のしくみ</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Vision（見る）・Language（理解する）・Action（動く）を1つのモデルで</a:t>
            </a:r>
            <a:endParaRPr lang="ja-JP" altLang="en-US"/>
          </a:p>
        </p:txBody>
      </p:sp>
      <p:sp>
        <p:nvSpPr>
          <p:cNvPr id="9" name="Rounded Rectangle 8"/>
          <p:cNvSpPr/>
          <p:nvPr/>
        </p:nvSpPr>
        <p:spPr>
          <a:xfrm>
            <a:off x="466344" y="1783080"/>
            <a:ext cx="3246120"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146304" bIns="73152"/>
          <a:lstStyle/>
          <a:p>
            <a:pPr algn="ctr">
              <a:spcAft>
                <a:spcPts val="500"/>
              </a:spcAft>
            </a:pPr>
            <a:r>
              <a:rPr sz="1300" b="1">
                <a:solidFill>
                  <a:srgbClr val="A7ACAF"/>
                </a:solidFill>
                <a:latin typeface="BIZ UDPGothic"/>
                <a:ea typeface="BIZ UDPGothic"/>
              </a:rPr>
              <a:t>入力</a:t>
            </a:r>
          </a:p>
          <a:p>
            <a:pPr>
              <a:spcAft>
                <a:spcPts val="400"/>
              </a:spcAft>
            </a:pPr>
            <a:r>
              <a:rPr sz="1250" b="1">
                <a:solidFill>
                  <a:srgbClr val="00219B"/>
                </a:solidFill>
                <a:latin typeface="BIZ UDPGothic"/>
                <a:ea typeface="BIZ UDPGothic"/>
              </a:rPr>
              <a:t>Vision：カメラ映像・センサー情報</a:t>
            </a:r>
          </a:p>
          <a:p>
            <a:pPr>
              <a:spcAft>
                <a:spcPts val="800"/>
              </a:spcAft>
            </a:pPr>
            <a:r>
              <a:rPr sz="1250" b="1">
                <a:solidFill>
                  <a:srgbClr val="00219B"/>
                </a:solidFill>
                <a:latin typeface="BIZ UDPGothic"/>
                <a:ea typeface="BIZ UDPGothic"/>
              </a:rPr>
              <a:t>Language：「棚の飲料を補充して」などの自然言語の指示</a:t>
            </a:r>
          </a:p>
          <a:p>
            <a:pPr>
              <a:lnSpc>
                <a:spcPct val="120000"/>
              </a:lnSpc>
            </a:pPr>
            <a:r>
              <a:rPr sz="1100" b="0">
                <a:solidFill>
                  <a:srgbClr val="191919"/>
                </a:solidFill>
                <a:latin typeface="BIZ UDPGothic"/>
                <a:ea typeface="BIZ UDPGothic"/>
              </a:rPr>
              <a:t>人がロボット言語を覚えるのではなく、ロボットが人の言葉を理解する</a:t>
            </a:r>
          </a:p>
        </p:txBody>
      </p:sp>
      <p:sp>
        <p:nvSpPr>
          <p:cNvPr id="10" name="Chevron 9"/>
          <p:cNvSpPr/>
          <p:nvPr/>
        </p:nvSpPr>
        <p:spPr>
          <a:xfrm>
            <a:off x="380390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1" name="Rounded Rectangle 10"/>
          <p:cNvSpPr/>
          <p:nvPr/>
        </p:nvSpPr>
        <p:spPr>
          <a:xfrm>
            <a:off x="4169663" y="1783080"/>
            <a:ext cx="3749039" cy="246888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19456" rIns="219456" tIns="73152" bIns="73152"/>
          <a:lstStyle/>
          <a:p>
            <a:pPr algn="ctr">
              <a:spcAft>
                <a:spcPts val="600"/>
              </a:spcAft>
            </a:pPr>
            <a:r>
              <a:rPr sz="1700" b="1">
                <a:solidFill>
                  <a:srgbClr val="FFFFFF"/>
                </a:solidFill>
                <a:latin typeface="BIZ UDPGothic"/>
                <a:ea typeface="BIZ UDPGothic"/>
              </a:rPr>
              <a:t>VLAモデル</a:t>
            </a:r>
          </a:p>
          <a:p>
            <a:pPr algn="ctr">
              <a:lnSpc>
                <a:spcPct val="125000"/>
              </a:lnSpc>
              <a:spcAft>
                <a:spcPts val="600"/>
              </a:spcAft>
            </a:pPr>
            <a:r>
              <a:rPr sz="1200" b="0">
                <a:solidFill>
                  <a:srgbClr val="EDF4F9"/>
                </a:solidFill>
                <a:latin typeface="BIZ UDPGothic"/>
                <a:ea typeface="BIZ UDPGothic"/>
              </a:rPr>
              <a:t>LLM由来の知識・推論力を土台に、状況を理解して動作計画を立てる</a:t>
            </a:r>
          </a:p>
          <a:p>
            <a:pPr algn="ctr">
              <a:lnSpc>
                <a:spcPct val="120000"/>
              </a:lnSpc>
            </a:pPr>
            <a:r>
              <a:rPr sz="1050" b="0">
                <a:solidFill>
                  <a:srgbClr val="6BB8F2"/>
                </a:solidFill>
                <a:latin typeface="BIZ UDPGothic"/>
                <a:ea typeface="BIZ UDPGothic"/>
              </a:rPr>
              <a:t>例：Helix（Figure）／ Gemini Robotics ／ π0（Physical Intelligence）</a:t>
            </a:r>
          </a:p>
        </p:txBody>
      </p:sp>
      <p:sp>
        <p:nvSpPr>
          <p:cNvPr id="12" name="Chevron 11"/>
          <p:cNvSpPr/>
          <p:nvPr/>
        </p:nvSpPr>
        <p:spPr>
          <a:xfrm>
            <a:off x="801014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8375904" y="1783080"/>
            <a:ext cx="3273552"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146304" bIns="73152"/>
          <a:lstStyle/>
          <a:p>
            <a:pPr algn="ctr">
              <a:spcAft>
                <a:spcPts val="500"/>
              </a:spcAft>
            </a:pPr>
            <a:r>
              <a:rPr sz="1300" b="1">
                <a:solidFill>
                  <a:srgbClr val="A7ACAF"/>
                </a:solidFill>
                <a:latin typeface="BIZ UDPGothic"/>
                <a:ea typeface="BIZ UDPGothic"/>
              </a:rPr>
              <a:t>出力</a:t>
            </a:r>
          </a:p>
          <a:p>
            <a:pPr>
              <a:spcAft>
                <a:spcPts val="800"/>
              </a:spcAft>
            </a:pPr>
            <a:r>
              <a:rPr sz="1250" b="1">
                <a:solidFill>
                  <a:srgbClr val="00219B"/>
                </a:solidFill>
                <a:latin typeface="BIZ UDPGothic"/>
                <a:ea typeface="BIZ UDPGothic"/>
              </a:rPr>
              <a:t>Action：関節・モーターへの動作指令</a:t>
            </a:r>
          </a:p>
          <a:p>
            <a:pPr>
              <a:lnSpc>
                <a:spcPct val="120000"/>
              </a:lnSpc>
            </a:pPr>
            <a:r>
              <a:rPr sz="1100" b="0">
                <a:solidFill>
                  <a:srgbClr val="191919"/>
                </a:solidFill>
                <a:latin typeface="BIZ UDPGothic"/>
                <a:ea typeface="BIZ UDPGothic"/>
              </a:rPr>
              <a:t>毎秒数十回の連続制御で、つかむ・運ぶ・置くなどの動作を実行</a:t>
            </a:r>
          </a:p>
        </p:txBody>
      </p:sp>
      <p:sp>
        <p:nvSpPr>
          <p:cNvPr id="14" name="Rounded Rectangle 13"/>
          <p:cNvSpPr/>
          <p:nvPr/>
        </p:nvSpPr>
        <p:spPr>
          <a:xfrm>
            <a:off x="466344" y="4572000"/>
            <a:ext cx="5504688" cy="150876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A7ACAF"/>
                </a:solidFill>
                <a:latin typeface="BIZ UDPGothic"/>
                <a:ea typeface="BIZ UDPGothic"/>
              </a:rPr>
              <a:t>従来のロボット</a:t>
            </a:r>
          </a:p>
          <a:p>
            <a:pPr>
              <a:lnSpc>
                <a:spcPct val="120000"/>
              </a:lnSpc>
            </a:pPr>
            <a:r>
              <a:rPr sz="1200" b="0">
                <a:solidFill>
                  <a:srgbClr val="191919"/>
                </a:solidFill>
                <a:latin typeface="BIZ UDPGothic"/>
                <a:ea typeface="BIZ UDPGothic"/>
              </a:rPr>
              <a:t>動作を1つずつプログラミング。決められた環境・手順の外に出ると対応できない</a:t>
            </a:r>
          </a:p>
        </p:txBody>
      </p:sp>
      <p:sp>
        <p:nvSpPr>
          <p:cNvPr id="15" name="Rounded Rectangle 14"/>
          <p:cNvSpPr/>
          <p:nvPr/>
        </p:nvSpPr>
        <p:spPr>
          <a:xfrm>
            <a:off x="6144768" y="4572000"/>
            <a:ext cx="5504688"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00219B"/>
                </a:solidFill>
                <a:latin typeface="BIZ UDPGothic"/>
                <a:ea typeface="BIZ UDPGothic"/>
              </a:rPr>
              <a:t>VLA搭載ロボット</a:t>
            </a:r>
          </a:p>
          <a:p>
            <a:pPr>
              <a:lnSpc>
                <a:spcPct val="120000"/>
              </a:lnSpc>
            </a:pPr>
            <a:r>
              <a:rPr sz="1200" b="0">
                <a:solidFill>
                  <a:srgbClr val="191919"/>
                </a:solidFill>
                <a:latin typeface="BIZ UDPGothic"/>
                <a:ea typeface="BIZ UDPGothic"/>
              </a:rPr>
              <a:t>「常識」を持ち、初めて見る物・初めての指示にも柔軟に対応できる（汎用性）</a:t>
            </a:r>
          </a:p>
        </p:txBody>
      </p:sp>
    </p:spTree>
    <p:extLst>
      <p:ext uri="{BB962C8B-B14F-4D97-AF65-F5344CB8AC3E}">
        <p14:creationId xmlns:p14="http://schemas.microsoft.com/office/powerpoint/2010/main" val="306170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4．ビジネスへの示唆・まとめ</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市場予測と、普及までの課題</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期待は大きい。ただし「現場で使える」までのハードルも現実的に見る</a:t>
            </a:r>
            <a:endParaRPr lang="ja-JP" altLang="en-US"/>
          </a:p>
        </p:txBody>
      </p:sp>
      <p:sp>
        <p:nvSpPr>
          <p:cNvPr id="9" name="Rounded Rectangle 8"/>
          <p:cNvSpPr/>
          <p:nvPr/>
        </p:nvSpPr>
        <p:spPr>
          <a:xfrm>
            <a:off x="466344" y="1783080"/>
            <a:ext cx="4754880" cy="4206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219456" bIns="73152"/>
          <a:lstStyle/>
          <a:p>
            <a:pPr algn="ctr">
              <a:spcAft>
                <a:spcPts val="1000"/>
              </a:spcAft>
            </a:pPr>
            <a:r>
              <a:rPr sz="1400" b="1">
                <a:solidFill>
                  <a:srgbClr val="6BB8F2"/>
                </a:solidFill>
                <a:latin typeface="BIZ UDPGothic"/>
                <a:ea typeface="BIZ UDPGothic"/>
              </a:rPr>
              <a:t>市場予測</a:t>
            </a:r>
          </a:p>
          <a:p>
            <a:pPr>
              <a:spcAft>
                <a:spcPts val="200"/>
              </a:spcAft>
            </a:pPr>
            <a:r>
              <a:rPr sz="3600" b="1">
                <a:solidFill>
                  <a:srgbClr val="FFFFFF"/>
                </a:solidFill>
                <a:latin typeface="BIZ UDPGothic"/>
                <a:ea typeface="BIZ UDPGothic"/>
              </a:rPr>
              <a:t>約380億ドル</a:t>
            </a:r>
          </a:p>
          <a:p>
            <a:pPr>
              <a:lnSpc>
                <a:spcPct val="125000"/>
              </a:lnSpc>
              <a:spcAft>
                <a:spcPts val="1400"/>
              </a:spcAft>
            </a:pPr>
            <a:r>
              <a:rPr sz="1150" b="0">
                <a:solidFill>
                  <a:srgbClr val="EDF4F9"/>
                </a:solidFill>
                <a:latin typeface="BIZ UDPGothic"/>
                <a:ea typeface="BIZ UDPGothic"/>
              </a:rPr>
              <a:t>ヒューマノイドロボットの世界市場規模（2035年、Goldman Sachs予測）</a:t>
            </a:r>
          </a:p>
          <a:p>
            <a:pPr>
              <a:spcAft>
                <a:spcPts val="200"/>
              </a:spcAft>
            </a:pPr>
            <a:r>
              <a:rPr sz="2400" b="1">
                <a:solidFill>
                  <a:srgbClr val="FFFFFF"/>
                </a:solidFill>
                <a:latin typeface="BIZ UDPGothic"/>
                <a:ea typeface="BIZ UDPGothic"/>
              </a:rPr>
              <a:t>数兆ドル規模</a:t>
            </a:r>
          </a:p>
          <a:p>
            <a:pPr>
              <a:lnSpc>
                <a:spcPct val="125000"/>
              </a:lnSpc>
              <a:spcAft>
                <a:spcPts val="1400"/>
              </a:spcAft>
            </a:pPr>
            <a:r>
              <a:rPr sz="1150" b="0">
                <a:solidFill>
                  <a:srgbClr val="EDF4F9"/>
                </a:solidFill>
                <a:latin typeface="BIZ UDPGothic"/>
                <a:ea typeface="BIZ UDPGothic"/>
              </a:rPr>
              <a:t>長期にはロボットによる労働代替市場が数兆ドル規模に達するとの試算も（Morgan Stanleyほか）</a:t>
            </a:r>
          </a:p>
          <a:p>
            <a:pPr>
              <a:lnSpc>
                <a:spcPct val="125000"/>
              </a:lnSpc>
            </a:pPr>
            <a:r>
              <a:rPr sz="1000" b="0">
                <a:solidFill>
                  <a:srgbClr val="6BB8F2"/>
                </a:solidFill>
                <a:latin typeface="BIZ UDPGothic"/>
                <a:ea typeface="BIZ UDPGothic"/>
              </a:rPr>
              <a:t>※ 予測値は調査機関によって幅が大きい。金額そのものより「主要金融機関がこぞって巨大市場と見ている」という方向感で捉える</a:t>
            </a:r>
          </a:p>
        </p:txBody>
      </p:sp>
      <p:sp>
        <p:nvSpPr>
          <p:cNvPr id="10" name="Rounded Rectangle 9"/>
          <p:cNvSpPr/>
          <p:nvPr/>
        </p:nvSpPr>
        <p:spPr>
          <a:xfrm>
            <a:off x="5440680" y="1783080"/>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91440" bIns="73152"/>
          <a:lstStyle/>
          <a:p>
            <a:pPr algn="ctr">
              <a:spcAft>
                <a:spcPts val="200"/>
              </a:spcAft>
            </a:pPr>
            <a:r>
              <a:rPr sz="1300" b="1">
                <a:solidFill>
                  <a:srgbClr val="00219B"/>
                </a:solidFill>
                <a:latin typeface="BIZ UDPGothic"/>
                <a:ea typeface="BIZ UDPGothic"/>
              </a:rPr>
              <a:t>安全性</a:t>
            </a:r>
          </a:p>
          <a:p>
            <a:r>
              <a:rPr sz="1150" b="0">
                <a:solidFill>
                  <a:srgbClr val="191919"/>
                </a:solidFill>
                <a:latin typeface="BIZ UDPGothic"/>
                <a:ea typeface="BIZ UDPGothic"/>
              </a:rPr>
              <a:t>人と同じ空間で働くための安全基準・規制の整備はこれから</a:t>
            </a:r>
          </a:p>
        </p:txBody>
      </p:sp>
      <p:sp>
        <p:nvSpPr>
          <p:cNvPr id="11" name="Rounded Rectangle 10"/>
          <p:cNvSpPr/>
          <p:nvPr/>
        </p:nvSpPr>
        <p:spPr>
          <a:xfrm>
            <a:off x="5440680" y="2871215"/>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91440" bIns="73152"/>
          <a:lstStyle/>
          <a:p>
            <a:pPr algn="ctr">
              <a:spcAft>
                <a:spcPts val="200"/>
              </a:spcAft>
            </a:pPr>
            <a:r>
              <a:rPr sz="1300" b="1">
                <a:solidFill>
                  <a:srgbClr val="00219B"/>
                </a:solidFill>
                <a:latin typeface="BIZ UDPGothic"/>
                <a:ea typeface="BIZ UDPGothic"/>
              </a:rPr>
              <a:t>コスト</a:t>
            </a:r>
          </a:p>
          <a:p>
            <a:r>
              <a:rPr sz="1150" b="0">
                <a:solidFill>
                  <a:srgbClr val="191919"/>
                </a:solidFill>
                <a:latin typeface="BIZ UDPGothic"/>
                <a:ea typeface="BIZ UDPGothic"/>
              </a:rPr>
              <a:t>本体価格に加え、周辺システムと運用まで含めた総コストが課題</a:t>
            </a:r>
          </a:p>
        </p:txBody>
      </p:sp>
      <p:sp>
        <p:nvSpPr>
          <p:cNvPr id="12" name="Rounded Rectangle 11"/>
          <p:cNvSpPr/>
          <p:nvPr/>
        </p:nvSpPr>
        <p:spPr>
          <a:xfrm>
            <a:off x="5440680" y="3959352"/>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91440" bIns="73152"/>
          <a:lstStyle/>
          <a:p>
            <a:pPr algn="ctr">
              <a:spcAft>
                <a:spcPts val="200"/>
              </a:spcAft>
            </a:pPr>
            <a:r>
              <a:rPr sz="1300" b="1">
                <a:solidFill>
                  <a:srgbClr val="00219B"/>
                </a:solidFill>
                <a:latin typeface="BIZ UDPGothic"/>
                <a:ea typeface="BIZ UDPGothic"/>
              </a:rPr>
              <a:t>信頼性</a:t>
            </a:r>
          </a:p>
          <a:p>
            <a:r>
              <a:rPr sz="1150" b="0">
                <a:solidFill>
                  <a:srgbClr val="191919"/>
                </a:solidFill>
                <a:latin typeface="BIZ UDPGothic"/>
                <a:ea typeface="BIZ UDPGothic"/>
              </a:rPr>
              <a:t>長時間の連続稼働、故障時の対応など現場品質はまだ発展途上</a:t>
            </a:r>
          </a:p>
        </p:txBody>
      </p:sp>
      <p:sp>
        <p:nvSpPr>
          <p:cNvPr id="13" name="Rounded Rectangle 12"/>
          <p:cNvSpPr/>
          <p:nvPr/>
        </p:nvSpPr>
        <p:spPr>
          <a:xfrm>
            <a:off x="5440680" y="5047488"/>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09728" tIns="91440" bIns="73152"/>
          <a:lstStyle/>
          <a:p>
            <a:pPr algn="ctr">
              <a:spcAft>
                <a:spcPts val="200"/>
              </a:spcAft>
            </a:pPr>
            <a:r>
              <a:rPr sz="1300" b="1">
                <a:solidFill>
                  <a:srgbClr val="00219B"/>
                </a:solidFill>
                <a:latin typeface="BIZ UDPGothic"/>
                <a:ea typeface="BIZ UDPGothic"/>
              </a:rPr>
              <a:t>電力・バッテリー</a:t>
            </a:r>
          </a:p>
          <a:p>
            <a:r>
              <a:rPr sz="1150" b="0">
                <a:solidFill>
                  <a:srgbClr val="191919"/>
                </a:solidFill>
                <a:latin typeface="BIZ UDPGothic"/>
                <a:ea typeface="BIZ UDPGothic"/>
              </a:rPr>
              <a:t>稼働時間の短さ（数時間程度）が実用化の壁</a:t>
            </a:r>
          </a:p>
        </p:txBody>
      </p:sp>
    </p:spTree>
    <p:extLst>
      <p:ext uri="{BB962C8B-B14F-4D97-AF65-F5344CB8AC3E}">
        <p14:creationId xmlns:p14="http://schemas.microsoft.com/office/powerpoint/2010/main" val="3061702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私たちのビジネスへの示唆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ロボットを「作る」のではなく、「現場で使えるようにする」領域に商機</a:t>
            </a:r>
            <a:endParaRPr lang="ja-JP" altLang="en-US"/>
          </a:p>
        </p:txBody>
      </p:sp>
      <p:sp>
        <p:nvSpPr>
          <p:cNvPr id="9" name="Rounded Rectangle 8"/>
          <p:cNvSpPr/>
          <p:nvPr/>
        </p:nvSpPr>
        <p:spPr>
          <a:xfrm>
            <a:off x="466344"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500"/>
              </a:spcAft>
            </a:pPr>
            <a:r>
              <a:rPr sz="1450" b="1">
                <a:solidFill>
                  <a:srgbClr val="00219B"/>
                </a:solidFill>
                <a:latin typeface="BIZ UDPGothic"/>
                <a:ea typeface="BIZ UDPGothic"/>
              </a:rPr>
              <a:t>AIインフラ構築</a:t>
            </a:r>
          </a:p>
          <a:p>
            <a:pPr>
              <a:lnSpc>
                <a:spcPct val="122000"/>
              </a:lnSpc>
            </a:pPr>
            <a:r>
              <a:rPr sz="1200" b="0">
                <a:solidFill>
                  <a:srgbClr val="191919"/>
                </a:solidFill>
                <a:latin typeface="BIZ UDPGothic"/>
                <a:ea typeface="BIZ UDPGothic"/>
              </a:rPr>
              <a:t>GPUサーバー・エッジ〜クラウド基盤・ネットワークの設計構築。学習と推論を支える土台</a:t>
            </a:r>
          </a:p>
        </p:txBody>
      </p:sp>
      <p:sp>
        <p:nvSpPr>
          <p:cNvPr id="10" name="Rounded Rectangle 9"/>
          <p:cNvSpPr/>
          <p:nvPr/>
        </p:nvSpPr>
        <p:spPr>
          <a:xfrm>
            <a:off x="6144768"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500"/>
              </a:spcAft>
            </a:pPr>
            <a:r>
              <a:rPr sz="1450" b="1">
                <a:solidFill>
                  <a:srgbClr val="00219B"/>
                </a:solidFill>
                <a:latin typeface="BIZ UDPGothic"/>
                <a:ea typeface="BIZ UDPGothic"/>
              </a:rPr>
              <a:t>既存システムとの連携</a:t>
            </a:r>
          </a:p>
          <a:p>
            <a:pPr>
              <a:lnSpc>
                <a:spcPct val="122000"/>
              </a:lnSpc>
            </a:pPr>
            <a:r>
              <a:rPr sz="1200" b="0">
                <a:solidFill>
                  <a:srgbClr val="191919"/>
                </a:solidFill>
                <a:latin typeface="BIZ UDPGothic"/>
                <a:ea typeface="BIZ UDPGothic"/>
              </a:rPr>
              <a:t>WMS・MES・ERPなどの業務システムとロボットの接続。現場業務に組み込むSI</a:t>
            </a:r>
          </a:p>
        </p:txBody>
      </p:sp>
      <p:sp>
        <p:nvSpPr>
          <p:cNvPr id="11" name="Rounded Rectangle 10"/>
          <p:cNvSpPr/>
          <p:nvPr/>
        </p:nvSpPr>
        <p:spPr>
          <a:xfrm>
            <a:off x="466344"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500"/>
              </a:spcAft>
            </a:pPr>
            <a:r>
              <a:rPr sz="1450" b="1">
                <a:solidFill>
                  <a:srgbClr val="00219B"/>
                </a:solidFill>
                <a:latin typeface="BIZ UDPGothic"/>
                <a:ea typeface="BIZ UDPGothic"/>
              </a:rPr>
              <a:t>データ・デジタルツイン</a:t>
            </a:r>
          </a:p>
          <a:p>
            <a:pPr>
              <a:lnSpc>
                <a:spcPct val="122000"/>
              </a:lnSpc>
            </a:pPr>
            <a:r>
              <a:rPr sz="1200" b="0">
                <a:solidFill>
                  <a:srgbClr val="191919"/>
                </a:solidFill>
                <a:latin typeface="BIZ UDPGothic"/>
                <a:ea typeface="BIZ UDPGothic"/>
              </a:rPr>
              <a:t>現場データの収集基盤や、シミュレーション環境の構築を支援</a:t>
            </a:r>
          </a:p>
        </p:txBody>
      </p:sp>
      <p:sp>
        <p:nvSpPr>
          <p:cNvPr id="12" name="Rounded Rectangle 11"/>
          <p:cNvSpPr/>
          <p:nvPr/>
        </p:nvSpPr>
        <p:spPr>
          <a:xfrm>
            <a:off x="6144768"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500"/>
              </a:spcAft>
            </a:pPr>
            <a:r>
              <a:rPr sz="1450" b="1">
                <a:solidFill>
                  <a:srgbClr val="00219B"/>
                </a:solidFill>
                <a:latin typeface="BIZ UDPGothic"/>
                <a:ea typeface="BIZ UDPGothic"/>
              </a:rPr>
              <a:t>運用・セキュリティ</a:t>
            </a:r>
          </a:p>
          <a:p>
            <a:pPr>
              <a:lnSpc>
                <a:spcPct val="122000"/>
              </a:lnSpc>
            </a:pPr>
            <a:r>
              <a:rPr sz="1200" b="0">
                <a:solidFill>
                  <a:srgbClr val="191919"/>
                </a:solidFill>
                <a:latin typeface="BIZ UDPGothic"/>
                <a:ea typeface="BIZ UDPGothic"/>
              </a:rPr>
              <a:t>ロボット群の監視・フリート管理・安全運用。OTセキュリティの知見が活きる</a:t>
            </a:r>
          </a:p>
        </p:txBody>
      </p:sp>
      <p:sp>
        <p:nvSpPr>
          <p:cNvPr id="13" name="Rounded Rectangle 12"/>
          <p:cNvSpPr/>
          <p:nvPr/>
        </p:nvSpPr>
        <p:spPr>
          <a:xfrm>
            <a:off x="466344" y="5623560"/>
            <a:ext cx="11183112" cy="658368"/>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r>
              <a:rPr sz="1300" b="1">
                <a:solidFill>
                  <a:srgbClr val="FFFFFF"/>
                </a:solidFill>
                <a:latin typeface="BIZ UDPGothic"/>
                <a:ea typeface="BIZ UDPGothic"/>
              </a:rPr>
              <a:t>フィジカルAIの導入は「IT × OT × AI」の統合プロジェクト — SIerの知見がそのまま活きる領域</a:t>
            </a:r>
          </a:p>
        </p:txBody>
      </p:sp>
    </p:spTree>
    <p:extLst>
      <p:ext uri="{BB962C8B-B14F-4D97-AF65-F5344CB8AC3E}">
        <p14:creationId xmlns:p14="http://schemas.microsoft.com/office/powerpoint/2010/main" val="30617027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まとめ</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本日押さえてほしい3点と、ディスカッション</a:t>
            </a:r>
            <a:endParaRPr lang="ja-JP" altLang="en-US"/>
          </a:p>
        </p:txBody>
      </p:sp>
      <p:sp>
        <p:nvSpPr>
          <p:cNvPr id="9" name="Oval 8"/>
          <p:cNvSpPr/>
          <p:nvPr/>
        </p:nvSpPr>
        <p:spPr>
          <a:xfrm>
            <a:off x="466344" y="1892807"/>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1</a:t>
            </a:r>
          </a:p>
        </p:txBody>
      </p:sp>
      <p:sp>
        <p:nvSpPr>
          <p:cNvPr id="10" name="Rounded Rectangle 9"/>
          <p:cNvSpPr/>
          <p:nvPr/>
        </p:nvSpPr>
        <p:spPr>
          <a:xfrm>
            <a:off x="1143000" y="1783080"/>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フィジカルAIは、AI進化の「次章」</a:t>
            </a:r>
          </a:p>
          <a:p>
            <a:r>
              <a:rPr sz="1200" b="0">
                <a:solidFill>
                  <a:srgbClr val="191919"/>
                </a:solidFill>
                <a:latin typeface="BIZ UDPGothic"/>
                <a:ea typeface="BIZ UDPGothic"/>
              </a:rPr>
              <a:t>デジタルの知能が現実世界で働く段階へ。出力がテキストから「動作」に変わる</a:t>
            </a:r>
          </a:p>
        </p:txBody>
      </p:sp>
      <p:sp>
        <p:nvSpPr>
          <p:cNvPr id="11" name="Oval 10"/>
          <p:cNvSpPr/>
          <p:nvPr/>
        </p:nvSpPr>
        <p:spPr>
          <a:xfrm>
            <a:off x="466344" y="3154680"/>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2</a:t>
            </a:r>
          </a:p>
        </p:txBody>
      </p:sp>
      <p:sp>
        <p:nvSpPr>
          <p:cNvPr id="12" name="Rounded Rectangle 11"/>
          <p:cNvSpPr/>
          <p:nvPr/>
        </p:nvSpPr>
        <p:spPr>
          <a:xfrm>
            <a:off x="1143000" y="3044952"/>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2025〜26年は実証から初期導入への転換点</a:t>
            </a:r>
          </a:p>
          <a:p>
            <a:r>
              <a:rPr sz="1200" b="0">
                <a:solidFill>
                  <a:srgbClr val="191919"/>
                </a:solidFill>
                <a:latin typeface="BIZ UDPGothic"/>
                <a:ea typeface="BIZ UDPGothic"/>
              </a:rPr>
              <a:t>労働力不足を背景に、製造・物流など環境の整った現場から実装が始まっている</a:t>
            </a:r>
          </a:p>
        </p:txBody>
      </p:sp>
      <p:sp>
        <p:nvSpPr>
          <p:cNvPr id="13" name="Oval 12"/>
          <p:cNvSpPr/>
          <p:nvPr/>
        </p:nvSpPr>
        <p:spPr>
          <a:xfrm>
            <a:off x="466344" y="4416552"/>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3</a:t>
            </a:r>
          </a:p>
        </p:txBody>
      </p:sp>
      <p:sp>
        <p:nvSpPr>
          <p:cNvPr id="14" name="Rounded Rectangle 13"/>
          <p:cNvSpPr/>
          <p:nvPr/>
        </p:nvSpPr>
        <p:spPr>
          <a:xfrm>
            <a:off x="1143000" y="4306824"/>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価値の源泉はハードではなく「統合」</a:t>
            </a:r>
          </a:p>
          <a:p>
            <a:r>
              <a:rPr sz="1200" b="0">
                <a:solidFill>
                  <a:srgbClr val="191919"/>
                </a:solidFill>
                <a:latin typeface="BIZ UDPGothic"/>
                <a:ea typeface="BIZ UDPGothic"/>
              </a:rPr>
              <a:t>基盤モデル × シミュレーション × 現場データ。つなぎ込む力が競争力になる</a:t>
            </a:r>
          </a:p>
        </p:txBody>
      </p:sp>
      <p:sp>
        <p:nvSpPr>
          <p:cNvPr id="15" name="Rounded Rectangle 14"/>
          <p:cNvSpPr/>
          <p:nvPr/>
        </p:nvSpPr>
        <p:spPr>
          <a:xfrm>
            <a:off x="466344" y="5532120"/>
            <a:ext cx="11183112" cy="77724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09728" tIns="73152" bIns="73152"/>
          <a:lstStyle/>
          <a:p>
            <a:pPr algn="ctr"/>
            <a:r>
              <a:rPr sz="1300" b="1">
                <a:solidFill>
                  <a:srgbClr val="2A65F5"/>
                </a:solidFill>
                <a:latin typeface="BIZ UDPGothic"/>
                <a:ea typeface="BIZ UDPGothic"/>
              </a:rPr>
              <a:t>ディスカッション：</a:t>
            </a:r>
            <a:r>
              <a:rPr sz="1300" b="1">
                <a:solidFill>
                  <a:srgbClr val="191919"/>
                </a:solidFill>
                <a:latin typeface="BIZ UDPGothic"/>
                <a:ea typeface="BIZ UDPGothic"/>
              </a:rPr>
              <a:t>私たちの顧客の現場で、フィジカルAIが最初に価値を出せそうな業務はどこか？</a:t>
            </a:r>
          </a:p>
        </p:txBody>
      </p:sp>
    </p:spTree>
    <p:extLst>
      <p:ext uri="{BB962C8B-B14F-4D97-AF65-F5344CB8AC3E}">
        <p14:creationId xmlns:p14="http://schemas.microsoft.com/office/powerpoint/2010/main" val="306170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CA871B-1D64-6422-1825-AE06F8DFBBC1}"/>
              </a:ext>
            </a:extLst>
          </p:cNvPr>
          <p:cNvSpPr>
            <a:spLocks noGrp="1"/>
          </p:cNvSpPr>
          <p:nvPr>
            <p:ph type="ctrTitle"/>
          </p:nvPr>
        </p:nvSpPr>
        <p:spPr/>
        <p:txBody>
          <a:bodyPr/>
          <a:lstStyle/>
          <a:p>
            <a:pPr algn="l"/>
            <a:r>
              <a:rPr kumimoji="1" lang="en-US" altLang="ja-JP" dirty="0"/>
              <a:t>End of Document</a:t>
            </a:r>
            <a:endParaRPr kumimoji="1" lang="ja-JP" altLang="en-US" dirty="0"/>
          </a:p>
        </p:txBody>
      </p:sp>
      <p:sp>
        <p:nvSpPr>
          <p:cNvPr id="3" name="コンテンツ プレースホルダー 2">
            <a:extLst>
              <a:ext uri="{FF2B5EF4-FFF2-40B4-BE49-F238E27FC236}">
                <a16:creationId xmlns:a16="http://schemas.microsoft.com/office/drawing/2014/main" id="{7644250D-28F8-6DF2-7E14-230A7268ED08}"/>
              </a:ext>
            </a:extLst>
          </p:cNvPr>
          <p:cNvSpPr>
            <a:spLocks noGrp="1"/>
          </p:cNvSpPr>
          <p:nvPr>
            <p:ph idx="1"/>
          </p:nvPr>
        </p:nvSpPr>
        <p:spPr>
          <a:xfrm>
            <a:off x="503858" y="4353680"/>
            <a:ext cx="11184283" cy="784912"/>
          </a:xfrm>
        </p:spPr>
        <p:txBody>
          <a:bodyPr/>
          <a:lstStyle/>
          <a:p>
            <a:r>
              <a:rPr lang="ja-JP" altLang="en-US" dirty="0"/>
              <a:t>双日テックイノベーション、双日テックイノベーションのロゴは、双日テックイノベーション株式会社の登録商標です。 </a:t>
            </a:r>
            <a:endParaRPr lang="en-US" altLang="ja-JP" dirty="0"/>
          </a:p>
          <a:p>
            <a:r>
              <a:rPr lang="ja-JP" altLang="en-US" dirty="0"/>
              <a:t>その他記載されている全ての商標、サービスマーク、登録商標、登録サービスマークは、各所有者に所有権があります。 </a:t>
            </a:r>
            <a:endParaRPr lang="en-US" altLang="ja-JP" dirty="0"/>
          </a:p>
          <a:p>
            <a:endParaRPr lang="en-US" altLang="ja-JP" dirty="0"/>
          </a:p>
          <a:p>
            <a:r>
              <a:rPr lang="ja-JP" altLang="en-US" dirty="0"/>
              <a:t>本書記載の仕様はすべて予告なく変更される場合があります。</a:t>
            </a:r>
            <a:endParaRPr lang="en-US" altLang="ja-JP" dirty="0"/>
          </a:p>
          <a:p>
            <a:r>
              <a:rPr lang="ja-JP" altLang="en-US" dirty="0"/>
              <a:t>本書の記載内容に誤りがあった場合、 あるいは記載内容を更新する義務が生じた場合も、双日テックイノベーションは一切責任を負いません。 </a:t>
            </a:r>
            <a:endParaRPr lang="en-US" altLang="ja-JP" dirty="0"/>
          </a:p>
          <a:p>
            <a:r>
              <a:rPr lang="ja-JP" altLang="en-US" dirty="0"/>
              <a:t>双日テックイノベーションは、本書を予告無く変更、修正、または改訂する権利を有します。 </a:t>
            </a:r>
            <a:endParaRPr lang="en-US" altLang="ja-JP" dirty="0"/>
          </a:p>
          <a:p>
            <a:r>
              <a:rPr lang="ja-JP" altLang="en-US" dirty="0"/>
              <a:t>本書に記載されている内容を無断で複写、複製することを禁じます。</a:t>
            </a:r>
            <a:endParaRPr lang="en-US" altLang="ja-JP" dirty="0"/>
          </a:p>
          <a:p>
            <a:r>
              <a:rPr lang="ja-JP" altLang="en-US" dirty="0"/>
              <a:t> </a:t>
            </a:r>
            <a:endParaRPr lang="en-US" altLang="ja-JP" dirty="0"/>
          </a:p>
          <a:p>
            <a:r>
              <a:rPr lang="ja-JP" altLang="en-US" dirty="0"/>
              <a:t>記載の価格は参考価格となり、ご検討の際にはお見積りのご依頼をお願いいたします。 </a:t>
            </a:r>
            <a:endParaRPr lang="en-US" altLang="ja-JP" dirty="0"/>
          </a:p>
          <a:p>
            <a:r>
              <a:rPr lang="ja-JP" altLang="en-US" dirty="0"/>
              <a:t>為替変更やメーカーの価格改定により予告なく変更することがあります。</a:t>
            </a:r>
          </a:p>
        </p:txBody>
      </p:sp>
    </p:spTree>
    <p:extLst>
      <p:ext uri="{BB962C8B-B14F-4D97-AF65-F5344CB8AC3E}">
        <p14:creationId xmlns:p14="http://schemas.microsoft.com/office/powerpoint/2010/main" val="3507851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665860"/>
      </p:ext>
    </p:extLst>
  </p:cSld>
  <p:clrMapOvr>
    <a:masterClrMapping/>
  </p:clrMapOvr>
</p:sld>
</file>

<file path=ppt/theme/theme1.xml><?xml version="1.0" encoding="utf-8"?>
<a:theme xmlns:a="http://schemas.openxmlformats.org/drawingml/2006/main" name="Office テーマ">
  <a:themeElements>
    <a:clrScheme name="STechI PPT COLOR">
      <a:dk1>
        <a:srgbClr val="191919"/>
      </a:dk1>
      <a:lt1>
        <a:srgbClr val="FFFFFF"/>
      </a:lt1>
      <a:dk2>
        <a:srgbClr val="A7ACAF"/>
      </a:dk2>
      <a:lt2>
        <a:srgbClr val="EDF3F9"/>
      </a:lt2>
      <a:accent1>
        <a:srgbClr val="00209B"/>
      </a:accent1>
      <a:accent2>
        <a:srgbClr val="2A65F5"/>
      </a:accent2>
      <a:accent3>
        <a:srgbClr val="E86487"/>
      </a:accent3>
      <a:accent4>
        <a:srgbClr val="AAA5FD"/>
      </a:accent4>
      <a:accent5>
        <a:srgbClr val="55D2D8"/>
      </a:accent5>
      <a:accent6>
        <a:srgbClr val="6BB8F2"/>
      </a:accent6>
      <a:hlink>
        <a:srgbClr val="6BB8F2"/>
      </a:hlink>
      <a:folHlink>
        <a:srgbClr val="E86487"/>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kumimoji="1" b="1" dirty="0" smtClean="0">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b355013-8d7a-41a7-8b7e-f572bfc8f349" xsi:nil="true"/>
    <lcf76f155ced4ddcb4097134ff3c332f xmlns="a8fcbd8c-2aa5-4228-8d5a-43b47d86b154">
      <Terms xmlns="http://schemas.microsoft.com/office/infopath/2007/PartnerControls"/>
    </lcf76f155ced4ddcb4097134ff3c332f>
    <_x5099__x8003_ xmlns="a8fcbd8c-2aa5-4228-8d5a-43b47d86b15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87DEC0F95D374FB7FD557024CCB622" ma:contentTypeVersion="16" ma:contentTypeDescription="新しいドキュメントを作成します。" ma:contentTypeScope="" ma:versionID="b66a505357664b116695fd69ecb67f40">
  <xsd:schema xmlns:xsd="http://www.w3.org/2001/XMLSchema" xmlns:xs="http://www.w3.org/2001/XMLSchema" xmlns:p="http://schemas.microsoft.com/office/2006/metadata/properties" xmlns:ns2="a8fcbd8c-2aa5-4228-8d5a-43b47d86b154" xmlns:ns3="cb355013-8d7a-41a7-8b7e-f572bfc8f349" targetNamespace="http://schemas.microsoft.com/office/2006/metadata/properties" ma:root="true" ma:fieldsID="e34da94b137a7ed678fba1cc545d4988" ns2:_="" ns3:_="">
    <xsd:import namespace="a8fcbd8c-2aa5-4228-8d5a-43b47d86b154"/>
    <xsd:import namespace="cb355013-8d7a-41a7-8b7e-f572bfc8f349"/>
    <xsd:element name="properties">
      <xsd:complexType>
        <xsd:sequence>
          <xsd:element name="documentManagement">
            <xsd:complexType>
              <xsd:all>
                <xsd:element ref="ns2:MediaServiceMetadata" minOccurs="0"/>
                <xsd:element ref="ns2:MediaServiceFastMetadata" minOccurs="0"/>
                <xsd:element ref="ns2:_x5099__x8003_"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lcf76f155ced4ddcb4097134ff3c332f" minOccurs="0"/>
                <xsd:element ref="ns3:TaxCatchAll" minOccurs="0"/>
                <xsd:element ref="ns2:MediaServiceDateTake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fcbd8c-2aa5-4228-8d5a-43b47d86b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x5099__x8003_" ma:index="10" nillable="true" ma:displayName="備考" ma:format="Dropdown" ma:internalName="_x5099__x8003_">
      <xsd:simpleType>
        <xsd:restriction base="dms:Note">
          <xsd:maxLength value="255"/>
        </xsd:restriction>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b6df4097-6fa1-44ae-95c3-4b33cacb8142" ma:termSetId="09814cd3-568e-fe90-9814-8d621ff8fb84" ma:anchorId="fba54fb3-c3e1-fe81-a776-ca4b69148c4d" ma:open="true" ma:isKeyword="false">
      <xsd:complexType>
        <xsd:sequence>
          <xsd:element ref="pc:Terms" minOccurs="0" maxOccurs="1"/>
        </xsd:sequence>
      </xsd:complex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b355013-8d7a-41a7-8b7e-f572bfc8f349"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94256f52-75b8-4886-9f18-1a307df9c87d}" ma:internalName="TaxCatchAll" ma:showField="CatchAllData" ma:web="cb355013-8d7a-41a7-8b7e-f572bfc8f34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BD2FE33-A8FE-4994-BBB0-649B948DAB57}">
  <ds:schemaRefs>
    <ds:schemaRef ds:uri="http://schemas.microsoft.com/sharepoint/v3/contenttype/forms"/>
  </ds:schemaRefs>
</ds:datastoreItem>
</file>

<file path=customXml/itemProps2.xml><?xml version="1.0" encoding="utf-8"?>
<ds:datastoreItem xmlns:ds="http://schemas.openxmlformats.org/officeDocument/2006/customXml" ds:itemID="{036ABB21-D544-4CB2-A13A-0C1AFD84119C}">
  <ds:schemaRefs>
    <ds:schemaRef ds:uri="http://schemas.microsoft.com/office/2006/metadata/properties"/>
    <ds:schemaRef ds:uri="http://schemas.microsoft.com/office/infopath/2007/PartnerControls"/>
    <ds:schemaRef ds:uri="5227c1a8-9380-4cb9-a049-015dc35f74b8"/>
    <ds:schemaRef ds:uri="bc5f12d4-c7da-4e54-a32e-1c57020298bc"/>
    <ds:schemaRef ds:uri="cb355013-8d7a-41a7-8b7e-f572bfc8f349"/>
    <ds:schemaRef ds:uri="a8fcbd8c-2aa5-4228-8d5a-43b47d86b154"/>
  </ds:schemaRefs>
</ds:datastoreItem>
</file>

<file path=customXml/itemProps3.xml><?xml version="1.0" encoding="utf-8"?>
<ds:datastoreItem xmlns:ds="http://schemas.openxmlformats.org/officeDocument/2006/customXml" ds:itemID="{CA4BB487-05B5-4831-B236-54BDA674B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fcbd8c-2aa5-4228-8d5a-43b47d86b154"/>
    <ds:schemaRef ds:uri="cb355013-8d7a-41a7-8b7e-f572bfc8f3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2437</TotalTime>
  <Words>615</Words>
  <Application>Microsoft Office PowerPoint</Application>
  <PresentationFormat>Widescreen</PresentationFormat>
  <Paragraphs>48</Paragraphs>
  <Slides>15</Slides>
  <Notes>0</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テーマ</vt:lpstr>
      <vt:lpstr>PowerPoint Presentation</vt:lpstr>
      <vt:lpstr>カラーパレット</vt:lpstr>
      <vt:lpstr>カラーパレット 運用ガイド</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 of Document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Mitsuru Katayanagi</dc:creator>
  <cp:lastModifiedBy>渡部 泉</cp:lastModifiedBy>
  <cp:revision>122</cp:revision>
  <dcterms:created xsi:type="dcterms:W3CDTF">2024-10-20T05:00:09Z</dcterms:created>
  <dcterms:modified xsi:type="dcterms:W3CDTF">2026-07-31T05:17:12Z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0x0101008687DEC0F95D374FB7FD557024CCB622</vt:lpwstr>
  </property>
  <property fmtid="{D5CDD505-2E9C-101B-9397-08002B2CF9AE}" pid="3" name="MediaServiceImageTags">
    <vt:lpwstr/>
  </property>
</Properties>
</file>