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4.svg" ContentType="image/svg+xml"/>
  <Override PartName="/ppt/media/image44.svg" ContentType="image/svg+xml"/>
  <Override PartName="/ppt/media/image45.svg" ContentType="image/svg+xml"/>
  <Override PartName="/ppt/media/image46.svg" ContentType="image/svg+xml"/>
  <Override PartName="/ppt/media/image47.svg" ContentType="image/svg+xml"/>
  <Override PartName="/ppt/media/image48.svg" ContentType="image/svg+xml"/>
  <Override PartName="/ppt/media/image4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4" r:id="rId4"/>
  </p:sldMasterIdLst>
  <p:notesMasterIdLst>
    <p:notesMasterId r:id="rId41"/>
  </p:notesMasterIdLst>
  <p:handoutMasterIdLst>
    <p:handoutMasterId r:id="rId42"/>
  </p:handoutMasterIdLst>
  <p:sldIdLst>
    <p:sldId id="400" r:id="rId5"/>
    <p:sldId id="401" r:id="rId6"/>
    <p:sldId id="402" r:id="rId7"/>
    <p:sldId id="403" r:id="rId8"/>
    <p:sldId id="404" r:id="rId9"/>
    <p:sldId id="405" r:id="rId10"/>
    <p:sldId id="406" r:id="rId11"/>
    <p:sldId id="407" r:id="rId12"/>
    <p:sldId id="408" r:id="rId13"/>
    <p:sldId id="409" r:id="rId14"/>
    <p:sldId id="435" r:id="rId15"/>
    <p:sldId id="410" r:id="rId16"/>
    <p:sldId id="411" r:id="rId17"/>
    <p:sldId id="412" r:id="rId18"/>
    <p:sldId id="413" r:id="rId19"/>
    <p:sldId id="414" r:id="rId20"/>
    <p:sldId id="415" r:id="rId21"/>
    <p:sldId id="416" r:id="rId22"/>
    <p:sldId id="417" r:id="rId23"/>
    <p:sldId id="418" r:id="rId24"/>
    <p:sldId id="419" r:id="rId25"/>
    <p:sldId id="420" r:id="rId26"/>
    <p:sldId id="421" r:id="rId27"/>
    <p:sldId id="422" r:id="rId28"/>
    <p:sldId id="423" r:id="rId29"/>
    <p:sldId id="424" r:id="rId30"/>
    <p:sldId id="425" r:id="rId31"/>
    <p:sldId id="426" r:id="rId32"/>
    <p:sldId id="427" r:id="rId33"/>
    <p:sldId id="428" r:id="rId34"/>
    <p:sldId id="429" r:id="rId35"/>
    <p:sldId id="430" r:id="rId36"/>
    <p:sldId id="431" r:id="rId37"/>
    <p:sldId id="432" r:id="rId38"/>
    <p:sldId id="433" r:id="rId39"/>
    <p:sldId id="43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A65F5"/>
    <a:srgbClr val="00219B"/>
    <a:srgbClr val="191919"/>
    <a:srgbClr val="A5ABAD"/>
    <a:srgbClr val="808080"/>
    <a:srgbClr val="B74A1C"/>
    <a:srgbClr val="EDF4F8"/>
    <a:srgbClr val="00209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34" autoAdjust="0"/>
    <p:restoredTop sz="65385" autoAdjust="0"/>
  </p:normalViewPr>
  <p:slideViewPr>
    <p:cSldViewPr snapToGrid="0">
      <p:cViewPr varScale="1">
        <p:scale>
          <a:sx n="75" d="100"/>
          <a:sy n="75" d="100"/>
        </p:scale>
        <p:origin x="1584" y="6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varScale="1">
        <p:scale>
          <a:sx n="63" d="100"/>
          <a:sy n="63" d="100"/>
        </p:scale>
        <p:origin x="3206" y="7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notesMaster" Target="notesMasters/notesMaster1.xml"/><Relationship Id="rId42" Type="http://schemas.openxmlformats.org/officeDocument/2006/relationships/handoutMaster" Target="handoutMasters/handout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FDFDA3DB-4ABB-6B6A-B5C6-44033C7B44C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a:extLst>
              <a:ext uri="{FF2B5EF4-FFF2-40B4-BE49-F238E27FC236}">
                <a16:creationId xmlns:a16="http://schemas.microsoft.com/office/drawing/2014/main" id="{7CA5EE10-0835-D895-CAEB-887BDDDC490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842CEEA-E706-4555-A6F2-76CBEE8B0214}" type="datetimeFigureOut">
              <a:rPr kumimoji="1" lang="ja-JP" altLang="en-US" smtClean="0"/>
              <a:t>2026/7/31</a:t>
            </a:fld>
            <a:endParaRPr kumimoji="1" lang="ja-JP" altLang="en-US"/>
          </a:p>
        </p:txBody>
      </p:sp>
      <p:sp>
        <p:nvSpPr>
          <p:cNvPr id="4" name="フッター プレースホルダー 3">
            <a:extLst>
              <a:ext uri="{FF2B5EF4-FFF2-40B4-BE49-F238E27FC236}">
                <a16:creationId xmlns:a16="http://schemas.microsoft.com/office/drawing/2014/main" id="{DE335A0F-F5C0-DEFB-5758-6DB22091958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a:extLst>
              <a:ext uri="{FF2B5EF4-FFF2-40B4-BE49-F238E27FC236}">
                <a16:creationId xmlns:a16="http://schemas.microsoft.com/office/drawing/2014/main" id="{66453D27-E811-5D11-733F-6E84F98FD42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9E36876-DA70-44CA-95E4-4FDEDE03AE33}" type="slidenum">
              <a:rPr kumimoji="1" lang="ja-JP" altLang="en-US" smtClean="0"/>
              <a:t>‹#›</a:t>
            </a:fld>
            <a:endParaRPr kumimoji="1" lang="ja-JP" altLang="en-US"/>
          </a:p>
        </p:txBody>
      </p:sp>
    </p:spTree>
    <p:extLst>
      <p:ext uri="{BB962C8B-B14F-4D97-AF65-F5344CB8AC3E}">
        <p14:creationId xmlns:p14="http://schemas.microsoft.com/office/powerpoint/2010/main" val="4421951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8072808-4DA7-7E40-9D76-23B287399EF0}" type="datetimeFigureOut">
              <a:rPr kumimoji="1" lang="ja-JP" altLang="en-US" smtClean="0"/>
              <a:t>2026/7/31</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83C2A34-59FF-7345-B7EA-94C85DEA6524}" type="slidenum">
              <a:rPr kumimoji="1" lang="ja-JP" altLang="en-US" smtClean="0"/>
              <a:t>‹#›</a:t>
            </a:fld>
            <a:endParaRPr kumimoji="1" lang="ja-JP" altLang="en-US"/>
          </a:p>
        </p:txBody>
      </p:sp>
    </p:spTree>
    <p:extLst>
      <p:ext uri="{BB962C8B-B14F-4D97-AF65-F5344CB8AC3E}">
        <p14:creationId xmlns:p14="http://schemas.microsoft.com/office/powerpoint/2010/main" val="3291761604"/>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お集まりいただきありがとうございます。本日は30〜45分で「フィジカルAI」の勉強会を行います。</a:t>
            </a:r>
          </a:p>
          <a:p>
            <a:r>
              <a:t>最近ニュースでヒューマノイドロボットや自動運転の話題を目にする機会が増えていると思いますが、その裏側で何が起きているのか、なぜ今この分野にお金と技術が集まっているのか、そして私たちの事業とどうつながるのか。この3点を持ち帰っていただくのが今日のゴールです。</a:t>
            </a:r>
          </a:p>
          <a:p>
            <a:r>
              <a:t>途中の質問も歓迎です。それでは始めます。</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本日の流れです。6部構成になっています。</a:t>
            </a:r>
          </a:p>
          <a:p>
            <a:r>
              <a:t>まず1章で、そもそもなぜ当社がフィジカルAIに取り組むのか、事業環境の変化と目指す姿を共有します。2章からはフィジカルAIの勉強会本編で、定義、主要プレイヤー、技術の仕組みと進みます。5章でビジネスの視点に引き付けて、最後の6章で当社の具体的な取り組みと目指す提案像をお話しします。</a:t>
            </a:r>
          </a:p>
          <a:p>
            <a:r>
              <a:t>後半に行くほど自分たちの話になっていきますので、前半は前提知識のインプットとしてお聞きください。</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8F898-4BE0-50F8-1FA1-C8617BEBAE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781A88-7C7C-D7D0-0110-9F0CF235F57E}"/>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F52EC62D-A55B-F8A0-DFAA-10484C2FAA93}"/>
              </a:ext>
            </a:extLst>
          </p:cNvPr>
          <p:cNvSpPr>
            <a:spLocks noGrp="1"/>
          </p:cNvSpPr>
          <p:nvPr>
            <p:ph type="body" sz="quarter" idx="3"/>
          </p:nvPr>
        </p:nvSpPr>
        <p:spPr/>
        <p:txBody>
          <a:bodyPr/>
          <a:lstStyle/>
          <a:p>
            <a:r>
              <a:t>【台本】</a:t>
            </a:r>
          </a:p>
          <a:p>
            <a:r>
              <a:t>まず1章では、本題に入る前の前提を共有します。私たちの事業環境がどう変わっていて、なぜ新しい領域、その先のフィジカルAIに踏み出すのか。背景となる市場データと、目指していく姿をお話しします。</a:t>
            </a:r>
          </a:p>
        </p:txBody>
      </p:sp>
      <p:sp>
        <p:nvSpPr>
          <p:cNvPr id="4" name="Slide Number Placeholder 3">
            <a:extLst>
              <a:ext uri="{FF2B5EF4-FFF2-40B4-BE49-F238E27FC236}">
                <a16:creationId xmlns:a16="http://schemas.microsoft.com/office/drawing/2014/main" id="{7155B568-1784-6968-EDEC-7EA2F65FB4C2}"/>
              </a:ext>
            </a:extLst>
          </p:cNvPr>
          <p:cNvSpPr>
            <a:spLocks noGrp="1"/>
          </p:cNvSpPr>
          <p:nvPr>
            <p:ph type="sldNum" sz="quarter" idx="5"/>
          </p:nvPr>
        </p:nvSpPr>
        <p:spPr/>
      </p:sp>
    </p:spTree>
    <p:extLst>
      <p:ext uri="{BB962C8B-B14F-4D97-AF65-F5344CB8AC3E}">
        <p14:creationId xmlns:p14="http://schemas.microsoft.com/office/powerpoint/2010/main" val="58764049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【台本】（目安2分）</a:t>
            </a:r>
          </a:p>
          <a:p>
            <a:r>
              <a:t>本題に入る前に、なぜ私たちがフィジカルAIに取り組むのか、その出発点からお話しします。</a:t>
            </a:r>
          </a:p>
          <a:p>
            <a:r>
              <a:t>私たちの主力である、ネットワークや、Nutanix・3Tier構成といったコンピューティングインフラの「単品インテグレーション」は、市場として成熟してきました。モノを納めて構築して終わり、という商売だけでは、単価も案件数も大きな成長が見込めない。これが現状認識です。</a:t>
            </a:r>
          </a:p>
          <a:p>
            <a:r>
              <a:t>だからこそ、まだ成熟していない市場を狙って、技術のキャッチアップと営業活動を先回りさせる必要があります。方向性は3つです。</a:t>
            </a:r>
          </a:p>
          <a:p>
            <a:r>
              <a:t>1つ目は運用の高度化。AIOpsや自動化で、お客様の運用課題に深く入り込む。2つ目はストックビジネスの拡充。作って終わりではなく、パッケージ化・サブスク化で継続的に収益をいただく形へ。そして3つ目が、次の成長領域であるフィジカルAIです。</a:t>
            </a:r>
          </a:p>
          <a:p>
            <a:r>
              <a:t>この章では、この判断の裏付けとなる市場データと、当社が目指していく姿を共有します。</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【台本】（目安2分）</a:t>
            </a:r>
          </a:p>
          <a:p>
            <a:r>
              <a:t>当社の取り組みの背景を1枚にまとめたものです。ポイントは4つです。</a:t>
            </a:r>
          </a:p>
          <a:p>
            <a:r>
              <a:t>1つ目、キャリア向けNW市場の成熟。通信事業者向けの投資が横ばい傾向となる中、機器・構築の単体売りではなく、顧客課題を深掘りした付加価値提案が必要になっています。2つ目、顧客課題が「運用高度化」へ移行していること。人手不足・運用負荷・属人化に対して、AIOpsや自動化で支援する余地が大きい。3つ目、AI・フィジカルAIが次の成長領域であること。そして4つ目、ストック型・共創型への収益転換です。</a:t>
            </a:r>
          </a:p>
          <a:p>
            <a:r>
              <a:t>下の図は当社の事業全体像です。キャリアグレードネットワークを中心に、データセンター、エンタープライズ、マルチクラウドまでを、統合保守・運用・セキュリティ基盤で束ねる。この土台の上に、AI・自動化・現場DXを積み上げていきます。</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【台本】（目安1分）</a:t>
            </a:r>
          </a:p>
          <a:p>
            <a:r>
              <a:t>「市場の成熟」の根拠となるデータです。大手通信事業者の設備投資額の推移と予測ですが、2026〜2028年度は横ばいの見通しです。</a:t>
            </a:r>
          </a:p>
          <a:p>
            <a:r>
              <a:t>既存商圏の自然な成長には期待できない。つまり、新規商圏による収益獲得が必須だということが、この1枚から読み取れます。</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【台本】（目安2分）</a:t>
            </a:r>
          </a:p>
          <a:p>
            <a:r>
              <a:t>では、どこが伸びるのか。まずフィジカルAIの市場です。</a:t>
            </a:r>
          </a:p>
          <a:p>
            <a:r>
              <a:t>日本のフィジカルAI市場は、FY30で約14.6億ドル、日本円で約2,300億円、年平均成長率36.2%と予測されています。</a:t>
            </a:r>
          </a:p>
          <a:p>
            <a:r>
              <a:t>重要なのは市場の「質」です。GPUやロボット本体といったコア部分はすでに激戦区ですが、SIやユースケースはまだ確立していません。市場が立ち上げ初期で、大手企業も模索している段階だからこそ、エコシステムの構築から大手と組める可能性があります。</a:t>
            </a:r>
          </a:p>
          <a:p>
            <a:r>
              <a:t>さらに、当本部の主要顧客である通信事業者は、DC保守などの物理作業を運用の中で大量に抱えています。フィジカルAIを既存の主要顧客にそのまま提案できる可能性がある。当社の強みを活かしながら市場を取れる、というのがこのスライドの結論です。</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dirty="0" err="1"/>
              <a:t>台本</a:t>
            </a:r>
            <a:r>
              <a:rPr dirty="0"/>
              <a:t>】（目安2分）</a:t>
            </a:r>
          </a:p>
          <a:p>
            <a:r>
              <a:rPr dirty="0" err="1"/>
              <a:t>次に、オンプレ生成AIの市場です</a:t>
            </a:r>
            <a:r>
              <a:rPr dirty="0"/>
              <a:t>。</a:t>
            </a:r>
          </a:p>
          <a:p>
            <a:r>
              <a:rPr dirty="0"/>
              <a:t>FY30の日本の生成AI市場は約1.7兆円、CAGR47%と予測されています。オンプレとクラウドの比率は3:7というレポートがあり、そこからオンプレ市場は約5,000億円規模と推測しています。</a:t>
            </a:r>
          </a:p>
          <a:p>
            <a:r>
              <a:rPr dirty="0"/>
              <a:t>5,000億円と大規模ですが、その分競合も多い。ただし、生成AIをうまく使うには、データの重要性・関連性、業務フローといった業界セグメントの知識が必要です。また、オンプレはLLMの性能もまだ発展途上で、これから伸びてくる市場です。</a:t>
            </a:r>
          </a:p>
          <a:p>
            <a:r>
              <a:rPr dirty="0" err="1"/>
              <a:t>生成AI基盤のSIからアプリケーションまで一気通貫で実施している会社はまだ少なく、当社が入り込める余地があります</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dirty="0" err="1"/>
              <a:t>台本</a:t>
            </a:r>
            <a:r>
              <a:rPr dirty="0"/>
              <a:t>】（目安2分）</a:t>
            </a:r>
          </a:p>
          <a:p>
            <a:r>
              <a:rPr dirty="0"/>
              <a:t>足元の主戦場になるのが、AIOps・運用自動化の市場です。CAGR20%前後で安定成長を続けています。</a:t>
            </a:r>
          </a:p>
          <a:p>
            <a:r>
              <a:rPr dirty="0"/>
              <a:t>通信事業者向けには、AIを搭載したメーカー製品は多数ありますが、個別開発まで実施している企業は多くありません。販社でありながら、AIに留まらず開発までできる会社は希少で、この技術力と運用自動化の組み合わせは業界的にも珍しい。商圏を獲得できる見込みが高い領域です。</a:t>
            </a:r>
          </a:p>
          <a:p>
            <a:r>
              <a:rPr dirty="0"/>
              <a:t>1章の冒頭でお話しした「運用の高度化」は、まさにここを主戦場として稼ぎながら、次の領域への技術を蓄積していく位置づけです。</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dirty="0" err="1"/>
              <a:t>台本</a:t>
            </a:r>
            <a:r>
              <a:rPr dirty="0"/>
              <a:t>】（目安2分）</a:t>
            </a:r>
          </a:p>
          <a:p>
            <a:r>
              <a:rPr dirty="0" err="1"/>
              <a:t>これらを踏まえた、当社が目指していく姿です</a:t>
            </a:r>
            <a:r>
              <a:rPr dirty="0"/>
              <a:t>。</a:t>
            </a:r>
          </a:p>
          <a:p>
            <a:r>
              <a:rPr dirty="0" err="1"/>
              <a:t>左から右への流れを見てください。これまでの通信キャリア向けネットワークで培った大規模・高信頼の技術と実績を土台に</a:t>
            </a:r>
            <a:r>
              <a:rPr dirty="0"/>
              <a:t>、「つなぐ」ローカル5G、「</a:t>
            </a:r>
            <a:r>
              <a:rPr dirty="0" err="1"/>
              <a:t>処理する」エッジコンピューティング</a:t>
            </a:r>
            <a:r>
              <a:rPr dirty="0"/>
              <a:t>、「</a:t>
            </a:r>
            <a:r>
              <a:rPr dirty="0" err="1"/>
              <a:t>分析・予測する」AI、そして「現場で動く」フィジカルAIへと、価値提供のレイヤーを段階的に広げていきます</a:t>
            </a:r>
            <a:r>
              <a:rPr dirty="0"/>
              <a:t>。</a:t>
            </a:r>
          </a:p>
          <a:p>
            <a:r>
              <a:rPr dirty="0"/>
              <a:t>それらすべてを、セキュリティ・クラウド対応・データ基盤・運用保守という共通基盤で支えます。もたらす価値は、人手不足の解消、安全・安心の向上、業務効率・コスト最適化、新たな価値創出、地域の魅力・競争力向上です。</a:t>
            </a:r>
          </a:p>
          <a:p>
            <a:r>
              <a:rPr dirty="0"/>
              <a:t>通信インフラのプロとして、L5G・エッジ・AI・フィジカルAIで地域と産業のDXを共に推進する。これが当社の目指す姿です。</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97588E-C0BA-B5DE-5460-5F1B2BA4BA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BCF65F-B775-A67C-6AC9-67DAFAB42BE5}"/>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F87C847-6BF8-A287-4885-0766F08A6A8F}"/>
              </a:ext>
            </a:extLst>
          </p:cNvPr>
          <p:cNvSpPr>
            <a:spLocks noGrp="1"/>
          </p:cNvSpPr>
          <p:nvPr>
            <p:ph type="body" sz="quarter" idx="3"/>
          </p:nvPr>
        </p:nvSpPr>
        <p:spPr/>
        <p:txBody>
          <a:bodyPr/>
          <a:lstStyle/>
          <a:p>
            <a:r>
              <a:t>【台本】（目安2分）</a:t>
            </a:r>
          </a:p>
          <a:p>
            <a:r>
              <a:t>1章の締めくくりとして、当社が推進していくフィジカルAIのエコシステムの全体像をお見せします。</a:t>
            </a:r>
          </a:p>
          <a:p>
            <a:r>
              <a:t>左が現場、エッジです。ロボット・ドローン・カメラといったフィジカルなデバイスに、EdgeCortixのエッジNPU「SAKURA-II」を搭載し、±1ミリ秒級の決定論的な即時推論を現場で完結させます。</a:t>
            </a:r>
          </a:p>
          <a:p>
            <a:r>
              <a:t>真ん中がローカル5G。高速・低遅延の専用無線ネットワークで、エッジと集中基盤を安全につなぐ神経系です。</a:t>
            </a:r>
          </a:p>
          <a:p>
            <a:r>
              <a:t>そして右が集中インフラ基盤。Kubernetesで推論・学習を集中実行し、simplyblockの分散ストレージでデータを共有する、ハイパフォーマンスな基盤です。重要なのは、この基盤こそ当社が長年得意としてきたNutanix・3Tier構成のインフラSIの延長線上にあるということです。</a:t>
            </a:r>
          </a:p>
          <a:p>
            <a:r>
              <a:t>上りで現場データを集めて学習し、下りで学習済みモデルと制御を現場へ返す。この循環全体の提案・設計・構築・導入を、当社が一気通貫で推進していきます。単品売りから「現場が自律的に回る仕組み」の提供へ。これが目指す姿です。</a:t>
            </a:r>
          </a:p>
        </p:txBody>
      </p:sp>
      <p:sp>
        <p:nvSpPr>
          <p:cNvPr id="4" name="Slide Number Placeholder 3">
            <a:extLst>
              <a:ext uri="{FF2B5EF4-FFF2-40B4-BE49-F238E27FC236}">
                <a16:creationId xmlns:a16="http://schemas.microsoft.com/office/drawing/2014/main" id="{5630B7FD-DC74-900E-A788-CC827659CD65}"/>
              </a:ext>
            </a:extLst>
          </p:cNvPr>
          <p:cNvSpPr>
            <a:spLocks noGrp="1"/>
          </p:cNvSpPr>
          <p:nvPr>
            <p:ph type="sldNum" sz="quarter" idx="5"/>
          </p:nvPr>
        </p:nvSpPr>
        <p:spPr/>
      </p:sp>
    </p:spTree>
    <p:extLst>
      <p:ext uri="{BB962C8B-B14F-4D97-AF65-F5344CB8AC3E}">
        <p14:creationId xmlns:p14="http://schemas.microsoft.com/office/powerpoint/2010/main" val="1150363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ここから勉強会の本編です。2章では「フィジカルAIとは何か」。言葉の定義と、なぜ今このタイミングで盛り上がっているのかを押さえます。</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dirty="0" err="1"/>
              <a:t>台本</a:t>
            </a:r>
            <a:r>
              <a:rPr dirty="0"/>
              <a:t>】（目安3分）</a:t>
            </a:r>
          </a:p>
          <a:p>
            <a:r>
              <a:rPr dirty="0"/>
              <a:t>まず言葉の定義からです。AIの進化はよく4つの波で整理されます。</a:t>
            </a:r>
          </a:p>
          <a:p>
            <a:r>
              <a:rPr dirty="0"/>
              <a:t>2012年頃からの「認識AI」。画像に何が写っているかを当てる、音声を文字にする、といった技術です。次が2022年、ChatGPTに代表される「生成AI」。文章や画像を作り出せるようになりました。そして2024年頃からは、AIが自分で段取りを考えて仕事を進める「エージェントAI」が話題になっています。</a:t>
            </a:r>
          </a:p>
          <a:p>
            <a:r>
              <a:rPr dirty="0"/>
              <a:t>その次に来るのが、今日の主役「フィジカルAI」です。ポイントは出力の変化です。これまでのAIの出力はテキストや画像、つまりデジタルなものでした。フィジカルAIは、重力や摩擦といった物理法則を理解した上で、現実世界で「動作」を出力します。ロボット、自動運転車、ドローンといった身体を持って、物理的な仕事をするAIです。</a:t>
            </a:r>
          </a:p>
          <a:p>
            <a:r>
              <a:rPr dirty="0" err="1"/>
              <a:t>この言葉はNVIDIAのCEOがCES</a:t>
            </a:r>
            <a:r>
              <a:rPr dirty="0"/>
              <a:t> 2025の基調講演で大きく打ち出して以降、業界の共通語になっています。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では、なぜ「今」なのか。追い風が3つ重なっています。</a:t>
            </a:r>
          </a:p>
          <a:p>
            <a:r>
              <a:t>1つ目は技術です。これまでのロボットは、決められた動きしかできませんでした。それがLLM・基盤モデルの進化で、言葉と常識を理解できるようになった。加えて、後ほど詳しく説明しますが、シミュレーションで学習させる技術が成熟して、開発のコストと時間が劇的に下がりました。</a:t>
            </a:r>
          </a:p>
          <a:p>
            <a:r>
              <a:t>2つ目は社会です。日本では2030年に約644万人の人手不足という試算があります。特に製造・物流・建設・介護といった「身体を使う仕事」ほど深刻で、自動化はやりたいからやるのではなく、やらざるを得ない状況です。</a:t>
            </a:r>
          </a:p>
          <a:p>
            <a:r>
              <a:t>3つ目は産業界の本気度です。NVIDIAのCEOは「ロボティクスのChatGPTモーメントは目前」と言い切りました。実際、ヒューマノイド系スタートアップには巨額の投資が集まっています。</a:t>
            </a:r>
          </a:p>
          <a:p>
            <a:r>
              <a:t>技術ができて、社会が求めて、お金が集まっている。だから今、なんです。</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フィジカルAIは1つの技術ではなく、3つの層の組み合わせです。</a:t>
            </a:r>
          </a:p>
          <a:p>
            <a:r>
              <a:t>一番上が「頭脳」。カメラ映像と人の言葉を理解して、次にどう動くかを決める基盤モデルです。VLAモデルや世界モデルと呼ばれるもので、詳しくは3章で説明します。</a:t>
            </a:r>
          </a:p>
          <a:p>
            <a:r>
              <a:t>真ん中が「訓練場」。ロボットは現実世界でいきなり練習させると、時間もかかるし危険です。そこで物理法則を再現した仮想空間、デジタルツインの中で大量に訓練します。</a:t>
            </a:r>
          </a:p>
          <a:p>
            <a:r>
              <a:t>一番下が「身体」。センサーで周囲を知覚し、関節やモーターで実際に動くロボット本体と、それを現場で動かすためのエッジAIチップです。</a:t>
            </a:r>
          </a:p>
          <a:p>
            <a:r>
              <a:t>この3層が全部そろって初めて機能します。逆に言うと、3層をつなぐプラットフォームを押さえた会社が市場の主導権を握る。これが次の章のNVIDIAの話につながります。</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3章では、世界の主要プレイヤーの動きを見ていきます。NVIDIA、テスラ、中国勢…各社がどんな戦略で動いているかを知ると、この市場の構造が見えてきます。</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主要プレイヤーの筆頭はNVIDIAです。面白いのは、NVIDIAはロボットを作らないことです。代わりに、ロボットを作る全ての会社に「道具一式」を売る戦略をとっています。</a:t>
            </a:r>
          </a:p>
          <a:p>
            <a:r>
              <a:t>具体的には「3つのコンピュータ」です。1つ目は学習用。データセンターのDGXで大規模な基盤モデルを訓練する。2つ目はシミュレーション用。Omniverseという仮想空間で訓練・検証し、Cosmosという世界モデルが現実さながらの学習データを生成する。3つ目は実行用。Jetson Thorというロボット搭載用のエッジAIコンピュータです。</a:t>
            </a:r>
          </a:p>
          <a:p>
            <a:r>
              <a:t>さらにIsaac GR00Tというヒューマノイド向け基盤モデルを無償公開して、各社に採用を促しています。モデルはタダで配り、開発ツールとチップで回収する。PC時代のWintelのように、フィジカルAIの「OS層」を握りにいく動きです。</a:t>
            </a:r>
          </a:p>
          <a:p>
            <a:r>
              <a:t>ゴールドラッシュで言えば、金を掘るのではなく、つるはしを全員に売る立場ですね。</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【台本】（目安4分）</a:t>
            </a:r>
          </a:p>
          <a:p>
            <a:r>
              <a:t>次にロボット本体、ヒューマノイドの開発競争です。カードの色は地域を表しています。青が米国、赤が中国、緑が日本です。</a:t>
            </a:r>
          </a:p>
          <a:p>
            <a:r>
              <a:t>米国勢はAI、つまりソフトで先行しています。テスラのOptimusは自社工場で使いながら量産を狙う本命。FigureはHelixという独自のVLAモデルを開発し、BMWの工場で実証しています。Boston Dynamicsは動画で有名ですが、電動の新型Atlasでトヨタ系の研究所と組んでいます。GoogleはGemini Roboticsという「頭脳」を各社に提供する立場です。</a:t>
            </a:r>
          </a:p>
          <a:p>
            <a:r>
              <a:t>注目は中国のUnitreeです。G1というヒューマノイドを約1.6万ドル、日本円で250万円程度で売り出しました。自動車1台分の価格です。量産と価格破壊で普及を狙う、まさにEVと同じ構図が始まっています。</a:t>
            </a:r>
          </a:p>
          <a:p>
            <a:r>
              <a:t>日本勢は川崎重工のKaleidoやトヨタなどが研究開発を進めていますが、正直、米中に比べると規模で見劣りするのが現状です。</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では、実際にどこから使われ始めるのか。キーワードは「決まった環境 × 繰り返し作業」です。</a:t>
            </a:r>
          </a:p>
          <a:p>
            <a:r>
              <a:t>まず製造業。部品の搬送、組立、検査といった反復作業です。BMWやメルセデスがすでに工場でヒューマノイドの実証を始めています。</a:t>
            </a:r>
          </a:p>
          <a:p>
            <a:r>
              <a:t>次に物流・倉庫。ピッキングや仕分け、トラックの荷降ろしです。Amazonが倉庫での実証を進めています。</a:t>
            </a:r>
          </a:p>
          <a:p>
            <a:r>
              <a:t>建設・インフラ点検では、Spotのような四足ロボットが巡回点検や危険箇所の確認を担い始めています。人が行くには危険な場所の代替ですね。</a:t>
            </a:r>
          </a:p>
          <a:p>
            <a:r>
              <a:t>そして身近なところではサービス・小売。国内ではTelexistenceがコンビニの飲料補充ロボットをすでに数百店舗規模で動かしています。</a:t>
            </a:r>
          </a:p>
          <a:p>
            <a:r>
              <a:t>共通するのは、いきなり家庭で家事をするような汎用ロボットではなく、環境がコントロールされた産業現場の特定業務から始まっている、という点です。</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4章は技術の仕組みです。難しい数式は出てきません。「どうやってロボットは学習するのか」「頭の中はどうなっているのか」を、概念レベルで押さえていただければ十分です。</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ここから技術の中身です。まず「どうやって学習するのか」。</a:t>
            </a:r>
          </a:p>
          <a:p>
            <a:r>
              <a:t>ChatGPTはWeb上の大量のテキストで学習できました。ところがロボットの場合、「転んで覚える」を現実世界でやると、時間もかかるし、壊れるし、危険です。そこで鍵になるのがシミュレーションです。</a:t>
            </a:r>
          </a:p>
          <a:p>
            <a:r>
              <a:t>手順は3ステップです。まず現場、たとえば工場や倉庫を、物理法則ごと仮想空間に再現します。これがデジタルツインです。次に、その仮想空間の中で数千体のロボットを並列に訓練します。仮想空間なので、実際の時間の数千倍のスピードで試行錯誤ができ、何回転んでも壊れません。最後に、学習済みのモデルを実機に載せて、現実とのわずかなズレを微調整します。この転移がSim2Real、シミュレーションからリアルへ、です。</a:t>
            </a:r>
          </a:p>
          <a:p>
            <a:r>
              <a:t>もう1つのポイントが合成データです。ロボットの学習に使える動作データはWeb上にほとんど存在しません。そこでCosmosのような世界モデルが、物理的に自然な映像やシナリオを人工的に大量生成して、データ不足を補っ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次に、ロボットの「頭脳」の中身です。VLAモデルと呼ばれます。Vision＝見る、Language＝理解する、Action＝動く、の頭文字です。</a:t>
            </a:r>
          </a:p>
          <a:p>
            <a:r>
              <a:t>流れはシンプルです。入力は2つ。カメラ映像などのセンサー情報と、「棚の飲料を補充して」といった人の言葉による指示です。これをVLAモデルが受け取り、LLM由来の知識と推論力で状況を理解して動作計画を立てる。出力は関節やモーターへの動作指令で、毎秒数十回の連続制御を行います。FigureのHelixやGoogleのGemini Roboticsが代表例です。</a:t>
            </a:r>
          </a:p>
          <a:p>
            <a:r>
              <a:t>従来のロボットとの違いが重要です。従来は動作を1つずつプログラミングしていたので、決められた手順の外に出ると止まってしまう。VLA搭載ロボットは「常識」を持っているので、初めて見る物や初めての指示にもある程度柔軟に対応できます。</a:t>
            </a:r>
          </a:p>
          <a:p>
            <a:r>
              <a:t>乱暴に言えば、「ChatGPTに目と手足がついたもの」とイメージしていただくと近いです。</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ここまで最先端の話をしてきましたが、実は「AIの部品」は、すでに私たちの身近な現場で動いています。</a:t>
            </a:r>
          </a:p>
          <a:p>
            <a:r>
              <a:t>左はカメラ映像の物体検知のイメージです。YOLO系と呼ばれるモデルが代表格で、映像から人やモノをリアルタイムに検出します。工場の安全監視、検品、在庫把握など、すでに当たり前に使われている技術です。</a:t>
            </a:r>
          </a:p>
          <a:p>
            <a:r>
              <a:t>VLM、視覚言語モデルは、画像を言葉で理解・説明できるAIです。設備の目視点検の自動化や、点検報告書の自動作成といった応用が進んでいます。</a:t>
            </a:r>
          </a:p>
          <a:p>
            <a:r>
              <a:t>SLAMは自己位置推定と地図生成の技術で、倉庫のAMRやドローンの自律走行を支えています。異常検知・予知保全も、センサーデータの活用として定番になりました。</a:t>
            </a:r>
          </a:p>
          <a:p>
            <a:r>
              <a:t>つまりフィジカルAIは、ゼロから生まれた魔法ではなく、こうした実績ある部品を「身体」と統合して、自律的に動かせるようにしたものです。部品側の技術は、私たちのお客様の現場にもすでに入り始め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5章では、ビジネスの目線に切り替えます。市場はどのくらい大きくなるのか、普及には何が壁になるのか、そして私たちのようなSIerにどんな商機があるのかを見ていきます。</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ここからビジネスの目線です。まず市場の大きさから。</a:t>
            </a:r>
          </a:p>
          <a:p>
            <a:r>
              <a:t>ゴールドマン・サックスは、ヒューマノイドロボットの世界市場が2035年に約380億ドルになると予測しています。そして日本に目を向けると、国内のフィジカルAI市場はFY30に約2,300億円、年平均成長率36%という予測があります。重要なのは、この市場がまだ立ち上げ初期で、SIの型もユースケースも確立していないという点です。ここは後で当社の話につながる伏線として覚えておいてください。</a:t>
            </a:r>
          </a:p>
          <a:p>
            <a:r>
              <a:t>なお、この手の予測は調査機関によって数字の幅が大きいので、金額そのものより「各機関がこぞって高成長を見込んでいる」という方向感で捉えてください。</a:t>
            </a:r>
          </a:p>
          <a:p>
            <a:r>
              <a:t>一方で、普及までの課題も現実的に見る必要があります。人と同じ空間で働くための安全基準や規制はこれから。本体価格だけでなく周辺システムと運用まで含めた総コスト。長時間稼働の信頼性。そしてバッテリーの稼働時間。この4点は、お客様への導入提案時のチェックリストにもなります。</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では、私たちのようなSIerにとっての商機はどこにあるのか。</a:t>
            </a:r>
          </a:p>
          <a:p>
            <a:r>
              <a:t>結論から言うと、ロボット本体を作るのはメーカーの土俵です。私たちの商機は、ロボットを「現場で使えるようにする」周辺領域にあります。具体的には4つです。</a:t>
            </a:r>
          </a:p>
          <a:p>
            <a:r>
              <a:t>1つ目、AIインフラ構築。GPUサーバー、エッジからクラウドまでの基盤、ネットワーク。学習と推論を支える土台です。2つ目、既存システムとの連携。ロボットは単体では仕事になりません。WMSやMES、ERPといった業務システムとつないで、初めて現場業務に組み込めます。3つ目、データとデジタルツイン。現場データの収集基盤や、シミュレーション環境の構築支援です。4つ目、運用とセキュリティ。ロボット群の監視、フリート管理、OTセキュリティ。</a:t>
            </a:r>
          </a:p>
          <a:p>
            <a:r>
              <a:t>フィジカルAIの導入は、まさに「IT×OT×AI」の統合プロジェクトです。そしてもう1つ。当社の主要顧客である通信事業者も、DC保守や現場作業といった「物理作業」を大量に抱えています。ここも将来の提案ターゲットになり得ます。</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最後の6章です。1章で示した方向性を、当社が具体的にどう進めているか。市場を取りにいく順番、すでに動いている検証、そして最終的に目指す提案像をお話しします。</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6章は、1章の話を「実行計画」に落とすところから始めます。1章でお話しした通り、キャリアNW市場は成熟しており、当社は運用自動化・AI領域へ商圏を広げます。ただし、いきなりフィジカルAIに飛ぶわけではありません。3つの時間軸で段階的に攻めます。</a:t>
            </a:r>
          </a:p>
          <a:p>
            <a:r>
              <a:t>短期はAIOps・運用自動化。市場は年率20%で安定成長しており、キャリアNW運用の知見がそのまま活きます。販社でありながら開発まで担える会社は少なく、勝ち筋があります。中期は推論基盤、オンプレ生成AIです。国内生成AI市場はFY30に約1.7兆円、うちオンプレは5,000億円規模と見ています。中長期がフィジカルAI・AIグリッド。約2,300億円の市場で、SIやユースケースはまだ未確立。立ち上げ期の今から仕込めば、エコシステム構築から大手と組める可能性があります。</a:t>
            </a:r>
          </a:p>
          <a:p>
            <a:r>
              <a:t>足元で稼ぎながら技術を積み上げ、フィジカルAIの立ち上がりに間に合わせる。これが当社の段取りです。</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【台本】（目安1分）</a:t>
            </a:r>
          </a:p>
          <a:p>
            <a:r>
              <a:t>参考として、ここに至るまでの経緯です。</a:t>
            </a:r>
          </a:p>
          <a:p>
            <a:r>
              <a:t>キャリアNWからローカル5G、そしてその周辺機器への提案に至るまでには、ローカルLLM、ログの自動化・生成、OSバージョンアップの自動化など、数々の試行錯誤がありました。</a:t>
            </a:r>
          </a:p>
          <a:p>
            <a:r>
              <a:t>この後ご紹介する検証済みアセットは、こうした積み重ねの延長線上にあります。一朝一夕で始めた話ではない、という点をお伝えしておきます。</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戦略だけではなく、すでに手も動かしています。4つの技術アセットを紹介します。</a:t>
            </a:r>
          </a:p>
          <a:p>
            <a:r>
              <a:t>1つ目はSTech I-AI-Innovation Suite。neoAI社のLLMとHPEサーバーを事前検証済みの構成でパッケージ化した、オンプレ生成AI基盤です。基盤のSIに加えて、伴走支援やAI教育まで一貫提供できます。</a:t>
            </a:r>
          </a:p>
          <a:p>
            <a:r>
              <a:t>2つ目がEdgeCortixのSAKURA-IIというエッジAIアクセラレータの実機検証です。ここで注目してほしい数字が2つあります。遅延のゆらぎ±1ミリ秒未満、平均消費電力10ワット未満。ロボットのリアルタイム制御には「決まった時間で必ず応答する」低遅延が必須で、バッテリー駆動なので電力制約も厳しい。この2つの数字は、まさにフィジカルAI領域に刺さるスペックです。</a:t>
            </a:r>
          </a:p>
          <a:p>
            <a:r>
              <a:t>3つ目はsimplyblockという分散ストレージ。LLM推論のKVキャッシュを永続化・共有して再計算を減らす、推論基盤の足回りです。</a:t>
            </a:r>
          </a:p>
          <a:p>
            <a:r>
              <a:t>そして4つ目、カメラの物体検知とロボットアームを連携させた社内デモ。青いボールを認識してつかんで置く。小さいですが「認識して動く」フィジカルAIの流れを実際に組んだものです。機会があれば実物をお見せします。</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こうしたアセットを組み合わせて、当社が描いている構想の1つがこちらです。エッジAIと地域デジタルツインで「認識・予測・行動」のループを回す、というものです。</a:t>
            </a:r>
          </a:p>
          <a:p>
            <a:r>
              <a:t>まず認識。現場のドローンやカメラ、センサーが、被災者や害獣といった対象と周囲の状況をリアルタイムに捉えます。次に予測。地域で共有するGPU/NPU基盤の上にデジタルツインを構築し、河川の氾濫や動物の行動といった「少し先の未来」をシミュレーションします。そして行動。予測結果を現場のエッジに返して、ドローンの群制御や避難誘導といった協調行動につなげます。</a:t>
            </a:r>
          </a:p>
          <a:p>
            <a:r>
              <a:t>お気づきかもしれませんが、これは3章でお話しした「シミュレーション×現場のAI」というフィジカルAIの構図そのものを、地域課題に応用したものです。</a:t>
            </a:r>
          </a:p>
          <a:p>
            <a:r>
              <a:t>ユースケースとしては防災と害獣対策を想定しています。将来的には、このシミュレーション結果を自動運転へ応用する展開も視野に入れています。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【台本】（目安2分）</a:t>
            </a:r>
          </a:p>
          <a:p>
            <a:r>
              <a:t>先ほどの「認識・予測・行動」の構想を、検証計画として具体化したものがこちらです。</a:t>
            </a:r>
          </a:p>
          <a:p>
            <a:r>
              <a:t>検証名は「地域デジタルツインを活用したマルチエージェント協調AI基盤の検証」。害獣対策と防災対策への応用を想定しています。</a:t>
            </a:r>
          </a:p>
          <a:p>
            <a:r>
              <a:t>全体構成を見てください。現場ではドローンやカメラといったエッジ端末AIが、対象認識・状況理解・自律行動といった反射的な動きを担います。5G基地局を介して地域共有型エッジAI基盤につながり、そこでは地域デジタルツインが現実世界を再現し、AIシミュレーションが浸水予測や行動予知といった未来予測を行います。予測結果は現場へフィードバックされ、ドローンの群制御や避難誘導に反映されます。</a:t>
            </a:r>
          </a:p>
          <a:p>
            <a:r>
              <a:t>「認識」「予測」「行動」が循環する新しいAI×通信の形であり、将来的にはシミュレーション結果の自動運転車への応用展開も目指しています。</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【台本】（目安3分）</a:t>
            </a:r>
          </a:p>
          <a:p>
            <a:r>
              <a:t>そして、これが当社が最終的に目指す提案像です。「ロボット × ローカル5G × AI集中分析・学習基盤」の3点セットです。</a:t>
            </a:r>
          </a:p>
          <a:p>
            <a:r>
              <a:t>左が現場。ロボット、ドローン、カメラが実際の作業とデータ収集を担います。それぞれにエッジNPU、先ほどのSAKURA-IIを載せて、±1ミリ秒級の即時推論を現場で完結させます。</a:t>
            </a:r>
          </a:p>
          <a:p>
            <a:r>
              <a:t>真ん中がローカル5G。高信頼・低遅延の専用無線で、現場のデータと制御指示を安全に往復させる神経系です。当社が積み上げてきたネットワークインテグレーションの技術がここに直結します。</a:t>
            </a:r>
          </a:p>
          <a:p>
            <a:r>
              <a:t>右が中央のAI集中分析・学習基盤。Kubernetes上で推論と学習を集中実行し、simplyblockのような大規模分散ストレージでデータとKVキャッシュを共有、デジタルツインで予測とシミュレーションを回します。</a:t>
            </a:r>
          </a:p>
          <a:p>
            <a:r>
              <a:t>上りで現場データを集めて学習し、下りで賢くなったモデルと制御を現場に返す。この循環が「現場が自律的に回る」仕組みです。</a:t>
            </a:r>
          </a:p>
          <a:p>
            <a:r>
              <a:t>ネットワーク、基盤、AI、そして現場のデバイス。全部をつないで初めて成立するシステムであり、だからこそSIerである当社がやる意味があります。これが当社のフィジカルAI参入の到達点です。</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【台本】（まとめ2分＋ディスカッション5〜10分）</a:t>
            </a:r>
          </a:p>
          <a:p>
            <a:r>
              <a:t>最後にまとめます。今日持ち帰っていただきたいのは3点です。</a:t>
            </a:r>
          </a:p>
          <a:p>
            <a:r>
              <a:t>1つ目。フィジカルAIはAI進化の次章で、AIの出力がテキストから「動作」に変わるということ。2つ目。労働力不足を背景に、2025〜26年は実証から初期導入への転換点で、製造・物流のような環境の整った現場から実装が始まっていること。3つ目。価値の源泉はハード単体ではなく、基盤モデル×シミュレーション×現場データの「統合」にあること。だからこそ、つなぎ込みを生業とする私たちに勝ち筋がある、というのが1章と6章でお話しした当社の戦略です。</a:t>
            </a:r>
          </a:p>
          <a:p>
            <a:r>
              <a:t>では残りの時間でディスカッションをしましょう。問いは1つです。「私たちの顧客の現場で、フィジカルAIが最初に価値を出せそうな業務はどこか？」。皆さんの担当されているお客様を思い浮かべて、意見を聞かせてください。</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以上で本編は終了です。ご清聴ありがとうございました。資料は後ほど共有しますので、お客様との会話のネタにもぜひ使ってください。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【台本】</a:t>
            </a:r>
          </a:p>
          <a:p>
            <a:r>
              <a:t>（クロージングスライド。質疑応答の背景として表示したまま、個別の質問を受け付ける）</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559489" y="2971784"/>
            <a:ext cx="8135937" cy="568355"/>
          </a:xfrm>
        </p:spPr>
        <p:txBody>
          <a:bodyPr anchor="b">
            <a:normAutofit/>
          </a:bodyPr>
          <a:lstStyle>
            <a:lvl1pPr algn="l">
              <a:defRPr sz="34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スライドタイトル</a:t>
            </a:r>
            <a:endParaRPr lang="en-US" dirty="0"/>
          </a:p>
        </p:txBody>
      </p:sp>
      <p:sp>
        <p:nvSpPr>
          <p:cNvPr id="3" name="Subtitle 2"/>
          <p:cNvSpPr>
            <a:spLocks noGrp="1"/>
          </p:cNvSpPr>
          <p:nvPr>
            <p:ph type="subTitle" idx="1" hasCustomPrompt="1"/>
          </p:nvPr>
        </p:nvSpPr>
        <p:spPr>
          <a:xfrm>
            <a:off x="559490" y="455555"/>
            <a:ext cx="6535562" cy="294943"/>
          </a:xfrm>
        </p:spPr>
        <p:txBody>
          <a:bodyPr>
            <a:noAutofit/>
          </a:bodyPr>
          <a:lstStyle>
            <a:lvl1pPr marL="0" indent="0" algn="l">
              <a:buNone/>
              <a:defRPr sz="1600" b="1" i="0" baseline="0">
                <a:solidFill>
                  <a:schemeClr val="accent1"/>
                </a:solidFill>
                <a:latin typeface="BIZ UDPGothic" panose="020B0400000000000000" pitchFamily="34" charset="-128"/>
                <a:ea typeface="BIZ UDPGothic" panose="020B0400000000000000" pitchFamily="34" charset="-12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err="1"/>
              <a:t>〇〇</a:t>
            </a:r>
            <a:r>
              <a:rPr lang="en-US" altLang="ja-JP" dirty="0" err="1"/>
              <a:t>〇〇〇〇〇〇</a:t>
            </a:r>
            <a:r>
              <a:rPr lang="en-US" dirty="0" err="1"/>
              <a:t>株式会社</a:t>
            </a:r>
            <a:r>
              <a:rPr lang="en-US" dirty="0"/>
              <a:t>   </a:t>
            </a:r>
            <a:r>
              <a:rPr lang="en-US" dirty="0" err="1"/>
              <a:t>御中</a:t>
            </a:r>
            <a:endParaRPr lang="en-US" dirty="0"/>
          </a:p>
        </p:txBody>
      </p:sp>
      <p:pic>
        <p:nvPicPr>
          <p:cNvPr id="12" name="図 11" descr="ロゴ&#10;&#10;中程度の精度で自動的に生成された説明">
            <a:extLst>
              <a:ext uri="{FF2B5EF4-FFF2-40B4-BE49-F238E27FC236}">
                <a16:creationId xmlns:a16="http://schemas.microsoft.com/office/drawing/2014/main" id="{91C61609-E934-6D94-45E8-4C5C7222896B}"/>
              </a:ext>
            </a:extLst>
          </p:cNvPr>
          <p:cNvPicPr>
            <a:picLocks noChangeAspect="1"/>
          </p:cNvPicPr>
          <p:nvPr userDrawn="1"/>
        </p:nvPicPr>
        <p:blipFill>
          <a:blip r:embed="rId2"/>
          <a:stretch>
            <a:fillRect/>
          </a:stretch>
        </p:blipFill>
        <p:spPr>
          <a:xfrm>
            <a:off x="657017" y="5898392"/>
            <a:ext cx="1318254" cy="496733"/>
          </a:xfrm>
          <a:prstGeom prst="rect">
            <a:avLst/>
          </a:prstGeom>
        </p:spPr>
      </p:pic>
      <p:pic>
        <p:nvPicPr>
          <p:cNvPr id="13" name="図 12" descr="図形, 矢印&#10;&#10;自動的に生成された説明">
            <a:extLst>
              <a:ext uri="{FF2B5EF4-FFF2-40B4-BE49-F238E27FC236}">
                <a16:creationId xmlns:a16="http://schemas.microsoft.com/office/drawing/2014/main" id="{77C1A79A-EE6C-3D8D-372B-1EC0B0D96C47}"/>
              </a:ext>
            </a:extLst>
          </p:cNvPr>
          <p:cNvPicPr>
            <a:picLocks noChangeAspect="1"/>
          </p:cNvPicPr>
          <p:nvPr userDrawn="1"/>
        </p:nvPicPr>
        <p:blipFill>
          <a:blip r:embed="rId3"/>
          <a:stretch>
            <a:fillRect/>
          </a:stretch>
        </p:blipFill>
        <p:spPr>
          <a:xfrm>
            <a:off x="7264812" y="0"/>
            <a:ext cx="4695825" cy="6858000"/>
          </a:xfrm>
          <a:prstGeom prst="rect">
            <a:avLst/>
          </a:prstGeom>
        </p:spPr>
      </p:pic>
      <p:pic>
        <p:nvPicPr>
          <p:cNvPr id="14" name="図 13" descr="文字が書かれている&#10;&#10;中程度の精度で自動的に生成された説明">
            <a:extLst>
              <a:ext uri="{FF2B5EF4-FFF2-40B4-BE49-F238E27FC236}">
                <a16:creationId xmlns:a16="http://schemas.microsoft.com/office/drawing/2014/main" id="{3A21D7F1-218B-EF6B-6970-CDF014BDF8F5}"/>
              </a:ext>
            </a:extLst>
          </p:cNvPr>
          <p:cNvPicPr>
            <a:picLocks noChangeAspect="1"/>
          </p:cNvPicPr>
          <p:nvPr userDrawn="1"/>
        </p:nvPicPr>
        <p:blipFill>
          <a:blip r:embed="rId4"/>
          <a:stretch>
            <a:fillRect/>
          </a:stretch>
        </p:blipFill>
        <p:spPr>
          <a:xfrm>
            <a:off x="10272469" y="323523"/>
            <a:ext cx="1518408" cy="367357"/>
          </a:xfrm>
          <a:prstGeom prst="rect">
            <a:avLst/>
          </a:prstGeom>
        </p:spPr>
      </p:pic>
      <p:sp>
        <p:nvSpPr>
          <p:cNvPr id="20" name="テキスト プレースホルダー 19">
            <a:extLst>
              <a:ext uri="{FF2B5EF4-FFF2-40B4-BE49-F238E27FC236}">
                <a16:creationId xmlns:a16="http://schemas.microsoft.com/office/drawing/2014/main" id="{3667EF0E-F860-9065-842F-49984BAD0109}"/>
              </a:ext>
            </a:extLst>
          </p:cNvPr>
          <p:cNvSpPr>
            <a:spLocks noGrp="1"/>
          </p:cNvSpPr>
          <p:nvPr>
            <p:ph type="body" sz="quarter" idx="14" hasCustomPrompt="1"/>
          </p:nvPr>
        </p:nvSpPr>
        <p:spPr>
          <a:xfrm>
            <a:off x="559488" y="4183823"/>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双日テックイノベーション株式会社</a:t>
            </a:r>
            <a:endParaRPr kumimoji="1" lang="en-US" altLang="ja-JP" dirty="0"/>
          </a:p>
        </p:txBody>
      </p:sp>
      <p:sp>
        <p:nvSpPr>
          <p:cNvPr id="6" name="テキスト プレースホルダー 19">
            <a:extLst>
              <a:ext uri="{FF2B5EF4-FFF2-40B4-BE49-F238E27FC236}">
                <a16:creationId xmlns:a16="http://schemas.microsoft.com/office/drawing/2014/main" id="{45B24984-7E4C-DB70-29A4-E3B0EE9BAF20}"/>
              </a:ext>
            </a:extLst>
          </p:cNvPr>
          <p:cNvSpPr>
            <a:spLocks noGrp="1"/>
          </p:cNvSpPr>
          <p:nvPr>
            <p:ph type="body" sz="quarter" idx="15" hasCustomPrompt="1"/>
          </p:nvPr>
        </p:nvSpPr>
        <p:spPr>
          <a:xfrm>
            <a:off x="559488" y="4888095"/>
            <a:ext cx="6535562" cy="294943"/>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〇〇〇〇部〇〇〇〇課</a:t>
            </a:r>
          </a:p>
        </p:txBody>
      </p:sp>
      <p:sp>
        <p:nvSpPr>
          <p:cNvPr id="7" name="テキスト プレースホルダー 19">
            <a:extLst>
              <a:ext uri="{FF2B5EF4-FFF2-40B4-BE49-F238E27FC236}">
                <a16:creationId xmlns:a16="http://schemas.microsoft.com/office/drawing/2014/main" id="{FC50F80F-5787-97ED-105C-23577087D626}"/>
              </a:ext>
            </a:extLst>
          </p:cNvPr>
          <p:cNvSpPr>
            <a:spLocks noGrp="1"/>
          </p:cNvSpPr>
          <p:nvPr>
            <p:ph type="body" sz="quarter" idx="16" hasCustomPrompt="1"/>
          </p:nvPr>
        </p:nvSpPr>
        <p:spPr>
          <a:xfrm>
            <a:off x="559488" y="4538770"/>
            <a:ext cx="6535562" cy="289524"/>
          </a:xfrm>
        </p:spPr>
        <p:txBody>
          <a:bodyPr>
            <a:norm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1" lang="ja-JP" altLang="en-US"/>
              <a:t>〇〇〇〇〇〇〇〇事業本部</a:t>
            </a:r>
            <a:endParaRPr kumimoji="1" lang="en-US" altLang="ja-JP" dirty="0"/>
          </a:p>
        </p:txBody>
      </p:sp>
      <p:sp>
        <p:nvSpPr>
          <p:cNvPr id="4" name="テキスト プレースホルダー 19">
            <a:extLst>
              <a:ext uri="{FF2B5EF4-FFF2-40B4-BE49-F238E27FC236}">
                <a16:creationId xmlns:a16="http://schemas.microsoft.com/office/drawing/2014/main" id="{D7B851B6-8739-6DBD-3433-427387865A33}"/>
              </a:ext>
            </a:extLst>
          </p:cNvPr>
          <p:cNvSpPr>
            <a:spLocks noGrp="1"/>
          </p:cNvSpPr>
          <p:nvPr>
            <p:ph type="body" sz="quarter" idx="17" hasCustomPrompt="1"/>
          </p:nvPr>
        </p:nvSpPr>
        <p:spPr>
          <a:xfrm>
            <a:off x="559488" y="3752762"/>
            <a:ext cx="6535562" cy="294943"/>
          </a:xfrm>
        </p:spPr>
        <p:txBody>
          <a:bodyPr anchor="ctr">
            <a:noAutofit/>
          </a:bodyPr>
          <a:lstStyle>
            <a:lvl1pPr marL="0" marR="0" indent="0" algn="l" defTabSz="914400" rtl="0" eaLnBrk="1" fontAlgn="auto" latinLnBrk="0" hangingPunct="1">
              <a:lnSpc>
                <a:spcPct val="100000"/>
              </a:lnSpc>
              <a:spcBef>
                <a:spcPts val="300"/>
              </a:spcBef>
              <a:spcAft>
                <a:spcPts val="0"/>
              </a:spcAft>
              <a:buClrTx/>
              <a:buSzTx/>
              <a:buFont typeface="Arial" panose="020B0604020202020204" pitchFamily="34" charset="0"/>
              <a:buNone/>
              <a:tabLst/>
              <a:defRPr sz="1400" b="0" i="0">
                <a:solidFill>
                  <a:schemeClr val="accent1"/>
                </a:solidFill>
                <a:latin typeface="BIZ UDPGothic" panose="020B0400000000000000" pitchFamily="34" charset="-128"/>
                <a:ea typeface="BIZ UDPGothic" panose="020B0400000000000000" pitchFamily="34" charset="-128"/>
              </a:defRPr>
            </a:lvl1pPr>
          </a:lstStyle>
          <a:p>
            <a:r>
              <a:rPr lang="en-US" altLang="ja-JP" b="0" i="0" dirty="0" err="1">
                <a:latin typeface="BIZ UDPGothic" panose="020B0400000000000000" pitchFamily="34" charset="-128"/>
                <a:ea typeface="BIZ UDPGothic" panose="020B0400000000000000" pitchFamily="34" charset="-128"/>
              </a:rPr>
              <a:t>yyyy</a:t>
            </a:r>
            <a:r>
              <a:rPr lang="ja-JP" altLang="en-US" b="0" i="0" dirty="0">
                <a:latin typeface="BIZ UDPGothic" panose="020B0400000000000000" pitchFamily="34" charset="-128"/>
                <a:ea typeface="BIZ UDPGothic" panose="020B0400000000000000" pitchFamily="34" charset="-128"/>
              </a:rPr>
              <a:t>年</a:t>
            </a:r>
            <a:r>
              <a:rPr lang="en-US" altLang="ja-JP" b="0" i="0" dirty="0">
                <a:latin typeface="BIZ UDPGothic" panose="020B0400000000000000" pitchFamily="34" charset="-128"/>
                <a:ea typeface="BIZ UDPGothic" panose="020B0400000000000000" pitchFamily="34" charset="-128"/>
              </a:rPr>
              <a:t>mm</a:t>
            </a:r>
            <a:r>
              <a:rPr lang="ja-JP" altLang="en-US" b="0" i="0" dirty="0">
                <a:latin typeface="BIZ UDPGothic" panose="020B0400000000000000" pitchFamily="34" charset="-128"/>
                <a:ea typeface="BIZ UDPGothic" panose="020B0400000000000000" pitchFamily="34" charset="-128"/>
              </a:rPr>
              <a:t>月</a:t>
            </a:r>
            <a:r>
              <a:rPr lang="en-US" altLang="ja-JP" b="0" i="0" dirty="0">
                <a:latin typeface="BIZ UDPGothic" panose="020B0400000000000000" pitchFamily="34" charset="-128"/>
                <a:ea typeface="BIZ UDPGothic" panose="020B0400000000000000" pitchFamily="34" charset="-128"/>
              </a:rPr>
              <a:t>dd</a:t>
            </a:r>
            <a:r>
              <a:rPr lang="ja-JP" altLang="en-US" b="0" i="0" dirty="0">
                <a:latin typeface="BIZ UDPGothic" panose="020B0400000000000000" pitchFamily="34" charset="-128"/>
                <a:ea typeface="BIZ UDPGothic" panose="020B0400000000000000" pitchFamily="34" charset="-128"/>
              </a:rPr>
              <a:t>日</a:t>
            </a:r>
            <a:endParaRPr lang="en-US" altLang="ja-JP" b="0" i="0" dirty="0">
              <a:latin typeface="BIZ UDPGothic" panose="020B0400000000000000" pitchFamily="34" charset="-128"/>
              <a:ea typeface="BIZ UDPGothic" panose="020B0400000000000000" pitchFamily="34" charset="-128"/>
            </a:endParaRPr>
          </a:p>
        </p:txBody>
      </p:sp>
      <p:pic>
        <p:nvPicPr>
          <p:cNvPr id="5" name="グラフィックス 4">
            <a:extLst>
              <a:ext uri="{FF2B5EF4-FFF2-40B4-BE49-F238E27FC236}">
                <a16:creationId xmlns:a16="http://schemas.microsoft.com/office/drawing/2014/main" id="{04E82DED-A5F3-B7BA-187C-F48C8E49C312}"/>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472622" y="5860282"/>
            <a:ext cx="1318255" cy="572953"/>
          </a:xfrm>
          <a:prstGeom prst="rect">
            <a:avLst/>
          </a:prstGeom>
        </p:spPr>
      </p:pic>
    </p:spTree>
    <p:extLst>
      <p:ext uri="{BB962C8B-B14F-4D97-AF65-F5344CB8AC3E}">
        <p14:creationId xmlns:p14="http://schemas.microsoft.com/office/powerpoint/2010/main" val="3306490116"/>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目次（</a:t>
            </a:r>
            <a:r>
              <a:rPr lang="en-US" altLang="ja-JP" dirty="0"/>
              <a:t>2</a:t>
            </a:r>
            <a:r>
              <a:rPr lang="ja-JP" altLang="en-US" dirty="0"/>
              <a:t>４</a:t>
            </a:r>
            <a:r>
              <a:rPr lang="en-US" altLang="ja-JP" dirty="0"/>
              <a:t>pt</a:t>
            </a:r>
            <a:r>
              <a:rPr lang="ja-JP" altLang="en-US" dirty="0"/>
              <a:t>）</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Content Placeholder 2">
            <a:extLst>
              <a:ext uri="{FF2B5EF4-FFF2-40B4-BE49-F238E27FC236}">
                <a16:creationId xmlns:a16="http://schemas.microsoft.com/office/drawing/2014/main" id="{4225AD9D-E296-7156-536C-D9A7EDA7F415}"/>
              </a:ext>
            </a:extLst>
          </p:cNvPr>
          <p:cNvSpPr>
            <a:spLocks noGrp="1"/>
          </p:cNvSpPr>
          <p:nvPr>
            <p:ph idx="1" hasCustomPrompt="1"/>
          </p:nvPr>
        </p:nvSpPr>
        <p:spPr>
          <a:xfrm>
            <a:off x="460431" y="1186160"/>
            <a:ext cx="11184282" cy="5109933"/>
          </a:xfrm>
        </p:spPr>
        <p:txBody>
          <a:bodyPr>
            <a:normAutofit/>
          </a:bodyPr>
          <a:lstStyle>
            <a:lvl1pPr marL="228600" indent="-228600" algn="dist">
              <a:buClr>
                <a:schemeClr val="tx2"/>
              </a:buClr>
              <a:buSzPct val="100000"/>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4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a:p>
            <a:pPr lvl="0"/>
            <a:r>
              <a:rPr lang="ja-JP" altLang="en-US" dirty="0"/>
              <a:t> タイトル</a:t>
            </a:r>
            <a:r>
              <a:rPr lang="en-US" altLang="ja-JP" dirty="0"/>
              <a:t>(</a:t>
            </a:r>
            <a:r>
              <a:rPr lang="ja-JP" altLang="en-US" dirty="0"/>
              <a:t>２０</a:t>
            </a:r>
            <a:r>
              <a:rPr lang="en-US" altLang="ja-JP" dirty="0"/>
              <a:t>pt) </a:t>
            </a:r>
            <a:r>
              <a:rPr lang="ja-JP" altLang="en-US" baseline="-25000" dirty="0"/>
              <a:t>・・・・・・・・・・・・・・・・・・・・・・・・・・・・・・・・・・・・・・・・・・・・・・・・・・・・・・・・・・・・・・・・・・・・・・・・・・・・</a:t>
            </a:r>
            <a:r>
              <a:rPr lang="ja-JP" altLang="en-US" dirty="0"/>
              <a:t> </a:t>
            </a:r>
            <a:r>
              <a:rPr lang="en-US" altLang="ja-JP" dirty="0"/>
              <a:t>pp</a:t>
            </a:r>
          </a:p>
        </p:txBody>
      </p:sp>
    </p:spTree>
    <p:extLst>
      <p:ext uri="{BB962C8B-B14F-4D97-AF65-F5344CB8AC3E}">
        <p14:creationId xmlns:p14="http://schemas.microsoft.com/office/powerpoint/2010/main" val="42582533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中表紙 スライド１">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33101039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表紙 スライド２">
    <p:bg>
      <p:bgPr>
        <a:solidFill>
          <a:srgbClr val="2A65F5"/>
        </a:solidFill>
        <a:effectLst/>
      </p:bgPr>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550863" y="2971784"/>
            <a:ext cx="8135937" cy="568355"/>
          </a:xfrm>
        </p:spPr>
        <p:txBody>
          <a:bodyPr anchor="b">
            <a:normAutofit/>
          </a:bodyPr>
          <a:lstStyle>
            <a:lvl1pPr algn="l">
              <a:defRPr sz="3200" b="1" i="0" baseline="0">
                <a:solidFill>
                  <a:schemeClr val="tx1"/>
                </a:solidFill>
                <a:latin typeface="BIZ UDPゴシック" panose="020B0400000000000000" pitchFamily="34" charset="-128"/>
                <a:ea typeface="BIZ UDPゴシック" panose="020B0400000000000000" pitchFamily="34" charset="-128"/>
              </a:defRPr>
            </a:lvl1pPr>
          </a:lstStyle>
          <a:p>
            <a:r>
              <a:rPr lang="ja-JP" altLang="en-US" dirty="0"/>
              <a:t>中表紙タイトル</a:t>
            </a:r>
            <a:endParaRPr lang="en-US" dirty="0"/>
          </a:p>
        </p:txBody>
      </p:sp>
      <p:sp>
        <p:nvSpPr>
          <p:cNvPr id="8" name="テキスト ボックス 7">
            <a:extLst>
              <a:ext uri="{FF2B5EF4-FFF2-40B4-BE49-F238E27FC236}">
                <a16:creationId xmlns:a16="http://schemas.microsoft.com/office/drawing/2014/main" id="{6124FA32-0375-8371-4942-9DC9BAB29172}"/>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1"/>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1"/>
              </a:solidFill>
              <a:latin typeface="BIZ UDPゴシック" panose="020B0400000000000000" pitchFamily="50" charset="-128"/>
              <a:ea typeface="BIZ UDPゴシック" panose="020B0400000000000000" pitchFamily="50" charset="-128"/>
            </a:endParaRPr>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1"/>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1"/>
              </a:solidFill>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36953851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コンテンツ スライド 01-1（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10151937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スライド 01-2（サブタイトルなし・背景色あり）">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24pt</a:t>
            </a:r>
            <a:r>
              <a:rPr lang="ja-JP" altLang="en-US" dirty="0"/>
              <a:t>）</a:t>
            </a:r>
            <a:endParaRPr lang="en-US" dirty="0"/>
          </a:p>
        </p:txBody>
      </p:sp>
      <p:sp>
        <p:nvSpPr>
          <p:cNvPr id="3" name="Content Placeholder 2"/>
          <p:cNvSpPr>
            <a:spLocks noGrp="1"/>
          </p:cNvSpPr>
          <p:nvPr>
            <p:ph idx="1" hasCustomPrompt="1"/>
          </p:nvPr>
        </p:nvSpPr>
        <p:spPr>
          <a:xfrm>
            <a:off x="460431" y="1186160"/>
            <a:ext cx="11184282" cy="510993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Tree>
    <p:extLst>
      <p:ext uri="{BB962C8B-B14F-4D97-AF65-F5344CB8AC3E}">
        <p14:creationId xmlns:p14="http://schemas.microsoft.com/office/powerpoint/2010/main" val="4246441805"/>
      </p:ext>
    </p:extLst>
  </p:cSld>
  <p:clrMapOvr>
    <a:overrideClrMapping bg1="lt1" tx1="dk1" bg2="lt2" tx2="dk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コンテンツ スライド 01-3（アローなし）">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3" name="Content Placeholder 2"/>
          <p:cNvSpPr>
            <a:spLocks noGrp="1"/>
          </p:cNvSpPr>
          <p:nvPr>
            <p:ph idx="1" hasCustomPrompt="1"/>
          </p:nvPr>
        </p:nvSpPr>
        <p:spPr>
          <a:xfrm>
            <a:off x="463123" y="1580966"/>
            <a:ext cx="11184282" cy="4674307"/>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必要な場合のみ使用）</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12pt/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5" name="Content Placeholder 2">
            <a:extLst>
              <a:ext uri="{FF2B5EF4-FFF2-40B4-BE49-F238E27FC236}">
                <a16:creationId xmlns:a16="http://schemas.microsoft.com/office/drawing/2014/main" id="{54D72817-A9A9-B911-F9B5-0FBF688B6B1D}"/>
              </a:ext>
            </a:extLst>
          </p:cNvPr>
          <p:cNvSpPr>
            <a:spLocks noGrp="1"/>
          </p:cNvSpPr>
          <p:nvPr>
            <p:ph idx="11" hasCustomPrompt="1"/>
          </p:nvPr>
        </p:nvSpPr>
        <p:spPr>
          <a:xfrm>
            <a:off x="463123" y="978865"/>
            <a:ext cx="11184282" cy="485437"/>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p>
          <a:p>
            <a:pPr lvl="0"/>
            <a:endParaRPr lang="ja-JP" altLang="en-US" dirty="0"/>
          </a:p>
        </p:txBody>
      </p:sp>
    </p:spTree>
    <p:extLst>
      <p:ext uri="{BB962C8B-B14F-4D97-AF65-F5344CB8AC3E}">
        <p14:creationId xmlns:p14="http://schemas.microsoft.com/office/powerpoint/2010/main" val="130763120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コンテンツ スライド 02-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979783"/>
            <a:ext cx="5447578" cy="5316311"/>
          </a:xfrm>
        </p:spPr>
        <p:txBody>
          <a:bodyPr/>
          <a:lstStyle>
            <a:lvl1pPr marL="228600" indent="-228600">
              <a:buClr>
                <a:schemeClr val="tx2"/>
              </a:buClr>
              <a:buFont typeface="Wingdings" panose="05000000000000000000" pitchFamily="2" charset="2"/>
              <a:buChar char="l"/>
              <a:defRPr sz="2000" b="1" i="0" baseline="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a:t>
            </a:r>
            <a:r>
              <a:rPr lang="ja-JP" altLang="en-US" dirty="0"/>
              <a:t>２</a:t>
            </a:r>
            <a:r>
              <a:rPr lang="en-US" altLang="ja-JP" dirty="0"/>
              <a:t>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978865"/>
            <a:ext cx="5447578" cy="5316311"/>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a:t>
            </a:r>
            <a:r>
              <a:rPr lang="ja-JP" altLang="en-US" dirty="0"/>
              <a:t>０</a:t>
            </a:r>
            <a:r>
              <a:rPr lang="en-US" altLang="ja-JP" dirty="0"/>
              <a:t>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a:t>
            </a:r>
            <a:r>
              <a:rPr lang="ja-JP" altLang="en-US" dirty="0"/>
              <a:t>６</a:t>
            </a:r>
            <a:r>
              <a:rPr lang="en-US" altLang="ja-JP" dirty="0"/>
              <a:t>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1990942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コンテンツ スライド 02-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1"/>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6" name="Content Placeholder 2">
            <a:extLst>
              <a:ext uri="{FF2B5EF4-FFF2-40B4-BE49-F238E27FC236}">
                <a16:creationId xmlns:a16="http://schemas.microsoft.com/office/drawing/2014/main" id="{8AF5794F-3BD7-1577-E5D1-64704FC6C824}"/>
              </a:ext>
            </a:extLst>
          </p:cNvPr>
          <p:cNvSpPr>
            <a:spLocks noGrp="1"/>
          </p:cNvSpPr>
          <p:nvPr>
            <p:ph idx="11" hasCustomPrompt="1"/>
          </p:nvPr>
        </p:nvSpPr>
        <p:spPr>
          <a:xfrm>
            <a:off x="6200094" y="1889453"/>
            <a:ext cx="5447578" cy="4405723"/>
          </a:xfrm>
        </p:spPr>
        <p:txBody>
          <a:bodyPr/>
          <a:lstStyle>
            <a:lvl1pPr marL="228600" indent="-228600">
              <a:buClr>
                <a:schemeClr val="tx2"/>
              </a:buClr>
              <a:buFont typeface="Wingdings" panose="05000000000000000000" pitchFamily="2" charset="2"/>
              <a:buChar char="l"/>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 第</a:t>
            </a:r>
            <a:r>
              <a:rPr lang="en-US" altLang="ja-JP" dirty="0"/>
              <a:t>1</a:t>
            </a:r>
            <a:r>
              <a:rPr lang="ja-JP" altLang="en-US" dirty="0"/>
              <a:t>レベル</a:t>
            </a:r>
            <a:r>
              <a:rPr lang="en-US" altLang="ja-JP" dirty="0"/>
              <a:t> </a:t>
            </a:r>
            <a:r>
              <a:rPr lang="ja-JP" altLang="en-US" dirty="0"/>
              <a:t>（</a:t>
            </a:r>
            <a:r>
              <a:rPr lang="en-US" altLang="ja-JP" dirty="0"/>
              <a:t>20pt/</a:t>
            </a:r>
            <a:r>
              <a:rPr lang="ja-JP" altLang="en-US" dirty="0"/>
              <a:t>大見出し・メッセージ</a:t>
            </a:r>
            <a:r>
              <a:rPr lang="en-US" altLang="ja-JP" dirty="0"/>
              <a:t> ※</a:t>
            </a:r>
            <a:r>
              <a:rPr lang="ja-JP" altLang="en-US" dirty="0"/>
              <a:t>必要な場合のみ）</a:t>
            </a:r>
          </a:p>
          <a:p>
            <a:pPr lvl="1"/>
            <a:r>
              <a:rPr lang="ja-JP" altLang="en-US" dirty="0"/>
              <a:t>第</a:t>
            </a:r>
            <a:r>
              <a:rPr lang="en-US" altLang="ja-JP" dirty="0"/>
              <a:t>2</a:t>
            </a:r>
            <a:r>
              <a:rPr lang="ja-JP" altLang="en-US" dirty="0"/>
              <a:t>レベル</a:t>
            </a:r>
            <a:r>
              <a:rPr lang="en-US" altLang="ja-JP" dirty="0"/>
              <a:t> </a:t>
            </a:r>
            <a:r>
              <a:rPr lang="ja-JP" altLang="en-US" dirty="0"/>
              <a:t>（</a:t>
            </a:r>
            <a:r>
              <a:rPr lang="en-US" altLang="ja-JP" dirty="0"/>
              <a:t>16pt/</a:t>
            </a:r>
            <a:r>
              <a:rPr lang="ja-JP" altLang="en-US" dirty="0"/>
              <a:t>見出し）</a:t>
            </a:r>
          </a:p>
          <a:p>
            <a:pPr lvl="2"/>
            <a:r>
              <a:rPr lang="ja-JP" altLang="en-US" dirty="0"/>
              <a:t>第</a:t>
            </a:r>
            <a:r>
              <a:rPr lang="en-US" altLang="ja-JP" dirty="0"/>
              <a:t>3</a:t>
            </a:r>
            <a:r>
              <a:rPr lang="ja-JP" altLang="en-US" dirty="0"/>
              <a:t>レベル</a:t>
            </a:r>
            <a:r>
              <a:rPr lang="en-US" altLang="ja-JP" dirty="0"/>
              <a:t> </a:t>
            </a:r>
            <a:r>
              <a:rPr lang="ja-JP" altLang="en-US" dirty="0"/>
              <a:t>（</a:t>
            </a:r>
            <a:r>
              <a:rPr lang="en-US" altLang="ja-JP" dirty="0"/>
              <a:t>14pt/</a:t>
            </a:r>
            <a:r>
              <a:rPr lang="ja-JP" altLang="en-US" dirty="0"/>
              <a:t>本文）</a:t>
            </a:r>
          </a:p>
          <a:p>
            <a:pPr lvl="3"/>
            <a:r>
              <a:rPr lang="ja-JP" altLang="en-US" dirty="0"/>
              <a:t>第</a:t>
            </a:r>
            <a:r>
              <a:rPr lang="en-US" altLang="ja-JP" dirty="0"/>
              <a:t>4</a:t>
            </a:r>
            <a:r>
              <a:rPr lang="ja-JP" altLang="en-US" dirty="0"/>
              <a:t>レベル</a:t>
            </a:r>
            <a:r>
              <a:rPr lang="en-US" altLang="ja-JP" dirty="0"/>
              <a:t> </a:t>
            </a:r>
            <a:r>
              <a:rPr lang="ja-JP" altLang="en-US" dirty="0"/>
              <a:t>（</a:t>
            </a:r>
            <a:r>
              <a:rPr lang="en-US" altLang="ja-JP" dirty="0"/>
              <a:t>10pt/</a:t>
            </a:r>
            <a:r>
              <a:rPr lang="ja-JP" altLang="en-US" dirty="0"/>
              <a:t>注釈）</a:t>
            </a:r>
            <a:endParaRPr lang="en-US" altLang="ja-JP" dirty="0"/>
          </a:p>
          <a:p>
            <a:pPr lvl="3"/>
            <a:endParaRPr lang="en-US" dirty="0"/>
          </a:p>
        </p:txBody>
      </p:sp>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5" name="Content Placeholder 2">
            <a:extLst>
              <a:ext uri="{FF2B5EF4-FFF2-40B4-BE49-F238E27FC236}">
                <a16:creationId xmlns:a16="http://schemas.microsoft.com/office/drawing/2014/main" id="{A93E328F-114F-7DEB-3AC8-FFB9E7D73DCA}"/>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9405219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コンテンツ スライド 03-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984889"/>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984884"/>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2733368"/>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984277"/>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2732761"/>
            <a:ext cx="3544778" cy="3561809"/>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35386654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コンテンツ スライド 03-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Gothic" panose="020B0400000000000000" pitchFamily="34" charset="-128"/>
                <a:ea typeface="BIZ UDPGothic" panose="020B0400000000000000" pitchFamily="34" charset="-128"/>
              </a:rPr>
              <a:t>©Sojitz Tech-Innovation Co., Ltd. All Rights Reserved.</a:t>
            </a:r>
            <a:endParaRPr lang="ja-JP" altLang="en-US" sz="900" dirty="0">
              <a:solidFill>
                <a:schemeClr val="tx2">
                  <a:lumMod val="75000"/>
                </a:schemeClr>
              </a:solidFill>
              <a:latin typeface="BIZ UDPGothic" panose="020B0400000000000000" pitchFamily="34" charset="-128"/>
              <a:ea typeface="BIZ UDPGothic" panose="020B0400000000000000" pitchFamily="34"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7"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5"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1" name="コンテンツ プレースホルダー 2">
            <a:extLst>
              <a:ext uri="{FF2B5EF4-FFF2-40B4-BE49-F238E27FC236}">
                <a16:creationId xmlns:a16="http://schemas.microsoft.com/office/drawing/2014/main" id="{0A518090-782F-7B3A-0DB7-114629316B31}"/>
              </a:ext>
            </a:extLst>
          </p:cNvPr>
          <p:cNvSpPr>
            <a:spLocks noGrp="1"/>
          </p:cNvSpPr>
          <p:nvPr>
            <p:ph idx="16" hasCustomPrompt="1"/>
          </p:nvPr>
        </p:nvSpPr>
        <p:spPr>
          <a:xfrm>
            <a:off x="4276608" y="1889453"/>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22" name="図プレースホルダー 11">
            <a:extLst>
              <a:ext uri="{FF2B5EF4-FFF2-40B4-BE49-F238E27FC236}">
                <a16:creationId xmlns:a16="http://schemas.microsoft.com/office/drawing/2014/main" id="{7CBD38C9-4DFE-BFA1-2791-CC234E624325}"/>
              </a:ext>
            </a:extLst>
          </p:cNvPr>
          <p:cNvSpPr>
            <a:spLocks noGrp="1"/>
          </p:cNvSpPr>
          <p:nvPr>
            <p:ph type="pic" sz="quarter" idx="17" hasCustomPrompt="1"/>
          </p:nvPr>
        </p:nvSpPr>
        <p:spPr>
          <a:xfrm>
            <a:off x="4276608" y="3639493"/>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23" name="コンテンツ プレースホルダー 2">
            <a:extLst>
              <a:ext uri="{FF2B5EF4-FFF2-40B4-BE49-F238E27FC236}">
                <a16:creationId xmlns:a16="http://schemas.microsoft.com/office/drawing/2014/main" id="{DBEDCA7B-6210-78E7-D16E-1ACD91CDEC9C}"/>
              </a:ext>
            </a:extLst>
          </p:cNvPr>
          <p:cNvSpPr>
            <a:spLocks noGrp="1"/>
          </p:cNvSpPr>
          <p:nvPr>
            <p:ph idx="18" hasCustomPrompt="1"/>
          </p:nvPr>
        </p:nvSpPr>
        <p:spPr>
          <a:xfrm>
            <a:off x="8096360" y="1888846"/>
            <a:ext cx="3544778"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endParaRPr kumimoji="1" lang="en-US" altLang="ja-JP" dirty="0"/>
          </a:p>
        </p:txBody>
      </p:sp>
      <p:sp>
        <p:nvSpPr>
          <p:cNvPr id="24" name="図プレースホルダー 11">
            <a:extLst>
              <a:ext uri="{FF2B5EF4-FFF2-40B4-BE49-F238E27FC236}">
                <a16:creationId xmlns:a16="http://schemas.microsoft.com/office/drawing/2014/main" id="{226060EB-C034-AD43-9B18-23B93CB8ABAF}"/>
              </a:ext>
            </a:extLst>
          </p:cNvPr>
          <p:cNvSpPr>
            <a:spLocks noGrp="1"/>
          </p:cNvSpPr>
          <p:nvPr>
            <p:ph type="pic" sz="quarter" idx="19" hasCustomPrompt="1"/>
          </p:nvPr>
        </p:nvSpPr>
        <p:spPr>
          <a:xfrm>
            <a:off x="8096358" y="3638886"/>
            <a:ext cx="3544778"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C8270BA4-DF63-FECF-CBA0-55BB6402228D}"/>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42D4DFD3-A1FA-A9BB-ED06-FB2F6B4C01E1}"/>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ゴシック" panose="020B0400000000000000" pitchFamily="50" charset="-128"/>
                <a:ea typeface="BIZ UDPゴシック" panose="020B0400000000000000" pitchFamily="50"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20853636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コンテンツ スライド 04-1（サブタイトルなし）">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56856"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200093" y="988013"/>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3734215"/>
            <a:ext cx="5447578" cy="2520453"/>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3734215"/>
            <a:ext cx="5447578" cy="2520454"/>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Tree>
    <p:extLst>
      <p:ext uri="{BB962C8B-B14F-4D97-AF65-F5344CB8AC3E}">
        <p14:creationId xmlns:p14="http://schemas.microsoft.com/office/powerpoint/2010/main" val="259876038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コンテンツ スライド 04-2（サブタイトルあり）">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a:xfrm>
            <a:off x="460432"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53579"/>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4" name="Title 1">
            <a:extLst>
              <a:ext uri="{FF2B5EF4-FFF2-40B4-BE49-F238E27FC236}">
                <a16:creationId xmlns:a16="http://schemas.microsoft.com/office/drawing/2014/main" id="{AC7B23EE-C32B-0F28-CE61-16A5FBCEB768}"/>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11" name="Content Placeholder 2">
            <a:extLst>
              <a:ext uri="{FF2B5EF4-FFF2-40B4-BE49-F238E27FC236}">
                <a16:creationId xmlns:a16="http://schemas.microsoft.com/office/drawing/2014/main" id="{CE6658C8-5194-F913-06ED-BE7DEB90EB46}"/>
              </a:ext>
            </a:extLst>
          </p:cNvPr>
          <p:cNvSpPr>
            <a:spLocks noGrp="1"/>
          </p:cNvSpPr>
          <p:nvPr>
            <p:ph idx="16" hasCustomPrompt="1"/>
          </p:nvPr>
        </p:nvSpPr>
        <p:spPr>
          <a:xfrm>
            <a:off x="6190906" y="1890372"/>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4" name="Content Placeholder 2">
            <a:extLst>
              <a:ext uri="{FF2B5EF4-FFF2-40B4-BE49-F238E27FC236}">
                <a16:creationId xmlns:a16="http://schemas.microsoft.com/office/drawing/2014/main" id="{30A459F4-5803-A7D6-0E77-3E30FB6269E3}"/>
              </a:ext>
            </a:extLst>
          </p:cNvPr>
          <p:cNvSpPr>
            <a:spLocks noGrp="1"/>
          </p:cNvSpPr>
          <p:nvPr>
            <p:ph idx="17" hasCustomPrompt="1"/>
          </p:nvPr>
        </p:nvSpPr>
        <p:spPr>
          <a:xfrm>
            <a:off x="6200093"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5" name="Content Placeholder 2">
            <a:extLst>
              <a:ext uri="{FF2B5EF4-FFF2-40B4-BE49-F238E27FC236}">
                <a16:creationId xmlns:a16="http://schemas.microsoft.com/office/drawing/2014/main" id="{260CA5AC-3464-206A-48B0-4F149CA35026}"/>
              </a:ext>
            </a:extLst>
          </p:cNvPr>
          <p:cNvSpPr>
            <a:spLocks noGrp="1"/>
          </p:cNvSpPr>
          <p:nvPr>
            <p:ph idx="18" hasCustomPrompt="1"/>
          </p:nvPr>
        </p:nvSpPr>
        <p:spPr>
          <a:xfrm>
            <a:off x="456856" y="4137477"/>
            <a:ext cx="5447578" cy="2117191"/>
          </a:xfrm>
        </p:spPr>
        <p:txBody>
          <a:bodyPr>
            <a:normAutofit/>
          </a:bodyPr>
          <a:lstStyle>
            <a:lvl1pPr marL="228600" indent="-228600">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vl2pPr>
              <a:defRPr b="1" i="0">
                <a:latin typeface="BIZ UDPGothic" panose="020B0400000000000000" pitchFamily="34" charset="-128"/>
                <a:ea typeface="BIZ UDPGothic" panose="020B0400000000000000" pitchFamily="34" charset="-128"/>
              </a:defRPr>
            </a:lvl2pPr>
            <a:lvl3pPr>
              <a:defRPr sz="1800" b="1" i="0">
                <a:latin typeface="BIZ UDPGothic" panose="020B0400000000000000" pitchFamily="34" charset="-128"/>
                <a:ea typeface="BIZ UDPGothic" panose="020B0400000000000000" pitchFamily="34" charset="-128"/>
              </a:defRPr>
            </a:lvl3pPr>
            <a:lvl4pPr>
              <a:defRPr sz="1300" b="0" i="0">
                <a:latin typeface="BIZ UDPGothic" panose="020B0400000000000000" pitchFamily="34" charset="-128"/>
                <a:ea typeface="BIZ UDPGothic" panose="020B0400000000000000" pitchFamily="34" charset="-128"/>
              </a:defRPr>
            </a:lvl4pPr>
            <a:lvl5pPr>
              <a:defRPr sz="1000" b="0" i="0">
                <a:latin typeface="BIZ UDPGothic" panose="020B0400000000000000" pitchFamily="34" charset="-128"/>
                <a:ea typeface="BIZ UDPGothic" panose="020B0400000000000000" pitchFamily="34" charset="-128"/>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5" name="Content Placeholder 2">
            <a:extLst>
              <a:ext uri="{FF2B5EF4-FFF2-40B4-BE49-F238E27FC236}">
                <a16:creationId xmlns:a16="http://schemas.microsoft.com/office/drawing/2014/main" id="{E519B47D-B6D7-03DF-CA9A-3F1C0C3B9028}"/>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4121087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コンテンツ スライド 05-1（サブタイトルなし）">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66688" y="984886"/>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2725794"/>
            <a:ext cx="11184283" cy="3569383"/>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Tree>
    <p:extLst>
      <p:ext uri="{BB962C8B-B14F-4D97-AF65-F5344CB8AC3E}">
        <p14:creationId xmlns:p14="http://schemas.microsoft.com/office/powerpoint/2010/main" val="145750560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コンテンツ スライド 05-2（サブタイトルあり）">
    <p:spTree>
      <p:nvGrpSpPr>
        <p:cNvPr id="1" name=""/>
        <p:cNvGrpSpPr/>
        <p:nvPr/>
      </p:nvGrpSpPr>
      <p:grpSpPr>
        <a:xfrm>
          <a:off x="0" y="0"/>
          <a:ext cx="0" cy="0"/>
          <a:chOff x="0" y="0"/>
          <a:chExt cx="0" cy="0"/>
        </a:xfrm>
      </p:grpSpPr>
      <p:sp>
        <p:nvSpPr>
          <p:cNvPr id="7" name="テキスト ボックス 6">
            <a:extLst>
              <a:ext uri="{FF2B5EF4-FFF2-40B4-BE49-F238E27FC236}">
                <a16:creationId xmlns:a16="http://schemas.microsoft.com/office/drawing/2014/main" id="{4D8F3CAA-ED79-98B9-C3DD-A37D3FB7C142}"/>
              </a:ext>
            </a:extLst>
          </p:cNvPr>
          <p:cNvSpPr txBox="1"/>
          <p:nvPr userDrawn="1"/>
        </p:nvSpPr>
        <p:spPr>
          <a:xfrm>
            <a:off x="456856" y="6453579"/>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8" name="テキスト ボックス 7">
            <a:extLst>
              <a:ext uri="{FF2B5EF4-FFF2-40B4-BE49-F238E27FC236}">
                <a16:creationId xmlns:a16="http://schemas.microsoft.com/office/drawing/2014/main" id="{401BA2D1-E175-7F4E-431C-1A04DB6138C3}"/>
              </a:ext>
            </a:extLst>
          </p:cNvPr>
          <p:cNvSpPr txBox="1"/>
          <p:nvPr userDrawn="1"/>
        </p:nvSpPr>
        <p:spPr>
          <a:xfrm>
            <a:off x="11303616" y="6445885"/>
            <a:ext cx="431528" cy="246221"/>
          </a:xfrm>
          <a:prstGeom prst="rect">
            <a:avLst/>
          </a:prstGeom>
          <a:noFill/>
        </p:spPr>
        <p:txBody>
          <a:bodyPr wrap="none" rtlCol="0">
            <a:spAutoFit/>
          </a:bodyPr>
          <a:lstStyle/>
          <a:p>
            <a:pPr algn="r"/>
            <a:fld id="{BB71FF16-C3E1-9143-95C4-AA3A33CD367E}" type="slidenum">
              <a:rPr kumimoji="1" lang="ja-JP" altLang="en-US" sz="1000" smtClean="0">
                <a:solidFill>
                  <a:schemeClr val="tx2">
                    <a:lumMod val="75000"/>
                  </a:schemeClr>
                </a:solidFill>
                <a:latin typeface="BIZ UDPゴシック" panose="020B0400000000000000" pitchFamily="50" charset="-128"/>
                <a:ea typeface="BIZ UDPゴシック" panose="020B0400000000000000" pitchFamily="50" charset="-128"/>
              </a:rPr>
              <a:pPr algn="r"/>
              <a:t>‹#›</a:t>
            </a:fld>
            <a:endParaRPr kumimoji="1" lang="ja-JP" altLang="en-US" sz="1000" dirty="0">
              <a:solidFill>
                <a:schemeClr val="tx2">
                  <a:lumMod val="75000"/>
                </a:schemeClr>
              </a:solidFill>
              <a:latin typeface="BIZ UDPゴシック" panose="020B0400000000000000" pitchFamily="50" charset="-128"/>
              <a:ea typeface="BIZ UDPゴシック" panose="020B0400000000000000" pitchFamily="50" charset="-128"/>
            </a:endParaRPr>
          </a:p>
        </p:txBody>
      </p:sp>
      <p:pic>
        <p:nvPicPr>
          <p:cNvPr id="12" name="図 11" descr="ロゴ&#10;&#10;低い精度で自動的に生成された説明">
            <a:extLst>
              <a:ext uri="{FF2B5EF4-FFF2-40B4-BE49-F238E27FC236}">
                <a16:creationId xmlns:a16="http://schemas.microsoft.com/office/drawing/2014/main" id="{6D01A1E9-BFBA-4676-B334-9628047BEB1D}"/>
              </a:ext>
            </a:extLst>
          </p:cNvPr>
          <p:cNvPicPr>
            <a:picLocks noChangeAspect="1"/>
          </p:cNvPicPr>
          <p:nvPr userDrawn="1"/>
        </p:nvPicPr>
        <p:blipFill>
          <a:blip r:embed="rId2"/>
          <a:stretch>
            <a:fillRect/>
          </a:stretch>
        </p:blipFill>
        <p:spPr>
          <a:xfrm>
            <a:off x="10643944" y="423565"/>
            <a:ext cx="1211301" cy="457815"/>
          </a:xfrm>
          <a:prstGeom prst="rect">
            <a:avLst/>
          </a:prstGeom>
        </p:spPr>
      </p:pic>
      <p:pic>
        <p:nvPicPr>
          <p:cNvPr id="13" name="図 12">
            <a:extLst>
              <a:ext uri="{FF2B5EF4-FFF2-40B4-BE49-F238E27FC236}">
                <a16:creationId xmlns:a16="http://schemas.microsoft.com/office/drawing/2014/main" id="{7774F0B8-F9E1-9A92-58FC-1F02AC127219}"/>
              </a:ext>
            </a:extLst>
          </p:cNvPr>
          <p:cNvPicPr>
            <a:picLocks noChangeAspect="1"/>
          </p:cNvPicPr>
          <p:nvPr userDrawn="1"/>
        </p:nvPicPr>
        <p:blipFill>
          <a:blip r:embed="rId3"/>
          <a:stretch>
            <a:fillRect/>
          </a:stretch>
        </p:blipFill>
        <p:spPr>
          <a:xfrm>
            <a:off x="505770" y="843299"/>
            <a:ext cx="9882000" cy="38081"/>
          </a:xfrm>
          <a:prstGeom prst="rect">
            <a:avLst/>
          </a:prstGeom>
        </p:spPr>
      </p:pic>
      <p:sp>
        <p:nvSpPr>
          <p:cNvPr id="9" name="コンテンツ プレースホルダー 2">
            <a:extLst>
              <a:ext uri="{FF2B5EF4-FFF2-40B4-BE49-F238E27FC236}">
                <a16:creationId xmlns:a16="http://schemas.microsoft.com/office/drawing/2014/main" id="{2FD22AD8-AC86-4F9D-A42F-E989AA12BE89}"/>
              </a:ext>
            </a:extLst>
          </p:cNvPr>
          <p:cNvSpPr>
            <a:spLocks noGrp="1"/>
          </p:cNvSpPr>
          <p:nvPr>
            <p:ph idx="1" hasCustomPrompt="1"/>
          </p:nvPr>
        </p:nvSpPr>
        <p:spPr>
          <a:xfrm>
            <a:off x="456856" y="1889453"/>
            <a:ext cx="11184283" cy="1637402"/>
          </a:xfrm>
        </p:spPr>
        <p:txBody>
          <a:bodyPr lIns="36000" tIns="36000" rIns="36000" bIns="36000">
            <a:noAutofit/>
          </a:bodyPr>
          <a:lstStyle>
            <a:lvl1pPr marL="0" indent="-216000">
              <a:lnSpc>
                <a:spcPct val="100000"/>
              </a:lnSpc>
              <a:spcBef>
                <a:spcPts val="300"/>
              </a:spcBef>
              <a:buClr>
                <a:schemeClr val="tx2"/>
              </a:buClr>
              <a:buFont typeface="Wingdings" pitchFamily="2" charset="2"/>
              <a:buChar char="l"/>
              <a:defRPr sz="1200" b="1"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a:p>
            <a:pPr lvl="0"/>
            <a:r>
              <a:rPr kumimoji="1" lang="ja-JP" altLang="en-US" dirty="0"/>
              <a:t>箇条書き</a:t>
            </a:r>
            <a:r>
              <a:rPr kumimoji="1" lang="en-US" altLang="ja-JP" dirty="0"/>
              <a:t> </a:t>
            </a:r>
            <a:r>
              <a:rPr kumimoji="1" lang="ja-JP" altLang="en-US" dirty="0"/>
              <a:t>（</a:t>
            </a:r>
            <a:r>
              <a:rPr kumimoji="1" lang="en-US" altLang="ja-JP" dirty="0"/>
              <a:t>1</a:t>
            </a:r>
            <a:r>
              <a:rPr kumimoji="1" lang="ja-JP" altLang="en-US" dirty="0"/>
              <a:t>２</a:t>
            </a:r>
            <a:r>
              <a:rPr kumimoji="1" lang="en-US" altLang="ja-JP" dirty="0"/>
              <a:t>pt</a:t>
            </a:r>
            <a:r>
              <a:rPr kumimoji="1" lang="ja-JP" altLang="en-US" dirty="0"/>
              <a:t>） </a:t>
            </a:r>
            <a:endParaRPr kumimoji="1" lang="en-US" altLang="ja-JP" dirty="0"/>
          </a:p>
        </p:txBody>
      </p:sp>
      <p:sp>
        <p:nvSpPr>
          <p:cNvPr id="10" name="図プレースホルダー 11">
            <a:extLst>
              <a:ext uri="{FF2B5EF4-FFF2-40B4-BE49-F238E27FC236}">
                <a16:creationId xmlns:a16="http://schemas.microsoft.com/office/drawing/2014/main" id="{2596B21C-64C7-376D-614F-CBC07BA54D25}"/>
              </a:ext>
            </a:extLst>
          </p:cNvPr>
          <p:cNvSpPr>
            <a:spLocks noGrp="1"/>
          </p:cNvSpPr>
          <p:nvPr>
            <p:ph type="pic" sz="quarter" idx="15" hasCustomPrompt="1"/>
          </p:nvPr>
        </p:nvSpPr>
        <p:spPr>
          <a:xfrm>
            <a:off x="456854" y="3639493"/>
            <a:ext cx="11184283" cy="2655684"/>
          </a:xfrm>
        </p:spPr>
        <p:txBody>
          <a:bodyPr>
            <a:normAutofit/>
          </a:bodyPr>
          <a:lstStyle>
            <a:lvl1pPr marL="0" indent="-216000">
              <a:spcBef>
                <a:spcPts val="300"/>
              </a:spcBef>
              <a:buClr>
                <a:schemeClr val="tx2"/>
              </a:buClr>
              <a:buFont typeface="Wingdings" panose="05000000000000000000" pitchFamily="2" charset="2"/>
              <a:buChar char="l"/>
              <a:defRPr sz="1200" b="1" i="0">
                <a:latin typeface="BIZ UDPGothic" panose="020B0400000000000000" pitchFamily="34" charset="-128"/>
                <a:ea typeface="BIZ UDPGothic" panose="020B0400000000000000" pitchFamily="34" charset="-128"/>
              </a:defRPr>
            </a:lvl1pPr>
          </a:lstStyle>
          <a:p>
            <a:pPr lvl="0"/>
            <a:r>
              <a:rPr kumimoji="1" lang="ja-JP" altLang="en-US" dirty="0"/>
              <a:t>図</a:t>
            </a:r>
            <a:endParaRPr kumimoji="1" lang="en-US" altLang="ja-JP" dirty="0"/>
          </a:p>
        </p:txBody>
      </p:sp>
      <p:sp>
        <p:nvSpPr>
          <p:cNvPr id="3" name="Title 1">
            <a:extLst>
              <a:ext uri="{FF2B5EF4-FFF2-40B4-BE49-F238E27FC236}">
                <a16:creationId xmlns:a16="http://schemas.microsoft.com/office/drawing/2014/main" id="{F2B75B7B-252A-6DA7-F2B2-D045DA667E74}"/>
              </a:ext>
            </a:extLst>
          </p:cNvPr>
          <p:cNvSpPr>
            <a:spLocks noGrp="1"/>
          </p:cNvSpPr>
          <p:nvPr>
            <p:ph type="title" hasCustomPrompt="1"/>
          </p:nvPr>
        </p:nvSpPr>
        <p:spPr>
          <a:xfrm>
            <a:off x="460431" y="304838"/>
            <a:ext cx="9927339" cy="476570"/>
          </a:xfrm>
        </p:spPr>
        <p:txBody>
          <a:bodyPr>
            <a:normAutofit/>
          </a:bodyPr>
          <a:lstStyle>
            <a:lvl1pPr>
              <a:defRPr sz="2400" b="1" i="0">
                <a:solidFill>
                  <a:schemeClr val="accent1"/>
                </a:solidFill>
                <a:latin typeface="BIZ UDPGothic" panose="020B0400000000000000" pitchFamily="34" charset="-128"/>
                <a:ea typeface="BIZ UDPGothic" panose="020B0400000000000000" pitchFamily="34" charset="-128"/>
              </a:defRPr>
            </a:lvl1pPr>
          </a:lstStyle>
          <a:p>
            <a:r>
              <a:rPr lang="ja-JP" altLang="en-US" dirty="0"/>
              <a:t>スライドタイトル・メッセージ</a:t>
            </a:r>
            <a:r>
              <a:rPr lang="en-US" altLang="ja-JP" dirty="0"/>
              <a:t> </a:t>
            </a:r>
            <a:r>
              <a:rPr lang="ja-JP" altLang="en-US" dirty="0"/>
              <a:t>（</a:t>
            </a:r>
            <a:r>
              <a:rPr lang="en-US" altLang="ja-JP" dirty="0"/>
              <a:t>2</a:t>
            </a:r>
            <a:r>
              <a:rPr lang="ja-JP" altLang="en-US" dirty="0"/>
              <a:t>４</a:t>
            </a:r>
            <a:r>
              <a:rPr lang="en-US" altLang="ja-JP" dirty="0"/>
              <a:t>pt</a:t>
            </a:r>
            <a:r>
              <a:rPr lang="ja-JP" altLang="en-US" dirty="0"/>
              <a:t>）</a:t>
            </a:r>
            <a:endParaRPr lang="en-US" dirty="0"/>
          </a:p>
        </p:txBody>
      </p:sp>
      <p:sp>
        <p:nvSpPr>
          <p:cNvPr id="2" name="Content Placeholder 2">
            <a:extLst>
              <a:ext uri="{FF2B5EF4-FFF2-40B4-BE49-F238E27FC236}">
                <a16:creationId xmlns:a16="http://schemas.microsoft.com/office/drawing/2014/main" id="{16F8D7E9-1DA8-3EB3-FDA9-5AED70BACB77}"/>
              </a:ext>
            </a:extLst>
          </p:cNvPr>
          <p:cNvSpPr>
            <a:spLocks noGrp="1"/>
          </p:cNvSpPr>
          <p:nvPr>
            <p:ph idx="12" hasCustomPrompt="1"/>
          </p:nvPr>
        </p:nvSpPr>
        <p:spPr>
          <a:xfrm>
            <a:off x="463123" y="978865"/>
            <a:ext cx="11184282" cy="834426"/>
          </a:xfrm>
        </p:spPr>
        <p:txBody>
          <a:bodyPr/>
          <a:lstStyle>
            <a:lvl1pPr marL="0" indent="0">
              <a:buClr>
                <a:schemeClr val="tx2"/>
              </a:buClr>
              <a:buFont typeface="Wingdings" panose="05000000000000000000" pitchFamily="2" charset="2"/>
              <a:buNone/>
              <a:defRPr sz="2000" b="1" i="0">
                <a:latin typeface="BIZ UDPGothic" panose="020B0400000000000000" pitchFamily="34" charset="-128"/>
                <a:ea typeface="BIZ UDPGothic" panose="020B0400000000000000" pitchFamily="34" charset="-128"/>
              </a:defRPr>
            </a:lvl1pPr>
            <a:lvl2pPr marL="685800" indent="-228600">
              <a:buClr>
                <a:schemeClr val="tx2"/>
              </a:buClr>
              <a:buFont typeface="Wingdings" panose="05000000000000000000" pitchFamily="2" charset="2"/>
              <a:buChar char="ü"/>
              <a:defRPr sz="1600" b="0" i="0">
                <a:latin typeface="BIZ UDPGothic" panose="020B0400000000000000" pitchFamily="34" charset="-128"/>
                <a:ea typeface="BIZ UDPGothic" panose="020B0400000000000000" pitchFamily="34" charset="-128"/>
              </a:defRPr>
            </a:lvl2pPr>
            <a:lvl3pPr marL="1143000" indent="-228600">
              <a:buClr>
                <a:schemeClr val="tx2"/>
              </a:buClr>
              <a:buFont typeface="Wingdings" panose="05000000000000000000" pitchFamily="2" charset="2"/>
              <a:buChar char="l"/>
              <a:defRPr sz="1200" b="0" i="0">
                <a:latin typeface="BIZ UDPGothic" panose="020B0400000000000000" pitchFamily="34" charset="-128"/>
                <a:ea typeface="BIZ UDPGothic" panose="020B0400000000000000" pitchFamily="34" charset="-128"/>
              </a:defRPr>
            </a:lvl3pPr>
            <a:lvl4pPr marL="16002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4pPr>
            <a:lvl5pPr marL="2057400" indent="-228600">
              <a:buClr>
                <a:schemeClr val="tx2"/>
              </a:buClr>
              <a:buFont typeface="Wingdings" panose="05000000000000000000" pitchFamily="2" charset="2"/>
              <a:buChar char="l"/>
              <a:defRPr sz="1000" b="0" i="0">
                <a:latin typeface="BIZ UDPGothic" panose="020B0400000000000000" pitchFamily="34" charset="-128"/>
                <a:ea typeface="BIZ UDPGothic" panose="020B0400000000000000" pitchFamily="34" charset="-128"/>
              </a:defRPr>
            </a:lvl5pPr>
          </a:lstStyle>
          <a:p>
            <a:pPr lvl="0"/>
            <a:r>
              <a:rPr lang="ja-JP" altLang="en-US" dirty="0"/>
              <a:t>サブタイトル・メッセージ（</a:t>
            </a:r>
            <a:r>
              <a:rPr lang="en-US" altLang="ja-JP" dirty="0"/>
              <a:t>20</a:t>
            </a:r>
            <a:r>
              <a:rPr lang="ja-JP" altLang="en-US" dirty="0"/>
              <a:t>ｐｔ</a:t>
            </a:r>
            <a:r>
              <a:rPr lang="en-US" altLang="ja-JP" sz="2000" dirty="0">
                <a:solidFill>
                  <a:schemeClr val="tx1"/>
                </a:solidFill>
              </a:rPr>
              <a:t>/</a:t>
            </a:r>
            <a:r>
              <a:rPr lang="ja-JP" altLang="en-US" sz="2000" dirty="0">
                <a:solidFill>
                  <a:schemeClr val="tx1"/>
                </a:solidFill>
              </a:rPr>
              <a:t>２行</a:t>
            </a:r>
            <a:r>
              <a:rPr lang="en-US" altLang="ja-JP" sz="2000" dirty="0">
                <a:solidFill>
                  <a:schemeClr val="tx1"/>
                </a:solidFill>
              </a:rPr>
              <a:t> ver. </a:t>
            </a:r>
            <a:r>
              <a:rPr lang="ja-JP" altLang="en-US" dirty="0"/>
              <a:t>）</a:t>
            </a:r>
            <a:endParaRPr lang="en-US" altLang="ja-JP" dirty="0"/>
          </a:p>
          <a:p>
            <a:pPr lvl="0"/>
            <a:endParaRPr lang="ja-JP" altLang="en-US" dirty="0"/>
          </a:p>
          <a:p>
            <a:pPr lvl="0"/>
            <a:endParaRPr lang="ja-JP" altLang="en-US" dirty="0"/>
          </a:p>
        </p:txBody>
      </p:sp>
    </p:spTree>
    <p:extLst>
      <p:ext uri="{BB962C8B-B14F-4D97-AF65-F5344CB8AC3E}">
        <p14:creationId xmlns:p14="http://schemas.microsoft.com/office/powerpoint/2010/main" val="3467120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最終スライド1">
    <p:bg>
      <p:bgRef idx="1001">
        <a:schemeClr val="bg2"/>
      </p:bgRef>
    </p:bg>
    <p:spTree>
      <p:nvGrpSpPr>
        <p:cNvPr id="1" name=""/>
        <p:cNvGrpSpPr/>
        <p:nvPr/>
      </p:nvGrpSpPr>
      <p:grpSpPr>
        <a:xfrm>
          <a:off x="0" y="0"/>
          <a:ext cx="0" cy="0"/>
          <a:chOff x="0" y="0"/>
          <a:chExt cx="0" cy="0"/>
        </a:xfrm>
      </p:grpSpPr>
      <p:pic>
        <p:nvPicPr>
          <p:cNvPr id="9" name="図 8" descr="図形, 矢印&#10;&#10;自動的に生成された説明">
            <a:extLst>
              <a:ext uri="{FF2B5EF4-FFF2-40B4-BE49-F238E27FC236}">
                <a16:creationId xmlns:a16="http://schemas.microsoft.com/office/drawing/2014/main" id="{BE3F4B1C-C713-3B31-AE49-09C81E25362B}"/>
              </a:ext>
            </a:extLst>
          </p:cNvPr>
          <p:cNvPicPr>
            <a:picLocks noChangeAspect="1"/>
          </p:cNvPicPr>
          <p:nvPr userDrawn="1"/>
        </p:nvPicPr>
        <p:blipFill>
          <a:blip r:embed="rId2"/>
          <a:stretch>
            <a:fillRect/>
          </a:stretch>
        </p:blipFill>
        <p:spPr>
          <a:xfrm>
            <a:off x="7264812" y="0"/>
            <a:ext cx="4695825" cy="6858000"/>
          </a:xfrm>
          <a:prstGeom prst="rect">
            <a:avLst/>
          </a:prstGeom>
        </p:spPr>
      </p:pic>
      <p:sp>
        <p:nvSpPr>
          <p:cNvPr id="2" name="Title 1"/>
          <p:cNvSpPr>
            <a:spLocks noGrp="1"/>
          </p:cNvSpPr>
          <p:nvPr>
            <p:ph type="ctrTitle" hasCustomPrompt="1"/>
          </p:nvPr>
        </p:nvSpPr>
        <p:spPr>
          <a:xfrm>
            <a:off x="914400" y="2971784"/>
            <a:ext cx="9086849" cy="568355"/>
          </a:xfrm>
        </p:spPr>
        <p:txBody>
          <a:bodyPr anchor="b">
            <a:normAutofit/>
          </a:bodyPr>
          <a:lstStyle>
            <a:lvl1pPr algn="l">
              <a:defRPr sz="3200" b="1" i="0" baseline="0">
                <a:solidFill>
                  <a:schemeClr val="accent1"/>
                </a:solidFill>
                <a:latin typeface="BIZ UDPゴシック" panose="020B0400000000000000" pitchFamily="34" charset="-128"/>
                <a:ea typeface="BIZ UDPゴシック" panose="020B0400000000000000" pitchFamily="34" charset="-128"/>
              </a:defRPr>
            </a:lvl1pPr>
          </a:lstStyle>
          <a:p>
            <a:r>
              <a:rPr lang="en-US" altLang="ja-JP" dirty="0"/>
              <a:t>End of Document</a:t>
            </a:r>
            <a:endParaRPr lang="en-US" dirty="0"/>
          </a:p>
        </p:txBody>
      </p:sp>
      <p:sp>
        <p:nvSpPr>
          <p:cNvPr id="15" name="テキスト ボックス 14">
            <a:extLst>
              <a:ext uri="{FF2B5EF4-FFF2-40B4-BE49-F238E27FC236}">
                <a16:creationId xmlns:a16="http://schemas.microsoft.com/office/drawing/2014/main" id="{23BD0F11-B8C4-F108-E2C4-170D065473BD}"/>
              </a:ext>
            </a:extLst>
          </p:cNvPr>
          <p:cNvSpPr txBox="1"/>
          <p:nvPr userDrawn="1"/>
        </p:nvSpPr>
        <p:spPr>
          <a:xfrm>
            <a:off x="456856" y="6461273"/>
            <a:ext cx="3626314" cy="2308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 altLang="ja-JP" sz="900" dirty="0">
                <a:solidFill>
                  <a:schemeClr val="tx2">
                    <a:lumMod val="75000"/>
                  </a:schemeClr>
                </a:solidFill>
                <a:effectLst/>
                <a:latin typeface="BIZ UDPゴシック" panose="020B0400000000000000" pitchFamily="50" charset="-128"/>
                <a:ea typeface="BIZ UDPゴシック" panose="020B0400000000000000" pitchFamily="50" charset="-128"/>
              </a:rPr>
              <a:t>©Sojitz Tech-Innovation Co., Ltd. All Rights Reserved.</a:t>
            </a:r>
            <a:endParaRPr lang="ja-JP" altLang="en-US" sz="900" dirty="0">
              <a:solidFill>
                <a:schemeClr val="tx2">
                  <a:lumMod val="75000"/>
                </a:schemeClr>
              </a:solidFill>
              <a:latin typeface="BIZ UDPゴシック" panose="020B0400000000000000" pitchFamily="50" charset="-128"/>
              <a:ea typeface="BIZ UDPゴシック" panose="020B0400000000000000" pitchFamily="50" charset="-128"/>
            </a:endParaRPr>
          </a:p>
        </p:txBody>
      </p:sp>
      <p:sp>
        <p:nvSpPr>
          <p:cNvPr id="6" name="コンテンツ プレースホルダー 2">
            <a:extLst>
              <a:ext uri="{FF2B5EF4-FFF2-40B4-BE49-F238E27FC236}">
                <a16:creationId xmlns:a16="http://schemas.microsoft.com/office/drawing/2014/main" id="{9893536C-8250-88FE-8899-819CAF117051}"/>
              </a:ext>
            </a:extLst>
          </p:cNvPr>
          <p:cNvSpPr>
            <a:spLocks noGrp="1"/>
          </p:cNvSpPr>
          <p:nvPr>
            <p:ph idx="1" hasCustomPrompt="1"/>
          </p:nvPr>
        </p:nvSpPr>
        <p:spPr>
          <a:xfrm>
            <a:off x="503858" y="5153772"/>
            <a:ext cx="11184283" cy="784912"/>
          </a:xfrm>
        </p:spPr>
        <p:txBody>
          <a:bodyPr lIns="36000" tIns="36000" rIns="36000" bIns="36000">
            <a:noAutofit/>
          </a:bodyPr>
          <a:lstStyle>
            <a:lvl1pPr marL="0" indent="0">
              <a:lnSpc>
                <a:spcPct val="100000"/>
              </a:lnSpc>
              <a:spcBef>
                <a:spcPts val="300"/>
              </a:spcBef>
              <a:buClr>
                <a:schemeClr val="tx2"/>
              </a:buClr>
              <a:buFont typeface="Wingdings" pitchFamily="2" charset="2"/>
              <a:buNone/>
              <a:defRPr sz="1000" b="0" i="0">
                <a:solidFill>
                  <a:schemeClr val="tx1"/>
                </a:solidFill>
                <a:latin typeface="BIZ UDPGothic" panose="020B0400000000000000" pitchFamily="34" charset="-128"/>
                <a:ea typeface="BIZ UDPGothic" panose="020B0400000000000000" pitchFamily="34" charset="-128"/>
              </a:defRPr>
            </a:lvl1pPr>
            <a:lvl2pPr marL="685800" indent="-228600">
              <a:lnSpc>
                <a:spcPct val="100000"/>
              </a:lnSpc>
              <a:buFont typeface="Wingdings" panose="05000000000000000000" pitchFamily="2" charset="2"/>
              <a:buChar char="ü"/>
              <a:defRPr>
                <a:solidFill>
                  <a:schemeClr val="tx1"/>
                </a:solidFill>
              </a:defRPr>
            </a:lvl2pPr>
            <a:lvl3pPr marL="1143000" indent="-228600">
              <a:lnSpc>
                <a:spcPct val="100000"/>
              </a:lnSpc>
              <a:buFont typeface="Arial" panose="020B0604020202020204" pitchFamily="34" charset="0"/>
              <a:buChar char="•"/>
              <a:defRPr>
                <a:solidFill>
                  <a:schemeClr val="tx1"/>
                </a:solidFill>
              </a:defRPr>
            </a:lvl3pPr>
            <a:lvl4pPr>
              <a:defRPr/>
            </a:lvl4pPr>
            <a:lvl5pPr>
              <a:defRPr/>
            </a:lvl5pPr>
          </a:lstStyle>
          <a:p>
            <a:pPr lvl="0"/>
            <a:r>
              <a:rPr kumimoji="1" lang="ja-JP" altLang="en-US" dirty="0"/>
              <a:t>双日テックイノベーション、双日テックイノベーションのロゴは、双日テックイノベーション株式会社の登録商標です。 </a:t>
            </a:r>
            <a:endParaRPr kumimoji="1" lang="en-US" altLang="ja-JP" dirty="0"/>
          </a:p>
          <a:p>
            <a:pPr lvl="0"/>
            <a:r>
              <a:rPr kumimoji="1" lang="ja-JP" altLang="en-US" dirty="0"/>
              <a:t>その他記載されている全ての商標、サービスマーク、登録商標、登録サービスマークは、各所有者に所有権があります。 </a:t>
            </a:r>
            <a:endParaRPr kumimoji="1" lang="en-US" altLang="ja-JP" dirty="0"/>
          </a:p>
          <a:p>
            <a:pPr lvl="0"/>
            <a:r>
              <a:rPr kumimoji="1" lang="ja-JP" altLang="en-US" dirty="0"/>
              <a:t>本書記載の仕様はすべて予告なく変更される場合があります。本書の記載内容に誤りがあった場合、 あるいは記載内容を更新する義務が生じた場合も、</a:t>
            </a:r>
            <a:endParaRPr kumimoji="1" lang="en-US" altLang="ja-JP" dirty="0"/>
          </a:p>
          <a:p>
            <a:pPr lvl="0"/>
            <a:r>
              <a:rPr kumimoji="1" lang="ja-JP" altLang="en-US" dirty="0"/>
              <a:t>双日テックイノベーションは一切責任を負いません。 双日テックイノベーションは、本書を予告無く変更、修正、または改訂する権利を有します。</a:t>
            </a:r>
            <a:endParaRPr kumimoji="1" lang="en-US" altLang="ja-JP" dirty="0"/>
          </a:p>
          <a:p>
            <a:pPr lvl="0"/>
            <a:r>
              <a:rPr kumimoji="1" lang="ja-JP" altLang="en-US" dirty="0"/>
              <a:t>本書に記載されている内容を無断で複写、複製することを禁じます。</a:t>
            </a:r>
            <a:endParaRPr kumimoji="1" lang="en-US" altLang="ja-JP" dirty="0"/>
          </a:p>
          <a:p>
            <a:pPr lvl="0"/>
            <a:r>
              <a:rPr kumimoji="1" lang="ja-JP" altLang="en-US" dirty="0"/>
              <a:t>記載の価格は参考価格となり、ご検討の際にはお見積りのご依頼をお願いいたします。 為替変更やメーカーの価格改定により予告なく変更することがあります。</a:t>
            </a:r>
            <a:endParaRPr kumimoji="1" lang="en-US" altLang="ja-JP" dirty="0"/>
          </a:p>
        </p:txBody>
      </p:sp>
    </p:spTree>
    <p:extLst>
      <p:ext uri="{BB962C8B-B14F-4D97-AF65-F5344CB8AC3E}">
        <p14:creationId xmlns:p14="http://schemas.microsoft.com/office/powerpoint/2010/main" val="24621389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最終スライド2">
    <p:spTree>
      <p:nvGrpSpPr>
        <p:cNvPr id="1" name=""/>
        <p:cNvGrpSpPr/>
        <p:nvPr/>
      </p:nvGrpSpPr>
      <p:grpSpPr>
        <a:xfrm>
          <a:off x="0" y="0"/>
          <a:ext cx="0" cy="0"/>
          <a:chOff x="0" y="0"/>
          <a:chExt cx="0" cy="0"/>
        </a:xfrm>
      </p:grpSpPr>
      <p:pic>
        <p:nvPicPr>
          <p:cNvPr id="9" name="図 8" descr="グラフィカル ユーザー インターフェイス, Web サイト&#10;&#10;自動的に生成された説明">
            <a:extLst>
              <a:ext uri="{FF2B5EF4-FFF2-40B4-BE49-F238E27FC236}">
                <a16:creationId xmlns:a16="http://schemas.microsoft.com/office/drawing/2014/main" id="{4F1C2A3E-918E-7251-4F66-7A17B6E0BCC7}"/>
              </a:ext>
            </a:extLst>
          </p:cNvPr>
          <p:cNvPicPr>
            <a:picLocks noChangeAspect="1"/>
          </p:cNvPicPr>
          <p:nvPr userDrawn="1"/>
        </p:nvPicPr>
        <p:blipFill>
          <a:blip r:embed="rId2"/>
          <a:stretch>
            <a:fillRect/>
          </a:stretch>
        </p:blipFill>
        <p:spPr>
          <a:xfrm>
            <a:off x="952" y="0"/>
            <a:ext cx="12190095" cy="6858000"/>
          </a:xfrm>
          <a:prstGeom prst="rect">
            <a:avLst/>
          </a:prstGeom>
        </p:spPr>
      </p:pic>
    </p:spTree>
    <p:extLst>
      <p:ext uri="{BB962C8B-B14F-4D97-AF65-F5344CB8AC3E}">
        <p14:creationId xmlns:p14="http://schemas.microsoft.com/office/powerpoint/2010/main" val="124855811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　</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BCD9EE6-AEE6-7D48-8266-9FC509548DD9}" type="datetimeFigureOut">
              <a:rPr kumimoji="1" lang="ja-JP" altLang="en-US" smtClean="0"/>
              <a:t>2026/7/31</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18AB7B2-5B09-794C-A215-5E1D0C2B75B7}" type="slidenum">
              <a:rPr kumimoji="1" lang="ja-JP" altLang="en-US" smtClean="0"/>
              <a:t>‹#›</a:t>
            </a:fld>
            <a:endParaRPr kumimoji="1" lang="ja-JP" altLang="en-US"/>
          </a:p>
        </p:txBody>
      </p:sp>
    </p:spTree>
    <p:extLst>
      <p:ext uri="{BB962C8B-B14F-4D97-AF65-F5344CB8AC3E}">
        <p14:creationId xmlns:p14="http://schemas.microsoft.com/office/powerpoint/2010/main" val="1383032622"/>
      </p:ext>
    </p:extLst>
  </p:cSld>
  <p:clrMap bg1="lt1" tx1="dk1" bg2="lt2" tx2="dk2" accent1="accent1" accent2="accent2" accent3="accent3" accent4="accent4" accent5="accent5" accent6="accent6" hlink="hlink" folHlink="folHlink"/>
  <p:sldLayoutIdLst>
    <p:sldLayoutId id="2147483685" r:id="rId1"/>
    <p:sldLayoutId id="2147483708" r:id="rId2"/>
    <p:sldLayoutId id="2147483696" r:id="rId3"/>
    <p:sldLayoutId id="2147483706" r:id="rId4"/>
    <p:sldLayoutId id="2147483704" r:id="rId5"/>
    <p:sldLayoutId id="2147483710" r:id="rId6"/>
    <p:sldLayoutId id="2147483700" r:id="rId7"/>
    <p:sldLayoutId id="2147483713" r:id="rId8"/>
    <p:sldLayoutId id="2147483701" r:id="rId9"/>
    <p:sldLayoutId id="2147483714" r:id="rId10"/>
    <p:sldLayoutId id="2147483702" r:id="rId11"/>
    <p:sldLayoutId id="2147483715" r:id="rId12"/>
    <p:sldLayoutId id="2147483709" r:id="rId13"/>
    <p:sldLayoutId id="2147483716" r:id="rId14"/>
    <p:sldLayoutId id="2147483699" r:id="rId15"/>
    <p:sldLayoutId id="2147483707" r:id="rId16"/>
    <p:sldLayoutId id="2147483712" r:id="rId17"/>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16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12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47" userDrawn="1">
          <p15:clr>
            <a:srgbClr val="F26B43"/>
          </p15:clr>
        </p15:guide>
        <p15:guide id="3" pos="3840" userDrawn="1">
          <p15:clr>
            <a:srgbClr val="F26B43"/>
          </p15:clr>
        </p15:guide>
        <p15:guide id="4" pos="7333" userDrawn="1">
          <p15:clr>
            <a:srgbClr val="F26B43"/>
          </p15:clr>
        </p15:guide>
        <p15:guide id="5" orient="horz" pos="142" userDrawn="1">
          <p15:clr>
            <a:srgbClr val="F26B43"/>
          </p15:clr>
        </p15:guide>
        <p15:guide id="6" orient="horz" pos="41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7.png"/><Relationship Id="rId9" Type="http://schemas.openxmlformats.org/officeDocument/2006/relationships/image" Target="../media/image18.png"/><Relationship Id="rId10" Type="http://schemas.openxmlformats.org/officeDocument/2006/relationships/image" Target="../media/image19.png"/><Relationship Id="rId11" Type="http://schemas.openxmlformats.org/officeDocument/2006/relationships/image" Target="../media/image20.png"/><Relationship Id="rId12" Type="http://schemas.openxmlformats.org/officeDocument/2006/relationships/image" Target="../media/image21.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24.png"/><Relationship Id="rId16" Type="http://schemas.openxmlformats.org/officeDocument/2006/relationships/image" Target="../media/image25.png"/><Relationship Id="rId17" Type="http://schemas.openxmlformats.org/officeDocument/2006/relationships/image" Target="../media/image26.png"/><Relationship Id="rId18" Type="http://schemas.openxmlformats.org/officeDocument/2006/relationships/image" Target="../media/image27.png"/><Relationship Id="rId19" Type="http://schemas.openxmlformats.org/officeDocument/2006/relationships/image" Target="../media/image28.png"/><Relationship Id="rId20" Type="http://schemas.openxmlformats.org/officeDocument/2006/relationships/image" Target="../media/image29.png"/><Relationship Id="rId21" Type="http://schemas.openxmlformats.org/officeDocument/2006/relationships/image" Target="../media/image30.png"/><Relationship Id="rId22" Type="http://schemas.openxmlformats.org/officeDocument/2006/relationships/image" Target="../media/image31.png"/><Relationship Id="rId23" Type="http://schemas.openxmlformats.org/officeDocument/2006/relationships/image" Target="../media/image32.png"/><Relationship Id="rId24" Type="http://schemas.openxmlformats.org/officeDocument/2006/relationships/image" Target="../media/image33.png"/><Relationship Id="rId25" Type="http://schemas.openxmlformats.org/officeDocument/2006/relationships/image" Target="../media/image34.png"/><Relationship Id="rId26" Type="http://schemas.openxmlformats.org/officeDocument/2006/relationships/image" Target="../media/image3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3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 Id="rId3" Type="http://schemas.openxmlformats.org/officeDocument/2006/relationships/image" Target="../media/image37.png"/><Relationship Id="rId4" Type="http://schemas.openxmlformats.org/officeDocument/2006/relationships/hyperlink" Target="https://www.acumenresearchandconsulting.com/japan-physical-ai-market" TargetMode="External"/><Relationship Id="rId5" Type="http://schemas.openxmlformats.org/officeDocument/2006/relationships/hyperlink" Target="https://www.acumenresearchandconsulting.com/physical-ai-market" TargetMode="External"/><Relationship Id="rId6" Type="http://schemas.openxmlformats.org/officeDocument/2006/relationships/image" Target="../media/image3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 Id="rId3" Type="http://schemas.openxmlformats.org/officeDocument/2006/relationships/image" Target="../media/image39.png"/><Relationship Id="rId4" Type="http://schemas.openxmlformats.org/officeDocument/2006/relationships/hyperlink" Target="https://www.mordorintelligence.com/industry-reports/generative-ai-market" TargetMode="External"/><Relationship Id="rId5" Type="http://schemas.openxmlformats.org/officeDocument/2006/relationships/hyperlink" Target="https://www.ai-souken.com/article/ai-generation-market-size" TargetMode="External"/><Relationship Id="rId6"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hyperlink" Target="https://www.grandviewresearch.com/horizon/outlook/data-center-automation-market/japan" TargetMode="External"/><Relationship Id="rId4" Type="http://schemas.openxmlformats.org/officeDocument/2006/relationships/image" Target="../media/image41.png"/><Relationship Id="rId5" Type="http://schemas.openxmlformats.org/officeDocument/2006/relationships/hyperlink" Target="https://www.itr.co.jp/topics/pr-20250710-1" TargetMode="External"/><Relationship Id="rId6" Type="http://schemas.openxmlformats.org/officeDocument/2006/relationships/image" Target="../media/image4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44.svg"/><Relationship Id="rId4" Type="http://schemas.openxmlformats.org/officeDocument/2006/relationships/image" Target="../media/image45.svg"/><Relationship Id="rId5" Type="http://schemas.openxmlformats.org/officeDocument/2006/relationships/image" Target="../media/image46.svg"/><Relationship Id="rId6" Type="http://schemas.openxmlformats.org/officeDocument/2006/relationships/image" Target="../media/image47.svg"/><Relationship Id="rId7" Type="http://schemas.openxmlformats.org/officeDocument/2006/relationships/image" Target="../media/image48.svg"/><Relationship Id="rId8" Type="http://schemas.openxmlformats.org/officeDocument/2006/relationships/image" Target="../media/image49.svg"/><Relationship Id="rId9" Type="http://schemas.openxmlformats.org/officeDocument/2006/relationships/image" Target="../media/image9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55.png"/><Relationship Id="rId4" Type="http://schemas.openxmlformats.org/officeDocument/2006/relationships/image" Target="../media/image56.png"/><Relationship Id="rId5" Type="http://schemas.openxmlformats.org/officeDocument/2006/relationships/image" Target="../media/image5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5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4.png"/><Relationship Id="rId4" Type="http://schemas.openxmlformats.org/officeDocument/2006/relationships/image" Target="../media/image63.png"/><Relationship Id="rId5" Type="http://schemas.openxmlformats.org/officeDocument/2006/relationships/image" Target="../media/image6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6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69.png"/><Relationship Id="rId4" Type="http://schemas.openxmlformats.org/officeDocument/2006/relationships/image" Target="../media/image61.png"/><Relationship Id="rId5" Type="http://schemas.openxmlformats.org/officeDocument/2006/relationships/image" Target="../media/image5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70.png"/><Relationship Id="rId4" Type="http://schemas.openxmlformats.org/officeDocument/2006/relationships/image" Target="../media/image58.png"/><Relationship Id="rId5" Type="http://schemas.openxmlformats.org/officeDocument/2006/relationships/image" Target="../media/image7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77.png"/><Relationship Id="rId4" Type="http://schemas.openxmlformats.org/officeDocument/2006/relationships/image" Target="../media/image7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60.png"/><Relationship Id="rId4" Type="http://schemas.openxmlformats.org/officeDocument/2006/relationships/image" Target="../media/image79.png"/><Relationship Id="rId5" Type="http://schemas.openxmlformats.org/officeDocument/2006/relationships/image" Target="../media/image80.png"/><Relationship Id="rId6"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82.png"/><Relationship Id="rId4" Type="http://schemas.openxmlformats.org/officeDocument/2006/relationships/image" Target="../media/image60.png"/><Relationship Id="rId5" Type="http://schemas.openxmlformats.org/officeDocument/2006/relationships/image" Target="../media/image5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83.png"/><Relationship Id="rId4" Type="http://schemas.openxmlformats.org/officeDocument/2006/relationships/image" Target="../media/image62.png"/><Relationship Id="rId5" Type="http://schemas.openxmlformats.org/officeDocument/2006/relationships/image" Target="../media/image84.png"/><Relationship Id="rId6" Type="http://schemas.openxmlformats.org/officeDocument/2006/relationships/image" Target="../media/image7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0.png"/><Relationship Id="rId4" Type="http://schemas.openxmlformats.org/officeDocument/2006/relationships/image" Target="../media/image85.png"/><Relationship Id="rId5" Type="http://schemas.openxmlformats.org/officeDocument/2006/relationships/image" Target="../media/image8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4.svg"/><Relationship Id="rId4" Type="http://schemas.openxmlformats.org/officeDocument/2006/relationships/image" Target="../media/image45.svg"/><Relationship Id="rId5" Type="http://schemas.openxmlformats.org/officeDocument/2006/relationships/image" Target="../media/image46.svg"/><Relationship Id="rId6" Type="http://schemas.openxmlformats.org/officeDocument/2006/relationships/image" Target="../media/image47.svg"/><Relationship Id="rId7" Type="http://schemas.openxmlformats.org/officeDocument/2006/relationships/image" Target="../media/image48.svg"/><Relationship Id="rId8" Type="http://schemas.openxmlformats.org/officeDocument/2006/relationships/image" Target="../media/image49.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54.png"/><Relationship Id="rId4" Type="http://schemas.openxmlformats.org/officeDocument/2006/relationships/image" Target="../media/image86.png"/><Relationship Id="rId5" Type="http://schemas.openxmlformats.org/officeDocument/2006/relationships/image" Target="../media/image70.png"/><Relationship Id="rId6" Type="http://schemas.openxmlformats.org/officeDocument/2006/relationships/image" Target="../media/image87.png"/><Relationship Id="rId7" Type="http://schemas.openxmlformats.org/officeDocument/2006/relationships/image" Target="../media/image88.png"/><Relationship Id="rId8" Type="http://schemas.openxmlformats.org/officeDocument/2006/relationships/image" Target="../media/image89.png"/><Relationship Id="rId9" Type="http://schemas.openxmlformats.org/officeDocument/2006/relationships/image" Target="../media/image9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B020FC2-C44C-B63A-BD7C-529E7A693D19}"/>
              </a:ext>
            </a:extLst>
          </p:cNvPr>
          <p:cNvSpPr>
            <a:spLocks noGrp="1"/>
          </p:cNvSpPr>
          <p:nvPr>
            <p:ph type="ctrTitle"/>
          </p:nvPr>
        </p:nvSpPr>
        <p:spPr/>
        <p:txBody>
          <a:bodyPr>
            <a:normAutofit fontScale="90000"/>
          </a:bodyPr>
          <a:lstStyle/>
          <a:p>
            <a:r>
              <a:rPr>
                <a:latin typeface="BIZ UDPGothic"/>
                <a:ea typeface="BIZ UDPGothic"/>
              </a:rPr>
              <a:t>フィジカルAI入門</a:t>
            </a:r>
            <a:endParaRPr kumimoji="1" lang="ja-JP" altLang="en-US"/>
          </a:p>
          <a:p>
            <a:pPr>
              <a:spcBef>
                <a:spcPts val="600"/>
              </a:spcBef>
            </a:pPr>
            <a:r>
              <a:rPr sz="2000" b="1">
                <a:solidFill>
                  <a:srgbClr val="00219B"/>
                </a:solidFill>
                <a:latin typeface="BIZ UDPGothic"/>
                <a:ea typeface="BIZ UDPGothic"/>
              </a:rPr>
              <a:t>〜AIがデジタルから、現実世界へ〜</a:t>
            </a:r>
          </a:p>
        </p:txBody>
      </p:sp>
      <p:sp>
        <p:nvSpPr>
          <p:cNvPr id="3" name="字幕 2">
            <a:extLst>
              <a:ext uri="{FF2B5EF4-FFF2-40B4-BE49-F238E27FC236}">
                <a16:creationId xmlns:a16="http://schemas.microsoft.com/office/drawing/2014/main" id="{158BCF63-43F1-7C5E-5C06-078E758E5529}"/>
              </a:ext>
            </a:extLst>
          </p:cNvPr>
          <p:cNvSpPr>
            <a:spLocks noGrp="1"/>
          </p:cNvSpPr>
          <p:nvPr>
            <p:ph type="subTitle" idx="1"/>
          </p:nvPr>
        </p:nvSpPr>
        <p:spPr/>
        <p:txBody>
          <a:bodyPr/>
          <a:lstStyle/>
          <a:p>
            <a:r>
              <a:rPr>
                <a:latin typeface="BIZ UDPGothic"/>
                <a:ea typeface="BIZ UDPGothic"/>
              </a:rPr>
              <a:t>社内勉強会</a:t>
            </a:r>
            <a:endParaRPr kumimoji="1" lang="ja-JP" altLang="en-US"/>
          </a:p>
        </p:txBody>
      </p:sp>
      <p:sp>
        <p:nvSpPr>
          <p:cNvPr id="4" name="テキスト プレースホルダー 3">
            <a:extLst>
              <a:ext uri="{FF2B5EF4-FFF2-40B4-BE49-F238E27FC236}">
                <a16:creationId xmlns:a16="http://schemas.microsoft.com/office/drawing/2014/main" id="{81F0D390-7D08-18D7-F7E0-2567A722D529}"/>
              </a:ext>
            </a:extLst>
          </p:cNvPr>
          <p:cNvSpPr>
            <a:spLocks noGrp="1"/>
          </p:cNvSpPr>
          <p:nvPr>
            <p:ph type="body" sz="quarter" idx="14"/>
          </p:nvPr>
        </p:nvSpPr>
        <p:spPr/>
        <p:txBody>
          <a:bodyPr>
            <a:normAutofit lnSpcReduction="10000"/>
          </a:bodyPr>
          <a:lstStyle/>
          <a:p>
            <a:r>
              <a:rPr>
                <a:latin typeface="BIZ UDPGothic"/>
                <a:ea typeface="BIZ UDPGothic"/>
              </a:rPr>
              <a:t>双日テックイノベーション株式会社</a:t>
            </a:r>
            <a:endParaRPr kumimoji="1" lang="ja-JP" altLang="en-US"/>
          </a:p>
        </p:txBody>
      </p:sp>
      <p:sp>
        <p:nvSpPr>
          <p:cNvPr id="5" name="テキスト プレースホルダー 4">
            <a:extLst>
              <a:ext uri="{FF2B5EF4-FFF2-40B4-BE49-F238E27FC236}">
                <a16:creationId xmlns:a16="http://schemas.microsoft.com/office/drawing/2014/main" id="{1F3DC3EB-F26E-6036-440B-5FE14FDA43A8}"/>
              </a:ext>
            </a:extLst>
          </p:cNvPr>
          <p:cNvSpPr>
            <a:spLocks noGrp="1"/>
          </p:cNvSpPr>
          <p:nvPr>
            <p:ph type="body" sz="quarter" idx="15"/>
          </p:nvPr>
        </p:nvSpPr>
        <p:spPr/>
        <p:txBody>
          <a:bodyPr>
            <a:normAutofit lnSpcReduction="10000"/>
          </a:bodyPr>
          <a:lstStyle/>
          <a:p>
            <a:endParaRPr kumimoji="1" lang="ja-JP" altLang="en-US"/>
          </a:p>
        </p:txBody>
      </p:sp>
      <p:sp>
        <p:nvSpPr>
          <p:cNvPr id="6" name="テキスト プレースホルダー 5">
            <a:extLst>
              <a:ext uri="{FF2B5EF4-FFF2-40B4-BE49-F238E27FC236}">
                <a16:creationId xmlns:a16="http://schemas.microsoft.com/office/drawing/2014/main" id="{0085B39A-6306-E381-EF50-DFBAE604F612}"/>
              </a:ext>
            </a:extLst>
          </p:cNvPr>
          <p:cNvSpPr>
            <a:spLocks noGrp="1"/>
          </p:cNvSpPr>
          <p:nvPr>
            <p:ph type="body" sz="quarter" idx="16"/>
          </p:nvPr>
        </p:nvSpPr>
        <p:spPr/>
        <p:txBody>
          <a:bodyPr>
            <a:normAutofit lnSpcReduction="10000"/>
          </a:bodyPr>
          <a:lstStyle/>
          <a:p>
            <a:endParaRPr kumimoji="1" lang="ja-JP" altLang="en-US"/>
          </a:p>
        </p:txBody>
      </p:sp>
      <p:sp>
        <p:nvSpPr>
          <p:cNvPr id="7" name="テキスト プレースホルダー 6">
            <a:extLst>
              <a:ext uri="{FF2B5EF4-FFF2-40B4-BE49-F238E27FC236}">
                <a16:creationId xmlns:a16="http://schemas.microsoft.com/office/drawing/2014/main" id="{8917708A-A6DF-ACEB-214F-5FF13FAB8E87}"/>
              </a:ext>
            </a:extLst>
          </p:cNvPr>
          <p:cNvSpPr>
            <a:spLocks noGrp="1"/>
          </p:cNvSpPr>
          <p:nvPr>
            <p:ph type="body" sz="quarter" idx="17"/>
          </p:nvPr>
        </p:nvSpPr>
        <p:spPr/>
        <p:txBody>
          <a:bodyPr/>
          <a:lstStyle/>
          <a:p>
            <a:r>
              <a:rPr>
                <a:latin typeface="BIZ UDPGothic"/>
                <a:ea typeface="BIZ UDPGothic"/>
              </a:rPr>
              <a:t>2026年8月</a:t>
            </a:r>
            <a:endParaRPr kumimoji="1" lang="ja-JP" altLang="en-US"/>
          </a:p>
        </p:txBody>
      </p:sp>
    </p:spTree>
    <p:extLst>
      <p:ext uri="{BB962C8B-B14F-4D97-AF65-F5344CB8AC3E}">
        <p14:creationId xmlns:p14="http://schemas.microsoft.com/office/powerpoint/2010/main" val="10706266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EF019CAF-1F6E-29C8-4189-9BBECDFEDA23}"/>
              </a:ext>
            </a:extLst>
          </p:cNvPr>
          <p:cNvSpPr>
            <a:spLocks noGrp="1"/>
          </p:cNvSpPr>
          <p:nvPr>
            <p:ph type="title"/>
          </p:nvPr>
        </p:nvSpPr>
        <p:spPr/>
        <p:txBody>
          <a:bodyPr/>
          <a:lstStyle/>
          <a:p>
            <a:r>
              <a:rPr>
                <a:latin typeface="BIZ UDPGothic"/>
                <a:ea typeface="BIZ UDPGothic"/>
              </a:rPr>
              <a:t>目次</a:t>
            </a:r>
            <a:endParaRPr lang="ja-JP" altLang="en-US" dirty="0"/>
          </a:p>
        </p:txBody>
      </p:sp>
      <p:sp>
        <p:nvSpPr>
          <p:cNvPr id="4" name="Oval 3"/>
          <p:cNvSpPr/>
          <p:nvPr/>
        </p:nvSpPr>
        <p:spPr>
          <a:xfrm>
            <a:off x="548640" y="1298448"/>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73152" rIns="0" bIns="73152" rtlCol="0" anchor="ctr"/>
          <a:lstStyle/>
          <a:p>
            <a:pPr algn="ctr"/>
            <a:r>
              <a:rPr sz="1300" b="1">
                <a:solidFill>
                  <a:srgbClr val="FFFFFF"/>
                </a:solidFill>
                <a:latin typeface="BIZ UDPGothic"/>
                <a:ea typeface="BIZ UDPGothic"/>
              </a:rPr>
              <a:t>01</a:t>
            </a:r>
          </a:p>
        </p:txBody>
      </p:sp>
      <p:sp>
        <p:nvSpPr>
          <p:cNvPr id="5" name="TextBox 4"/>
          <p:cNvSpPr txBox="1"/>
          <p:nvPr/>
        </p:nvSpPr>
        <p:spPr>
          <a:xfrm>
            <a:off x="1188720" y="1252728"/>
            <a:ext cx="8595360" cy="822960"/>
          </a:xfrm>
          <a:prstGeom prst="rect">
            <a:avLst/>
          </a:prstGeom>
          <a:noFill/>
        </p:spPr>
        <p:txBody>
          <a:bodyPr wrap="square" lIns="0" tIns="0" rIns="0" bIns="0" anchor="t">
            <a:spAutoFit/>
          </a:bodyPr>
          <a:lstStyle/>
          <a:p>
            <a:r>
              <a:rPr sz="1700" b="1">
                <a:solidFill>
                  <a:srgbClr val="191919"/>
                </a:solidFill>
                <a:latin typeface="BIZ UDPGothic"/>
                <a:ea typeface="BIZ UDPGothic"/>
              </a:rPr>
              <a:t>取り組みの背景と目指していく姿</a:t>
            </a:r>
          </a:p>
          <a:p>
            <a:pPr>
              <a:spcBef>
                <a:spcPts val="200"/>
              </a:spcBef>
            </a:pPr>
            <a:r>
              <a:rPr sz="1050" b="0">
                <a:solidFill>
                  <a:srgbClr val="A7ACAF"/>
                </a:solidFill>
                <a:latin typeface="BIZ UDPGothic"/>
                <a:ea typeface="BIZ UDPGothic"/>
              </a:rPr>
              <a:t>単品インテグレーション市場の成熟、伸びる市場、目指す姿とエコシステム</a:t>
            </a:r>
          </a:p>
        </p:txBody>
      </p:sp>
      <p:sp>
        <p:nvSpPr>
          <p:cNvPr id="6" name="TextBox 5"/>
          <p:cNvSpPr txBox="1"/>
          <p:nvPr/>
        </p:nvSpPr>
        <p:spPr>
          <a:xfrm>
            <a:off x="10469880" y="1280160"/>
            <a:ext cx="1097280" cy="457200"/>
          </a:xfrm>
          <a:prstGeom prst="rect">
            <a:avLst/>
          </a:prstGeom>
          <a:noFill/>
        </p:spPr>
        <p:txBody>
          <a:bodyPr wrap="square" lIns="0" tIns="0" r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03</a:t>
            </a:r>
          </a:p>
        </p:txBody>
      </p:sp>
      <p:sp>
        <p:nvSpPr>
          <p:cNvPr id="7" name="Oval 6"/>
          <p:cNvSpPr/>
          <p:nvPr/>
        </p:nvSpPr>
        <p:spPr>
          <a:xfrm>
            <a:off x="548640" y="2157984"/>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73152" rIns="0" bIns="73152" rtlCol="0" anchor="ctr"/>
          <a:lstStyle/>
          <a:p>
            <a:pPr algn="ctr"/>
            <a:r>
              <a:rPr sz="1300" b="1">
                <a:solidFill>
                  <a:srgbClr val="FFFFFF"/>
                </a:solidFill>
                <a:latin typeface="BIZ UDPGothic"/>
                <a:ea typeface="BIZ UDPGothic"/>
              </a:rPr>
              <a:t>02</a:t>
            </a:r>
          </a:p>
        </p:txBody>
      </p:sp>
      <p:sp>
        <p:nvSpPr>
          <p:cNvPr id="8" name="TextBox 7"/>
          <p:cNvSpPr txBox="1"/>
          <p:nvPr/>
        </p:nvSpPr>
        <p:spPr>
          <a:xfrm>
            <a:off x="1188720" y="2112264"/>
            <a:ext cx="8595360" cy="822960"/>
          </a:xfrm>
          <a:prstGeom prst="rect">
            <a:avLst/>
          </a:prstGeom>
          <a:noFill/>
        </p:spPr>
        <p:txBody>
          <a:bodyPr wrap="square" lIns="0" tIns="0" rIns="0" bIns="0" anchor="t">
            <a:spAutoFit/>
          </a:bodyPr>
          <a:lstStyle/>
          <a:p>
            <a:r>
              <a:rPr sz="1700" b="1">
                <a:solidFill>
                  <a:srgbClr val="191919"/>
                </a:solidFill>
                <a:latin typeface="BIZ UDPGothic"/>
                <a:ea typeface="BIZ UDPGothic"/>
              </a:rPr>
              <a:t>フィジカルAIとは何か</a:t>
            </a:r>
          </a:p>
          <a:p>
            <a:pPr>
              <a:spcBef>
                <a:spcPts val="200"/>
              </a:spcBef>
            </a:pPr>
            <a:r>
              <a:rPr sz="1050" b="0">
                <a:solidFill>
                  <a:srgbClr val="A7ACAF"/>
                </a:solidFill>
                <a:latin typeface="BIZ UDPGothic"/>
                <a:ea typeface="BIZ UDPGothic"/>
              </a:rPr>
              <a:t>定義とAI進化の流れ、注目される背景、技術の全体像</a:t>
            </a:r>
          </a:p>
        </p:txBody>
      </p:sp>
      <p:sp>
        <p:nvSpPr>
          <p:cNvPr id="9" name="TextBox 8"/>
          <p:cNvSpPr txBox="1"/>
          <p:nvPr/>
        </p:nvSpPr>
        <p:spPr>
          <a:xfrm>
            <a:off x="10469880" y="2139696"/>
            <a:ext cx="1097280" cy="457200"/>
          </a:xfrm>
          <a:prstGeom prst="rect">
            <a:avLst/>
          </a:prstGeom>
          <a:noFill/>
        </p:spPr>
        <p:txBody>
          <a:bodyPr wrap="square" lIns="0" tIns="0" r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12</a:t>
            </a:r>
          </a:p>
        </p:txBody>
      </p:sp>
      <p:sp>
        <p:nvSpPr>
          <p:cNvPr id="10" name="Oval 9"/>
          <p:cNvSpPr/>
          <p:nvPr/>
        </p:nvSpPr>
        <p:spPr>
          <a:xfrm>
            <a:off x="548640" y="3017520"/>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73152" rIns="0" bIns="73152" rtlCol="0" anchor="ctr"/>
          <a:lstStyle/>
          <a:p>
            <a:pPr algn="ctr"/>
            <a:r>
              <a:rPr sz="1300" b="1">
                <a:solidFill>
                  <a:srgbClr val="FFFFFF"/>
                </a:solidFill>
                <a:latin typeface="BIZ UDPGothic"/>
                <a:ea typeface="BIZ UDPGothic"/>
              </a:rPr>
              <a:t>03</a:t>
            </a:r>
          </a:p>
        </p:txBody>
      </p:sp>
      <p:sp>
        <p:nvSpPr>
          <p:cNvPr id="11" name="TextBox 10"/>
          <p:cNvSpPr txBox="1"/>
          <p:nvPr/>
        </p:nvSpPr>
        <p:spPr>
          <a:xfrm>
            <a:off x="1188720" y="2971800"/>
            <a:ext cx="8595360" cy="822960"/>
          </a:xfrm>
          <a:prstGeom prst="rect">
            <a:avLst/>
          </a:prstGeom>
          <a:noFill/>
        </p:spPr>
        <p:txBody>
          <a:bodyPr wrap="square" lIns="0" tIns="0" rIns="0" bIns="0" anchor="t">
            <a:spAutoFit/>
          </a:bodyPr>
          <a:lstStyle/>
          <a:p>
            <a:r>
              <a:rPr sz="1700" b="1">
                <a:solidFill>
                  <a:srgbClr val="191919"/>
                </a:solidFill>
                <a:latin typeface="BIZ UDPGothic"/>
                <a:ea typeface="BIZ UDPGothic"/>
              </a:rPr>
              <a:t>主要プレイヤーと最新動向</a:t>
            </a:r>
          </a:p>
          <a:p>
            <a:pPr>
              <a:spcBef>
                <a:spcPts val="200"/>
              </a:spcBef>
            </a:pPr>
            <a:r>
              <a:rPr sz="1050" b="0">
                <a:solidFill>
                  <a:srgbClr val="A7ACAF"/>
                </a:solidFill>
                <a:latin typeface="BIZ UDPGothic"/>
                <a:ea typeface="BIZ UDPGothic"/>
              </a:rPr>
              <a:t>NVIDIAの戦略、ヒューマノイド開発競争、産業別ユースケース</a:t>
            </a:r>
          </a:p>
        </p:txBody>
      </p:sp>
      <p:sp>
        <p:nvSpPr>
          <p:cNvPr id="12" name="TextBox 11"/>
          <p:cNvSpPr txBox="1"/>
          <p:nvPr/>
        </p:nvSpPr>
        <p:spPr>
          <a:xfrm>
            <a:off x="10469880" y="2999232"/>
            <a:ext cx="1097280" cy="457200"/>
          </a:xfrm>
          <a:prstGeom prst="rect">
            <a:avLst/>
          </a:prstGeom>
          <a:noFill/>
        </p:spPr>
        <p:txBody>
          <a:bodyPr wrap="square" lIns="0" tIns="0" r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16</a:t>
            </a:r>
          </a:p>
        </p:txBody>
      </p:sp>
      <p:sp>
        <p:nvSpPr>
          <p:cNvPr id="13" name="Oval 12"/>
          <p:cNvSpPr/>
          <p:nvPr/>
        </p:nvSpPr>
        <p:spPr>
          <a:xfrm>
            <a:off x="548640" y="3877056"/>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73152" rIns="0" bIns="73152" rtlCol="0" anchor="ctr"/>
          <a:lstStyle/>
          <a:p>
            <a:pPr algn="ctr"/>
            <a:r>
              <a:rPr sz="1300" b="1">
                <a:solidFill>
                  <a:srgbClr val="FFFFFF"/>
                </a:solidFill>
                <a:latin typeface="BIZ UDPGothic"/>
                <a:ea typeface="BIZ UDPGothic"/>
              </a:rPr>
              <a:t>04</a:t>
            </a:r>
          </a:p>
        </p:txBody>
      </p:sp>
      <p:sp>
        <p:nvSpPr>
          <p:cNvPr id="14" name="TextBox 13"/>
          <p:cNvSpPr txBox="1"/>
          <p:nvPr/>
        </p:nvSpPr>
        <p:spPr>
          <a:xfrm>
            <a:off x="1188720" y="3831336"/>
            <a:ext cx="8595360" cy="822960"/>
          </a:xfrm>
          <a:prstGeom prst="rect">
            <a:avLst/>
          </a:prstGeom>
          <a:noFill/>
        </p:spPr>
        <p:txBody>
          <a:bodyPr wrap="square" lIns="0" tIns="0" rIns="0" bIns="0" anchor="t">
            <a:spAutoFit/>
          </a:bodyPr>
          <a:lstStyle/>
          <a:p>
            <a:r>
              <a:rPr sz="1700" b="1">
                <a:solidFill>
                  <a:srgbClr val="191919"/>
                </a:solidFill>
                <a:latin typeface="BIZ UDPGothic"/>
                <a:ea typeface="BIZ UDPGothic"/>
              </a:rPr>
              <a:t>技術の仕組み</a:t>
            </a:r>
          </a:p>
          <a:p>
            <a:pPr>
              <a:spcBef>
                <a:spcPts val="200"/>
              </a:spcBef>
            </a:pPr>
            <a:r>
              <a:rPr sz="1050" b="0">
                <a:solidFill>
                  <a:srgbClr val="A7ACAF"/>
                </a:solidFill>
                <a:latin typeface="BIZ UDPGothic"/>
                <a:ea typeface="BIZ UDPGothic"/>
              </a:rPr>
              <a:t>シミュレーション学習(Sim2Real)、VLAモデル、現場で使われるAI技術</a:t>
            </a:r>
          </a:p>
        </p:txBody>
      </p:sp>
      <p:sp>
        <p:nvSpPr>
          <p:cNvPr id="15" name="TextBox 14"/>
          <p:cNvSpPr txBox="1"/>
          <p:nvPr/>
        </p:nvSpPr>
        <p:spPr>
          <a:xfrm>
            <a:off x="10469880" y="3858768"/>
            <a:ext cx="1097280" cy="457200"/>
          </a:xfrm>
          <a:prstGeom prst="rect">
            <a:avLst/>
          </a:prstGeom>
          <a:noFill/>
        </p:spPr>
        <p:txBody>
          <a:bodyPr wrap="square" lIns="0" tIns="0" r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20</a:t>
            </a:r>
          </a:p>
        </p:txBody>
      </p:sp>
      <p:sp>
        <p:nvSpPr>
          <p:cNvPr id="16" name="Oval 15"/>
          <p:cNvSpPr/>
          <p:nvPr/>
        </p:nvSpPr>
        <p:spPr>
          <a:xfrm>
            <a:off x="548640" y="4736592"/>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73152" rIns="0" bIns="73152" rtlCol="0" anchor="ctr"/>
          <a:lstStyle/>
          <a:p>
            <a:pPr algn="ctr"/>
            <a:r>
              <a:rPr sz="1300" b="1">
                <a:solidFill>
                  <a:srgbClr val="FFFFFF"/>
                </a:solidFill>
                <a:latin typeface="BIZ UDPGothic"/>
                <a:ea typeface="BIZ UDPGothic"/>
              </a:rPr>
              <a:t>05</a:t>
            </a:r>
          </a:p>
        </p:txBody>
      </p:sp>
      <p:sp>
        <p:nvSpPr>
          <p:cNvPr id="17" name="TextBox 16"/>
          <p:cNvSpPr txBox="1"/>
          <p:nvPr/>
        </p:nvSpPr>
        <p:spPr>
          <a:xfrm>
            <a:off x="1188720" y="4690872"/>
            <a:ext cx="8595360" cy="822960"/>
          </a:xfrm>
          <a:prstGeom prst="rect">
            <a:avLst/>
          </a:prstGeom>
          <a:noFill/>
        </p:spPr>
        <p:txBody>
          <a:bodyPr wrap="square" lIns="0" tIns="0" rIns="0" bIns="0" anchor="t">
            <a:spAutoFit/>
          </a:bodyPr>
          <a:lstStyle/>
          <a:p>
            <a:r>
              <a:rPr sz="1700" b="1">
                <a:solidFill>
                  <a:srgbClr val="191919"/>
                </a:solidFill>
                <a:latin typeface="BIZ UDPGothic"/>
                <a:ea typeface="BIZ UDPGothic"/>
              </a:rPr>
              <a:t>ビジネスへの示唆</a:t>
            </a:r>
          </a:p>
          <a:p>
            <a:pPr>
              <a:spcBef>
                <a:spcPts val="200"/>
              </a:spcBef>
            </a:pPr>
            <a:r>
              <a:rPr sz="1050" b="0">
                <a:solidFill>
                  <a:srgbClr val="A7ACAF"/>
                </a:solidFill>
                <a:latin typeface="BIZ UDPGothic"/>
                <a:ea typeface="BIZ UDPGothic"/>
              </a:rPr>
              <a:t>市場予測と普及への課題、私たちの事業との接点</a:t>
            </a:r>
          </a:p>
        </p:txBody>
      </p:sp>
      <p:sp>
        <p:nvSpPr>
          <p:cNvPr id="18" name="TextBox 17"/>
          <p:cNvSpPr txBox="1"/>
          <p:nvPr/>
        </p:nvSpPr>
        <p:spPr>
          <a:xfrm>
            <a:off x="10469880" y="4718304"/>
            <a:ext cx="1097280" cy="457200"/>
          </a:xfrm>
          <a:prstGeom prst="rect">
            <a:avLst/>
          </a:prstGeom>
          <a:noFill/>
        </p:spPr>
        <p:txBody>
          <a:bodyPr wrap="square" lIns="0" tIns="0" r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24</a:t>
            </a:r>
          </a:p>
        </p:txBody>
      </p:sp>
      <p:sp>
        <p:nvSpPr>
          <p:cNvPr id="19" name="Oval 18"/>
          <p:cNvSpPr/>
          <p:nvPr/>
        </p:nvSpPr>
        <p:spPr>
          <a:xfrm>
            <a:off x="548640" y="5596127"/>
            <a:ext cx="402336" cy="402336"/>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73152" rIns="0" bIns="73152" rtlCol="0" anchor="ctr"/>
          <a:lstStyle/>
          <a:p>
            <a:pPr algn="ctr"/>
            <a:r>
              <a:rPr sz="1300" b="1">
                <a:solidFill>
                  <a:srgbClr val="FFFFFF"/>
                </a:solidFill>
                <a:latin typeface="BIZ UDPGothic"/>
                <a:ea typeface="BIZ UDPGothic"/>
              </a:rPr>
              <a:t>06</a:t>
            </a:r>
          </a:p>
        </p:txBody>
      </p:sp>
      <p:sp>
        <p:nvSpPr>
          <p:cNvPr id="20" name="TextBox 19"/>
          <p:cNvSpPr txBox="1"/>
          <p:nvPr/>
        </p:nvSpPr>
        <p:spPr>
          <a:xfrm>
            <a:off x="1188720" y="5550407"/>
            <a:ext cx="8595360" cy="822960"/>
          </a:xfrm>
          <a:prstGeom prst="rect">
            <a:avLst/>
          </a:prstGeom>
          <a:noFill/>
        </p:spPr>
        <p:txBody>
          <a:bodyPr wrap="square" lIns="0" tIns="0" rIns="0" bIns="0" anchor="t">
            <a:spAutoFit/>
          </a:bodyPr>
          <a:lstStyle/>
          <a:p>
            <a:r>
              <a:rPr sz="1700" b="1">
                <a:solidFill>
                  <a:srgbClr val="191919"/>
                </a:solidFill>
                <a:latin typeface="BIZ UDPGothic"/>
                <a:ea typeface="BIZ UDPGothic"/>
              </a:rPr>
              <a:t>当社の取り組み・まとめ</a:t>
            </a:r>
          </a:p>
          <a:p>
            <a:pPr>
              <a:spcBef>
                <a:spcPts val="200"/>
              </a:spcBef>
            </a:pPr>
            <a:r>
              <a:rPr sz="1050" b="0">
                <a:solidFill>
                  <a:srgbClr val="A7ACAF"/>
                </a:solidFill>
                <a:latin typeface="BIZ UDPGothic"/>
                <a:ea typeface="BIZ UDPGothic"/>
              </a:rPr>
              <a:t>3つの時間軸、検証済みアセット、目指す提案像（ロボット×ローカル5G×AI基盤）</a:t>
            </a:r>
          </a:p>
        </p:txBody>
      </p:sp>
      <p:sp>
        <p:nvSpPr>
          <p:cNvPr id="21" name="TextBox 20"/>
          <p:cNvSpPr txBox="1"/>
          <p:nvPr/>
        </p:nvSpPr>
        <p:spPr>
          <a:xfrm>
            <a:off x="10469880" y="5577840"/>
            <a:ext cx="1097280" cy="457200"/>
          </a:xfrm>
          <a:prstGeom prst="rect">
            <a:avLst/>
          </a:prstGeom>
          <a:noFill/>
        </p:spPr>
        <p:txBody>
          <a:bodyPr wrap="square" lIns="0" tIns="0" rIns="0" bIns="0" anchor="t">
            <a:spAutoFit/>
          </a:bodyPr>
          <a:lstStyle/>
          <a:p>
            <a:pPr algn="r"/>
            <a:r>
              <a:rPr sz="1100" b="0">
                <a:solidFill>
                  <a:srgbClr val="A7ACAF"/>
                </a:solidFill>
                <a:latin typeface="BIZ UDPGothic"/>
                <a:ea typeface="BIZ UDPGothic"/>
              </a:rPr>
              <a:t>p. </a:t>
            </a:r>
            <a:r>
              <a:rPr sz="1600" b="1">
                <a:solidFill>
                  <a:srgbClr val="00219B"/>
                </a:solidFill>
                <a:latin typeface="BIZ UDPGothic"/>
                <a:ea typeface="BIZ UDPGothic"/>
              </a:rPr>
              <a:t>27</a:t>
            </a:r>
          </a:p>
        </p:txBody>
      </p:sp>
    </p:spTree>
    <p:extLst>
      <p:ext uri="{BB962C8B-B14F-4D97-AF65-F5344CB8AC3E}">
        <p14:creationId xmlns:p14="http://schemas.microsoft.com/office/powerpoint/2010/main" val="17016237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208DB-E4E6-0F4B-0176-C919FD72B0DC}"/>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6ABF0A6E-7DAC-5594-0637-70729DA09B92}"/>
              </a:ext>
            </a:extLst>
          </p:cNvPr>
          <p:cNvSpPr>
            <a:spLocks noGrp="1"/>
          </p:cNvSpPr>
          <p:nvPr>
            <p:ph type="ctrTitle"/>
          </p:nvPr>
        </p:nvSpPr>
        <p:spPr/>
        <p:txBody>
          <a:bodyPr>
            <a:normAutofit/>
          </a:bodyPr>
          <a:lstStyle/>
          <a:p>
            <a:r>
              <a:rPr>
                <a:latin typeface="BIZ UDPGothic"/>
                <a:ea typeface="BIZ UDPGothic"/>
              </a:rPr>
              <a:t>1．取り組みの背景と目指していく姿</a:t>
            </a:r>
            <a:endParaRPr lang="ja-JP" altLang="en-US" dirty="0"/>
          </a:p>
        </p:txBody>
      </p:sp>
    </p:spTree>
    <p:extLst>
      <p:ext uri="{BB962C8B-B14F-4D97-AF65-F5344CB8AC3E}">
        <p14:creationId xmlns:p14="http://schemas.microsoft.com/office/powerpoint/2010/main" val="90117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なぜ、フィジカルAIに取り組むのか — 単品インテグレーションの先へ</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NW・コンピューティング基盤の「単品売り」市場は成熟。未成熟な成長領域へ踏み出す</a:t>
            </a:r>
            <a:endParaRPr lang="ja-JP" altLang="en-US"/>
          </a:p>
        </p:txBody>
      </p:sp>
      <p:sp>
        <p:nvSpPr>
          <p:cNvPr id="9" name="Rounded Rectangle 8"/>
          <p:cNvSpPr/>
          <p:nvPr/>
        </p:nvSpPr>
        <p:spPr>
          <a:xfrm>
            <a:off x="466344" y="1737360"/>
            <a:ext cx="11183112" cy="11887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37744" tIns="128016" rIns="237744" bIns="73152" rtlCol="0" anchor="t"/>
          <a:lstStyle/>
          <a:p>
            <a:pPr algn="ctr">
              <a:spcAft>
                <a:spcPts val="400"/>
              </a:spcAft>
            </a:pPr>
            <a:r>
              <a:rPr sz="1200" b="1">
                <a:solidFill>
                  <a:srgbClr val="A7ACAF"/>
                </a:solidFill>
                <a:latin typeface="BIZ UDPGothic"/>
                <a:ea typeface="BIZ UDPGothic"/>
              </a:rPr>
              <a:t>現状認識</a:t>
            </a:r>
          </a:p>
          <a:p>
            <a:pPr>
              <a:lnSpc>
                <a:spcPct val="130000"/>
              </a:lnSpc>
            </a:pPr>
            <a:r>
              <a:rPr sz="1300" b="0">
                <a:solidFill>
                  <a:srgbClr val="191919"/>
                </a:solidFill>
                <a:latin typeface="BIZ UDPGothic"/>
                <a:ea typeface="BIZ UDPGothic"/>
              </a:rPr>
              <a:t>ネットワークや、Nutanix・3Tier構成などのコンピューティングインフラの</a:t>
            </a:r>
            <a:r>
              <a:rPr sz="1300" b="1">
                <a:solidFill>
                  <a:srgbClr val="00219B"/>
                </a:solidFill>
                <a:latin typeface="BIZ UDPGothic"/>
                <a:ea typeface="BIZ UDPGothic"/>
              </a:rPr>
              <a:t>単品インテグレーション市場は成熟</a:t>
            </a:r>
            <a:r>
              <a:rPr sz="1300" b="0">
                <a:solidFill>
                  <a:srgbClr val="191919"/>
                </a:solidFill>
                <a:latin typeface="BIZ UDPGothic"/>
                <a:ea typeface="BIZ UDPGothic"/>
              </a:rPr>
              <a:t>し、大きな成長が見込めない。</a:t>
            </a:r>
            <a:r>
              <a:rPr sz="1300" b="1">
                <a:solidFill>
                  <a:srgbClr val="00219B"/>
                </a:solidFill>
                <a:latin typeface="BIZ UDPGothic"/>
                <a:ea typeface="BIZ UDPGothic"/>
              </a:rPr>
              <a:t>未成熟な市場を狙った技術キャッチアップと営業活動が不可欠</a:t>
            </a:r>
            <a:r>
              <a:rPr sz="1300" b="0">
                <a:solidFill>
                  <a:srgbClr val="191919"/>
                </a:solidFill>
                <a:latin typeface="BIZ UDPGothic"/>
                <a:ea typeface="BIZ UDPGothic"/>
              </a:rPr>
              <a:t>になっている。</a:t>
            </a:r>
          </a:p>
        </p:txBody>
      </p:sp>
      <p:sp>
        <p:nvSpPr>
          <p:cNvPr id="10" name="Down Arrow 9"/>
          <p:cNvSpPr/>
          <p:nvPr/>
        </p:nvSpPr>
        <p:spPr>
          <a:xfrm>
            <a:off x="5779008" y="3035808"/>
            <a:ext cx="548640" cy="347472"/>
          </a:xfrm>
          <a:prstGeom prst="down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1" name="Rounded Rectangle 10"/>
          <p:cNvSpPr/>
          <p:nvPr/>
        </p:nvSpPr>
        <p:spPr>
          <a:xfrm>
            <a:off x="466344" y="3547872"/>
            <a:ext cx="3611880" cy="214884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777240" rIns="182880" bIns="73152" rtlCol="0" anchor="t"/>
          <a:lstStyle/>
          <a:p>
            <a:pPr algn="ctr">
              <a:spcAft>
                <a:spcPts val="600"/>
              </a:spcAft>
            </a:pPr>
            <a:r>
              <a:rPr sz="1450" b="1">
                <a:solidFill>
                  <a:srgbClr val="00219B"/>
                </a:solidFill>
                <a:latin typeface="BIZ UDPGothic"/>
                <a:ea typeface="BIZ UDPGothic"/>
              </a:rPr>
              <a:t>運用の高度化</a:t>
            </a:r>
          </a:p>
          <a:p>
            <a:pPr>
              <a:lnSpc>
                <a:spcPct val="122000"/>
              </a:lnSpc>
            </a:pPr>
            <a:r>
              <a:rPr sz="1150" b="0">
                <a:solidFill>
                  <a:srgbClr val="191919"/>
                </a:solidFill>
                <a:latin typeface="BIZ UDPGothic"/>
                <a:ea typeface="BIZ UDPGothic"/>
              </a:rPr>
              <a:t>AIOps・運用自動化で、人手不足・属人化という顧客の運用課題に深く入り込む</a:t>
            </a:r>
          </a:p>
        </p:txBody>
      </p:sp>
      <p:pic>
        <p:nvPicPr>
          <p:cNvPr id="12" name="Picture 11" descr="gears_teal.png"/>
          <p:cNvPicPr>
            <a:picLocks noChangeAspect="1"/>
          </p:cNvPicPr>
          <p:nvPr/>
        </p:nvPicPr>
        <p:blipFill>
          <a:blip r:embed="rId3"/>
          <a:stretch>
            <a:fillRect/>
          </a:stretch>
        </p:blipFill>
        <p:spPr>
          <a:xfrm>
            <a:off x="1934321" y="3630533"/>
            <a:ext cx="675924" cy="675924"/>
          </a:xfrm>
          <a:prstGeom prst="rect">
            <a:avLst/>
          </a:prstGeom>
        </p:spPr>
      </p:pic>
      <p:sp>
        <p:nvSpPr>
          <p:cNvPr id="13" name="Rounded Rectangle 12"/>
          <p:cNvSpPr/>
          <p:nvPr/>
        </p:nvSpPr>
        <p:spPr>
          <a:xfrm>
            <a:off x="4251960" y="3547872"/>
            <a:ext cx="3611880" cy="214884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777240" rIns="182880" bIns="73152" rtlCol="0" anchor="t"/>
          <a:lstStyle/>
          <a:p>
            <a:pPr algn="ctr">
              <a:spcAft>
                <a:spcPts val="600"/>
              </a:spcAft>
            </a:pPr>
            <a:r>
              <a:rPr sz="1450" b="1">
                <a:solidFill>
                  <a:srgbClr val="00219B"/>
                </a:solidFill>
                <a:latin typeface="BIZ UDPGothic"/>
                <a:ea typeface="BIZ UDPGothic"/>
              </a:rPr>
              <a:t>ストックビジネスの拡充</a:t>
            </a:r>
          </a:p>
          <a:p>
            <a:pPr>
              <a:lnSpc>
                <a:spcPct val="122000"/>
              </a:lnSpc>
            </a:pPr>
            <a:r>
              <a:rPr sz="1150" b="0">
                <a:solidFill>
                  <a:srgbClr val="191919"/>
                </a:solidFill>
                <a:latin typeface="BIZ UDPGothic"/>
                <a:ea typeface="BIZ UDPGothic"/>
              </a:rPr>
              <a:t>個別SI偏重から、テンプレート化・パッケージ化・サブスク化による継続収益型へ</a:t>
            </a:r>
          </a:p>
        </p:txBody>
      </p:sp>
      <p:pic>
        <p:nvPicPr>
          <p:cNvPr id="14" name="Picture 13" descr="database_sky.png"/>
          <p:cNvPicPr>
            <a:picLocks noChangeAspect="1"/>
          </p:cNvPicPr>
          <p:nvPr/>
        </p:nvPicPr>
        <p:blipFill>
          <a:blip r:embed="rId4"/>
          <a:stretch>
            <a:fillRect/>
          </a:stretch>
        </p:blipFill>
        <p:spPr>
          <a:xfrm>
            <a:off x="5719937" y="3630533"/>
            <a:ext cx="675924" cy="675924"/>
          </a:xfrm>
          <a:prstGeom prst="rect">
            <a:avLst/>
          </a:prstGeom>
        </p:spPr>
      </p:pic>
      <p:sp>
        <p:nvSpPr>
          <p:cNvPr id="15" name="Rounded Rectangle 14"/>
          <p:cNvSpPr/>
          <p:nvPr/>
        </p:nvSpPr>
        <p:spPr>
          <a:xfrm>
            <a:off x="8037576" y="3547872"/>
            <a:ext cx="3611880" cy="214884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777240" rIns="182880" bIns="73152" rtlCol="0" anchor="t"/>
          <a:lstStyle/>
          <a:p>
            <a:pPr algn="ctr">
              <a:spcAft>
                <a:spcPts val="600"/>
              </a:spcAft>
            </a:pPr>
            <a:r>
              <a:rPr sz="1450" b="1">
                <a:solidFill>
                  <a:srgbClr val="00219B"/>
                </a:solidFill>
                <a:latin typeface="BIZ UDPGothic"/>
                <a:ea typeface="BIZ UDPGothic"/>
              </a:rPr>
              <a:t>次の成長領域：フィジカルAI</a:t>
            </a:r>
          </a:p>
          <a:p>
            <a:pPr>
              <a:lnSpc>
                <a:spcPct val="122000"/>
              </a:lnSpc>
            </a:pPr>
            <a:r>
              <a:rPr sz="1150" b="0">
                <a:solidFill>
                  <a:srgbClr val="191919"/>
                </a:solidFill>
                <a:latin typeface="BIZ UDPGothic"/>
                <a:ea typeface="BIZ UDPGothic"/>
              </a:rPr>
              <a:t>立ち上げ期の未成熟市場に早期参入し、技術キャッチアップと商圏開拓を先行させる</a:t>
            </a:r>
          </a:p>
        </p:txBody>
      </p:sp>
      <p:pic>
        <p:nvPicPr>
          <p:cNvPr id="16" name="Picture 15" descr="robot_purple.png"/>
          <p:cNvPicPr>
            <a:picLocks noChangeAspect="1"/>
          </p:cNvPicPr>
          <p:nvPr/>
        </p:nvPicPr>
        <p:blipFill>
          <a:blip r:embed="rId5"/>
          <a:stretch>
            <a:fillRect/>
          </a:stretch>
        </p:blipFill>
        <p:spPr>
          <a:xfrm>
            <a:off x="9505553" y="3630533"/>
            <a:ext cx="675924" cy="675924"/>
          </a:xfrm>
          <a:prstGeom prst="rect">
            <a:avLst/>
          </a:prstGeom>
        </p:spPr>
      </p:pic>
      <p:sp>
        <p:nvSpPr>
          <p:cNvPr id="17" name="TextBox 16"/>
          <p:cNvSpPr txBox="1"/>
          <p:nvPr/>
        </p:nvSpPr>
        <p:spPr>
          <a:xfrm>
            <a:off x="466344" y="5925312"/>
            <a:ext cx="11183112" cy="411480"/>
          </a:xfrm>
          <a:prstGeom prst="rect">
            <a:avLst/>
          </a:prstGeom>
          <a:noFill/>
        </p:spPr>
        <p:txBody>
          <a:bodyPr wrap="square" lIns="0" tIns="0" rIns="0" bIns="0" anchor="t">
            <a:spAutoFit/>
          </a:bodyPr>
          <a:lstStyle/>
          <a:p>
            <a:r>
              <a:rPr sz="1100" b="0">
                <a:solidFill>
                  <a:srgbClr val="A7ACAF"/>
                </a:solidFill>
                <a:latin typeface="BIZ UDPGothic"/>
                <a:ea typeface="BIZ UDPGothic"/>
              </a:rPr>
              <a:t>※ 本章では、この判断の裏付けとなる市場データと、当社が目指していく姿を共有する</a:t>
            </a:r>
          </a:p>
        </p:txBody>
      </p:sp>
    </p:spTree>
    <p:extLst>
      <p:ext uri="{BB962C8B-B14F-4D97-AF65-F5344CB8AC3E}">
        <p14:creationId xmlns:p14="http://schemas.microsoft.com/office/powerpoint/2010/main" val="3061702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7FE2D-821E-BDA7-4884-439D7897E3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881F522-D5CA-BB77-5D6B-172D5A124AF7}"/>
              </a:ext>
            </a:extLst>
          </p:cNvPr>
          <p:cNvSpPr>
            <a:spLocks noGrp="1"/>
          </p:cNvSpPr>
          <p:nvPr>
            <p:ph type="title"/>
          </p:nvPr>
        </p:nvSpPr>
        <p:spPr/>
        <p:txBody>
          <a:bodyPr/>
          <a:lstStyle/>
          <a:p>
            <a:r>
              <a:rPr lang="ja-JP" altLang="en-US" dirty="0"/>
              <a:t>取り組みの背景</a:t>
            </a:r>
          </a:p>
        </p:txBody>
      </p:sp>
      <p:sp>
        <p:nvSpPr>
          <p:cNvPr id="3" name="コンテンツ プレースホルダー 2">
            <a:extLst>
              <a:ext uri="{FF2B5EF4-FFF2-40B4-BE49-F238E27FC236}">
                <a16:creationId xmlns:a16="http://schemas.microsoft.com/office/drawing/2014/main" id="{177051F7-6998-8C99-B5E9-686F9DD583A5}"/>
              </a:ext>
            </a:extLst>
          </p:cNvPr>
          <p:cNvSpPr>
            <a:spLocks noGrp="1"/>
          </p:cNvSpPr>
          <p:nvPr>
            <p:ph idx="1"/>
          </p:nvPr>
        </p:nvSpPr>
        <p:spPr>
          <a:xfrm>
            <a:off x="460431" y="960017"/>
            <a:ext cx="11184282" cy="5109933"/>
          </a:xfrm>
        </p:spPr>
        <p:txBody>
          <a:bodyPr lIns="36000" tIns="36000" rIns="36000" bIns="36000">
            <a:noAutofit/>
          </a:bodyPr>
          <a:lstStyle/>
          <a:p>
            <a:pPr marL="0" indent="0" algn="l">
              <a:buNone/>
            </a:pPr>
            <a:r>
              <a:rPr kumimoji="1" lang="ja-JP" altLang="en-US" dirty="0"/>
              <a:t>キャリア</a:t>
            </a:r>
            <a:r>
              <a:rPr kumimoji="1" lang="en-US" altLang="ja-JP" dirty="0"/>
              <a:t>NW</a:t>
            </a:r>
            <a:r>
              <a:rPr kumimoji="1" lang="ja-JP" altLang="en-US" dirty="0"/>
              <a:t>の知見を、成長領域である</a:t>
            </a:r>
            <a:r>
              <a:rPr kumimoji="1" lang="en-US" altLang="ja-JP" dirty="0"/>
              <a:t>AI</a:t>
            </a:r>
            <a:r>
              <a:rPr kumimoji="1" lang="ja-JP" altLang="en-US" dirty="0"/>
              <a:t>・自動化・現場</a:t>
            </a:r>
            <a:r>
              <a:rPr kumimoji="1" lang="en-US" altLang="ja-JP" dirty="0"/>
              <a:t>DX</a:t>
            </a:r>
            <a:r>
              <a:rPr kumimoji="1" lang="ja-JP" altLang="en-US" dirty="0"/>
              <a:t>へ広げる</a:t>
            </a:r>
          </a:p>
        </p:txBody>
      </p:sp>
      <p:grpSp>
        <p:nvGrpSpPr>
          <p:cNvPr id="4" name="グループ化 3">
            <a:extLst>
              <a:ext uri="{FF2B5EF4-FFF2-40B4-BE49-F238E27FC236}">
                <a16:creationId xmlns:a16="http://schemas.microsoft.com/office/drawing/2014/main" id="{35835821-1974-3B6B-0985-005BDCB8FAB2}"/>
              </a:ext>
            </a:extLst>
          </p:cNvPr>
          <p:cNvGrpSpPr/>
          <p:nvPr/>
        </p:nvGrpSpPr>
        <p:grpSpPr>
          <a:xfrm>
            <a:off x="156210" y="1325880"/>
            <a:ext cx="11868150" cy="5513534"/>
            <a:chOff x="156210" y="1325880"/>
            <a:chExt cx="11868150" cy="5513534"/>
          </a:xfrm>
        </p:grpSpPr>
        <p:sp>
          <p:nvSpPr>
            <p:cNvPr id="5" name="Shape 0">
              <a:extLst>
                <a:ext uri="{FF2B5EF4-FFF2-40B4-BE49-F238E27FC236}">
                  <a16:creationId xmlns:a16="http://schemas.microsoft.com/office/drawing/2014/main" id="{D55B1280-B85F-3E25-BE3F-840F420293C7}"/>
                </a:ext>
              </a:extLst>
            </p:cNvPr>
            <p:cNvSpPr/>
            <p:nvPr/>
          </p:nvSpPr>
          <p:spPr>
            <a:xfrm>
              <a:off x="156210" y="3174194"/>
              <a:ext cx="11856720" cy="655320"/>
            </a:xfrm>
            <a:prstGeom prst="roundRect">
              <a:avLst>
                <a:gd name="adj" fmla="val 9302"/>
              </a:avLst>
            </a:prstGeom>
            <a:solidFill>
              <a:srgbClr val="FFFFFF"/>
            </a:solidFill>
            <a:ln w="15240">
              <a:solidFill>
                <a:srgbClr val="123B72"/>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 name="Shape 1">
              <a:extLst>
                <a:ext uri="{FF2B5EF4-FFF2-40B4-BE49-F238E27FC236}">
                  <a16:creationId xmlns:a16="http://schemas.microsoft.com/office/drawing/2014/main" id="{ACED7E21-79ED-738D-5BC9-DB884F1A3DB3}"/>
                </a:ext>
              </a:extLst>
            </p:cNvPr>
            <p:cNvSpPr/>
            <p:nvPr/>
          </p:nvSpPr>
          <p:spPr>
            <a:xfrm>
              <a:off x="4762500" y="3082754"/>
              <a:ext cx="2667000" cy="213360"/>
            </a:xfrm>
            <a:prstGeom prst="roundRect">
              <a:avLst/>
            </a:prstGeom>
            <a:solidFill>
              <a:srgbClr val="123B72"/>
            </a:solidFill>
            <a:ln w="12700">
              <a:solidFill>
                <a:srgbClr val="123B7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 name="Text 2">
              <a:extLst>
                <a:ext uri="{FF2B5EF4-FFF2-40B4-BE49-F238E27FC236}">
                  <a16:creationId xmlns:a16="http://schemas.microsoft.com/office/drawing/2014/main" id="{475A19F7-4945-05CF-1726-C2A929480658}"/>
                </a:ext>
              </a:extLst>
            </p:cNvPr>
            <p:cNvSpPr/>
            <p:nvPr/>
          </p:nvSpPr>
          <p:spPr>
            <a:xfrm>
              <a:off x="4762500" y="3086564"/>
              <a:ext cx="2667000" cy="198120"/>
            </a:xfrm>
            <a:prstGeom prst="rect">
              <a:avLst/>
            </a:prstGeom>
            <a:noFill/>
            <a:ln/>
          </p:spPr>
          <p:txBody>
            <a:bodyPr wrap="square" lIns="212" tIns="212" rIns="212" bIns="212" rtlCol="0" anchor="ctr"/>
            <a:lstStyle/>
            <a:p>
              <a:pPr algn="ctr"/>
              <a:r>
                <a:rPr lang="en-US" sz="1250" b="1" dirty="0" err="1">
                  <a:solidFill>
                    <a:srgbClr val="FFFFFF"/>
                  </a:solidFill>
                  <a:latin typeface="BIZ UDPゴシック" panose="020B0400000000000000" pitchFamily="50" charset="-128"/>
                  <a:ea typeface="BIZ UDPゴシック" panose="020B0400000000000000" pitchFamily="50" charset="-128"/>
                  <a:cs typeface="Yu Gothic" pitchFamily="34" charset="-120"/>
                </a:rPr>
                <a:t>統合保守・運用</a:t>
              </a:r>
              <a:r>
                <a:rPr lang="ja-JP" alt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・セキュリティ基盤</a:t>
              </a:r>
              <a:endParaRPr lang="en-US" sz="1250" dirty="0">
                <a:latin typeface="BIZ UDPゴシック" panose="020B0400000000000000" pitchFamily="50" charset="-128"/>
                <a:ea typeface="BIZ UDPゴシック" panose="020B0400000000000000" pitchFamily="50" charset="-128"/>
              </a:endParaRPr>
            </a:p>
          </p:txBody>
        </p:sp>
        <p:sp>
          <p:nvSpPr>
            <p:cNvPr id="8" name="Shape 4">
              <a:extLst>
                <a:ext uri="{FF2B5EF4-FFF2-40B4-BE49-F238E27FC236}">
                  <a16:creationId xmlns:a16="http://schemas.microsoft.com/office/drawing/2014/main" id="{208DC59A-A83A-4C1B-DA27-85F883F62382}"/>
                </a:ext>
              </a:extLst>
            </p:cNvPr>
            <p:cNvSpPr/>
            <p:nvPr/>
          </p:nvSpPr>
          <p:spPr>
            <a:xfrm>
              <a:off x="432053" y="3423367"/>
              <a:ext cx="233172" cy="233172"/>
            </a:xfrm>
            <a:prstGeom prst="rect">
              <a:avLst/>
            </a:prstGeom>
            <a:blipFill>
              <a:blip r:embed="rId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 name="Text 6">
              <a:extLst>
                <a:ext uri="{FF2B5EF4-FFF2-40B4-BE49-F238E27FC236}">
                  <a16:creationId xmlns:a16="http://schemas.microsoft.com/office/drawing/2014/main" id="{BB3FBCE6-6126-AA82-69DD-1F53FE93F591}"/>
                </a:ext>
              </a:extLst>
            </p:cNvPr>
            <p:cNvSpPr/>
            <p:nvPr/>
          </p:nvSpPr>
          <p:spPr>
            <a:xfrm>
              <a:off x="73914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ITOM / ITAM</a:t>
              </a:r>
              <a:endParaRPr lang="en-US" sz="1000" dirty="0">
                <a:latin typeface="BIZ UDPゴシック" panose="020B0400000000000000" pitchFamily="50" charset="-128"/>
                <a:ea typeface="BIZ UDPゴシック" panose="020B0400000000000000" pitchFamily="50" charset="-128"/>
              </a:endParaRPr>
            </a:p>
          </p:txBody>
        </p:sp>
        <p:sp>
          <p:nvSpPr>
            <p:cNvPr id="10" name="Shape 7">
              <a:extLst>
                <a:ext uri="{FF2B5EF4-FFF2-40B4-BE49-F238E27FC236}">
                  <a16:creationId xmlns:a16="http://schemas.microsoft.com/office/drawing/2014/main" id="{5D5FFCF7-5DDE-2464-BCFE-1B3C9C8B6302}"/>
                </a:ext>
              </a:extLst>
            </p:cNvPr>
            <p:cNvSpPr/>
            <p:nvPr/>
          </p:nvSpPr>
          <p:spPr>
            <a:xfrm>
              <a:off x="2644140" y="3456134"/>
              <a:ext cx="0" cy="198120"/>
            </a:xfrm>
            <a:prstGeom prst="line">
              <a:avLst/>
            </a:prstGeom>
            <a:noFill/>
            <a:ln w="12700">
              <a:solidFill>
                <a:srgbClr val="D7DEE8"/>
              </a:solidFill>
              <a:prstDash val="dash"/>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 name="Shape 8">
              <a:extLst>
                <a:ext uri="{FF2B5EF4-FFF2-40B4-BE49-F238E27FC236}">
                  <a16:creationId xmlns:a16="http://schemas.microsoft.com/office/drawing/2014/main" id="{C7D2197A-2731-3F3E-4785-1A63F9F30616}"/>
                </a:ext>
              </a:extLst>
            </p:cNvPr>
            <p:cNvSpPr/>
            <p:nvPr/>
          </p:nvSpPr>
          <p:spPr>
            <a:xfrm>
              <a:off x="2733293" y="3423367"/>
              <a:ext cx="233172" cy="233172"/>
            </a:xfrm>
            <a:prstGeom prst="rect">
              <a:avLst/>
            </a:prstGeom>
            <a:blipFill>
              <a:blip r:embed="rId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2" name="Text 10">
              <a:extLst>
                <a:ext uri="{FF2B5EF4-FFF2-40B4-BE49-F238E27FC236}">
                  <a16:creationId xmlns:a16="http://schemas.microsoft.com/office/drawing/2014/main" id="{F403EB86-9AF8-AC8C-79D7-AF8554A5F6B0}"/>
                </a:ext>
              </a:extLst>
            </p:cNvPr>
            <p:cNvSpPr/>
            <p:nvPr/>
          </p:nvSpPr>
          <p:spPr>
            <a:xfrm>
              <a:off x="304038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Network Observability</a:t>
              </a:r>
              <a:endParaRPr lang="en-US" sz="1000" dirty="0">
                <a:latin typeface="BIZ UDPゴシック" panose="020B0400000000000000" pitchFamily="50" charset="-128"/>
                <a:ea typeface="BIZ UDPゴシック" panose="020B0400000000000000" pitchFamily="50" charset="-128"/>
              </a:endParaRPr>
            </a:p>
          </p:txBody>
        </p:sp>
        <p:sp>
          <p:nvSpPr>
            <p:cNvPr id="13" name="Text 11">
              <a:extLst>
                <a:ext uri="{FF2B5EF4-FFF2-40B4-BE49-F238E27FC236}">
                  <a16:creationId xmlns:a16="http://schemas.microsoft.com/office/drawing/2014/main" id="{AFED9438-A7F3-F854-B7DF-4F02A051CEB9}"/>
                </a:ext>
              </a:extLst>
            </p:cNvPr>
            <p:cNvSpPr/>
            <p:nvPr/>
          </p:nvSpPr>
          <p:spPr>
            <a:xfrm>
              <a:off x="3040380" y="3578054"/>
              <a:ext cx="1828800" cy="99060"/>
            </a:xfrm>
            <a:prstGeom prst="rect">
              <a:avLst/>
            </a:prstGeom>
            <a:noFill/>
            <a:ln/>
          </p:spPr>
          <p:txBody>
            <a:bodyPr wrap="square" lIns="212" tIns="212" rIns="212" bIns="212" rtlCol="0" anchor="ctr"/>
            <a:lstStyle/>
            <a:p>
              <a:r>
                <a:rPr lang="en-US" sz="1000" dirty="0">
                  <a:solidFill>
                    <a:srgbClr val="667085"/>
                  </a:solidFill>
                  <a:latin typeface="BIZ UDPゴシック" panose="020B0400000000000000" pitchFamily="50" charset="-128"/>
                  <a:ea typeface="BIZ UDPゴシック" panose="020B0400000000000000" pitchFamily="50" charset="-128"/>
                  <a:cs typeface="Yu Gothic" pitchFamily="34" charset="-120"/>
                </a:rPr>
                <a:t>可視化・相関分析</a:t>
              </a:r>
              <a:endParaRPr lang="en-US" sz="1000" dirty="0">
                <a:latin typeface="BIZ UDPゴシック" panose="020B0400000000000000" pitchFamily="50" charset="-128"/>
                <a:ea typeface="BIZ UDPゴシック" panose="020B0400000000000000" pitchFamily="50" charset="-128"/>
              </a:endParaRPr>
            </a:p>
          </p:txBody>
        </p:sp>
        <p:sp>
          <p:nvSpPr>
            <p:cNvPr id="14" name="Shape 12">
              <a:extLst>
                <a:ext uri="{FF2B5EF4-FFF2-40B4-BE49-F238E27FC236}">
                  <a16:creationId xmlns:a16="http://schemas.microsoft.com/office/drawing/2014/main" id="{D04FCDAA-DF6F-B83A-C6D7-44DB4672352B}"/>
                </a:ext>
              </a:extLst>
            </p:cNvPr>
            <p:cNvSpPr/>
            <p:nvPr/>
          </p:nvSpPr>
          <p:spPr>
            <a:xfrm>
              <a:off x="4945380" y="3456134"/>
              <a:ext cx="0" cy="198120"/>
            </a:xfrm>
            <a:prstGeom prst="line">
              <a:avLst/>
            </a:prstGeom>
            <a:noFill/>
            <a:ln w="12700">
              <a:solidFill>
                <a:srgbClr val="D7DEE8"/>
              </a:solidFill>
              <a:prstDash val="dash"/>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5" name="Shape 13">
              <a:extLst>
                <a:ext uri="{FF2B5EF4-FFF2-40B4-BE49-F238E27FC236}">
                  <a16:creationId xmlns:a16="http://schemas.microsoft.com/office/drawing/2014/main" id="{590A9FA7-2089-DED9-14EB-62895838867A}"/>
                </a:ext>
              </a:extLst>
            </p:cNvPr>
            <p:cNvSpPr/>
            <p:nvPr/>
          </p:nvSpPr>
          <p:spPr>
            <a:xfrm>
              <a:off x="5034533" y="3423367"/>
              <a:ext cx="233172" cy="233172"/>
            </a:xfrm>
            <a:prstGeom prst="rect">
              <a:avLst/>
            </a:prstGeom>
            <a:blipFill>
              <a:blip r:embed="rId5"/>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6" name="Text 15">
              <a:extLst>
                <a:ext uri="{FF2B5EF4-FFF2-40B4-BE49-F238E27FC236}">
                  <a16:creationId xmlns:a16="http://schemas.microsoft.com/office/drawing/2014/main" id="{3F0BB967-BEFF-3389-D280-6AC08F4F62FE}"/>
                </a:ext>
              </a:extLst>
            </p:cNvPr>
            <p:cNvSpPr/>
            <p:nvPr/>
          </p:nvSpPr>
          <p:spPr>
            <a:xfrm>
              <a:off x="534162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運用自動化</a:t>
              </a:r>
              <a:endParaRPr lang="en-US" sz="1000" dirty="0">
                <a:latin typeface="BIZ UDPゴシック" panose="020B0400000000000000" pitchFamily="50" charset="-128"/>
                <a:ea typeface="BIZ UDPゴシック" panose="020B0400000000000000" pitchFamily="50" charset="-128"/>
              </a:endParaRPr>
            </a:p>
          </p:txBody>
        </p:sp>
        <p:sp>
          <p:nvSpPr>
            <p:cNvPr id="17" name="Shape 16">
              <a:extLst>
                <a:ext uri="{FF2B5EF4-FFF2-40B4-BE49-F238E27FC236}">
                  <a16:creationId xmlns:a16="http://schemas.microsoft.com/office/drawing/2014/main" id="{A3A2087A-8746-D639-4DD5-94BA3C72ACF5}"/>
                </a:ext>
              </a:extLst>
            </p:cNvPr>
            <p:cNvSpPr/>
            <p:nvPr/>
          </p:nvSpPr>
          <p:spPr>
            <a:xfrm>
              <a:off x="7246620" y="3456134"/>
              <a:ext cx="0" cy="198120"/>
            </a:xfrm>
            <a:prstGeom prst="line">
              <a:avLst/>
            </a:prstGeom>
            <a:noFill/>
            <a:ln w="12700">
              <a:solidFill>
                <a:srgbClr val="D7DEE8"/>
              </a:solidFill>
              <a:prstDash val="dash"/>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8" name="Shape 17">
              <a:extLst>
                <a:ext uri="{FF2B5EF4-FFF2-40B4-BE49-F238E27FC236}">
                  <a16:creationId xmlns:a16="http://schemas.microsoft.com/office/drawing/2014/main" id="{B1355449-6287-AD5F-3DCC-3B1F2D233872}"/>
                </a:ext>
              </a:extLst>
            </p:cNvPr>
            <p:cNvSpPr/>
            <p:nvPr/>
          </p:nvSpPr>
          <p:spPr>
            <a:xfrm>
              <a:off x="7335773" y="3423367"/>
              <a:ext cx="233172" cy="233172"/>
            </a:xfrm>
            <a:prstGeom prst="rect">
              <a:avLst/>
            </a:prstGeom>
            <a:blipFill>
              <a:blip r:embed="rId6"/>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9" name="Text 19">
              <a:extLst>
                <a:ext uri="{FF2B5EF4-FFF2-40B4-BE49-F238E27FC236}">
                  <a16:creationId xmlns:a16="http://schemas.microsoft.com/office/drawing/2014/main" id="{AF3BB3C5-E61A-3E7E-3A53-76AFF7CB571E}"/>
                </a:ext>
              </a:extLst>
            </p:cNvPr>
            <p:cNvSpPr/>
            <p:nvPr/>
          </p:nvSpPr>
          <p:spPr>
            <a:xfrm>
              <a:off x="764286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AI Operations</a:t>
              </a:r>
              <a:endParaRPr lang="en-US" sz="1000" dirty="0">
                <a:latin typeface="BIZ UDPゴシック" panose="020B0400000000000000" pitchFamily="50" charset="-128"/>
                <a:ea typeface="BIZ UDPゴシック" panose="020B0400000000000000" pitchFamily="50" charset="-128"/>
              </a:endParaRPr>
            </a:p>
          </p:txBody>
        </p:sp>
        <p:sp>
          <p:nvSpPr>
            <p:cNvPr id="20" name="Shape 20">
              <a:extLst>
                <a:ext uri="{FF2B5EF4-FFF2-40B4-BE49-F238E27FC236}">
                  <a16:creationId xmlns:a16="http://schemas.microsoft.com/office/drawing/2014/main" id="{91E6C2F0-A7AA-7175-7DE7-A4C7D542CC70}"/>
                </a:ext>
              </a:extLst>
            </p:cNvPr>
            <p:cNvSpPr/>
            <p:nvPr/>
          </p:nvSpPr>
          <p:spPr>
            <a:xfrm>
              <a:off x="9547860" y="3456134"/>
              <a:ext cx="0" cy="198120"/>
            </a:xfrm>
            <a:prstGeom prst="line">
              <a:avLst/>
            </a:prstGeom>
            <a:noFill/>
            <a:ln w="12700">
              <a:solidFill>
                <a:srgbClr val="D7DEE8"/>
              </a:solidFill>
              <a:prstDash val="dash"/>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1" name="Shape 21">
              <a:extLst>
                <a:ext uri="{FF2B5EF4-FFF2-40B4-BE49-F238E27FC236}">
                  <a16:creationId xmlns:a16="http://schemas.microsoft.com/office/drawing/2014/main" id="{4F9C4A92-2546-FB4E-80F7-ED1090090AFF}"/>
                </a:ext>
              </a:extLst>
            </p:cNvPr>
            <p:cNvSpPr/>
            <p:nvPr/>
          </p:nvSpPr>
          <p:spPr>
            <a:xfrm>
              <a:off x="9637013" y="3423367"/>
              <a:ext cx="233172" cy="233172"/>
            </a:xfrm>
            <a:prstGeom prst="rect">
              <a:avLst/>
            </a:prstGeom>
            <a:blipFill>
              <a:blip r:embed="rId7"/>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2" name="Text 23">
              <a:extLst>
                <a:ext uri="{FF2B5EF4-FFF2-40B4-BE49-F238E27FC236}">
                  <a16:creationId xmlns:a16="http://schemas.microsoft.com/office/drawing/2014/main" id="{4549FA8D-06CD-1810-97D4-A55F4E051D9F}"/>
                </a:ext>
              </a:extLst>
            </p:cNvPr>
            <p:cNvSpPr/>
            <p:nvPr/>
          </p:nvSpPr>
          <p:spPr>
            <a:xfrm>
              <a:off x="9944100" y="3395174"/>
              <a:ext cx="1828800" cy="17526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自律型SOC / NOC</a:t>
              </a:r>
              <a:endParaRPr lang="en-US" sz="1000" dirty="0">
                <a:latin typeface="BIZ UDPゴシック" panose="020B0400000000000000" pitchFamily="50" charset="-128"/>
                <a:ea typeface="BIZ UDPゴシック" panose="020B0400000000000000" pitchFamily="50" charset="-128"/>
              </a:endParaRPr>
            </a:p>
          </p:txBody>
        </p:sp>
        <p:sp>
          <p:nvSpPr>
            <p:cNvPr id="23" name="Shape 24">
              <a:extLst>
                <a:ext uri="{FF2B5EF4-FFF2-40B4-BE49-F238E27FC236}">
                  <a16:creationId xmlns:a16="http://schemas.microsoft.com/office/drawing/2014/main" id="{C3BE968E-0F43-6161-3E79-9E69A5EE0355}"/>
                </a:ext>
              </a:extLst>
            </p:cNvPr>
            <p:cNvSpPr/>
            <p:nvPr/>
          </p:nvSpPr>
          <p:spPr>
            <a:xfrm>
              <a:off x="167640" y="3936194"/>
              <a:ext cx="2476500" cy="1348740"/>
            </a:xfrm>
            <a:prstGeom prst="roundRect">
              <a:avLst>
                <a:gd name="adj" fmla="val 4520"/>
              </a:avLst>
            </a:prstGeom>
            <a:solidFill>
              <a:srgbClr val="EDF9F8"/>
            </a:solidFill>
            <a:ln w="15240">
              <a:solidFill>
                <a:srgbClr val="078C8C"/>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4" name="Shape 25">
              <a:extLst>
                <a:ext uri="{FF2B5EF4-FFF2-40B4-BE49-F238E27FC236}">
                  <a16:creationId xmlns:a16="http://schemas.microsoft.com/office/drawing/2014/main" id="{1F3AD911-CE38-1588-4BD6-1EEB619CFE83}"/>
                </a:ext>
              </a:extLst>
            </p:cNvPr>
            <p:cNvSpPr/>
            <p:nvPr/>
          </p:nvSpPr>
          <p:spPr>
            <a:xfrm>
              <a:off x="640080" y="3859994"/>
              <a:ext cx="1539240" cy="213360"/>
            </a:xfrm>
            <a:prstGeom prst="roundRect">
              <a:avLst/>
            </a:prstGeom>
            <a:solidFill>
              <a:srgbClr val="078C8C"/>
            </a:solidFill>
            <a:ln w="1270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5" name="Text 26">
              <a:extLst>
                <a:ext uri="{FF2B5EF4-FFF2-40B4-BE49-F238E27FC236}">
                  <a16:creationId xmlns:a16="http://schemas.microsoft.com/office/drawing/2014/main" id="{0E303089-B240-5CD6-64FF-F979F4D6D28D}"/>
                </a:ext>
              </a:extLst>
            </p:cNvPr>
            <p:cNvSpPr/>
            <p:nvPr/>
          </p:nvSpPr>
          <p:spPr>
            <a:xfrm>
              <a:off x="640080" y="3863804"/>
              <a:ext cx="153924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データセンター</a:t>
              </a:r>
              <a:endParaRPr lang="en-US" sz="1250" dirty="0">
                <a:latin typeface="BIZ UDPゴシック" panose="020B0400000000000000" pitchFamily="50" charset="-128"/>
                <a:ea typeface="BIZ UDPゴシック" panose="020B0400000000000000" pitchFamily="50" charset="-128"/>
              </a:endParaRPr>
            </a:p>
          </p:txBody>
        </p:sp>
        <p:sp>
          <p:nvSpPr>
            <p:cNvPr id="26" name="Shape 27">
              <a:extLst>
                <a:ext uri="{FF2B5EF4-FFF2-40B4-BE49-F238E27FC236}">
                  <a16:creationId xmlns:a16="http://schemas.microsoft.com/office/drawing/2014/main" id="{DDB17505-BBF6-8E0F-E517-437C550E966B}"/>
                </a:ext>
              </a:extLst>
            </p:cNvPr>
            <p:cNvSpPr/>
            <p:nvPr/>
          </p:nvSpPr>
          <p:spPr>
            <a:xfrm>
              <a:off x="289560" y="4172414"/>
              <a:ext cx="2232660" cy="220980"/>
            </a:xfrm>
            <a:prstGeom prst="roundRect">
              <a:avLst>
                <a:gd name="adj" fmla="val 17241"/>
              </a:avLst>
            </a:prstGeom>
            <a:solidFill>
              <a:srgbClr val="FFFFFF"/>
            </a:solidFill>
            <a:ln w="1524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7" name="Shape 28">
              <a:extLst>
                <a:ext uri="{FF2B5EF4-FFF2-40B4-BE49-F238E27FC236}">
                  <a16:creationId xmlns:a16="http://schemas.microsoft.com/office/drawing/2014/main" id="{366C5A9D-4471-7C37-FA22-14960D2F9A14}"/>
                </a:ext>
              </a:extLst>
            </p:cNvPr>
            <p:cNvSpPr/>
            <p:nvPr/>
          </p:nvSpPr>
          <p:spPr>
            <a:xfrm>
              <a:off x="363473" y="4166317"/>
              <a:ext cx="233172" cy="233172"/>
            </a:xfrm>
            <a:prstGeom prst="rect">
              <a:avLst/>
            </a:prstGeom>
            <a:blipFill>
              <a:blip r:embed="rId8"/>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28" name="Text 30">
              <a:extLst>
                <a:ext uri="{FF2B5EF4-FFF2-40B4-BE49-F238E27FC236}">
                  <a16:creationId xmlns:a16="http://schemas.microsoft.com/office/drawing/2014/main" id="{9942C5D9-F8EE-A0D5-C0B2-BF1F35FBE962}"/>
                </a:ext>
              </a:extLst>
            </p:cNvPr>
            <p:cNvSpPr/>
            <p:nvPr/>
          </p:nvSpPr>
          <p:spPr>
            <a:xfrm>
              <a:off x="647700" y="4202894"/>
              <a:ext cx="1828800" cy="1600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DCI</a:t>
              </a:r>
              <a:endParaRPr lang="en-US" sz="1000" dirty="0">
                <a:latin typeface="BIZ UDPゴシック" panose="020B0400000000000000" pitchFamily="50" charset="-128"/>
                <a:ea typeface="BIZ UDPゴシック" panose="020B0400000000000000" pitchFamily="50" charset="-128"/>
              </a:endParaRPr>
            </a:p>
          </p:txBody>
        </p:sp>
        <p:sp>
          <p:nvSpPr>
            <p:cNvPr id="29" name="Shape 31">
              <a:extLst>
                <a:ext uri="{FF2B5EF4-FFF2-40B4-BE49-F238E27FC236}">
                  <a16:creationId xmlns:a16="http://schemas.microsoft.com/office/drawing/2014/main" id="{A8D94290-18B3-E084-F2A1-EA296EB6AB2E}"/>
                </a:ext>
              </a:extLst>
            </p:cNvPr>
            <p:cNvSpPr/>
            <p:nvPr/>
          </p:nvSpPr>
          <p:spPr>
            <a:xfrm>
              <a:off x="289560" y="4431494"/>
              <a:ext cx="2232660" cy="220980"/>
            </a:xfrm>
            <a:prstGeom prst="roundRect">
              <a:avLst>
                <a:gd name="adj" fmla="val 17241"/>
              </a:avLst>
            </a:prstGeom>
            <a:solidFill>
              <a:srgbClr val="FFFFFF"/>
            </a:solidFill>
            <a:ln w="1524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0" name="Shape 32">
              <a:extLst>
                <a:ext uri="{FF2B5EF4-FFF2-40B4-BE49-F238E27FC236}">
                  <a16:creationId xmlns:a16="http://schemas.microsoft.com/office/drawing/2014/main" id="{F6B945A2-1C5A-2A06-430B-3DD7247D32CF}"/>
                </a:ext>
              </a:extLst>
            </p:cNvPr>
            <p:cNvSpPr/>
            <p:nvPr/>
          </p:nvSpPr>
          <p:spPr>
            <a:xfrm>
              <a:off x="363473" y="4425397"/>
              <a:ext cx="233172" cy="233172"/>
            </a:xfrm>
            <a:prstGeom prst="rect">
              <a:avLst/>
            </a:prstGeom>
            <a:blipFill>
              <a:blip r:embed="rId9"/>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1" name="Text 34">
              <a:extLst>
                <a:ext uri="{FF2B5EF4-FFF2-40B4-BE49-F238E27FC236}">
                  <a16:creationId xmlns:a16="http://schemas.microsoft.com/office/drawing/2014/main" id="{90513B1D-7235-4D5E-D651-BBA4A48E58EA}"/>
                </a:ext>
              </a:extLst>
            </p:cNvPr>
            <p:cNvSpPr/>
            <p:nvPr/>
          </p:nvSpPr>
          <p:spPr>
            <a:xfrm>
              <a:off x="647700" y="4461974"/>
              <a:ext cx="1828800" cy="1600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DCネットワーク</a:t>
              </a:r>
              <a:endParaRPr lang="en-US" sz="1000" dirty="0">
                <a:latin typeface="BIZ UDPゴシック" panose="020B0400000000000000" pitchFamily="50" charset="-128"/>
                <a:ea typeface="BIZ UDPゴシック" panose="020B0400000000000000" pitchFamily="50" charset="-128"/>
              </a:endParaRPr>
            </a:p>
          </p:txBody>
        </p:sp>
        <p:sp>
          <p:nvSpPr>
            <p:cNvPr id="32" name="Shape 35">
              <a:extLst>
                <a:ext uri="{FF2B5EF4-FFF2-40B4-BE49-F238E27FC236}">
                  <a16:creationId xmlns:a16="http://schemas.microsoft.com/office/drawing/2014/main" id="{C0C93ACA-438A-5877-4A3E-679DE3F052F9}"/>
                </a:ext>
              </a:extLst>
            </p:cNvPr>
            <p:cNvSpPr/>
            <p:nvPr/>
          </p:nvSpPr>
          <p:spPr>
            <a:xfrm>
              <a:off x="289560" y="4690574"/>
              <a:ext cx="2232660" cy="220980"/>
            </a:xfrm>
            <a:prstGeom prst="roundRect">
              <a:avLst>
                <a:gd name="adj" fmla="val 17241"/>
              </a:avLst>
            </a:prstGeom>
            <a:solidFill>
              <a:srgbClr val="FFFFFF"/>
            </a:solidFill>
            <a:ln w="1524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3" name="Shape 36">
              <a:extLst>
                <a:ext uri="{FF2B5EF4-FFF2-40B4-BE49-F238E27FC236}">
                  <a16:creationId xmlns:a16="http://schemas.microsoft.com/office/drawing/2014/main" id="{97A5EC26-A373-F611-E1B8-2C3233F03A9D}"/>
                </a:ext>
              </a:extLst>
            </p:cNvPr>
            <p:cNvSpPr/>
            <p:nvPr/>
          </p:nvSpPr>
          <p:spPr>
            <a:xfrm>
              <a:off x="363473" y="4684477"/>
              <a:ext cx="233172" cy="233172"/>
            </a:xfrm>
            <a:prstGeom prst="rect">
              <a:avLst/>
            </a:prstGeom>
            <a:blipFill>
              <a:blip r:embed="rId10"/>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4" name="Text 38">
              <a:extLst>
                <a:ext uri="{FF2B5EF4-FFF2-40B4-BE49-F238E27FC236}">
                  <a16:creationId xmlns:a16="http://schemas.microsoft.com/office/drawing/2014/main" id="{A88C4483-E48B-F54D-B961-7A0659F425E8}"/>
                </a:ext>
              </a:extLst>
            </p:cNvPr>
            <p:cNvSpPr/>
            <p:nvPr/>
          </p:nvSpPr>
          <p:spPr>
            <a:xfrm>
              <a:off x="647700" y="4721054"/>
              <a:ext cx="1828800" cy="1600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ハイブリッド基盤</a:t>
              </a:r>
              <a:endParaRPr lang="en-US" sz="1000" dirty="0">
                <a:latin typeface="BIZ UDPゴシック" panose="020B0400000000000000" pitchFamily="50" charset="-128"/>
                <a:ea typeface="BIZ UDPゴシック" panose="020B0400000000000000" pitchFamily="50" charset="-128"/>
              </a:endParaRPr>
            </a:p>
          </p:txBody>
        </p:sp>
        <p:sp>
          <p:nvSpPr>
            <p:cNvPr id="35" name="Shape 39">
              <a:extLst>
                <a:ext uri="{FF2B5EF4-FFF2-40B4-BE49-F238E27FC236}">
                  <a16:creationId xmlns:a16="http://schemas.microsoft.com/office/drawing/2014/main" id="{F7DE4502-1283-0298-DD73-628AAB7C210B}"/>
                </a:ext>
              </a:extLst>
            </p:cNvPr>
            <p:cNvSpPr/>
            <p:nvPr/>
          </p:nvSpPr>
          <p:spPr>
            <a:xfrm>
              <a:off x="289560" y="4949654"/>
              <a:ext cx="2232660" cy="220980"/>
            </a:xfrm>
            <a:prstGeom prst="roundRect">
              <a:avLst>
                <a:gd name="adj" fmla="val 17241"/>
              </a:avLst>
            </a:prstGeom>
            <a:solidFill>
              <a:srgbClr val="FFFFFF"/>
            </a:solidFill>
            <a:ln w="15240">
              <a:solidFill>
                <a:srgbClr val="078C8C"/>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6" name="Shape 40">
              <a:extLst>
                <a:ext uri="{FF2B5EF4-FFF2-40B4-BE49-F238E27FC236}">
                  <a16:creationId xmlns:a16="http://schemas.microsoft.com/office/drawing/2014/main" id="{83BD148B-71AE-9801-0FD4-47F4ABD4E7D6}"/>
                </a:ext>
              </a:extLst>
            </p:cNvPr>
            <p:cNvSpPr/>
            <p:nvPr/>
          </p:nvSpPr>
          <p:spPr>
            <a:xfrm>
              <a:off x="363473" y="4943557"/>
              <a:ext cx="233172" cy="233172"/>
            </a:xfrm>
            <a:prstGeom prst="rect">
              <a:avLst/>
            </a:prstGeom>
            <a:blipFill>
              <a:blip r:embed="rId11"/>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7" name="Text 42">
              <a:extLst>
                <a:ext uri="{FF2B5EF4-FFF2-40B4-BE49-F238E27FC236}">
                  <a16:creationId xmlns:a16="http://schemas.microsoft.com/office/drawing/2014/main" id="{9FCBAADD-5E9D-D9B8-E75F-078E6B083543}"/>
                </a:ext>
              </a:extLst>
            </p:cNvPr>
            <p:cNvSpPr/>
            <p:nvPr/>
          </p:nvSpPr>
          <p:spPr>
            <a:xfrm>
              <a:off x="647700" y="4980134"/>
              <a:ext cx="1828800" cy="1600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AIインフラ基盤</a:t>
              </a:r>
              <a:endParaRPr lang="en-US" sz="1000" dirty="0">
                <a:latin typeface="BIZ UDPゴシック" panose="020B0400000000000000" pitchFamily="50" charset="-128"/>
                <a:ea typeface="BIZ UDPゴシック" panose="020B0400000000000000" pitchFamily="50" charset="-128"/>
              </a:endParaRPr>
            </a:p>
          </p:txBody>
        </p:sp>
        <p:sp>
          <p:nvSpPr>
            <p:cNvPr id="38" name="Shape 43">
              <a:extLst>
                <a:ext uri="{FF2B5EF4-FFF2-40B4-BE49-F238E27FC236}">
                  <a16:creationId xmlns:a16="http://schemas.microsoft.com/office/drawing/2014/main" id="{26765D9B-BD31-3892-55DF-AEFE2B26CB25}"/>
                </a:ext>
              </a:extLst>
            </p:cNvPr>
            <p:cNvSpPr/>
            <p:nvPr/>
          </p:nvSpPr>
          <p:spPr>
            <a:xfrm>
              <a:off x="167640" y="5414474"/>
              <a:ext cx="2476500" cy="922020"/>
            </a:xfrm>
            <a:prstGeom prst="roundRect">
              <a:avLst>
                <a:gd name="adj" fmla="val 6612"/>
              </a:avLst>
            </a:prstGeom>
            <a:solidFill>
              <a:srgbClr val="F6F0FC"/>
            </a:solidFill>
            <a:ln w="15240">
              <a:solidFill>
                <a:srgbClr val="6E3DBB"/>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39" name="Shape 44">
              <a:extLst>
                <a:ext uri="{FF2B5EF4-FFF2-40B4-BE49-F238E27FC236}">
                  <a16:creationId xmlns:a16="http://schemas.microsoft.com/office/drawing/2014/main" id="{F2225858-968F-D9AE-5A65-560DE80FC0D8}"/>
                </a:ext>
              </a:extLst>
            </p:cNvPr>
            <p:cNvSpPr/>
            <p:nvPr/>
          </p:nvSpPr>
          <p:spPr>
            <a:xfrm>
              <a:off x="510540" y="5338274"/>
              <a:ext cx="1790700" cy="213360"/>
            </a:xfrm>
            <a:prstGeom prst="roundRect">
              <a:avLst/>
            </a:prstGeom>
            <a:solidFill>
              <a:srgbClr val="6E3DBB"/>
            </a:solidFill>
            <a:ln w="12700">
              <a:solidFill>
                <a:srgbClr val="6E3DBB"/>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0" name="Text 45">
              <a:extLst>
                <a:ext uri="{FF2B5EF4-FFF2-40B4-BE49-F238E27FC236}">
                  <a16:creationId xmlns:a16="http://schemas.microsoft.com/office/drawing/2014/main" id="{77DBE34C-A538-BC4B-D3EE-CB7BC7AF5F0C}"/>
                </a:ext>
              </a:extLst>
            </p:cNvPr>
            <p:cNvSpPr/>
            <p:nvPr/>
          </p:nvSpPr>
          <p:spPr>
            <a:xfrm>
              <a:off x="510540" y="5342084"/>
              <a:ext cx="179070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マルチクラウド接続</a:t>
              </a:r>
              <a:endParaRPr lang="en-US" sz="1250" dirty="0">
                <a:latin typeface="BIZ UDPゴシック" panose="020B0400000000000000" pitchFamily="50" charset="-128"/>
                <a:ea typeface="BIZ UDPゴシック" panose="020B0400000000000000" pitchFamily="50" charset="-128"/>
              </a:endParaRPr>
            </a:p>
          </p:txBody>
        </p:sp>
        <p:sp>
          <p:nvSpPr>
            <p:cNvPr id="41" name="Shape 46">
              <a:extLst>
                <a:ext uri="{FF2B5EF4-FFF2-40B4-BE49-F238E27FC236}">
                  <a16:creationId xmlns:a16="http://schemas.microsoft.com/office/drawing/2014/main" id="{19C3591D-919A-37C1-DD2E-FA2743A091EF}"/>
                </a:ext>
              </a:extLst>
            </p:cNvPr>
            <p:cNvSpPr/>
            <p:nvPr/>
          </p:nvSpPr>
          <p:spPr>
            <a:xfrm>
              <a:off x="748356" y="5721179"/>
              <a:ext cx="308610" cy="308610"/>
            </a:xfrm>
            <a:prstGeom prst="rect">
              <a:avLst/>
            </a:prstGeom>
            <a:blipFill>
              <a:blip r:embed="rId12"/>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2" name="Shape 48">
              <a:extLst>
                <a:ext uri="{FF2B5EF4-FFF2-40B4-BE49-F238E27FC236}">
                  <a16:creationId xmlns:a16="http://schemas.microsoft.com/office/drawing/2014/main" id="{7A8DC0AD-6A80-829D-8F59-93B8B4442EC7}"/>
                </a:ext>
              </a:extLst>
            </p:cNvPr>
            <p:cNvSpPr/>
            <p:nvPr/>
          </p:nvSpPr>
          <p:spPr>
            <a:xfrm>
              <a:off x="1601796" y="5721179"/>
              <a:ext cx="308610" cy="308610"/>
            </a:xfrm>
            <a:prstGeom prst="rect">
              <a:avLst/>
            </a:prstGeom>
            <a:blipFill>
              <a:blip r:embed="rId13"/>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3" name="Text 54">
              <a:extLst>
                <a:ext uri="{FF2B5EF4-FFF2-40B4-BE49-F238E27FC236}">
                  <a16:creationId xmlns:a16="http://schemas.microsoft.com/office/drawing/2014/main" id="{A71F0DD5-6365-93B3-1851-124A71B4DEBE}"/>
                </a:ext>
              </a:extLst>
            </p:cNvPr>
            <p:cNvSpPr/>
            <p:nvPr/>
          </p:nvSpPr>
          <p:spPr>
            <a:xfrm>
              <a:off x="594051" y="6092654"/>
              <a:ext cx="624840" cy="114300"/>
            </a:xfrm>
            <a:prstGeom prst="rect">
              <a:avLst/>
            </a:prstGeom>
            <a:noFill/>
            <a:ln/>
          </p:spPr>
          <p:txBody>
            <a:bodyPr wrap="square" lIns="212" tIns="212" rIns="212" bIns="212" rtlCol="0" anchor="ctr"/>
            <a:lstStyle/>
            <a:p>
              <a:pPr algn="ctr"/>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Public Cloud</a:t>
              </a:r>
              <a:endParaRPr lang="en-US" sz="1000" dirty="0">
                <a:latin typeface="BIZ UDPゴシック" panose="020B0400000000000000" pitchFamily="50" charset="-128"/>
                <a:ea typeface="BIZ UDPゴシック" panose="020B0400000000000000" pitchFamily="50" charset="-128"/>
              </a:endParaRPr>
            </a:p>
          </p:txBody>
        </p:sp>
        <p:sp>
          <p:nvSpPr>
            <p:cNvPr id="44" name="Text 55">
              <a:extLst>
                <a:ext uri="{FF2B5EF4-FFF2-40B4-BE49-F238E27FC236}">
                  <a16:creationId xmlns:a16="http://schemas.microsoft.com/office/drawing/2014/main" id="{59E10710-9BFC-B283-05CF-0CA5A7DF250E}"/>
                </a:ext>
              </a:extLst>
            </p:cNvPr>
            <p:cNvSpPr/>
            <p:nvPr/>
          </p:nvSpPr>
          <p:spPr>
            <a:xfrm>
              <a:off x="1432251" y="6092654"/>
              <a:ext cx="670560" cy="114300"/>
            </a:xfrm>
            <a:prstGeom prst="rect">
              <a:avLst/>
            </a:prstGeom>
            <a:noFill/>
            <a:ln/>
          </p:spPr>
          <p:txBody>
            <a:bodyPr wrap="square" lIns="212" tIns="212" rIns="212" bIns="212" rtlCol="0" anchor="ctr"/>
            <a:lstStyle/>
            <a:p>
              <a:pPr algn="ctr"/>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Private Cloud</a:t>
              </a:r>
              <a:endParaRPr lang="en-US" sz="1000" dirty="0">
                <a:latin typeface="BIZ UDPゴシック" panose="020B0400000000000000" pitchFamily="50" charset="-128"/>
                <a:ea typeface="BIZ UDPゴシック" panose="020B0400000000000000" pitchFamily="50" charset="-128"/>
              </a:endParaRPr>
            </a:p>
          </p:txBody>
        </p:sp>
        <p:sp>
          <p:nvSpPr>
            <p:cNvPr id="45" name="Shape 57">
              <a:extLst>
                <a:ext uri="{FF2B5EF4-FFF2-40B4-BE49-F238E27FC236}">
                  <a16:creationId xmlns:a16="http://schemas.microsoft.com/office/drawing/2014/main" id="{0DE71C6D-BCC4-FF17-46E6-E0B35DC37512}"/>
                </a:ext>
              </a:extLst>
            </p:cNvPr>
            <p:cNvSpPr/>
            <p:nvPr/>
          </p:nvSpPr>
          <p:spPr>
            <a:xfrm>
              <a:off x="2819400" y="3936194"/>
              <a:ext cx="6134100" cy="2400300"/>
            </a:xfrm>
            <a:prstGeom prst="roundRect">
              <a:avLst>
                <a:gd name="adj" fmla="val 2540"/>
              </a:avLst>
            </a:prstGeom>
            <a:solidFill>
              <a:srgbClr val="EDF5FF"/>
            </a:solidFill>
            <a:ln w="15240">
              <a:solidFill>
                <a:srgbClr val="1769C2"/>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6" name="Shape 58">
              <a:extLst>
                <a:ext uri="{FF2B5EF4-FFF2-40B4-BE49-F238E27FC236}">
                  <a16:creationId xmlns:a16="http://schemas.microsoft.com/office/drawing/2014/main" id="{02A2F2B1-989B-9DEB-154E-5697636281A9}"/>
                </a:ext>
              </a:extLst>
            </p:cNvPr>
            <p:cNvSpPr/>
            <p:nvPr/>
          </p:nvSpPr>
          <p:spPr>
            <a:xfrm>
              <a:off x="4610100" y="3859994"/>
              <a:ext cx="2552700" cy="213360"/>
            </a:xfrm>
            <a:prstGeom prst="roundRect">
              <a:avLst/>
            </a:prstGeom>
            <a:solidFill>
              <a:srgbClr val="1769C2"/>
            </a:solidFill>
            <a:ln w="1270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47" name="Text 59">
              <a:extLst>
                <a:ext uri="{FF2B5EF4-FFF2-40B4-BE49-F238E27FC236}">
                  <a16:creationId xmlns:a16="http://schemas.microsoft.com/office/drawing/2014/main" id="{73E2936C-471A-78A7-855F-6EAE0689005C}"/>
                </a:ext>
              </a:extLst>
            </p:cNvPr>
            <p:cNvSpPr/>
            <p:nvPr/>
          </p:nvSpPr>
          <p:spPr>
            <a:xfrm>
              <a:off x="4610100" y="3863804"/>
              <a:ext cx="255270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キャリア／社会インフラ</a:t>
              </a:r>
              <a:endParaRPr lang="en-US" sz="1250" dirty="0">
                <a:latin typeface="BIZ UDPゴシック" panose="020B0400000000000000" pitchFamily="50" charset="-128"/>
                <a:ea typeface="BIZ UDPゴシック" panose="020B0400000000000000" pitchFamily="50" charset="-128"/>
              </a:endParaRPr>
            </a:p>
          </p:txBody>
        </p:sp>
        <p:sp>
          <p:nvSpPr>
            <p:cNvPr id="48" name="Text 60">
              <a:extLst>
                <a:ext uri="{FF2B5EF4-FFF2-40B4-BE49-F238E27FC236}">
                  <a16:creationId xmlns:a16="http://schemas.microsoft.com/office/drawing/2014/main" id="{8DE5D797-C035-6F83-D23D-E1A1E7B61A41}"/>
                </a:ext>
              </a:extLst>
            </p:cNvPr>
            <p:cNvSpPr/>
            <p:nvPr/>
          </p:nvSpPr>
          <p:spPr>
            <a:xfrm>
              <a:off x="3771900" y="4119074"/>
              <a:ext cx="4229100" cy="167640"/>
            </a:xfrm>
            <a:prstGeom prst="rect">
              <a:avLst/>
            </a:prstGeom>
            <a:noFill/>
            <a:ln/>
          </p:spPr>
          <p:txBody>
            <a:bodyPr wrap="square" lIns="212" tIns="212" rIns="212" bIns="212" rtlCol="0" anchor="ctr"/>
            <a:lstStyle/>
            <a:p>
              <a:pPr algn="ctr"/>
              <a:r>
                <a:rPr lang="en-US" sz="1167" b="1" dirty="0">
                  <a:solidFill>
                    <a:srgbClr val="123B72"/>
                  </a:solidFill>
                  <a:latin typeface="BIZ UDPゴシック" panose="020B0400000000000000" pitchFamily="50" charset="-128"/>
                  <a:ea typeface="BIZ UDPゴシック" panose="020B0400000000000000" pitchFamily="50" charset="-128"/>
                  <a:cs typeface="Yu Gothic" pitchFamily="34" charset="-120"/>
                </a:rPr>
                <a:t>AI時代を支えるキャリアグレードネットワーク</a:t>
              </a:r>
              <a:endParaRPr lang="en-US" sz="1167" dirty="0">
                <a:latin typeface="BIZ UDPゴシック" panose="020B0400000000000000" pitchFamily="50" charset="-128"/>
                <a:ea typeface="BIZ UDPゴシック" panose="020B0400000000000000" pitchFamily="50" charset="-128"/>
              </a:endParaRPr>
            </a:p>
          </p:txBody>
        </p:sp>
        <p:sp>
          <p:nvSpPr>
            <p:cNvPr id="49" name="Shape 61">
              <a:extLst>
                <a:ext uri="{FF2B5EF4-FFF2-40B4-BE49-F238E27FC236}">
                  <a16:creationId xmlns:a16="http://schemas.microsoft.com/office/drawing/2014/main" id="{2D4F0A74-588B-9D3E-35FA-1DEDADBF3CD9}"/>
                </a:ext>
              </a:extLst>
            </p:cNvPr>
            <p:cNvSpPr/>
            <p:nvPr/>
          </p:nvSpPr>
          <p:spPr>
            <a:xfrm>
              <a:off x="2987040" y="4332434"/>
              <a:ext cx="5966460" cy="1470660"/>
            </a:xfrm>
            <a:prstGeom prst="ellipse">
              <a:avLst/>
            </a:prstGeom>
            <a:solidFill>
              <a:srgbClr val="FFFFFF">
                <a:alpha val="45000"/>
              </a:srgbClr>
            </a:solidFill>
            <a:ln w="13970">
              <a:solidFill>
                <a:srgbClr val="A9C9EE"/>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0" name="Shape 72">
              <a:extLst>
                <a:ext uri="{FF2B5EF4-FFF2-40B4-BE49-F238E27FC236}">
                  <a16:creationId xmlns:a16="http://schemas.microsoft.com/office/drawing/2014/main" id="{D09C3308-FB23-FE81-143A-6398A57ACC56}"/>
                </a:ext>
              </a:extLst>
            </p:cNvPr>
            <p:cNvSpPr/>
            <p:nvPr/>
          </p:nvSpPr>
          <p:spPr>
            <a:xfrm>
              <a:off x="5318760" y="5757374"/>
              <a:ext cx="1219200" cy="0"/>
            </a:xfrm>
            <a:prstGeom prst="line">
              <a:avLst/>
            </a:prstGeom>
            <a:noFill/>
            <a:ln w="19050">
              <a:solidFill>
                <a:srgbClr val="7FAFE1"/>
              </a:solidFill>
              <a:prstDash val="solid"/>
              <a:headEnd type="none"/>
              <a:tailEnd type="none"/>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1" name="Shape 73">
              <a:extLst>
                <a:ext uri="{FF2B5EF4-FFF2-40B4-BE49-F238E27FC236}">
                  <a16:creationId xmlns:a16="http://schemas.microsoft.com/office/drawing/2014/main" id="{68CE7E27-1842-160F-A654-28852580F5DE}"/>
                </a:ext>
              </a:extLst>
            </p:cNvPr>
            <p:cNvSpPr/>
            <p:nvPr/>
          </p:nvSpPr>
          <p:spPr>
            <a:xfrm>
              <a:off x="3436620" y="4835354"/>
              <a:ext cx="396240" cy="396240"/>
            </a:xfrm>
            <a:prstGeom prst="rect">
              <a:avLst/>
            </a:prstGeom>
            <a:blipFill>
              <a:blip r:embed="rId1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2" name="Shape 75">
              <a:extLst>
                <a:ext uri="{FF2B5EF4-FFF2-40B4-BE49-F238E27FC236}">
                  <a16:creationId xmlns:a16="http://schemas.microsoft.com/office/drawing/2014/main" id="{6449440D-C612-9FC6-7E55-A35567A5CBA1}"/>
                </a:ext>
              </a:extLst>
            </p:cNvPr>
            <p:cNvSpPr/>
            <p:nvPr/>
          </p:nvSpPr>
          <p:spPr>
            <a:xfrm>
              <a:off x="4693920" y="4378154"/>
              <a:ext cx="396240" cy="396240"/>
            </a:xfrm>
            <a:prstGeom prst="rect">
              <a:avLst/>
            </a:prstGeom>
            <a:blipFill>
              <a:blip r:embed="rId1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3" name="Text 76">
              <a:extLst>
                <a:ext uri="{FF2B5EF4-FFF2-40B4-BE49-F238E27FC236}">
                  <a16:creationId xmlns:a16="http://schemas.microsoft.com/office/drawing/2014/main" id="{02B04993-1A27-A975-0B54-627E420F5216}"/>
                </a:ext>
              </a:extLst>
            </p:cNvPr>
            <p:cNvSpPr/>
            <p:nvPr/>
          </p:nvSpPr>
          <p:spPr>
            <a:xfrm>
              <a:off x="4899660" y="4835354"/>
              <a:ext cx="396240" cy="365760"/>
            </a:xfrm>
            <a:prstGeom prst="rect">
              <a:avLst/>
            </a:prstGeom>
            <a:noFill/>
            <a:ln/>
          </p:spPr>
          <p:txBody>
            <a:bodyPr wrap="square" lIns="212" tIns="212" rIns="212" bIns="212" rtlCol="0" anchor="ctr"/>
            <a:lstStyle/>
            <a:p>
              <a:pPr algn="ctr"/>
              <a:endParaRPr lang="en-US" sz="1000" dirty="0">
                <a:latin typeface="BIZ UDPゴシック" panose="020B0400000000000000" pitchFamily="50" charset="-128"/>
                <a:ea typeface="BIZ UDPゴシック" panose="020B0400000000000000" pitchFamily="50" charset="-128"/>
              </a:endParaRPr>
            </a:p>
          </p:txBody>
        </p:sp>
        <p:sp>
          <p:nvSpPr>
            <p:cNvPr id="54" name="Shape 77">
              <a:extLst>
                <a:ext uri="{FF2B5EF4-FFF2-40B4-BE49-F238E27FC236}">
                  <a16:creationId xmlns:a16="http://schemas.microsoft.com/office/drawing/2014/main" id="{6C0D1267-0414-D33A-3BA6-9827AD2E6A19}"/>
                </a:ext>
              </a:extLst>
            </p:cNvPr>
            <p:cNvSpPr/>
            <p:nvPr/>
          </p:nvSpPr>
          <p:spPr>
            <a:xfrm>
              <a:off x="5688330" y="4783900"/>
              <a:ext cx="396240" cy="396240"/>
            </a:xfrm>
            <a:prstGeom prst="rect">
              <a:avLst/>
            </a:prstGeom>
            <a:blipFill>
              <a:blip r:embed="rId15"/>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5" name="Shape 79">
              <a:extLst>
                <a:ext uri="{FF2B5EF4-FFF2-40B4-BE49-F238E27FC236}">
                  <a16:creationId xmlns:a16="http://schemas.microsoft.com/office/drawing/2014/main" id="{1EB71CD0-6E21-7C3C-96AD-03C6A84E8BE0}"/>
                </a:ext>
              </a:extLst>
            </p:cNvPr>
            <p:cNvSpPr/>
            <p:nvPr/>
          </p:nvSpPr>
          <p:spPr>
            <a:xfrm>
              <a:off x="6712298" y="4364762"/>
              <a:ext cx="396240" cy="396240"/>
            </a:xfrm>
            <a:prstGeom prst="rect">
              <a:avLst/>
            </a:prstGeom>
            <a:blipFill>
              <a:blip r:embed="rId1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6" name="Text 80">
              <a:extLst>
                <a:ext uri="{FF2B5EF4-FFF2-40B4-BE49-F238E27FC236}">
                  <a16:creationId xmlns:a16="http://schemas.microsoft.com/office/drawing/2014/main" id="{5E3B8BDC-8660-D4BD-5100-F2A0C7FB53D4}"/>
                </a:ext>
              </a:extLst>
            </p:cNvPr>
            <p:cNvSpPr/>
            <p:nvPr/>
          </p:nvSpPr>
          <p:spPr>
            <a:xfrm>
              <a:off x="6499860" y="4835354"/>
              <a:ext cx="396240" cy="365760"/>
            </a:xfrm>
            <a:prstGeom prst="rect">
              <a:avLst/>
            </a:prstGeom>
            <a:noFill/>
            <a:ln/>
          </p:spPr>
          <p:txBody>
            <a:bodyPr wrap="square" lIns="212" tIns="212" rIns="212" bIns="212" rtlCol="0" anchor="ctr"/>
            <a:lstStyle/>
            <a:p>
              <a:pPr algn="ctr"/>
              <a:endParaRPr lang="en-US" sz="1000" dirty="0">
                <a:latin typeface="BIZ UDPゴシック" panose="020B0400000000000000" pitchFamily="50" charset="-128"/>
                <a:ea typeface="BIZ UDPゴシック" panose="020B0400000000000000" pitchFamily="50" charset="-128"/>
              </a:endParaRPr>
            </a:p>
          </p:txBody>
        </p:sp>
        <p:sp>
          <p:nvSpPr>
            <p:cNvPr id="57" name="Shape 81">
              <a:extLst>
                <a:ext uri="{FF2B5EF4-FFF2-40B4-BE49-F238E27FC236}">
                  <a16:creationId xmlns:a16="http://schemas.microsoft.com/office/drawing/2014/main" id="{A762AB22-5A43-078A-B88A-08FA40735601}"/>
                </a:ext>
              </a:extLst>
            </p:cNvPr>
            <p:cNvSpPr/>
            <p:nvPr/>
          </p:nvSpPr>
          <p:spPr>
            <a:xfrm>
              <a:off x="8267700" y="4842282"/>
              <a:ext cx="396240" cy="396240"/>
            </a:xfrm>
            <a:prstGeom prst="rect">
              <a:avLst/>
            </a:prstGeom>
            <a:blipFill>
              <a:blip r:embed="rId1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8" name="Shape 83">
              <a:extLst>
                <a:ext uri="{FF2B5EF4-FFF2-40B4-BE49-F238E27FC236}">
                  <a16:creationId xmlns:a16="http://schemas.microsoft.com/office/drawing/2014/main" id="{E72582A3-0015-F406-6BD4-823A07987A5C}"/>
                </a:ext>
              </a:extLst>
            </p:cNvPr>
            <p:cNvSpPr/>
            <p:nvPr/>
          </p:nvSpPr>
          <p:spPr>
            <a:xfrm>
              <a:off x="4975860" y="5484709"/>
              <a:ext cx="396240" cy="396240"/>
            </a:xfrm>
            <a:prstGeom prst="rect">
              <a:avLst/>
            </a:prstGeom>
            <a:blipFill>
              <a:blip r:embed="rId1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59" name="Shape 85">
              <a:extLst>
                <a:ext uri="{FF2B5EF4-FFF2-40B4-BE49-F238E27FC236}">
                  <a16:creationId xmlns:a16="http://schemas.microsoft.com/office/drawing/2014/main" id="{7276EF1F-AD43-D55F-4CC5-399D788289E0}"/>
                </a:ext>
              </a:extLst>
            </p:cNvPr>
            <p:cNvSpPr/>
            <p:nvPr/>
          </p:nvSpPr>
          <p:spPr>
            <a:xfrm>
              <a:off x="6426123" y="5505914"/>
              <a:ext cx="396240" cy="396240"/>
            </a:xfrm>
            <a:prstGeom prst="rect">
              <a:avLst/>
            </a:prstGeom>
            <a:blipFill>
              <a:blip r:embed="rId14"/>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0" name="Shape 87">
              <a:extLst>
                <a:ext uri="{FF2B5EF4-FFF2-40B4-BE49-F238E27FC236}">
                  <a16:creationId xmlns:a16="http://schemas.microsoft.com/office/drawing/2014/main" id="{EA43C7E2-9EFB-F887-1475-EC974F2DA6D9}"/>
                </a:ext>
              </a:extLst>
            </p:cNvPr>
            <p:cNvSpPr/>
            <p:nvPr/>
          </p:nvSpPr>
          <p:spPr>
            <a:xfrm>
              <a:off x="3086100" y="5925014"/>
              <a:ext cx="1333500" cy="259080"/>
            </a:xfrm>
            <a:prstGeom prst="roundRect">
              <a:avLst>
                <a:gd name="adj" fmla="val 11765"/>
              </a:avLst>
            </a:prstGeom>
            <a:solidFill>
              <a:srgbClr val="FFFFFF"/>
            </a:solidFill>
            <a:ln w="1524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1" name="Text 88">
              <a:extLst>
                <a:ext uri="{FF2B5EF4-FFF2-40B4-BE49-F238E27FC236}">
                  <a16:creationId xmlns:a16="http://schemas.microsoft.com/office/drawing/2014/main" id="{9D7D7581-ACF9-7D14-5309-A6790D090EC0}"/>
                </a:ext>
              </a:extLst>
            </p:cNvPr>
            <p:cNvSpPr/>
            <p:nvPr/>
          </p:nvSpPr>
          <p:spPr>
            <a:xfrm>
              <a:off x="3086100" y="5947874"/>
              <a:ext cx="1333500" cy="205740"/>
            </a:xfrm>
            <a:prstGeom prst="rect">
              <a:avLst/>
            </a:prstGeom>
            <a:noFill/>
            <a:ln/>
          </p:spPr>
          <p:txBody>
            <a:bodyPr wrap="square" lIns="212" tIns="212" rIns="212" bIns="212" rtlCol="0" anchor="ctr"/>
            <a:lstStyle/>
            <a:p>
              <a:pPr algn="ctr"/>
              <a:r>
                <a:rPr lang="en-US" sz="1000" b="1" dirty="0">
                  <a:solidFill>
                    <a:srgbClr val="1769C2"/>
                  </a:solidFill>
                  <a:latin typeface="BIZ UDPゴシック" panose="020B0400000000000000" pitchFamily="50" charset="-128"/>
                  <a:ea typeface="BIZ UDPゴシック" panose="020B0400000000000000" pitchFamily="50" charset="-128"/>
                  <a:cs typeface="Yu Gothic" pitchFamily="34" charset="-120"/>
                </a:rPr>
                <a:t>IP / Optical</a:t>
              </a:r>
              <a:r>
                <a:rPr lang="ja-JP" altLang="en-US" sz="1000" b="1" dirty="0">
                  <a:solidFill>
                    <a:srgbClr val="1769C2"/>
                  </a:solidFill>
                  <a:latin typeface="BIZ UDPゴシック" panose="020B0400000000000000" pitchFamily="50" charset="-128"/>
                  <a:ea typeface="BIZ UDPゴシック" panose="020B0400000000000000" pitchFamily="50" charset="-128"/>
                  <a:cs typeface="Yu Gothic" pitchFamily="34" charset="-120"/>
                </a:rPr>
                <a:t>統合</a:t>
              </a:r>
              <a:endParaRPr lang="en-US" sz="1000" b="1" dirty="0">
                <a:latin typeface="BIZ UDPゴシック" panose="020B0400000000000000" pitchFamily="50" charset="-128"/>
                <a:ea typeface="BIZ UDPゴシック" panose="020B0400000000000000" pitchFamily="50" charset="-128"/>
              </a:endParaRPr>
            </a:p>
          </p:txBody>
        </p:sp>
        <p:sp>
          <p:nvSpPr>
            <p:cNvPr id="62" name="Shape 89">
              <a:extLst>
                <a:ext uri="{FF2B5EF4-FFF2-40B4-BE49-F238E27FC236}">
                  <a16:creationId xmlns:a16="http://schemas.microsoft.com/office/drawing/2014/main" id="{52581273-CD5D-9FD1-0045-343EA574D132}"/>
                </a:ext>
              </a:extLst>
            </p:cNvPr>
            <p:cNvSpPr/>
            <p:nvPr/>
          </p:nvSpPr>
          <p:spPr>
            <a:xfrm>
              <a:off x="4526280" y="5925014"/>
              <a:ext cx="1333500" cy="259080"/>
            </a:xfrm>
            <a:prstGeom prst="roundRect">
              <a:avLst>
                <a:gd name="adj" fmla="val 11765"/>
              </a:avLst>
            </a:prstGeom>
            <a:solidFill>
              <a:srgbClr val="FFFFFF"/>
            </a:solidFill>
            <a:ln w="15240">
              <a:solidFill>
                <a:srgbClr val="0D8AA5"/>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3" name="Text 90">
              <a:extLst>
                <a:ext uri="{FF2B5EF4-FFF2-40B4-BE49-F238E27FC236}">
                  <a16:creationId xmlns:a16="http://schemas.microsoft.com/office/drawing/2014/main" id="{EF2870AA-E061-E2B1-7F2C-99909EC5104C}"/>
                </a:ext>
              </a:extLst>
            </p:cNvPr>
            <p:cNvSpPr/>
            <p:nvPr/>
          </p:nvSpPr>
          <p:spPr>
            <a:xfrm>
              <a:off x="4526280" y="5947874"/>
              <a:ext cx="1333500" cy="205740"/>
            </a:xfrm>
            <a:prstGeom prst="rect">
              <a:avLst/>
            </a:prstGeom>
            <a:noFill/>
            <a:ln/>
          </p:spPr>
          <p:txBody>
            <a:bodyPr wrap="square" lIns="212" tIns="212" rIns="212" bIns="212" rtlCol="0" anchor="ctr"/>
            <a:lstStyle/>
            <a:p>
              <a:pPr algn="ctr"/>
              <a:r>
                <a:rPr lang="en-US" sz="1000" b="1" dirty="0">
                  <a:solidFill>
                    <a:srgbClr val="0D8AA5"/>
                  </a:solidFill>
                  <a:latin typeface="BIZ UDPゴシック" panose="020B0400000000000000" pitchFamily="50" charset="-128"/>
                  <a:ea typeface="BIZ UDPゴシック" panose="020B0400000000000000" pitchFamily="50" charset="-128"/>
                  <a:cs typeface="Yu Gothic" pitchFamily="34" charset="-120"/>
                </a:rPr>
                <a:t>高信頼・低遅延制御</a:t>
              </a:r>
              <a:endParaRPr lang="en-US" sz="1000" dirty="0">
                <a:latin typeface="BIZ UDPゴシック" panose="020B0400000000000000" pitchFamily="50" charset="-128"/>
                <a:ea typeface="BIZ UDPゴシック" panose="020B0400000000000000" pitchFamily="50" charset="-128"/>
              </a:endParaRPr>
            </a:p>
          </p:txBody>
        </p:sp>
        <p:sp>
          <p:nvSpPr>
            <p:cNvPr id="64" name="Shape 91">
              <a:extLst>
                <a:ext uri="{FF2B5EF4-FFF2-40B4-BE49-F238E27FC236}">
                  <a16:creationId xmlns:a16="http://schemas.microsoft.com/office/drawing/2014/main" id="{C64CFFE6-419C-04BD-1424-7EE8AB0B5C60}"/>
                </a:ext>
              </a:extLst>
            </p:cNvPr>
            <p:cNvSpPr/>
            <p:nvPr/>
          </p:nvSpPr>
          <p:spPr>
            <a:xfrm>
              <a:off x="5966460" y="5925014"/>
              <a:ext cx="1333500" cy="259080"/>
            </a:xfrm>
            <a:prstGeom prst="roundRect">
              <a:avLst>
                <a:gd name="adj" fmla="val 11765"/>
              </a:avLst>
            </a:prstGeom>
            <a:solidFill>
              <a:srgbClr val="FFFFFF"/>
            </a:solidFill>
            <a:ln w="15240">
              <a:solidFill>
                <a:srgbClr val="123B7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5" name="Text 92">
              <a:extLst>
                <a:ext uri="{FF2B5EF4-FFF2-40B4-BE49-F238E27FC236}">
                  <a16:creationId xmlns:a16="http://schemas.microsoft.com/office/drawing/2014/main" id="{FD99B672-0378-6778-2BB5-6898B1A0A39E}"/>
                </a:ext>
              </a:extLst>
            </p:cNvPr>
            <p:cNvSpPr/>
            <p:nvPr/>
          </p:nvSpPr>
          <p:spPr>
            <a:xfrm>
              <a:off x="5966460" y="5947874"/>
              <a:ext cx="1333500" cy="205740"/>
            </a:xfrm>
            <a:prstGeom prst="rect">
              <a:avLst/>
            </a:prstGeom>
            <a:noFill/>
            <a:ln/>
          </p:spPr>
          <p:txBody>
            <a:bodyPr wrap="square" lIns="212" tIns="212" rIns="212" bIns="212" rtlCol="0" anchor="ctr"/>
            <a:lstStyle/>
            <a:p>
              <a:pPr algn="ctr"/>
              <a:r>
                <a:rPr lang="en-US" sz="917" b="1" dirty="0">
                  <a:solidFill>
                    <a:srgbClr val="123B72"/>
                  </a:solidFill>
                  <a:latin typeface="BIZ UDPゴシック" panose="020B0400000000000000" pitchFamily="50" charset="-128"/>
                  <a:ea typeface="BIZ UDPゴシック" panose="020B0400000000000000" pitchFamily="50" charset="-128"/>
                  <a:cs typeface="Yu Gothic" pitchFamily="34" charset="-120"/>
                </a:rPr>
                <a:t>セキュアトランスポート</a:t>
              </a:r>
              <a:endParaRPr lang="en-US" sz="917" dirty="0">
                <a:latin typeface="BIZ UDPゴシック" panose="020B0400000000000000" pitchFamily="50" charset="-128"/>
                <a:ea typeface="BIZ UDPゴシック" panose="020B0400000000000000" pitchFamily="50" charset="-128"/>
              </a:endParaRPr>
            </a:p>
          </p:txBody>
        </p:sp>
        <p:sp>
          <p:nvSpPr>
            <p:cNvPr id="66" name="Shape 93">
              <a:extLst>
                <a:ext uri="{FF2B5EF4-FFF2-40B4-BE49-F238E27FC236}">
                  <a16:creationId xmlns:a16="http://schemas.microsoft.com/office/drawing/2014/main" id="{B55E2F33-95D3-E534-9037-E1B7ABDF33C3}"/>
                </a:ext>
              </a:extLst>
            </p:cNvPr>
            <p:cNvSpPr/>
            <p:nvPr/>
          </p:nvSpPr>
          <p:spPr>
            <a:xfrm>
              <a:off x="7406640" y="5925014"/>
              <a:ext cx="1333500" cy="259080"/>
            </a:xfrm>
            <a:prstGeom prst="roundRect">
              <a:avLst>
                <a:gd name="adj" fmla="val 11765"/>
              </a:avLst>
            </a:prstGeom>
            <a:solidFill>
              <a:srgbClr val="FFFFFF"/>
            </a:solidFill>
            <a:ln w="15240">
              <a:solidFill>
                <a:srgbClr val="6E3DBB"/>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7" name="Text 94">
              <a:extLst>
                <a:ext uri="{FF2B5EF4-FFF2-40B4-BE49-F238E27FC236}">
                  <a16:creationId xmlns:a16="http://schemas.microsoft.com/office/drawing/2014/main" id="{844A957D-1CFB-554B-ACAD-2A5801B02C91}"/>
                </a:ext>
              </a:extLst>
            </p:cNvPr>
            <p:cNvSpPr/>
            <p:nvPr/>
          </p:nvSpPr>
          <p:spPr>
            <a:xfrm>
              <a:off x="7406640" y="5947874"/>
              <a:ext cx="1333500" cy="205740"/>
            </a:xfrm>
            <a:prstGeom prst="rect">
              <a:avLst/>
            </a:prstGeom>
            <a:noFill/>
            <a:ln/>
          </p:spPr>
          <p:txBody>
            <a:bodyPr wrap="square" lIns="212" tIns="212" rIns="212" bIns="212" rtlCol="0" anchor="ctr"/>
            <a:lstStyle/>
            <a:p>
              <a:pPr algn="ctr"/>
              <a:r>
                <a:rPr lang="ja-JP" altLang="en-US" sz="1000" b="1" dirty="0">
                  <a:solidFill>
                    <a:srgbClr val="6E3DBB"/>
                  </a:solidFill>
                  <a:latin typeface="BIZ UDPゴシック" panose="020B0400000000000000" pitchFamily="50" charset="-128"/>
                  <a:ea typeface="BIZ UDPゴシック" panose="020B0400000000000000" pitchFamily="50" charset="-128"/>
                </a:rPr>
                <a:t>耐量子暗号</a:t>
              </a:r>
              <a:endParaRPr lang="en-US" sz="1000" dirty="0">
                <a:latin typeface="BIZ UDPゴシック" panose="020B0400000000000000" pitchFamily="50" charset="-128"/>
                <a:ea typeface="BIZ UDPゴシック" panose="020B0400000000000000" pitchFamily="50" charset="-128"/>
              </a:endParaRPr>
            </a:p>
          </p:txBody>
        </p:sp>
        <p:sp>
          <p:nvSpPr>
            <p:cNvPr id="68" name="Shape 95">
              <a:extLst>
                <a:ext uri="{FF2B5EF4-FFF2-40B4-BE49-F238E27FC236}">
                  <a16:creationId xmlns:a16="http://schemas.microsoft.com/office/drawing/2014/main" id="{75DA15CE-4277-1E18-69BE-6D1AE7E548C4}"/>
                </a:ext>
              </a:extLst>
            </p:cNvPr>
            <p:cNvSpPr/>
            <p:nvPr/>
          </p:nvSpPr>
          <p:spPr>
            <a:xfrm>
              <a:off x="9128760" y="3936193"/>
              <a:ext cx="2895600" cy="1665163"/>
            </a:xfrm>
            <a:prstGeom prst="roundRect">
              <a:avLst>
                <a:gd name="adj" fmla="val 5063"/>
              </a:avLst>
            </a:prstGeom>
            <a:solidFill>
              <a:srgbClr val="FFF4EC"/>
            </a:solidFill>
            <a:ln w="15240">
              <a:solidFill>
                <a:srgbClr val="F06B21"/>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69" name="Shape 96">
              <a:extLst>
                <a:ext uri="{FF2B5EF4-FFF2-40B4-BE49-F238E27FC236}">
                  <a16:creationId xmlns:a16="http://schemas.microsoft.com/office/drawing/2014/main" id="{998E8FA4-663C-758A-6E50-3EA62FB7FE17}"/>
                </a:ext>
              </a:extLst>
            </p:cNvPr>
            <p:cNvSpPr/>
            <p:nvPr/>
          </p:nvSpPr>
          <p:spPr>
            <a:xfrm>
              <a:off x="9433560" y="3859994"/>
              <a:ext cx="2286000" cy="213360"/>
            </a:xfrm>
            <a:prstGeom prst="roundRect">
              <a:avLst/>
            </a:prstGeom>
            <a:solidFill>
              <a:srgbClr val="F06B21"/>
            </a:solidFill>
            <a:ln w="1270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0" name="Text 97">
              <a:extLst>
                <a:ext uri="{FF2B5EF4-FFF2-40B4-BE49-F238E27FC236}">
                  <a16:creationId xmlns:a16="http://schemas.microsoft.com/office/drawing/2014/main" id="{E81C0D9C-B458-309E-E5EB-A661AAE9B180}"/>
                </a:ext>
              </a:extLst>
            </p:cNvPr>
            <p:cNvSpPr/>
            <p:nvPr/>
          </p:nvSpPr>
          <p:spPr>
            <a:xfrm>
              <a:off x="9433560" y="3863804"/>
              <a:ext cx="228600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エンタープライズ／産業・公共</a:t>
              </a:r>
              <a:endParaRPr lang="en-US" sz="1250" dirty="0">
                <a:latin typeface="BIZ UDPゴシック" panose="020B0400000000000000" pitchFamily="50" charset="-128"/>
                <a:ea typeface="BIZ UDPゴシック" panose="020B0400000000000000" pitchFamily="50" charset="-128"/>
              </a:endParaRPr>
            </a:p>
          </p:txBody>
        </p:sp>
        <p:sp>
          <p:nvSpPr>
            <p:cNvPr id="71" name="Shape 98">
              <a:extLst>
                <a:ext uri="{FF2B5EF4-FFF2-40B4-BE49-F238E27FC236}">
                  <a16:creationId xmlns:a16="http://schemas.microsoft.com/office/drawing/2014/main" id="{6CEB1272-5289-4626-0AAA-A21208029C79}"/>
                </a:ext>
              </a:extLst>
            </p:cNvPr>
            <p:cNvSpPr/>
            <p:nvPr/>
          </p:nvSpPr>
          <p:spPr>
            <a:xfrm>
              <a:off x="9250680" y="4202894"/>
              <a:ext cx="1219200" cy="335280"/>
            </a:xfrm>
            <a:prstGeom prst="roundRect">
              <a:avLst>
                <a:gd name="adj" fmla="val 11364"/>
              </a:avLst>
            </a:prstGeom>
            <a:solidFill>
              <a:srgbClr val="FFFFFF"/>
            </a:solidFill>
            <a:ln w="1524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2" name="Shape 99">
              <a:extLst>
                <a:ext uri="{FF2B5EF4-FFF2-40B4-BE49-F238E27FC236}">
                  <a16:creationId xmlns:a16="http://schemas.microsoft.com/office/drawing/2014/main" id="{1668C7F9-7CA2-7BAA-7479-160D4F907351}"/>
                </a:ext>
              </a:extLst>
            </p:cNvPr>
            <p:cNvSpPr/>
            <p:nvPr/>
          </p:nvSpPr>
          <p:spPr>
            <a:xfrm>
              <a:off x="9324593" y="4253947"/>
              <a:ext cx="233172" cy="233172"/>
            </a:xfrm>
            <a:prstGeom prst="rect">
              <a:avLst/>
            </a:prstGeom>
            <a:blipFill>
              <a:blip r:embed="rId16"/>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3" name="Text 101">
              <a:extLst>
                <a:ext uri="{FF2B5EF4-FFF2-40B4-BE49-F238E27FC236}">
                  <a16:creationId xmlns:a16="http://schemas.microsoft.com/office/drawing/2014/main" id="{4CDA4A23-C98F-C297-933E-AF6FA167CC0E}"/>
                </a:ext>
              </a:extLst>
            </p:cNvPr>
            <p:cNvSpPr/>
            <p:nvPr/>
          </p:nvSpPr>
          <p:spPr>
            <a:xfrm>
              <a:off x="9608820" y="4233374"/>
              <a:ext cx="815340" cy="2743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Private AI / Local LLM</a:t>
              </a:r>
              <a:endParaRPr lang="en-US" sz="1000" dirty="0">
                <a:latin typeface="BIZ UDPゴシック" panose="020B0400000000000000" pitchFamily="50" charset="-128"/>
                <a:ea typeface="BIZ UDPゴシック" panose="020B0400000000000000" pitchFamily="50" charset="-128"/>
              </a:endParaRPr>
            </a:p>
          </p:txBody>
        </p:sp>
        <p:sp>
          <p:nvSpPr>
            <p:cNvPr id="74" name="Shape 102">
              <a:extLst>
                <a:ext uri="{FF2B5EF4-FFF2-40B4-BE49-F238E27FC236}">
                  <a16:creationId xmlns:a16="http://schemas.microsoft.com/office/drawing/2014/main" id="{8CFCDE46-082E-1868-EBD0-3BF1CA8E22BB}"/>
                </a:ext>
              </a:extLst>
            </p:cNvPr>
            <p:cNvSpPr/>
            <p:nvPr/>
          </p:nvSpPr>
          <p:spPr>
            <a:xfrm>
              <a:off x="10591800" y="4202894"/>
              <a:ext cx="1219200" cy="335280"/>
            </a:xfrm>
            <a:prstGeom prst="roundRect">
              <a:avLst>
                <a:gd name="adj" fmla="val 11364"/>
              </a:avLst>
            </a:prstGeom>
            <a:solidFill>
              <a:srgbClr val="FFFFFF"/>
            </a:solidFill>
            <a:ln w="1524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5" name="Shape 103">
              <a:extLst>
                <a:ext uri="{FF2B5EF4-FFF2-40B4-BE49-F238E27FC236}">
                  <a16:creationId xmlns:a16="http://schemas.microsoft.com/office/drawing/2014/main" id="{F6C503AC-8CE6-F7DD-2704-B23711BB2FCD}"/>
                </a:ext>
              </a:extLst>
            </p:cNvPr>
            <p:cNvSpPr/>
            <p:nvPr/>
          </p:nvSpPr>
          <p:spPr>
            <a:xfrm>
              <a:off x="10665713" y="4253947"/>
              <a:ext cx="233172" cy="233172"/>
            </a:xfrm>
            <a:prstGeom prst="rect">
              <a:avLst/>
            </a:prstGeom>
            <a:blipFill>
              <a:blip r:embed="rId17"/>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6" name="Text 105">
              <a:extLst>
                <a:ext uri="{FF2B5EF4-FFF2-40B4-BE49-F238E27FC236}">
                  <a16:creationId xmlns:a16="http://schemas.microsoft.com/office/drawing/2014/main" id="{55B66DDC-D53B-AF3C-3683-03E791E3CB7C}"/>
                </a:ext>
              </a:extLst>
            </p:cNvPr>
            <p:cNvSpPr/>
            <p:nvPr/>
          </p:nvSpPr>
          <p:spPr>
            <a:xfrm>
              <a:off x="10949940" y="4233374"/>
              <a:ext cx="815340" cy="2743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Campus Network</a:t>
              </a:r>
              <a:endParaRPr lang="en-US" sz="1000" dirty="0">
                <a:latin typeface="BIZ UDPゴシック" panose="020B0400000000000000" pitchFamily="50" charset="-128"/>
                <a:ea typeface="BIZ UDPゴシック" panose="020B0400000000000000" pitchFamily="50" charset="-128"/>
              </a:endParaRPr>
            </a:p>
          </p:txBody>
        </p:sp>
        <p:sp>
          <p:nvSpPr>
            <p:cNvPr id="77" name="Shape 106">
              <a:extLst>
                <a:ext uri="{FF2B5EF4-FFF2-40B4-BE49-F238E27FC236}">
                  <a16:creationId xmlns:a16="http://schemas.microsoft.com/office/drawing/2014/main" id="{22CD2C5C-A819-F8CC-A3FA-F05BF8C6FDB3}"/>
                </a:ext>
              </a:extLst>
            </p:cNvPr>
            <p:cNvSpPr/>
            <p:nvPr/>
          </p:nvSpPr>
          <p:spPr>
            <a:xfrm>
              <a:off x="9250680" y="4614374"/>
              <a:ext cx="1219200" cy="335280"/>
            </a:xfrm>
            <a:prstGeom prst="roundRect">
              <a:avLst>
                <a:gd name="adj" fmla="val 11364"/>
              </a:avLst>
            </a:prstGeom>
            <a:solidFill>
              <a:srgbClr val="FFFFFF"/>
            </a:solidFill>
            <a:ln w="1524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8" name="Shape 107">
              <a:extLst>
                <a:ext uri="{FF2B5EF4-FFF2-40B4-BE49-F238E27FC236}">
                  <a16:creationId xmlns:a16="http://schemas.microsoft.com/office/drawing/2014/main" id="{F608F68A-01EC-9BDA-20DA-52D541BFFEDF}"/>
                </a:ext>
              </a:extLst>
            </p:cNvPr>
            <p:cNvSpPr/>
            <p:nvPr/>
          </p:nvSpPr>
          <p:spPr>
            <a:xfrm>
              <a:off x="9324593" y="4665427"/>
              <a:ext cx="233172" cy="233172"/>
            </a:xfrm>
            <a:prstGeom prst="rect">
              <a:avLst/>
            </a:prstGeom>
            <a:blipFill>
              <a:blip r:embed="rId18"/>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79" name="Text 109">
              <a:extLst>
                <a:ext uri="{FF2B5EF4-FFF2-40B4-BE49-F238E27FC236}">
                  <a16:creationId xmlns:a16="http://schemas.microsoft.com/office/drawing/2014/main" id="{26DA55DD-D4D6-5C95-F82B-30DC5D651AD4}"/>
                </a:ext>
              </a:extLst>
            </p:cNvPr>
            <p:cNvSpPr/>
            <p:nvPr/>
          </p:nvSpPr>
          <p:spPr>
            <a:xfrm>
              <a:off x="9608820" y="4644854"/>
              <a:ext cx="815340" cy="2743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Local 5G / Wi-Fi</a:t>
              </a:r>
              <a:endParaRPr lang="en-US" sz="1000" dirty="0">
                <a:latin typeface="BIZ UDPゴシック" panose="020B0400000000000000" pitchFamily="50" charset="-128"/>
                <a:ea typeface="BIZ UDPゴシック" panose="020B0400000000000000" pitchFamily="50" charset="-128"/>
              </a:endParaRPr>
            </a:p>
          </p:txBody>
        </p:sp>
        <p:sp>
          <p:nvSpPr>
            <p:cNvPr id="80" name="Shape 110">
              <a:extLst>
                <a:ext uri="{FF2B5EF4-FFF2-40B4-BE49-F238E27FC236}">
                  <a16:creationId xmlns:a16="http://schemas.microsoft.com/office/drawing/2014/main" id="{421AC0C7-7CD3-AEC0-34D3-815A28229D1B}"/>
                </a:ext>
              </a:extLst>
            </p:cNvPr>
            <p:cNvSpPr/>
            <p:nvPr/>
          </p:nvSpPr>
          <p:spPr>
            <a:xfrm>
              <a:off x="10591800" y="4614374"/>
              <a:ext cx="1219200" cy="335280"/>
            </a:xfrm>
            <a:prstGeom prst="roundRect">
              <a:avLst>
                <a:gd name="adj" fmla="val 11364"/>
              </a:avLst>
            </a:prstGeom>
            <a:solidFill>
              <a:srgbClr val="FFFFFF"/>
            </a:solidFill>
            <a:ln w="15240">
              <a:solidFill>
                <a:srgbClr val="F06B21"/>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1" name="Shape 111">
              <a:extLst>
                <a:ext uri="{FF2B5EF4-FFF2-40B4-BE49-F238E27FC236}">
                  <a16:creationId xmlns:a16="http://schemas.microsoft.com/office/drawing/2014/main" id="{1001F1A6-9098-F138-D41F-200445919500}"/>
                </a:ext>
              </a:extLst>
            </p:cNvPr>
            <p:cNvSpPr/>
            <p:nvPr/>
          </p:nvSpPr>
          <p:spPr>
            <a:xfrm>
              <a:off x="10665713" y="4665427"/>
              <a:ext cx="233172" cy="233172"/>
            </a:xfrm>
            <a:prstGeom prst="rect">
              <a:avLst/>
            </a:prstGeom>
            <a:blipFill>
              <a:blip r:embed="rId19"/>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2" name="Text 113">
              <a:extLst>
                <a:ext uri="{FF2B5EF4-FFF2-40B4-BE49-F238E27FC236}">
                  <a16:creationId xmlns:a16="http://schemas.microsoft.com/office/drawing/2014/main" id="{85C80247-1B8B-8A2B-E5BA-0ACF4A53BF25}"/>
                </a:ext>
              </a:extLst>
            </p:cNvPr>
            <p:cNvSpPr/>
            <p:nvPr/>
          </p:nvSpPr>
          <p:spPr>
            <a:xfrm>
              <a:off x="10949940" y="4644854"/>
              <a:ext cx="815340" cy="274320"/>
            </a:xfrm>
            <a:prstGeom prst="rect">
              <a:avLst/>
            </a:prstGeom>
            <a:noFill/>
            <a:ln/>
          </p:spPr>
          <p:txBody>
            <a:bodyPr wrap="square" lIns="212" tIns="212" rIns="212" bIns="212" rtlCol="0" anchor="ctr"/>
            <a:lstStyle/>
            <a:p>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OT / IT統合</a:t>
              </a:r>
              <a:endParaRPr lang="en-US" sz="1000" dirty="0">
                <a:latin typeface="BIZ UDPゴシック" panose="020B0400000000000000" pitchFamily="50" charset="-128"/>
                <a:ea typeface="BIZ UDPゴシック" panose="020B0400000000000000" pitchFamily="50" charset="-128"/>
              </a:endParaRPr>
            </a:p>
          </p:txBody>
        </p:sp>
        <p:sp>
          <p:nvSpPr>
            <p:cNvPr id="83" name="Shape 114">
              <a:extLst>
                <a:ext uri="{FF2B5EF4-FFF2-40B4-BE49-F238E27FC236}">
                  <a16:creationId xmlns:a16="http://schemas.microsoft.com/office/drawing/2014/main" id="{43643BF9-41E1-2D4F-007E-61639EBF40C4}"/>
                </a:ext>
              </a:extLst>
            </p:cNvPr>
            <p:cNvSpPr/>
            <p:nvPr/>
          </p:nvSpPr>
          <p:spPr>
            <a:xfrm>
              <a:off x="9128760" y="5757374"/>
              <a:ext cx="2895600" cy="579120"/>
            </a:xfrm>
            <a:prstGeom prst="roundRect">
              <a:avLst>
                <a:gd name="adj" fmla="val 5839"/>
              </a:avLst>
            </a:prstGeom>
            <a:solidFill>
              <a:srgbClr val="F1F8EC"/>
            </a:solidFill>
            <a:ln w="15240">
              <a:solidFill>
                <a:srgbClr val="4C8C2B"/>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4" name="Shape 115">
              <a:extLst>
                <a:ext uri="{FF2B5EF4-FFF2-40B4-BE49-F238E27FC236}">
                  <a16:creationId xmlns:a16="http://schemas.microsoft.com/office/drawing/2014/main" id="{0CB8DB4D-8969-0DFC-1A3B-10160B68AD55}"/>
                </a:ext>
              </a:extLst>
            </p:cNvPr>
            <p:cNvSpPr/>
            <p:nvPr/>
          </p:nvSpPr>
          <p:spPr>
            <a:xfrm>
              <a:off x="9677400" y="5666626"/>
              <a:ext cx="1790700" cy="213360"/>
            </a:xfrm>
            <a:prstGeom prst="roundRect">
              <a:avLst/>
            </a:prstGeom>
            <a:solidFill>
              <a:srgbClr val="4C8C2B"/>
            </a:solidFill>
            <a:ln w="12700">
              <a:solidFill>
                <a:srgbClr val="4C8C2B"/>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5" name="Text 116">
              <a:extLst>
                <a:ext uri="{FF2B5EF4-FFF2-40B4-BE49-F238E27FC236}">
                  <a16:creationId xmlns:a16="http://schemas.microsoft.com/office/drawing/2014/main" id="{E14E2726-7DEB-6C97-43EE-9C28AB1754B2}"/>
                </a:ext>
              </a:extLst>
            </p:cNvPr>
            <p:cNvSpPr/>
            <p:nvPr/>
          </p:nvSpPr>
          <p:spPr>
            <a:xfrm>
              <a:off x="9677400" y="5670436"/>
              <a:ext cx="1790700" cy="198120"/>
            </a:xfrm>
            <a:prstGeom prst="rect">
              <a:avLst/>
            </a:prstGeom>
            <a:noFill/>
            <a:ln/>
          </p:spPr>
          <p:txBody>
            <a:bodyPr wrap="square" lIns="212" tIns="212" rIns="212" bIns="212" rtlCol="0" anchor="ctr"/>
            <a:lstStyle/>
            <a:p>
              <a:pPr algn="ctr"/>
              <a:r>
                <a:rPr lang="en-US" sz="1250" b="1" dirty="0" err="1">
                  <a:solidFill>
                    <a:srgbClr val="FFFFFF"/>
                  </a:solidFill>
                  <a:latin typeface="BIZ UDPゴシック" panose="020B0400000000000000" pitchFamily="50" charset="-128"/>
                  <a:ea typeface="BIZ UDPゴシック" panose="020B0400000000000000" pitchFamily="50" charset="-128"/>
                  <a:cs typeface="Yu Gothic" pitchFamily="34" charset="-120"/>
                </a:rPr>
                <a:t>アクセス</a:t>
              </a:r>
              <a:endParaRPr lang="en-US" sz="1250" dirty="0">
                <a:latin typeface="BIZ UDPゴシック" panose="020B0400000000000000" pitchFamily="50" charset="-128"/>
                <a:ea typeface="BIZ UDPゴシック" panose="020B0400000000000000" pitchFamily="50" charset="-128"/>
              </a:endParaRPr>
            </a:p>
          </p:txBody>
        </p:sp>
        <p:sp>
          <p:nvSpPr>
            <p:cNvPr id="86" name="Shape 117">
              <a:extLst>
                <a:ext uri="{FF2B5EF4-FFF2-40B4-BE49-F238E27FC236}">
                  <a16:creationId xmlns:a16="http://schemas.microsoft.com/office/drawing/2014/main" id="{3103172F-520A-0764-4DA5-E5FECE532111}"/>
                </a:ext>
              </a:extLst>
            </p:cNvPr>
            <p:cNvSpPr/>
            <p:nvPr/>
          </p:nvSpPr>
          <p:spPr>
            <a:xfrm>
              <a:off x="9250680" y="5963806"/>
              <a:ext cx="1333500" cy="320040"/>
            </a:xfrm>
            <a:prstGeom prst="roundRect">
              <a:avLst>
                <a:gd name="adj" fmla="val 11905"/>
              </a:avLst>
            </a:prstGeom>
            <a:solidFill>
              <a:srgbClr val="FFFFFF"/>
            </a:solidFill>
            <a:ln w="15240">
              <a:solidFill>
                <a:srgbClr val="4C8C2B"/>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7" name="Shape 118">
              <a:extLst>
                <a:ext uri="{FF2B5EF4-FFF2-40B4-BE49-F238E27FC236}">
                  <a16:creationId xmlns:a16="http://schemas.microsoft.com/office/drawing/2014/main" id="{4B31CDBB-2C5B-68D8-2219-A09DEBACD641}"/>
                </a:ext>
              </a:extLst>
            </p:cNvPr>
            <p:cNvSpPr/>
            <p:nvPr/>
          </p:nvSpPr>
          <p:spPr>
            <a:xfrm>
              <a:off x="9324593" y="6007239"/>
              <a:ext cx="233172" cy="233172"/>
            </a:xfrm>
            <a:prstGeom prst="rect">
              <a:avLst/>
            </a:prstGeom>
            <a:blipFill>
              <a:blip r:embed="rId20"/>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88" name="Text 120">
              <a:extLst>
                <a:ext uri="{FF2B5EF4-FFF2-40B4-BE49-F238E27FC236}">
                  <a16:creationId xmlns:a16="http://schemas.microsoft.com/office/drawing/2014/main" id="{80B086C4-EA40-B235-FB30-6EB2732AB0D2}"/>
                </a:ext>
              </a:extLst>
            </p:cNvPr>
            <p:cNvSpPr/>
            <p:nvPr/>
          </p:nvSpPr>
          <p:spPr>
            <a:xfrm>
              <a:off x="9608820" y="5994286"/>
              <a:ext cx="929640" cy="259080"/>
            </a:xfrm>
            <a:prstGeom prst="rect">
              <a:avLst/>
            </a:prstGeom>
            <a:noFill/>
            <a:ln/>
          </p:spPr>
          <p:txBody>
            <a:bodyPr wrap="square" lIns="212" tIns="212" rIns="212" bIns="212" rtlCol="0" anchor="ctr"/>
            <a:lstStyle/>
            <a:p>
              <a:r>
                <a:rPr lang="en-US" sz="917" b="1" dirty="0">
                  <a:solidFill>
                    <a:srgbClr val="1D2939"/>
                  </a:solidFill>
                  <a:latin typeface="BIZ UDPゴシック" panose="020B0400000000000000" pitchFamily="50" charset="-128"/>
                  <a:ea typeface="BIZ UDPゴシック" panose="020B0400000000000000" pitchFamily="50" charset="-128"/>
                  <a:cs typeface="Yu Gothic" pitchFamily="34" charset="-120"/>
                </a:rPr>
                <a:t>セキュア拠点接続</a:t>
              </a:r>
              <a:endParaRPr lang="en-US" sz="917" dirty="0">
                <a:latin typeface="BIZ UDPゴシック" panose="020B0400000000000000" pitchFamily="50" charset="-128"/>
                <a:ea typeface="BIZ UDPゴシック" panose="020B0400000000000000" pitchFamily="50" charset="-128"/>
              </a:endParaRPr>
            </a:p>
          </p:txBody>
        </p:sp>
        <p:sp>
          <p:nvSpPr>
            <p:cNvPr id="89" name="Shape 137">
              <a:extLst>
                <a:ext uri="{FF2B5EF4-FFF2-40B4-BE49-F238E27FC236}">
                  <a16:creationId xmlns:a16="http://schemas.microsoft.com/office/drawing/2014/main" id="{A4E31091-38E0-7B63-352F-D5070AE7145F}"/>
                </a:ext>
              </a:extLst>
            </p:cNvPr>
            <p:cNvSpPr/>
            <p:nvPr/>
          </p:nvSpPr>
          <p:spPr>
            <a:xfrm>
              <a:off x="2644140" y="4644854"/>
              <a:ext cx="175260" cy="0"/>
            </a:xfrm>
            <a:prstGeom prst="line">
              <a:avLst/>
            </a:prstGeom>
            <a:noFill/>
            <a:ln w="19050">
              <a:solidFill>
                <a:srgbClr val="078C8C"/>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0" name="Shape 138">
              <a:extLst>
                <a:ext uri="{FF2B5EF4-FFF2-40B4-BE49-F238E27FC236}">
                  <a16:creationId xmlns:a16="http://schemas.microsoft.com/office/drawing/2014/main" id="{C3E0F542-D1EE-2237-1DDE-81F67B1D4E02}"/>
                </a:ext>
              </a:extLst>
            </p:cNvPr>
            <p:cNvSpPr/>
            <p:nvPr/>
          </p:nvSpPr>
          <p:spPr>
            <a:xfrm>
              <a:off x="2644140" y="5864054"/>
              <a:ext cx="175260" cy="0"/>
            </a:xfrm>
            <a:prstGeom prst="line">
              <a:avLst/>
            </a:prstGeom>
            <a:noFill/>
            <a:ln w="19050">
              <a:solidFill>
                <a:srgbClr val="6E3DBB"/>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1" name="Shape 139">
              <a:extLst>
                <a:ext uri="{FF2B5EF4-FFF2-40B4-BE49-F238E27FC236}">
                  <a16:creationId xmlns:a16="http://schemas.microsoft.com/office/drawing/2014/main" id="{8DF926A8-D16B-74AB-74B3-73AD46067CF2}"/>
                </a:ext>
              </a:extLst>
            </p:cNvPr>
            <p:cNvSpPr/>
            <p:nvPr/>
          </p:nvSpPr>
          <p:spPr>
            <a:xfrm>
              <a:off x="8953500" y="4545794"/>
              <a:ext cx="175260" cy="0"/>
            </a:xfrm>
            <a:prstGeom prst="line">
              <a:avLst/>
            </a:prstGeom>
            <a:noFill/>
            <a:ln w="19050">
              <a:solidFill>
                <a:srgbClr val="F06B21"/>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2" name="Shape 140">
              <a:extLst>
                <a:ext uri="{FF2B5EF4-FFF2-40B4-BE49-F238E27FC236}">
                  <a16:creationId xmlns:a16="http://schemas.microsoft.com/office/drawing/2014/main" id="{03145C3F-7E3F-A405-DB6E-BC12094B1CEF}"/>
                </a:ext>
              </a:extLst>
            </p:cNvPr>
            <p:cNvSpPr/>
            <p:nvPr/>
          </p:nvSpPr>
          <p:spPr>
            <a:xfrm>
              <a:off x="8953500" y="5825954"/>
              <a:ext cx="175260" cy="0"/>
            </a:xfrm>
            <a:prstGeom prst="line">
              <a:avLst/>
            </a:prstGeom>
            <a:noFill/>
            <a:ln w="19050">
              <a:solidFill>
                <a:srgbClr val="4C8C2B"/>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3" name="Shape 142">
              <a:extLst>
                <a:ext uri="{FF2B5EF4-FFF2-40B4-BE49-F238E27FC236}">
                  <a16:creationId xmlns:a16="http://schemas.microsoft.com/office/drawing/2014/main" id="{7E0AC27A-925A-119F-3234-DE042FECB32B}"/>
                </a:ext>
              </a:extLst>
            </p:cNvPr>
            <p:cNvSpPr/>
            <p:nvPr/>
          </p:nvSpPr>
          <p:spPr>
            <a:xfrm>
              <a:off x="167640" y="6496514"/>
              <a:ext cx="11856720" cy="342900"/>
            </a:xfrm>
            <a:prstGeom prst="roundRect">
              <a:avLst>
                <a:gd name="adj" fmla="val 13333"/>
              </a:avLst>
            </a:prstGeom>
            <a:solidFill>
              <a:srgbClr val="FFFFFF"/>
            </a:solidFill>
            <a:ln w="15240">
              <a:solidFill>
                <a:srgbClr val="98A2B3"/>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4" name="Shape 143">
              <a:extLst>
                <a:ext uri="{FF2B5EF4-FFF2-40B4-BE49-F238E27FC236}">
                  <a16:creationId xmlns:a16="http://schemas.microsoft.com/office/drawing/2014/main" id="{56E98A31-464B-27D9-81D0-47F4B0196E78}"/>
                </a:ext>
              </a:extLst>
            </p:cNvPr>
            <p:cNvSpPr/>
            <p:nvPr/>
          </p:nvSpPr>
          <p:spPr>
            <a:xfrm>
              <a:off x="4991100" y="6420314"/>
              <a:ext cx="2209800" cy="213360"/>
            </a:xfrm>
            <a:prstGeom prst="roundRect">
              <a:avLst/>
            </a:prstGeom>
            <a:solidFill>
              <a:srgbClr val="667085"/>
            </a:solidFill>
            <a:ln w="12700">
              <a:solidFill>
                <a:srgbClr val="667085"/>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95" name="Text 144">
              <a:extLst>
                <a:ext uri="{FF2B5EF4-FFF2-40B4-BE49-F238E27FC236}">
                  <a16:creationId xmlns:a16="http://schemas.microsoft.com/office/drawing/2014/main" id="{54BF2D32-29E6-BE88-A07E-89062287C3E7}"/>
                </a:ext>
              </a:extLst>
            </p:cNvPr>
            <p:cNvSpPr/>
            <p:nvPr/>
          </p:nvSpPr>
          <p:spPr>
            <a:xfrm>
              <a:off x="4991100" y="6424124"/>
              <a:ext cx="2209800" cy="198120"/>
            </a:xfrm>
            <a:prstGeom prst="rect">
              <a:avLst/>
            </a:prstGeom>
            <a:noFill/>
            <a:ln/>
          </p:spPr>
          <p:txBody>
            <a:bodyPr wrap="square" lIns="212" tIns="212" rIns="212" bIns="212" rtlCol="0" anchor="ctr"/>
            <a:lstStyle/>
            <a:p>
              <a:pPr algn="ctr"/>
              <a:r>
                <a:rPr lang="en-US" sz="1250" b="1" dirty="0">
                  <a:solidFill>
                    <a:srgbClr val="FFFFFF"/>
                  </a:solidFill>
                  <a:latin typeface="BIZ UDPゴシック" panose="020B0400000000000000" pitchFamily="50" charset="-128"/>
                  <a:ea typeface="BIZ UDPゴシック" panose="020B0400000000000000" pitchFamily="50" charset="-128"/>
                  <a:cs typeface="Yu Gothic" pitchFamily="34" charset="-120"/>
                </a:rPr>
                <a:t>PoC・検証環境</a:t>
              </a:r>
              <a:endParaRPr lang="en-US" sz="1250" dirty="0">
                <a:latin typeface="BIZ UDPゴシック" panose="020B0400000000000000" pitchFamily="50" charset="-128"/>
                <a:ea typeface="BIZ UDPゴシック" panose="020B0400000000000000" pitchFamily="50" charset="-128"/>
              </a:endParaRPr>
            </a:p>
          </p:txBody>
        </p:sp>
        <p:sp>
          <p:nvSpPr>
            <p:cNvPr id="96" name="Text 145">
              <a:extLst>
                <a:ext uri="{FF2B5EF4-FFF2-40B4-BE49-F238E27FC236}">
                  <a16:creationId xmlns:a16="http://schemas.microsoft.com/office/drawing/2014/main" id="{BC2619FC-91C5-14AE-0D82-B66862323914}"/>
                </a:ext>
              </a:extLst>
            </p:cNvPr>
            <p:cNvSpPr/>
            <p:nvPr/>
          </p:nvSpPr>
          <p:spPr>
            <a:xfrm>
              <a:off x="3198014" y="6663462"/>
              <a:ext cx="5791200" cy="121920"/>
            </a:xfrm>
            <a:prstGeom prst="rect">
              <a:avLst/>
            </a:prstGeom>
            <a:noFill/>
            <a:ln/>
          </p:spPr>
          <p:txBody>
            <a:bodyPr wrap="square" lIns="212" tIns="212" rIns="212" bIns="212" rtlCol="0" anchor="ctr"/>
            <a:lstStyle/>
            <a:p>
              <a:pPr algn="ctr"/>
              <a:r>
                <a:rPr lang="en-US" sz="1000" b="1" dirty="0">
                  <a:solidFill>
                    <a:srgbClr val="475467"/>
                  </a:solidFill>
                  <a:latin typeface="BIZ UDPゴシック" panose="020B0400000000000000" pitchFamily="50" charset="-128"/>
                  <a:ea typeface="BIZ UDPゴシック" panose="020B0400000000000000" pitchFamily="50" charset="-128"/>
                  <a:cs typeface="Yu Gothic" pitchFamily="34" charset="-120"/>
                </a:rPr>
                <a:t>設計・検証・相互接続・トライアルを一気通貫で支援</a:t>
              </a:r>
              <a:endParaRPr lang="en-US" sz="1000" dirty="0">
                <a:latin typeface="BIZ UDPゴシック" panose="020B0400000000000000" pitchFamily="50" charset="-128"/>
                <a:ea typeface="BIZ UDPゴシック" panose="020B0400000000000000" pitchFamily="50" charset="-128"/>
              </a:endParaRPr>
            </a:p>
          </p:txBody>
        </p:sp>
        <p:cxnSp>
          <p:nvCxnSpPr>
            <p:cNvPr id="97" name="直線コネクタ 96">
              <a:extLst>
                <a:ext uri="{FF2B5EF4-FFF2-40B4-BE49-F238E27FC236}">
                  <a16:creationId xmlns:a16="http://schemas.microsoft.com/office/drawing/2014/main" id="{79E2A8AD-6ED5-1BF9-71BE-3A7B1F400818}"/>
                </a:ext>
              </a:extLst>
            </p:cNvPr>
            <p:cNvCxnSpPr>
              <a:cxnSpLocks/>
              <a:stCxn id="51" idx="6"/>
              <a:endCxn id="52" idx="3"/>
            </p:cNvCxnSpPr>
            <p:nvPr/>
          </p:nvCxnSpPr>
          <p:spPr>
            <a:xfrm flipV="1">
              <a:off x="3832860" y="4716366"/>
              <a:ext cx="919088" cy="317108"/>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98" name="直線コネクタ 97">
              <a:extLst>
                <a:ext uri="{FF2B5EF4-FFF2-40B4-BE49-F238E27FC236}">
                  <a16:creationId xmlns:a16="http://schemas.microsoft.com/office/drawing/2014/main" id="{38615646-D984-7ED1-39B9-9D90C32D3E36}"/>
                </a:ext>
              </a:extLst>
            </p:cNvPr>
            <p:cNvCxnSpPr>
              <a:cxnSpLocks/>
              <a:stCxn id="51" idx="5"/>
              <a:endCxn id="58" idx="2"/>
            </p:cNvCxnSpPr>
            <p:nvPr/>
          </p:nvCxnSpPr>
          <p:spPr>
            <a:xfrm>
              <a:off x="3774832" y="5173566"/>
              <a:ext cx="1201028" cy="509263"/>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99" name="直線コネクタ 98">
              <a:extLst>
                <a:ext uri="{FF2B5EF4-FFF2-40B4-BE49-F238E27FC236}">
                  <a16:creationId xmlns:a16="http://schemas.microsoft.com/office/drawing/2014/main" id="{57B687C9-BA62-9178-1387-C29493731316}"/>
                </a:ext>
              </a:extLst>
            </p:cNvPr>
            <p:cNvCxnSpPr>
              <a:cxnSpLocks/>
              <a:stCxn id="52" idx="5"/>
              <a:endCxn id="54" idx="2"/>
            </p:cNvCxnSpPr>
            <p:nvPr/>
          </p:nvCxnSpPr>
          <p:spPr>
            <a:xfrm>
              <a:off x="5032132" y="4716366"/>
              <a:ext cx="656198" cy="265654"/>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0" name="直線コネクタ 99">
              <a:extLst>
                <a:ext uri="{FF2B5EF4-FFF2-40B4-BE49-F238E27FC236}">
                  <a16:creationId xmlns:a16="http://schemas.microsoft.com/office/drawing/2014/main" id="{7FEA49C3-C7FA-B375-8662-8A34D051A534}"/>
                </a:ext>
              </a:extLst>
            </p:cNvPr>
            <p:cNvCxnSpPr>
              <a:cxnSpLocks/>
              <a:stCxn id="55" idx="3"/>
              <a:endCxn id="54" idx="6"/>
            </p:cNvCxnSpPr>
            <p:nvPr/>
          </p:nvCxnSpPr>
          <p:spPr>
            <a:xfrm flipH="1">
              <a:off x="6084570" y="4702973"/>
              <a:ext cx="685757" cy="279047"/>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1" name="直線コネクタ 100">
              <a:extLst>
                <a:ext uri="{FF2B5EF4-FFF2-40B4-BE49-F238E27FC236}">
                  <a16:creationId xmlns:a16="http://schemas.microsoft.com/office/drawing/2014/main" id="{1E6DF5D3-C55F-C3F1-781E-7513B7B1CD44}"/>
                </a:ext>
              </a:extLst>
            </p:cNvPr>
            <p:cNvCxnSpPr>
              <a:cxnSpLocks/>
              <a:stCxn id="58" idx="7"/>
              <a:endCxn id="54" idx="3"/>
            </p:cNvCxnSpPr>
            <p:nvPr/>
          </p:nvCxnSpPr>
          <p:spPr>
            <a:xfrm flipV="1">
              <a:off x="5314072" y="5122112"/>
              <a:ext cx="432287" cy="420626"/>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2" name="直線コネクタ 101">
              <a:extLst>
                <a:ext uri="{FF2B5EF4-FFF2-40B4-BE49-F238E27FC236}">
                  <a16:creationId xmlns:a16="http://schemas.microsoft.com/office/drawing/2014/main" id="{0A4F549A-9D45-32C0-091B-225DE77EC779}"/>
                </a:ext>
              </a:extLst>
            </p:cNvPr>
            <p:cNvCxnSpPr>
              <a:cxnSpLocks/>
              <a:stCxn id="59" idx="1"/>
              <a:endCxn id="54" idx="5"/>
            </p:cNvCxnSpPr>
            <p:nvPr/>
          </p:nvCxnSpPr>
          <p:spPr>
            <a:xfrm flipH="1" flipV="1">
              <a:off x="6026542" y="5122112"/>
              <a:ext cx="457610" cy="441831"/>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3" name="直線コネクタ 102">
              <a:extLst>
                <a:ext uri="{FF2B5EF4-FFF2-40B4-BE49-F238E27FC236}">
                  <a16:creationId xmlns:a16="http://schemas.microsoft.com/office/drawing/2014/main" id="{4222FAC2-3937-1338-78EE-FC1C1A0BAF59}"/>
                </a:ext>
              </a:extLst>
            </p:cNvPr>
            <p:cNvCxnSpPr>
              <a:cxnSpLocks/>
              <a:stCxn id="57" idx="2"/>
              <a:endCxn id="55" idx="5"/>
            </p:cNvCxnSpPr>
            <p:nvPr/>
          </p:nvCxnSpPr>
          <p:spPr>
            <a:xfrm flipH="1" flipV="1">
              <a:off x="7050510" y="4702973"/>
              <a:ext cx="1217190" cy="337428"/>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4" name="直線コネクタ 103">
              <a:extLst>
                <a:ext uri="{FF2B5EF4-FFF2-40B4-BE49-F238E27FC236}">
                  <a16:creationId xmlns:a16="http://schemas.microsoft.com/office/drawing/2014/main" id="{1BE10F64-9859-3EA3-F014-C19E48DB9387}"/>
                </a:ext>
              </a:extLst>
            </p:cNvPr>
            <p:cNvCxnSpPr>
              <a:cxnSpLocks/>
              <a:stCxn id="59" idx="6"/>
              <a:endCxn id="57" idx="3"/>
            </p:cNvCxnSpPr>
            <p:nvPr/>
          </p:nvCxnSpPr>
          <p:spPr>
            <a:xfrm flipV="1">
              <a:off x="6822363" y="5180494"/>
              <a:ext cx="1503365" cy="523541"/>
            </a:xfrm>
            <a:prstGeom prst="line">
              <a:avLst/>
            </a:prstGeom>
            <a:ln w="19050"/>
          </p:spPr>
          <p:style>
            <a:lnRef idx="1">
              <a:schemeClr val="accent5"/>
            </a:lnRef>
            <a:fillRef idx="0">
              <a:schemeClr val="accent5"/>
            </a:fillRef>
            <a:effectRef idx="0">
              <a:schemeClr val="accent5"/>
            </a:effectRef>
            <a:fontRef idx="minor">
              <a:schemeClr val="tx1"/>
            </a:fontRef>
          </p:style>
        </p:cxnSp>
        <p:cxnSp>
          <p:nvCxnSpPr>
            <p:cNvPr id="105" name="直線コネクタ 104">
              <a:extLst>
                <a:ext uri="{FF2B5EF4-FFF2-40B4-BE49-F238E27FC236}">
                  <a16:creationId xmlns:a16="http://schemas.microsoft.com/office/drawing/2014/main" id="{95541181-82C7-93D1-4BCF-72B5ABF08B39}"/>
                </a:ext>
              </a:extLst>
            </p:cNvPr>
            <p:cNvCxnSpPr>
              <a:cxnSpLocks/>
              <a:stCxn id="55" idx="2"/>
              <a:endCxn id="52" idx="6"/>
            </p:cNvCxnSpPr>
            <p:nvPr/>
          </p:nvCxnSpPr>
          <p:spPr>
            <a:xfrm flipH="1">
              <a:off x="5090160" y="4562882"/>
              <a:ext cx="1622138" cy="13393"/>
            </a:xfrm>
            <a:prstGeom prst="line">
              <a:avLst/>
            </a:prstGeom>
            <a:ln w="19050"/>
          </p:spPr>
          <p:style>
            <a:lnRef idx="1">
              <a:schemeClr val="accent5"/>
            </a:lnRef>
            <a:fillRef idx="0">
              <a:schemeClr val="accent5"/>
            </a:fillRef>
            <a:effectRef idx="0">
              <a:schemeClr val="accent5"/>
            </a:effectRef>
            <a:fontRef idx="minor">
              <a:schemeClr val="tx1"/>
            </a:fontRef>
          </p:style>
        </p:cxnSp>
        <p:sp>
          <p:nvSpPr>
            <p:cNvPr id="106" name="Shape 87">
              <a:extLst>
                <a:ext uri="{FF2B5EF4-FFF2-40B4-BE49-F238E27FC236}">
                  <a16:creationId xmlns:a16="http://schemas.microsoft.com/office/drawing/2014/main" id="{7DB473F1-A859-0168-BB52-61517DEE4D7B}"/>
                </a:ext>
              </a:extLst>
            </p:cNvPr>
            <p:cNvSpPr/>
            <p:nvPr/>
          </p:nvSpPr>
          <p:spPr>
            <a:xfrm>
              <a:off x="5219700" y="5151546"/>
              <a:ext cx="1333500" cy="259080"/>
            </a:xfrm>
            <a:prstGeom prst="roundRect">
              <a:avLst>
                <a:gd name="adj" fmla="val 11765"/>
              </a:avLst>
            </a:prstGeom>
            <a:solidFill>
              <a:srgbClr val="FFFFFF"/>
            </a:solidFill>
            <a:ln w="1524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07" name="Text 88">
              <a:extLst>
                <a:ext uri="{FF2B5EF4-FFF2-40B4-BE49-F238E27FC236}">
                  <a16:creationId xmlns:a16="http://schemas.microsoft.com/office/drawing/2014/main" id="{3E49E349-C572-DEAA-5F2C-642D1537B065}"/>
                </a:ext>
              </a:extLst>
            </p:cNvPr>
            <p:cNvSpPr/>
            <p:nvPr/>
          </p:nvSpPr>
          <p:spPr>
            <a:xfrm>
              <a:off x="5231130" y="5191570"/>
              <a:ext cx="1333500" cy="205740"/>
            </a:xfrm>
            <a:prstGeom prst="rect">
              <a:avLst/>
            </a:prstGeom>
            <a:noFill/>
            <a:ln/>
          </p:spPr>
          <p:txBody>
            <a:bodyPr wrap="square" lIns="212" tIns="212" rIns="212" bIns="212" rtlCol="0" anchor="ctr"/>
            <a:lstStyle/>
            <a:p>
              <a:pPr algn="ctr"/>
              <a:r>
                <a:rPr lang="ja-JP" alt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バックボーン</a:t>
              </a:r>
              <a:r>
                <a:rPr lang="en-US" altLang="ja-JP"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NW</a:t>
              </a:r>
              <a:endParaRPr 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endParaRPr>
            </a:p>
          </p:txBody>
        </p:sp>
        <p:sp>
          <p:nvSpPr>
            <p:cNvPr id="108" name="Shape 87">
              <a:extLst>
                <a:ext uri="{FF2B5EF4-FFF2-40B4-BE49-F238E27FC236}">
                  <a16:creationId xmlns:a16="http://schemas.microsoft.com/office/drawing/2014/main" id="{8BB9CE29-9348-F74B-CF0E-335E0BCD279D}"/>
                </a:ext>
              </a:extLst>
            </p:cNvPr>
            <p:cNvSpPr/>
            <p:nvPr/>
          </p:nvSpPr>
          <p:spPr>
            <a:xfrm>
              <a:off x="3062893" y="5253607"/>
              <a:ext cx="1333500" cy="259080"/>
            </a:xfrm>
            <a:prstGeom prst="roundRect">
              <a:avLst>
                <a:gd name="adj" fmla="val 11765"/>
              </a:avLst>
            </a:prstGeom>
            <a:solidFill>
              <a:srgbClr val="FFFFFF"/>
            </a:solidFill>
            <a:ln w="1524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09" name="Text 88">
              <a:extLst>
                <a:ext uri="{FF2B5EF4-FFF2-40B4-BE49-F238E27FC236}">
                  <a16:creationId xmlns:a16="http://schemas.microsoft.com/office/drawing/2014/main" id="{A60121CE-F1F8-9277-EF40-406C54A4059D}"/>
                </a:ext>
              </a:extLst>
            </p:cNvPr>
            <p:cNvSpPr/>
            <p:nvPr/>
          </p:nvSpPr>
          <p:spPr>
            <a:xfrm>
              <a:off x="3074323" y="5293632"/>
              <a:ext cx="1333500" cy="205740"/>
            </a:xfrm>
            <a:prstGeom prst="rect">
              <a:avLst/>
            </a:prstGeom>
            <a:noFill/>
            <a:ln/>
          </p:spPr>
          <p:txBody>
            <a:bodyPr wrap="square" lIns="212" tIns="212" rIns="212" bIns="212" rtlCol="0" anchor="ctr"/>
            <a:lstStyle/>
            <a:p>
              <a:pPr algn="ctr"/>
              <a:r>
                <a:rPr lang="ja-JP" alt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エッジ</a:t>
              </a:r>
              <a:r>
                <a:rPr lang="en-US" altLang="ja-JP"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NW</a:t>
              </a:r>
              <a:endParaRPr 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endParaRPr>
            </a:p>
          </p:txBody>
        </p:sp>
        <p:sp>
          <p:nvSpPr>
            <p:cNvPr id="110" name="Shape 87">
              <a:extLst>
                <a:ext uri="{FF2B5EF4-FFF2-40B4-BE49-F238E27FC236}">
                  <a16:creationId xmlns:a16="http://schemas.microsoft.com/office/drawing/2014/main" id="{A8CEAB1A-B2B9-5531-E3B5-A5F5064B657D}"/>
                </a:ext>
              </a:extLst>
            </p:cNvPr>
            <p:cNvSpPr/>
            <p:nvPr/>
          </p:nvSpPr>
          <p:spPr>
            <a:xfrm>
              <a:off x="7340523" y="5251067"/>
              <a:ext cx="1333500" cy="259080"/>
            </a:xfrm>
            <a:prstGeom prst="roundRect">
              <a:avLst>
                <a:gd name="adj" fmla="val 11765"/>
              </a:avLst>
            </a:prstGeom>
            <a:solidFill>
              <a:srgbClr val="FFFFFF"/>
            </a:solidFill>
            <a:ln w="15240">
              <a:solidFill>
                <a:srgbClr val="1769C2"/>
              </a:solidFill>
              <a:prstDash val="solid"/>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1" name="Text 88">
              <a:extLst>
                <a:ext uri="{FF2B5EF4-FFF2-40B4-BE49-F238E27FC236}">
                  <a16:creationId xmlns:a16="http://schemas.microsoft.com/office/drawing/2014/main" id="{7932C618-1663-9887-EAFA-8ECDFBEF2C31}"/>
                </a:ext>
              </a:extLst>
            </p:cNvPr>
            <p:cNvSpPr/>
            <p:nvPr/>
          </p:nvSpPr>
          <p:spPr>
            <a:xfrm>
              <a:off x="7351953" y="5291092"/>
              <a:ext cx="1333500" cy="205740"/>
            </a:xfrm>
            <a:prstGeom prst="rect">
              <a:avLst/>
            </a:prstGeom>
            <a:noFill/>
            <a:ln/>
          </p:spPr>
          <p:txBody>
            <a:bodyPr wrap="square" lIns="212" tIns="212" rIns="212" bIns="212" rtlCol="0" anchor="ctr"/>
            <a:lstStyle/>
            <a:p>
              <a:pPr algn="ctr"/>
              <a:r>
                <a:rPr lang="ja-JP" alt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エッジ</a:t>
              </a:r>
              <a:r>
                <a:rPr lang="en-US" altLang="ja-JP"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rPr>
                <a:t>NW</a:t>
              </a:r>
              <a:endParaRPr lang="en-US" sz="1000" b="1" dirty="0">
                <a:solidFill>
                  <a:srgbClr val="0070C0"/>
                </a:solidFill>
                <a:latin typeface="BIZ UDPゴシック" panose="020B0400000000000000" pitchFamily="50" charset="-128"/>
                <a:ea typeface="BIZ UDPゴシック" panose="020B0400000000000000" pitchFamily="50" charset="-128"/>
                <a:cs typeface="ADLaM Display" panose="02010000000000000000" pitchFamily="2" charset="0"/>
              </a:endParaRPr>
            </a:p>
          </p:txBody>
        </p:sp>
        <p:sp>
          <p:nvSpPr>
            <p:cNvPr id="112" name="Shape 125">
              <a:extLst>
                <a:ext uri="{FF2B5EF4-FFF2-40B4-BE49-F238E27FC236}">
                  <a16:creationId xmlns:a16="http://schemas.microsoft.com/office/drawing/2014/main" id="{0EA880CF-B39C-669E-8CFC-8B73422CDD8D}"/>
                </a:ext>
              </a:extLst>
            </p:cNvPr>
            <p:cNvSpPr/>
            <p:nvPr/>
          </p:nvSpPr>
          <p:spPr>
            <a:xfrm>
              <a:off x="9396953" y="5091386"/>
              <a:ext cx="219456" cy="219456"/>
            </a:xfrm>
            <a:prstGeom prst="rect">
              <a:avLst/>
            </a:prstGeom>
            <a:blipFill>
              <a:blip r:embed="rId21">
                <a:duotone>
                  <a:schemeClr val="accent2">
                    <a:shade val="45000"/>
                    <a:satMod val="135000"/>
                  </a:schemeClr>
                  <a:prstClr val="white"/>
                </a:duotone>
              </a:blip>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3" name="Text 127">
              <a:extLst>
                <a:ext uri="{FF2B5EF4-FFF2-40B4-BE49-F238E27FC236}">
                  <a16:creationId xmlns:a16="http://schemas.microsoft.com/office/drawing/2014/main" id="{7D4F013F-513E-A862-E562-38D6420893D9}"/>
                </a:ext>
              </a:extLst>
            </p:cNvPr>
            <p:cNvSpPr/>
            <p:nvPr/>
          </p:nvSpPr>
          <p:spPr>
            <a:xfrm>
              <a:off x="9300941" y="5330654"/>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rPr>
                <a:t>製造</a:t>
              </a:r>
              <a:endParaRPr lang="en-US" sz="1000" dirty="0">
                <a:latin typeface="BIZ UDPゴシック" panose="020B0400000000000000" pitchFamily="50" charset="-128"/>
                <a:ea typeface="BIZ UDPゴシック" panose="020B0400000000000000" pitchFamily="50" charset="-128"/>
              </a:endParaRPr>
            </a:p>
          </p:txBody>
        </p:sp>
        <p:sp>
          <p:nvSpPr>
            <p:cNvPr id="114" name="Shape 128">
              <a:extLst>
                <a:ext uri="{FF2B5EF4-FFF2-40B4-BE49-F238E27FC236}">
                  <a16:creationId xmlns:a16="http://schemas.microsoft.com/office/drawing/2014/main" id="{7D447544-EE97-31BC-62FD-7112CC8B4925}"/>
                </a:ext>
              </a:extLst>
            </p:cNvPr>
            <p:cNvSpPr/>
            <p:nvPr/>
          </p:nvSpPr>
          <p:spPr>
            <a:xfrm>
              <a:off x="10090373" y="5091386"/>
              <a:ext cx="219456" cy="219456"/>
            </a:xfrm>
            <a:prstGeom prst="rect">
              <a:avLst/>
            </a:prstGeom>
            <a:blipFill>
              <a:blip r:embed="rId22">
                <a:duotone>
                  <a:schemeClr val="accent2">
                    <a:shade val="45000"/>
                    <a:satMod val="135000"/>
                  </a:schemeClr>
                  <a:prstClr val="white"/>
                </a:duotone>
              </a:blip>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5" name="Text 130">
              <a:extLst>
                <a:ext uri="{FF2B5EF4-FFF2-40B4-BE49-F238E27FC236}">
                  <a16:creationId xmlns:a16="http://schemas.microsoft.com/office/drawing/2014/main" id="{8544E25B-C39F-B274-D263-2E0F3384EE36}"/>
                </a:ext>
              </a:extLst>
            </p:cNvPr>
            <p:cNvSpPr/>
            <p:nvPr/>
          </p:nvSpPr>
          <p:spPr>
            <a:xfrm>
              <a:off x="9994361" y="5330654"/>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rPr>
                <a:t>電力・ガス</a:t>
              </a:r>
              <a:endParaRPr lang="en-US" sz="1000" dirty="0">
                <a:latin typeface="BIZ UDPゴシック" panose="020B0400000000000000" pitchFamily="50" charset="-128"/>
                <a:ea typeface="BIZ UDPゴシック" panose="020B0400000000000000" pitchFamily="50" charset="-128"/>
              </a:endParaRPr>
            </a:p>
          </p:txBody>
        </p:sp>
        <p:sp>
          <p:nvSpPr>
            <p:cNvPr id="116" name="Shape 131">
              <a:extLst>
                <a:ext uri="{FF2B5EF4-FFF2-40B4-BE49-F238E27FC236}">
                  <a16:creationId xmlns:a16="http://schemas.microsoft.com/office/drawing/2014/main" id="{211D9560-A9F6-90B3-F94D-EDF611B4030B}"/>
                </a:ext>
              </a:extLst>
            </p:cNvPr>
            <p:cNvSpPr/>
            <p:nvPr/>
          </p:nvSpPr>
          <p:spPr>
            <a:xfrm>
              <a:off x="10783793" y="5091386"/>
              <a:ext cx="219456" cy="219456"/>
            </a:xfrm>
            <a:prstGeom prst="rect">
              <a:avLst/>
            </a:prstGeom>
            <a:blipFill>
              <a:blip r:embed="rId23">
                <a:duotone>
                  <a:schemeClr val="accent2">
                    <a:shade val="45000"/>
                    <a:satMod val="135000"/>
                  </a:schemeClr>
                  <a:prstClr val="white"/>
                </a:duotone>
              </a:blip>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7" name="Text 133">
              <a:extLst>
                <a:ext uri="{FF2B5EF4-FFF2-40B4-BE49-F238E27FC236}">
                  <a16:creationId xmlns:a16="http://schemas.microsoft.com/office/drawing/2014/main" id="{78C1D3FF-B941-A222-882F-4589750B6D4C}"/>
                </a:ext>
              </a:extLst>
            </p:cNvPr>
            <p:cNvSpPr/>
            <p:nvPr/>
          </p:nvSpPr>
          <p:spPr>
            <a:xfrm>
              <a:off x="10687781" y="5330654"/>
              <a:ext cx="441960" cy="91440"/>
            </a:xfrm>
            <a:prstGeom prst="rect">
              <a:avLst/>
            </a:prstGeom>
            <a:noFill/>
            <a:ln/>
          </p:spPr>
          <p:txBody>
            <a:bodyPr wrap="square" lIns="212" tIns="212" rIns="212" bIns="212" rtlCol="0" anchor="ctr"/>
            <a:lstStyle/>
            <a:p>
              <a:pPr algn="ctr"/>
              <a:r>
                <a:rPr 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鉄道・交通</a:t>
              </a:r>
              <a:endParaRPr lang="en-US" sz="1000" dirty="0">
                <a:latin typeface="BIZ UDPゴシック" panose="020B0400000000000000" pitchFamily="50" charset="-128"/>
                <a:ea typeface="BIZ UDPゴシック" panose="020B0400000000000000" pitchFamily="50" charset="-128"/>
              </a:endParaRPr>
            </a:p>
          </p:txBody>
        </p:sp>
        <p:sp>
          <p:nvSpPr>
            <p:cNvPr id="118" name="Shape 134">
              <a:extLst>
                <a:ext uri="{FF2B5EF4-FFF2-40B4-BE49-F238E27FC236}">
                  <a16:creationId xmlns:a16="http://schemas.microsoft.com/office/drawing/2014/main" id="{F5798105-4C01-E334-B0E2-7C6908575432}"/>
                </a:ext>
              </a:extLst>
            </p:cNvPr>
            <p:cNvSpPr/>
            <p:nvPr/>
          </p:nvSpPr>
          <p:spPr>
            <a:xfrm>
              <a:off x="11477213" y="5091386"/>
              <a:ext cx="219456" cy="219456"/>
            </a:xfrm>
            <a:prstGeom prst="rect">
              <a:avLst/>
            </a:prstGeom>
            <a:blipFill>
              <a:blip r:embed="rId24">
                <a:duotone>
                  <a:schemeClr val="accent2">
                    <a:shade val="45000"/>
                    <a:satMod val="135000"/>
                  </a:schemeClr>
                  <a:prstClr val="white"/>
                </a:duotone>
              </a:blip>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19" name="Text 136">
              <a:extLst>
                <a:ext uri="{FF2B5EF4-FFF2-40B4-BE49-F238E27FC236}">
                  <a16:creationId xmlns:a16="http://schemas.microsoft.com/office/drawing/2014/main" id="{DCCEFD0C-A25A-5E91-DD44-B7E1B5AA99A0}"/>
                </a:ext>
              </a:extLst>
            </p:cNvPr>
            <p:cNvSpPr/>
            <p:nvPr/>
          </p:nvSpPr>
          <p:spPr>
            <a:xfrm>
              <a:off x="11381201" y="5330654"/>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cs typeface="Yu Gothic" pitchFamily="34" charset="-120"/>
                </a:rPr>
                <a:t>学術・</a:t>
              </a:r>
              <a:r>
                <a:rPr lang="en-US" sz="1000" b="1" dirty="0" err="1">
                  <a:solidFill>
                    <a:srgbClr val="1D2939"/>
                  </a:solidFill>
                  <a:latin typeface="BIZ UDPゴシック" panose="020B0400000000000000" pitchFamily="50" charset="-128"/>
                  <a:ea typeface="BIZ UDPゴシック" panose="020B0400000000000000" pitchFamily="50" charset="-128"/>
                  <a:cs typeface="Yu Gothic" pitchFamily="34" charset="-120"/>
                </a:rPr>
                <a:t>公共</a:t>
              </a:r>
              <a:endParaRPr lang="en-US" sz="1000" dirty="0">
                <a:latin typeface="BIZ UDPゴシック" panose="020B0400000000000000" pitchFamily="50" charset="-128"/>
                <a:ea typeface="BIZ UDPゴシック" panose="020B0400000000000000" pitchFamily="50" charset="-128"/>
              </a:endParaRPr>
            </a:p>
          </p:txBody>
        </p:sp>
        <p:sp>
          <p:nvSpPr>
            <p:cNvPr id="120" name="Shape 148">
              <a:extLst>
                <a:ext uri="{FF2B5EF4-FFF2-40B4-BE49-F238E27FC236}">
                  <a16:creationId xmlns:a16="http://schemas.microsoft.com/office/drawing/2014/main" id="{0BCCDE48-50FB-7C3E-8C61-2E3407ADC970}"/>
                </a:ext>
              </a:extLst>
            </p:cNvPr>
            <p:cNvSpPr/>
            <p:nvPr/>
          </p:nvSpPr>
          <p:spPr>
            <a:xfrm>
              <a:off x="10710641" y="5650694"/>
              <a:ext cx="0" cy="0"/>
            </a:xfrm>
            <a:prstGeom prst="line">
              <a:avLst/>
            </a:prstGeom>
            <a:noFill/>
            <a:ln w="19050">
              <a:solidFill>
                <a:srgbClr val="98A2B3"/>
              </a:solidFill>
              <a:prstDash val="solid"/>
              <a:headEnd type="none"/>
              <a:tailEnd type="arrow"/>
            </a:ln>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21" name="Shape 134">
              <a:extLst>
                <a:ext uri="{FF2B5EF4-FFF2-40B4-BE49-F238E27FC236}">
                  <a16:creationId xmlns:a16="http://schemas.microsoft.com/office/drawing/2014/main" id="{FD373850-29FF-7695-983B-C7F975C9EDC1}"/>
                </a:ext>
              </a:extLst>
            </p:cNvPr>
            <p:cNvSpPr/>
            <p:nvPr/>
          </p:nvSpPr>
          <p:spPr>
            <a:xfrm>
              <a:off x="10749157" y="5916192"/>
              <a:ext cx="219456" cy="219456"/>
            </a:xfrm>
            <a:prstGeom prst="rect">
              <a:avLst/>
            </a:prstGeom>
            <a:blipFill>
              <a:blip r:embed="rId25"/>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22" name="Text 136">
              <a:extLst>
                <a:ext uri="{FF2B5EF4-FFF2-40B4-BE49-F238E27FC236}">
                  <a16:creationId xmlns:a16="http://schemas.microsoft.com/office/drawing/2014/main" id="{3ADEE82A-74DF-F180-D574-452971BE66DA}"/>
                </a:ext>
              </a:extLst>
            </p:cNvPr>
            <p:cNvSpPr/>
            <p:nvPr/>
          </p:nvSpPr>
          <p:spPr>
            <a:xfrm>
              <a:off x="10653145" y="6155460"/>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rPr>
                <a:t>支店</a:t>
              </a:r>
              <a:endParaRPr lang="en-US" sz="1000" dirty="0">
                <a:latin typeface="BIZ UDPゴシック" panose="020B0400000000000000" pitchFamily="50" charset="-128"/>
                <a:ea typeface="BIZ UDPゴシック" panose="020B0400000000000000" pitchFamily="50" charset="-128"/>
              </a:endParaRPr>
            </a:p>
          </p:txBody>
        </p:sp>
        <p:sp>
          <p:nvSpPr>
            <p:cNvPr id="123" name="Shape 134">
              <a:extLst>
                <a:ext uri="{FF2B5EF4-FFF2-40B4-BE49-F238E27FC236}">
                  <a16:creationId xmlns:a16="http://schemas.microsoft.com/office/drawing/2014/main" id="{37A8FBFB-A636-86B8-76E3-3949DF5F27E5}"/>
                </a:ext>
              </a:extLst>
            </p:cNvPr>
            <p:cNvSpPr/>
            <p:nvPr/>
          </p:nvSpPr>
          <p:spPr>
            <a:xfrm>
              <a:off x="11318117" y="5912382"/>
              <a:ext cx="219456" cy="219456"/>
            </a:xfrm>
            <a:prstGeom prst="rect">
              <a:avLst/>
            </a:prstGeom>
            <a:blipFill>
              <a:blip r:embed="rId26"/>
              <a:stretch>
                <a:fillRect/>
              </a:stretch>
            </a:blipFill>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24" name="Text 136">
              <a:extLst>
                <a:ext uri="{FF2B5EF4-FFF2-40B4-BE49-F238E27FC236}">
                  <a16:creationId xmlns:a16="http://schemas.microsoft.com/office/drawing/2014/main" id="{76D692E5-969E-26B8-99DB-A9544D08CFBB}"/>
                </a:ext>
              </a:extLst>
            </p:cNvPr>
            <p:cNvSpPr/>
            <p:nvPr/>
          </p:nvSpPr>
          <p:spPr>
            <a:xfrm>
              <a:off x="11222105" y="6151650"/>
              <a:ext cx="441960" cy="91440"/>
            </a:xfrm>
            <a:prstGeom prst="rect">
              <a:avLst/>
            </a:prstGeom>
            <a:noFill/>
            <a:ln/>
          </p:spPr>
          <p:txBody>
            <a:bodyPr wrap="square" lIns="212" tIns="212" rIns="212" bIns="212" rtlCol="0" anchor="ctr"/>
            <a:lstStyle/>
            <a:p>
              <a:pPr algn="ctr"/>
              <a:r>
                <a:rPr lang="ja-JP" altLang="en-US" sz="1000" b="1" dirty="0">
                  <a:solidFill>
                    <a:srgbClr val="1D2939"/>
                  </a:solidFill>
                  <a:latin typeface="BIZ UDPゴシック" panose="020B0400000000000000" pitchFamily="50" charset="-128"/>
                  <a:ea typeface="BIZ UDPゴシック" panose="020B0400000000000000" pitchFamily="50" charset="-128"/>
                </a:rPr>
                <a:t>リモート</a:t>
              </a:r>
              <a:endParaRPr lang="en-US" sz="1000" dirty="0">
                <a:latin typeface="BIZ UDPゴシック" panose="020B0400000000000000" pitchFamily="50" charset="-128"/>
                <a:ea typeface="BIZ UDPゴシック" panose="020B0400000000000000" pitchFamily="50" charset="-128"/>
              </a:endParaRPr>
            </a:p>
          </p:txBody>
        </p:sp>
        <p:sp>
          <p:nvSpPr>
            <p:cNvPr id="125" name="Shape 4">
              <a:extLst>
                <a:ext uri="{FF2B5EF4-FFF2-40B4-BE49-F238E27FC236}">
                  <a16:creationId xmlns:a16="http://schemas.microsoft.com/office/drawing/2014/main" id="{11B632FB-BE48-E6B7-017F-5B15349E5015}"/>
                </a:ext>
              </a:extLst>
            </p:cNvPr>
            <p:cNvSpPr/>
            <p:nvPr/>
          </p:nvSpPr>
          <p:spPr>
            <a:xfrm>
              <a:off x="174445" y="1325880"/>
              <a:ext cx="5212080" cy="785949"/>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26" name="Shape 5">
              <a:extLst>
                <a:ext uri="{FF2B5EF4-FFF2-40B4-BE49-F238E27FC236}">
                  <a16:creationId xmlns:a16="http://schemas.microsoft.com/office/drawing/2014/main" id="{D01CD24B-287A-EC90-F722-0337B211FF6B}"/>
                </a:ext>
              </a:extLst>
            </p:cNvPr>
            <p:cNvSpPr/>
            <p:nvPr/>
          </p:nvSpPr>
          <p:spPr>
            <a:xfrm>
              <a:off x="220165" y="1435608"/>
              <a:ext cx="64008" cy="614469"/>
            </a:xfrm>
            <a:prstGeom prst="rect">
              <a:avLst/>
            </a:prstGeom>
            <a:solidFill>
              <a:srgbClr val="1D4ED8"/>
            </a:solidFill>
            <a:ln w="12700">
              <a:solidFill>
                <a:srgbClr val="1D4ED8"/>
              </a:solidFill>
              <a:prstDash val="solid"/>
            </a:ln>
          </p:spPr>
          <p:txBody>
            <a:bodyPr/>
            <a:lstStyle/>
            <a:p>
              <a:endParaRPr lang="ja-JP" altLang="en-US" sz="2800"/>
            </a:p>
          </p:txBody>
        </p:sp>
        <p:sp>
          <p:nvSpPr>
            <p:cNvPr id="127" name="Shape 6">
              <a:extLst>
                <a:ext uri="{FF2B5EF4-FFF2-40B4-BE49-F238E27FC236}">
                  <a16:creationId xmlns:a16="http://schemas.microsoft.com/office/drawing/2014/main" id="{0AA313B5-2571-8727-1C72-F5CB1B4A4C06}"/>
                </a:ext>
              </a:extLst>
            </p:cNvPr>
            <p:cNvSpPr/>
            <p:nvPr/>
          </p:nvSpPr>
          <p:spPr>
            <a:xfrm>
              <a:off x="384757" y="1490472"/>
              <a:ext cx="384048" cy="300090"/>
            </a:xfrm>
            <a:prstGeom prst="ellipse">
              <a:avLst/>
            </a:prstGeom>
            <a:solidFill>
              <a:srgbClr val="1D4ED8"/>
            </a:solidFill>
            <a:ln w="12700">
              <a:solidFill>
                <a:srgbClr val="1D4ED8"/>
              </a:solidFill>
              <a:prstDash val="solid"/>
            </a:ln>
          </p:spPr>
          <p:txBody>
            <a:bodyPr/>
            <a:lstStyle/>
            <a:p>
              <a:endParaRPr lang="ja-JP" altLang="en-US" sz="2800"/>
            </a:p>
          </p:txBody>
        </p:sp>
        <p:sp>
          <p:nvSpPr>
            <p:cNvPr id="128" name="Text 7">
              <a:extLst>
                <a:ext uri="{FF2B5EF4-FFF2-40B4-BE49-F238E27FC236}">
                  <a16:creationId xmlns:a16="http://schemas.microsoft.com/office/drawing/2014/main" id="{C2BF2099-AF5B-AFD7-DA4E-E6999C45CC3A}"/>
                </a:ext>
              </a:extLst>
            </p:cNvPr>
            <p:cNvSpPr/>
            <p:nvPr/>
          </p:nvSpPr>
          <p:spPr>
            <a:xfrm>
              <a:off x="425905" y="1559052"/>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1</a:t>
              </a:r>
              <a:endParaRPr lang="en-US" dirty="0"/>
            </a:p>
          </p:txBody>
        </p:sp>
        <p:sp>
          <p:nvSpPr>
            <p:cNvPr id="129" name="Text 8">
              <a:extLst>
                <a:ext uri="{FF2B5EF4-FFF2-40B4-BE49-F238E27FC236}">
                  <a16:creationId xmlns:a16="http://schemas.microsoft.com/office/drawing/2014/main" id="{3EEAB3D0-02D5-F2E7-631D-1E798615B929}"/>
                </a:ext>
              </a:extLst>
            </p:cNvPr>
            <p:cNvSpPr/>
            <p:nvPr/>
          </p:nvSpPr>
          <p:spPr>
            <a:xfrm>
              <a:off x="878533" y="1490472"/>
              <a:ext cx="4343400" cy="178625"/>
            </a:xfrm>
            <a:prstGeom prst="rect">
              <a:avLst/>
            </a:prstGeom>
            <a:noFill/>
            <a:ln/>
          </p:spPr>
          <p:txBody>
            <a:bodyPr wrap="square" lIns="0" tIns="0" rIns="0" bIns="0" rtlCol="0" anchor="ctr"/>
            <a:lstStyle/>
            <a:p>
              <a:pPr marL="0" indent="0">
                <a:buNone/>
              </a:pPr>
              <a:r>
                <a:rPr lang="en-US" b="1" dirty="0">
                  <a:solidFill>
                    <a:srgbClr val="0B1F33"/>
                  </a:solidFill>
                  <a:latin typeface="Yu Gothic" pitchFamily="34" charset="0"/>
                  <a:ea typeface="Yu Gothic" pitchFamily="34" charset="-122"/>
                  <a:cs typeface="Yu Gothic" pitchFamily="34" charset="-120"/>
                </a:rPr>
                <a:t>1. キャリア向けNW市場の成熟</a:t>
              </a:r>
              <a:endParaRPr lang="en-US" dirty="0"/>
            </a:p>
          </p:txBody>
        </p:sp>
        <p:sp>
          <p:nvSpPr>
            <p:cNvPr id="130" name="Text 9">
              <a:extLst>
                <a:ext uri="{FF2B5EF4-FFF2-40B4-BE49-F238E27FC236}">
                  <a16:creationId xmlns:a16="http://schemas.microsoft.com/office/drawing/2014/main" id="{7BFF3565-9601-B064-4FED-BBAB77D49023}"/>
                </a:ext>
              </a:extLst>
            </p:cNvPr>
            <p:cNvSpPr/>
            <p:nvPr/>
          </p:nvSpPr>
          <p:spPr>
            <a:xfrm>
              <a:off x="878533" y="1773936"/>
              <a:ext cx="4343400" cy="342960"/>
            </a:xfrm>
            <a:prstGeom prst="rect">
              <a:avLst/>
            </a:prstGeom>
            <a:noFill/>
            <a:ln/>
          </p:spPr>
          <p:txBody>
            <a:bodyPr wrap="square" lIns="127" tIns="127" rIns="127" bIns="127" rtlCol="0" anchor="t">
              <a:normAutofit/>
            </a:bodyPr>
            <a:lstStyle/>
            <a:p>
              <a:pPr marL="0" indent="0">
                <a:buNone/>
              </a:pPr>
              <a:r>
                <a:rPr lang="en-US" sz="1050" dirty="0">
                  <a:solidFill>
                    <a:srgbClr val="1F2937"/>
                  </a:solidFill>
                  <a:latin typeface="Yu Gothic" pitchFamily="34" charset="0"/>
                  <a:ea typeface="Yu Gothic" pitchFamily="34" charset="-122"/>
                  <a:cs typeface="Yu Gothic" pitchFamily="34" charset="-120"/>
                </a:rPr>
                <a:t>通信事業者向けの投資が横ばい傾向となる中、機器・構築単体ではなく、顧客課題を深掘りした付加価値提案が必要になる。</a:t>
              </a:r>
              <a:endParaRPr lang="en-US" sz="1050" dirty="0"/>
            </a:p>
          </p:txBody>
        </p:sp>
        <p:sp>
          <p:nvSpPr>
            <p:cNvPr id="131" name="Shape 10">
              <a:extLst>
                <a:ext uri="{FF2B5EF4-FFF2-40B4-BE49-F238E27FC236}">
                  <a16:creationId xmlns:a16="http://schemas.microsoft.com/office/drawing/2014/main" id="{0BFB297C-B4C5-7C1F-9A96-88AC190621CC}"/>
                </a:ext>
              </a:extLst>
            </p:cNvPr>
            <p:cNvSpPr/>
            <p:nvPr/>
          </p:nvSpPr>
          <p:spPr>
            <a:xfrm>
              <a:off x="174445" y="2166258"/>
              <a:ext cx="5212080" cy="785949"/>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32" name="Shape 11">
              <a:extLst>
                <a:ext uri="{FF2B5EF4-FFF2-40B4-BE49-F238E27FC236}">
                  <a16:creationId xmlns:a16="http://schemas.microsoft.com/office/drawing/2014/main" id="{F4D4C548-85CD-D9BE-B429-DF1EF9CFE281}"/>
                </a:ext>
              </a:extLst>
            </p:cNvPr>
            <p:cNvSpPr/>
            <p:nvPr/>
          </p:nvSpPr>
          <p:spPr>
            <a:xfrm>
              <a:off x="220165" y="2275986"/>
              <a:ext cx="64008" cy="614469"/>
            </a:xfrm>
            <a:prstGeom prst="rect">
              <a:avLst/>
            </a:prstGeom>
            <a:solidFill>
              <a:srgbClr val="0D9488"/>
            </a:solidFill>
            <a:ln w="12700">
              <a:solidFill>
                <a:srgbClr val="0D9488"/>
              </a:solidFill>
              <a:prstDash val="solid"/>
            </a:ln>
          </p:spPr>
          <p:txBody>
            <a:bodyPr/>
            <a:lstStyle/>
            <a:p>
              <a:endParaRPr lang="ja-JP" altLang="en-US" sz="2800"/>
            </a:p>
          </p:txBody>
        </p:sp>
        <p:sp>
          <p:nvSpPr>
            <p:cNvPr id="133" name="Shape 12">
              <a:extLst>
                <a:ext uri="{FF2B5EF4-FFF2-40B4-BE49-F238E27FC236}">
                  <a16:creationId xmlns:a16="http://schemas.microsoft.com/office/drawing/2014/main" id="{942C75C3-E5EF-0F48-2069-02F35576CB92}"/>
                </a:ext>
              </a:extLst>
            </p:cNvPr>
            <p:cNvSpPr/>
            <p:nvPr/>
          </p:nvSpPr>
          <p:spPr>
            <a:xfrm>
              <a:off x="384757" y="2330850"/>
              <a:ext cx="384048" cy="300090"/>
            </a:xfrm>
            <a:prstGeom prst="ellipse">
              <a:avLst/>
            </a:prstGeom>
            <a:solidFill>
              <a:srgbClr val="0D9488"/>
            </a:solidFill>
            <a:ln w="12700">
              <a:solidFill>
                <a:srgbClr val="0D9488"/>
              </a:solidFill>
              <a:prstDash val="solid"/>
            </a:ln>
          </p:spPr>
          <p:txBody>
            <a:bodyPr/>
            <a:lstStyle/>
            <a:p>
              <a:endParaRPr lang="ja-JP" altLang="en-US" sz="2800"/>
            </a:p>
          </p:txBody>
        </p:sp>
        <p:sp>
          <p:nvSpPr>
            <p:cNvPr id="134" name="Text 13">
              <a:extLst>
                <a:ext uri="{FF2B5EF4-FFF2-40B4-BE49-F238E27FC236}">
                  <a16:creationId xmlns:a16="http://schemas.microsoft.com/office/drawing/2014/main" id="{5E75E3DC-7DC4-697A-24BB-0742A53E9A96}"/>
                </a:ext>
              </a:extLst>
            </p:cNvPr>
            <p:cNvSpPr/>
            <p:nvPr/>
          </p:nvSpPr>
          <p:spPr>
            <a:xfrm>
              <a:off x="425905" y="2399430"/>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2</a:t>
              </a:r>
              <a:endParaRPr lang="en-US" dirty="0"/>
            </a:p>
          </p:txBody>
        </p:sp>
        <p:sp>
          <p:nvSpPr>
            <p:cNvPr id="135" name="Text 14">
              <a:extLst>
                <a:ext uri="{FF2B5EF4-FFF2-40B4-BE49-F238E27FC236}">
                  <a16:creationId xmlns:a16="http://schemas.microsoft.com/office/drawing/2014/main" id="{250ADE13-6ED8-5AFB-1143-A145F35D74A6}"/>
                </a:ext>
              </a:extLst>
            </p:cNvPr>
            <p:cNvSpPr/>
            <p:nvPr/>
          </p:nvSpPr>
          <p:spPr>
            <a:xfrm>
              <a:off x="878533" y="2330850"/>
              <a:ext cx="4343400" cy="178625"/>
            </a:xfrm>
            <a:prstGeom prst="rect">
              <a:avLst/>
            </a:prstGeom>
            <a:noFill/>
            <a:ln/>
          </p:spPr>
          <p:txBody>
            <a:bodyPr wrap="square" lIns="0" tIns="0" rIns="0" bIns="0" rtlCol="0" anchor="ctr"/>
            <a:lstStyle/>
            <a:p>
              <a:pPr marL="0" indent="0">
                <a:buNone/>
              </a:pPr>
              <a:r>
                <a:rPr lang="en-US" b="1" dirty="0">
                  <a:solidFill>
                    <a:srgbClr val="0B1F33"/>
                  </a:solidFill>
                  <a:latin typeface="Yu Gothic" pitchFamily="34" charset="0"/>
                  <a:ea typeface="Yu Gothic" pitchFamily="34" charset="-122"/>
                  <a:cs typeface="Yu Gothic" pitchFamily="34" charset="-120"/>
                </a:rPr>
                <a:t>2. 顧客課題が「運用高度化」へ移行</a:t>
              </a:r>
              <a:endParaRPr lang="en-US" dirty="0"/>
            </a:p>
          </p:txBody>
        </p:sp>
        <p:sp>
          <p:nvSpPr>
            <p:cNvPr id="136" name="Text 15">
              <a:extLst>
                <a:ext uri="{FF2B5EF4-FFF2-40B4-BE49-F238E27FC236}">
                  <a16:creationId xmlns:a16="http://schemas.microsoft.com/office/drawing/2014/main" id="{F0A5D6BE-EE76-769C-9C74-A2EE4A02724F}"/>
                </a:ext>
              </a:extLst>
            </p:cNvPr>
            <p:cNvSpPr/>
            <p:nvPr/>
          </p:nvSpPr>
          <p:spPr>
            <a:xfrm>
              <a:off x="878533" y="2614314"/>
              <a:ext cx="4343400" cy="342960"/>
            </a:xfrm>
            <a:prstGeom prst="rect">
              <a:avLst/>
            </a:prstGeom>
            <a:noFill/>
            <a:ln/>
          </p:spPr>
          <p:txBody>
            <a:bodyPr wrap="square" lIns="127" tIns="127" rIns="127" bIns="127" rtlCol="0" anchor="t">
              <a:normAutofit/>
            </a:bodyPr>
            <a:lstStyle/>
            <a:p>
              <a:pPr marL="0" indent="0">
                <a:buNone/>
              </a:pPr>
              <a:r>
                <a:rPr lang="en-US" sz="1050" dirty="0">
                  <a:solidFill>
                    <a:srgbClr val="1F2937"/>
                  </a:solidFill>
                  <a:latin typeface="Yu Gothic" pitchFamily="34" charset="0"/>
                  <a:ea typeface="Yu Gothic" pitchFamily="34" charset="-122"/>
                  <a:cs typeface="Yu Gothic" pitchFamily="34" charset="-120"/>
                </a:rPr>
                <a:t>人手不足・運用負荷・属人化に対し、AIOpsや自動化により、継続運用・省人化・品質向上を支援する余地が大きい。</a:t>
              </a:r>
              <a:endParaRPr lang="en-US" sz="1050" dirty="0"/>
            </a:p>
          </p:txBody>
        </p:sp>
        <p:sp>
          <p:nvSpPr>
            <p:cNvPr id="137" name="Shape 16">
              <a:extLst>
                <a:ext uri="{FF2B5EF4-FFF2-40B4-BE49-F238E27FC236}">
                  <a16:creationId xmlns:a16="http://schemas.microsoft.com/office/drawing/2014/main" id="{14272EC5-BCAD-3CB5-45B6-E0366C74A266}"/>
                </a:ext>
              </a:extLst>
            </p:cNvPr>
            <p:cNvSpPr/>
            <p:nvPr/>
          </p:nvSpPr>
          <p:spPr>
            <a:xfrm>
              <a:off x="5626011" y="1325880"/>
              <a:ext cx="5212080" cy="785949"/>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38" name="Shape 17">
              <a:extLst>
                <a:ext uri="{FF2B5EF4-FFF2-40B4-BE49-F238E27FC236}">
                  <a16:creationId xmlns:a16="http://schemas.microsoft.com/office/drawing/2014/main" id="{5DB22683-108B-7F85-9164-312643959B7F}"/>
                </a:ext>
              </a:extLst>
            </p:cNvPr>
            <p:cNvSpPr/>
            <p:nvPr/>
          </p:nvSpPr>
          <p:spPr>
            <a:xfrm>
              <a:off x="5671731" y="1435608"/>
              <a:ext cx="64008" cy="614469"/>
            </a:xfrm>
            <a:prstGeom prst="rect">
              <a:avLst/>
            </a:prstGeom>
            <a:solidFill>
              <a:srgbClr val="F59E0B"/>
            </a:solidFill>
            <a:ln w="12700">
              <a:solidFill>
                <a:srgbClr val="F59E0B"/>
              </a:solidFill>
              <a:prstDash val="solid"/>
            </a:ln>
          </p:spPr>
          <p:txBody>
            <a:bodyPr/>
            <a:lstStyle/>
            <a:p>
              <a:endParaRPr lang="ja-JP" altLang="en-US" sz="2800"/>
            </a:p>
          </p:txBody>
        </p:sp>
        <p:sp>
          <p:nvSpPr>
            <p:cNvPr id="139" name="Shape 18">
              <a:extLst>
                <a:ext uri="{FF2B5EF4-FFF2-40B4-BE49-F238E27FC236}">
                  <a16:creationId xmlns:a16="http://schemas.microsoft.com/office/drawing/2014/main" id="{ACCB1B1E-EBB2-D880-0203-D7BBAACDD0A4}"/>
                </a:ext>
              </a:extLst>
            </p:cNvPr>
            <p:cNvSpPr/>
            <p:nvPr/>
          </p:nvSpPr>
          <p:spPr>
            <a:xfrm>
              <a:off x="5836323" y="1490472"/>
              <a:ext cx="384048" cy="300090"/>
            </a:xfrm>
            <a:prstGeom prst="ellipse">
              <a:avLst/>
            </a:prstGeom>
            <a:solidFill>
              <a:srgbClr val="F59E0B"/>
            </a:solidFill>
            <a:ln w="12700">
              <a:solidFill>
                <a:srgbClr val="F59E0B"/>
              </a:solidFill>
              <a:prstDash val="solid"/>
            </a:ln>
          </p:spPr>
          <p:txBody>
            <a:bodyPr/>
            <a:lstStyle/>
            <a:p>
              <a:endParaRPr lang="ja-JP" altLang="en-US" sz="2800"/>
            </a:p>
          </p:txBody>
        </p:sp>
        <p:sp>
          <p:nvSpPr>
            <p:cNvPr id="140" name="Text 19">
              <a:extLst>
                <a:ext uri="{FF2B5EF4-FFF2-40B4-BE49-F238E27FC236}">
                  <a16:creationId xmlns:a16="http://schemas.microsoft.com/office/drawing/2014/main" id="{A3C42597-A3CD-22DA-0006-89DCDA883014}"/>
                </a:ext>
              </a:extLst>
            </p:cNvPr>
            <p:cNvSpPr/>
            <p:nvPr/>
          </p:nvSpPr>
          <p:spPr>
            <a:xfrm>
              <a:off x="5877471" y="1559052"/>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3</a:t>
              </a:r>
              <a:endParaRPr lang="en-US" dirty="0"/>
            </a:p>
          </p:txBody>
        </p:sp>
        <p:sp>
          <p:nvSpPr>
            <p:cNvPr id="141" name="Text 20">
              <a:extLst>
                <a:ext uri="{FF2B5EF4-FFF2-40B4-BE49-F238E27FC236}">
                  <a16:creationId xmlns:a16="http://schemas.microsoft.com/office/drawing/2014/main" id="{65B55145-F92E-4D16-5175-B9588EC0291A}"/>
                </a:ext>
              </a:extLst>
            </p:cNvPr>
            <p:cNvSpPr/>
            <p:nvPr/>
          </p:nvSpPr>
          <p:spPr>
            <a:xfrm>
              <a:off x="6330099" y="1490472"/>
              <a:ext cx="4343400" cy="178625"/>
            </a:xfrm>
            <a:prstGeom prst="rect">
              <a:avLst/>
            </a:prstGeom>
            <a:noFill/>
            <a:ln/>
          </p:spPr>
          <p:txBody>
            <a:bodyPr wrap="square" lIns="0" tIns="0" rIns="0" bIns="0" rtlCol="0" anchor="ctr"/>
            <a:lstStyle/>
            <a:p>
              <a:pPr marL="0" indent="0">
                <a:buNone/>
              </a:pPr>
              <a:r>
                <a:rPr lang="en-US" b="1" dirty="0">
                  <a:solidFill>
                    <a:srgbClr val="0B1F33"/>
                  </a:solidFill>
                  <a:latin typeface="Yu Gothic" pitchFamily="34" charset="0"/>
                  <a:ea typeface="Yu Gothic" pitchFamily="34" charset="-122"/>
                  <a:cs typeface="Yu Gothic" pitchFamily="34" charset="-120"/>
                </a:rPr>
                <a:t>3. AI・フィジカルAIが次の成長領域</a:t>
              </a:r>
              <a:endParaRPr lang="en-US" dirty="0"/>
            </a:p>
          </p:txBody>
        </p:sp>
        <p:sp>
          <p:nvSpPr>
            <p:cNvPr id="142" name="Text 21">
              <a:extLst>
                <a:ext uri="{FF2B5EF4-FFF2-40B4-BE49-F238E27FC236}">
                  <a16:creationId xmlns:a16="http://schemas.microsoft.com/office/drawing/2014/main" id="{AE6137F7-7EFC-589F-9189-56F43C564559}"/>
                </a:ext>
              </a:extLst>
            </p:cNvPr>
            <p:cNvSpPr/>
            <p:nvPr/>
          </p:nvSpPr>
          <p:spPr>
            <a:xfrm>
              <a:off x="6330099" y="1773936"/>
              <a:ext cx="4343400" cy="342960"/>
            </a:xfrm>
            <a:prstGeom prst="rect">
              <a:avLst/>
            </a:prstGeom>
            <a:noFill/>
            <a:ln/>
          </p:spPr>
          <p:txBody>
            <a:bodyPr wrap="square" lIns="127" tIns="127" rIns="127" bIns="127" rtlCol="0" anchor="t">
              <a:normAutofit/>
            </a:bodyPr>
            <a:lstStyle/>
            <a:p>
              <a:pPr marL="0" indent="0">
                <a:buNone/>
              </a:pPr>
              <a:r>
                <a:rPr lang="en-US" sz="1050" dirty="0">
                  <a:solidFill>
                    <a:srgbClr val="1F2937"/>
                  </a:solidFill>
                  <a:latin typeface="Yu Gothic" pitchFamily="34" charset="0"/>
                  <a:ea typeface="Yu Gothic" pitchFamily="34" charset="-122"/>
                  <a:cs typeface="Yu Gothic" pitchFamily="34" charset="-120"/>
                </a:rPr>
                <a:t>AI/自動化、推論基盤、フィジカルAIを軸に、新規商圏の獲得や新規事業開拓を狙う。</a:t>
              </a:r>
              <a:endParaRPr lang="en-US" sz="1050" dirty="0"/>
            </a:p>
          </p:txBody>
        </p:sp>
        <p:sp>
          <p:nvSpPr>
            <p:cNvPr id="143" name="Shape 22">
              <a:extLst>
                <a:ext uri="{FF2B5EF4-FFF2-40B4-BE49-F238E27FC236}">
                  <a16:creationId xmlns:a16="http://schemas.microsoft.com/office/drawing/2014/main" id="{1A564C40-74DC-B12C-5C3E-84799AE25106}"/>
                </a:ext>
              </a:extLst>
            </p:cNvPr>
            <p:cNvSpPr/>
            <p:nvPr/>
          </p:nvSpPr>
          <p:spPr>
            <a:xfrm>
              <a:off x="5626011" y="2166258"/>
              <a:ext cx="5212080" cy="785949"/>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44" name="Shape 23">
              <a:extLst>
                <a:ext uri="{FF2B5EF4-FFF2-40B4-BE49-F238E27FC236}">
                  <a16:creationId xmlns:a16="http://schemas.microsoft.com/office/drawing/2014/main" id="{A53155A0-9EC3-0472-3669-A9010B5AF1F8}"/>
                </a:ext>
              </a:extLst>
            </p:cNvPr>
            <p:cNvSpPr/>
            <p:nvPr/>
          </p:nvSpPr>
          <p:spPr>
            <a:xfrm>
              <a:off x="5671731" y="2275986"/>
              <a:ext cx="64008" cy="614469"/>
            </a:xfrm>
            <a:prstGeom prst="rect">
              <a:avLst/>
            </a:prstGeom>
            <a:solidFill>
              <a:srgbClr val="10B981"/>
            </a:solidFill>
            <a:ln w="12700">
              <a:solidFill>
                <a:srgbClr val="10B981"/>
              </a:solidFill>
              <a:prstDash val="solid"/>
            </a:ln>
          </p:spPr>
          <p:txBody>
            <a:bodyPr/>
            <a:lstStyle/>
            <a:p>
              <a:endParaRPr lang="ja-JP" altLang="en-US" sz="2800"/>
            </a:p>
          </p:txBody>
        </p:sp>
        <p:sp>
          <p:nvSpPr>
            <p:cNvPr id="145" name="Shape 24">
              <a:extLst>
                <a:ext uri="{FF2B5EF4-FFF2-40B4-BE49-F238E27FC236}">
                  <a16:creationId xmlns:a16="http://schemas.microsoft.com/office/drawing/2014/main" id="{EABDE6F6-0D8A-F03C-14AD-91FA0AA60884}"/>
                </a:ext>
              </a:extLst>
            </p:cNvPr>
            <p:cNvSpPr/>
            <p:nvPr/>
          </p:nvSpPr>
          <p:spPr>
            <a:xfrm>
              <a:off x="5836323" y="2330850"/>
              <a:ext cx="384048" cy="300090"/>
            </a:xfrm>
            <a:prstGeom prst="ellipse">
              <a:avLst/>
            </a:prstGeom>
            <a:solidFill>
              <a:srgbClr val="10B981"/>
            </a:solidFill>
            <a:ln w="12700">
              <a:solidFill>
                <a:srgbClr val="10B981"/>
              </a:solidFill>
              <a:prstDash val="solid"/>
            </a:ln>
          </p:spPr>
          <p:txBody>
            <a:bodyPr/>
            <a:lstStyle/>
            <a:p>
              <a:endParaRPr lang="ja-JP" altLang="en-US" sz="2800"/>
            </a:p>
          </p:txBody>
        </p:sp>
        <p:sp>
          <p:nvSpPr>
            <p:cNvPr id="146" name="Text 25">
              <a:extLst>
                <a:ext uri="{FF2B5EF4-FFF2-40B4-BE49-F238E27FC236}">
                  <a16:creationId xmlns:a16="http://schemas.microsoft.com/office/drawing/2014/main" id="{EE4E6CEC-5C2A-183D-0FCC-A469A497AAA0}"/>
                </a:ext>
              </a:extLst>
            </p:cNvPr>
            <p:cNvSpPr/>
            <p:nvPr/>
          </p:nvSpPr>
          <p:spPr>
            <a:xfrm>
              <a:off x="5877471" y="2399430"/>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4</a:t>
              </a:r>
              <a:endParaRPr lang="en-US" dirty="0"/>
            </a:p>
          </p:txBody>
        </p:sp>
        <p:sp>
          <p:nvSpPr>
            <p:cNvPr id="147" name="Text 26">
              <a:extLst>
                <a:ext uri="{FF2B5EF4-FFF2-40B4-BE49-F238E27FC236}">
                  <a16:creationId xmlns:a16="http://schemas.microsoft.com/office/drawing/2014/main" id="{9F2ADC7B-0BC2-05D8-8636-E3C3BFFC698C}"/>
                </a:ext>
              </a:extLst>
            </p:cNvPr>
            <p:cNvSpPr/>
            <p:nvPr/>
          </p:nvSpPr>
          <p:spPr>
            <a:xfrm>
              <a:off x="6330099" y="2330850"/>
              <a:ext cx="4343400" cy="178625"/>
            </a:xfrm>
            <a:prstGeom prst="rect">
              <a:avLst/>
            </a:prstGeom>
            <a:noFill/>
            <a:ln/>
          </p:spPr>
          <p:txBody>
            <a:bodyPr wrap="square" lIns="0" tIns="0" rIns="0" bIns="0" rtlCol="0" anchor="ctr"/>
            <a:lstStyle/>
            <a:p>
              <a:pPr marL="0" indent="0">
                <a:buNone/>
              </a:pPr>
              <a:r>
                <a:rPr lang="en-US" b="1" dirty="0">
                  <a:solidFill>
                    <a:srgbClr val="0B1F33"/>
                  </a:solidFill>
                  <a:latin typeface="Yu Gothic" pitchFamily="34" charset="0"/>
                  <a:ea typeface="Yu Gothic" pitchFamily="34" charset="-122"/>
                  <a:cs typeface="Yu Gothic" pitchFamily="34" charset="-120"/>
                </a:rPr>
                <a:t>4. ストック型・共創型への収益転換</a:t>
              </a:r>
              <a:endParaRPr lang="en-US" dirty="0"/>
            </a:p>
          </p:txBody>
        </p:sp>
        <p:sp>
          <p:nvSpPr>
            <p:cNvPr id="148" name="Text 27">
              <a:extLst>
                <a:ext uri="{FF2B5EF4-FFF2-40B4-BE49-F238E27FC236}">
                  <a16:creationId xmlns:a16="http://schemas.microsoft.com/office/drawing/2014/main" id="{7CE73E15-DF66-70F0-9338-B2E3E33E9AD4}"/>
                </a:ext>
              </a:extLst>
            </p:cNvPr>
            <p:cNvSpPr/>
            <p:nvPr/>
          </p:nvSpPr>
          <p:spPr>
            <a:xfrm>
              <a:off x="6330099" y="2614314"/>
              <a:ext cx="4343400" cy="342960"/>
            </a:xfrm>
            <a:prstGeom prst="rect">
              <a:avLst/>
            </a:prstGeom>
            <a:noFill/>
            <a:ln/>
          </p:spPr>
          <p:txBody>
            <a:bodyPr wrap="square" lIns="127" tIns="127" rIns="127" bIns="127" rtlCol="0" anchor="t">
              <a:normAutofit/>
            </a:bodyPr>
            <a:lstStyle/>
            <a:p>
              <a:pPr marL="0" indent="0">
                <a:buNone/>
              </a:pPr>
              <a:r>
                <a:rPr lang="en-US" sz="1050" dirty="0">
                  <a:solidFill>
                    <a:srgbClr val="1F2937"/>
                  </a:solidFill>
                  <a:latin typeface="Yu Gothic" pitchFamily="34" charset="0"/>
                  <a:ea typeface="Yu Gothic" pitchFamily="34" charset="-122"/>
                  <a:cs typeface="Yu Gothic" pitchFamily="34" charset="-120"/>
                </a:rPr>
                <a:t>個別SIに留まらず、PoC、テンプレート化、パッケージ化、サブスク化により、継続収益化へつなげる。</a:t>
              </a:r>
              <a:endParaRPr lang="en-US" sz="1050" dirty="0"/>
            </a:p>
          </p:txBody>
        </p:sp>
      </p:grpSp>
    </p:spTree>
    <p:extLst>
      <p:ext uri="{BB962C8B-B14F-4D97-AF65-F5344CB8AC3E}">
        <p14:creationId xmlns:p14="http://schemas.microsoft.com/office/powerpoint/2010/main" val="3893734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7BCE0BFC-CF2A-1022-2514-E52BE1A4B233}"/>
              </a:ext>
            </a:extLst>
          </p:cNvPr>
          <p:cNvSpPr>
            <a:spLocks noGrp="1"/>
          </p:cNvSpPr>
          <p:nvPr>
            <p:ph type="title"/>
          </p:nvPr>
        </p:nvSpPr>
        <p:spPr/>
        <p:txBody>
          <a:bodyPr/>
          <a:lstStyle/>
          <a:p>
            <a:pPr algn="l"/>
            <a:r>
              <a:rPr lang="ja-JP" altLang="en-US" dirty="0">
                <a:solidFill>
                  <a:srgbClr val="00209B"/>
                </a:solidFill>
              </a:rPr>
              <a:t>通信事業者の投資推移</a:t>
            </a:r>
          </a:p>
        </p:txBody>
      </p:sp>
      <p:sp>
        <p:nvSpPr>
          <p:cNvPr id="4" name="コンテンツ プレースホルダー 3">
            <a:extLst>
              <a:ext uri="{FF2B5EF4-FFF2-40B4-BE49-F238E27FC236}">
                <a16:creationId xmlns:a16="http://schemas.microsoft.com/office/drawing/2014/main" id="{73116EF0-1C14-C913-7293-A956657B0531}"/>
              </a:ext>
            </a:extLst>
          </p:cNvPr>
          <p:cNvSpPr>
            <a:spLocks noGrp="1"/>
          </p:cNvSpPr>
          <p:nvPr>
            <p:ph idx="1"/>
          </p:nvPr>
        </p:nvSpPr>
        <p:spPr/>
        <p:txBody>
          <a:bodyPr/>
          <a:lstStyle/>
          <a:p>
            <a:r>
              <a:rPr lang="ja-JP" altLang="en-US"/>
              <a:t>大手</a:t>
            </a:r>
            <a:r>
              <a:rPr lang="en-US" altLang="ja-JP"/>
              <a:t>SP</a:t>
            </a:r>
            <a:r>
              <a:rPr lang="ja-JP" altLang="en-US"/>
              <a:t>における</a:t>
            </a:r>
            <a:r>
              <a:rPr lang="en-US" altLang="ja-JP"/>
              <a:t>2026</a:t>
            </a:r>
            <a:r>
              <a:rPr lang="ja-JP" altLang="en-US"/>
              <a:t>～</a:t>
            </a:r>
            <a:r>
              <a:rPr lang="en-US" altLang="ja-JP"/>
              <a:t>2028</a:t>
            </a:r>
            <a:r>
              <a:rPr lang="ja-JP" altLang="en-US"/>
              <a:t>の投資は横ばい</a:t>
            </a:r>
            <a:endParaRPr lang="en-US" altLang="ja-JP"/>
          </a:p>
          <a:p>
            <a:pPr lvl="1"/>
            <a:r>
              <a:rPr lang="ja-JP" altLang="en-US"/>
              <a:t>新規商圏による収益獲得が必須</a:t>
            </a:r>
          </a:p>
          <a:p>
            <a:pPr lvl="1"/>
            <a:endParaRPr lang="ja-JP" altLang="en-US"/>
          </a:p>
        </p:txBody>
      </p:sp>
      <p:pic>
        <p:nvPicPr>
          <p:cNvPr id="5" name="図 4">
            <a:extLst>
              <a:ext uri="{FF2B5EF4-FFF2-40B4-BE49-F238E27FC236}">
                <a16:creationId xmlns:a16="http://schemas.microsoft.com/office/drawing/2014/main" id="{227DC2AC-670A-EF48-BED1-6F2BF0ADF019}"/>
              </a:ext>
            </a:extLst>
          </p:cNvPr>
          <p:cNvPicPr>
            <a:picLocks noChangeAspect="1"/>
          </p:cNvPicPr>
          <p:nvPr/>
        </p:nvPicPr>
        <p:blipFill>
          <a:blip r:embed="rId3"/>
          <a:stretch>
            <a:fillRect/>
          </a:stretch>
        </p:blipFill>
        <p:spPr>
          <a:xfrm>
            <a:off x="2390806" y="2193212"/>
            <a:ext cx="6066588" cy="3734170"/>
          </a:xfrm>
          <a:prstGeom prst="rect">
            <a:avLst/>
          </a:prstGeom>
        </p:spPr>
      </p:pic>
    </p:spTree>
    <p:extLst>
      <p:ext uri="{BB962C8B-B14F-4D97-AF65-F5344CB8AC3E}">
        <p14:creationId xmlns:p14="http://schemas.microsoft.com/office/powerpoint/2010/main" val="2951868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555125-DC59-4C6C-D823-A9502EE1A1BA}"/>
              </a:ext>
            </a:extLst>
          </p:cNvPr>
          <p:cNvSpPr>
            <a:spLocks noGrp="1"/>
          </p:cNvSpPr>
          <p:nvPr>
            <p:ph type="title"/>
          </p:nvPr>
        </p:nvSpPr>
        <p:spPr/>
        <p:txBody>
          <a:bodyPr/>
          <a:lstStyle/>
          <a:p>
            <a:pPr algn="l"/>
            <a:r>
              <a:rPr kumimoji="1" lang="ja-JP" altLang="en-US" dirty="0">
                <a:solidFill>
                  <a:srgbClr val="00209B"/>
                </a:solidFill>
              </a:rPr>
              <a:t>フィジカル</a:t>
            </a:r>
            <a:r>
              <a:rPr kumimoji="1" lang="en-US" altLang="ja-JP" dirty="0">
                <a:solidFill>
                  <a:srgbClr val="00209B"/>
                </a:solidFill>
              </a:rPr>
              <a:t>AI</a:t>
            </a:r>
            <a:r>
              <a:rPr kumimoji="1" lang="ja-JP" altLang="en-US" dirty="0">
                <a:solidFill>
                  <a:srgbClr val="00209B"/>
                </a:solidFill>
              </a:rPr>
              <a:t>の市場</a:t>
            </a:r>
          </a:p>
        </p:txBody>
      </p:sp>
      <p:sp>
        <p:nvSpPr>
          <p:cNvPr id="3" name="コンテンツ プレースホルダー 2">
            <a:extLst>
              <a:ext uri="{FF2B5EF4-FFF2-40B4-BE49-F238E27FC236}">
                <a16:creationId xmlns:a16="http://schemas.microsoft.com/office/drawing/2014/main" id="{93DB0F68-B6EA-94FC-8124-C911D88B1293}"/>
              </a:ext>
            </a:extLst>
          </p:cNvPr>
          <p:cNvSpPr>
            <a:spLocks noGrp="1"/>
          </p:cNvSpPr>
          <p:nvPr>
            <p:ph idx="1"/>
          </p:nvPr>
        </p:nvSpPr>
        <p:spPr>
          <a:xfrm>
            <a:off x="456856" y="1175343"/>
            <a:ext cx="11184282" cy="5109933"/>
          </a:xfrm>
        </p:spPr>
        <p:txBody>
          <a:bodyPr/>
          <a:lstStyle/>
          <a:p>
            <a:r>
              <a:rPr kumimoji="1" lang="ja-JP" altLang="en-US" dirty="0"/>
              <a:t>フィジカル</a:t>
            </a:r>
            <a:r>
              <a:rPr kumimoji="1" lang="en-US" altLang="ja-JP" dirty="0"/>
              <a:t>AI</a:t>
            </a:r>
            <a:r>
              <a:rPr kumimoji="1" lang="ja-JP" altLang="en-US" dirty="0"/>
              <a:t>の日本での市場規模は、</a:t>
            </a:r>
            <a:r>
              <a:rPr kumimoji="1" lang="en-US" altLang="ja-JP" dirty="0">
                <a:solidFill>
                  <a:srgbClr val="FF0000"/>
                </a:solidFill>
              </a:rPr>
              <a:t>FY30</a:t>
            </a:r>
            <a:r>
              <a:rPr kumimoji="1" lang="ja-JP" altLang="en-US" dirty="0">
                <a:solidFill>
                  <a:srgbClr val="FF0000"/>
                </a:solidFill>
              </a:rPr>
              <a:t>で</a:t>
            </a:r>
            <a:r>
              <a:rPr kumimoji="1" lang="en-US" altLang="ja-JP" dirty="0">
                <a:solidFill>
                  <a:srgbClr val="FF0000"/>
                </a:solidFill>
              </a:rPr>
              <a:t>$1460M(</a:t>
            </a:r>
            <a:r>
              <a:rPr kumimoji="1" lang="ja-JP" altLang="en-US" dirty="0">
                <a:solidFill>
                  <a:srgbClr val="FF0000"/>
                </a:solidFill>
              </a:rPr>
              <a:t>約</a:t>
            </a:r>
            <a:r>
              <a:rPr kumimoji="1" lang="en-US" altLang="ja-JP" dirty="0">
                <a:solidFill>
                  <a:srgbClr val="FF0000"/>
                </a:solidFill>
              </a:rPr>
              <a:t>2300</a:t>
            </a:r>
            <a:r>
              <a:rPr kumimoji="1" lang="ja-JP" altLang="en-US" dirty="0">
                <a:solidFill>
                  <a:srgbClr val="FF0000"/>
                </a:solidFill>
              </a:rPr>
              <a:t>億円</a:t>
            </a:r>
            <a:r>
              <a:rPr kumimoji="1" lang="en-US" altLang="ja-JP" dirty="0">
                <a:solidFill>
                  <a:srgbClr val="FF0000"/>
                </a:solidFill>
              </a:rPr>
              <a:t>)</a:t>
            </a:r>
            <a:r>
              <a:rPr kumimoji="1" lang="ja-JP" altLang="en-US" dirty="0">
                <a:solidFill>
                  <a:srgbClr val="FF0000"/>
                </a:solidFill>
              </a:rPr>
              <a:t>、</a:t>
            </a:r>
            <a:r>
              <a:rPr kumimoji="1" lang="en-US" altLang="ja-JP" dirty="0">
                <a:solidFill>
                  <a:srgbClr val="FF0000"/>
                </a:solidFill>
              </a:rPr>
              <a:t>CAGR</a:t>
            </a:r>
            <a:r>
              <a:rPr kumimoji="1" lang="ja-JP" altLang="en-US" dirty="0">
                <a:solidFill>
                  <a:srgbClr val="FF0000"/>
                </a:solidFill>
              </a:rPr>
              <a:t>：</a:t>
            </a:r>
            <a:r>
              <a:rPr kumimoji="1" lang="en-US" altLang="ja-JP" dirty="0">
                <a:solidFill>
                  <a:srgbClr val="FF0000"/>
                </a:solidFill>
              </a:rPr>
              <a:t>36.2%</a:t>
            </a:r>
          </a:p>
          <a:p>
            <a:pPr lvl="1"/>
            <a:r>
              <a:rPr kumimoji="1" lang="ja-JP" altLang="en-US" dirty="0"/>
              <a:t>市場が立ち上げ初期であり、大手企業も模索している段階で当社も参入できる可能性が高い</a:t>
            </a:r>
            <a:endParaRPr kumimoji="1" lang="en-US" altLang="ja-JP" dirty="0"/>
          </a:p>
          <a:p>
            <a:pPr marL="457200" lvl="1" indent="0">
              <a:buNone/>
            </a:pPr>
            <a:r>
              <a:rPr kumimoji="1" lang="ja-JP" altLang="en-US" dirty="0"/>
              <a:t>　　</a:t>
            </a:r>
            <a:r>
              <a:rPr kumimoji="1" lang="en-US" altLang="ja-JP" dirty="0"/>
              <a:t>※GPU</a:t>
            </a:r>
            <a:r>
              <a:rPr kumimoji="1" lang="ja-JP" altLang="en-US" dirty="0"/>
              <a:t>やロボットなどのコアになる部分はすでに激戦区</a:t>
            </a:r>
            <a:endParaRPr kumimoji="1" lang="en-US" altLang="ja-JP" dirty="0"/>
          </a:p>
          <a:p>
            <a:pPr marL="457200" lvl="1" indent="0">
              <a:buNone/>
            </a:pPr>
            <a:r>
              <a:rPr kumimoji="1" lang="ja-JP" altLang="en-US" dirty="0"/>
              <a:t>　　</a:t>
            </a:r>
            <a:r>
              <a:rPr kumimoji="1" lang="en-US" altLang="ja-JP" dirty="0"/>
              <a:t>※</a:t>
            </a:r>
            <a:r>
              <a:rPr kumimoji="1" lang="ja-JP" altLang="en-US" dirty="0"/>
              <a:t>ＳＩやユースケースがまだ確立していない状況</a:t>
            </a:r>
            <a:endParaRPr kumimoji="1" lang="en-US" altLang="ja-JP" dirty="0"/>
          </a:p>
          <a:p>
            <a:pPr marL="457200" lvl="1" indent="0">
              <a:buNone/>
            </a:pPr>
            <a:endParaRPr kumimoji="1" lang="en-US" altLang="ja-JP" dirty="0"/>
          </a:p>
          <a:p>
            <a:pPr lvl="1"/>
            <a:r>
              <a:rPr kumimoji="1" lang="ja-JP" altLang="en-US" dirty="0"/>
              <a:t>スタートアップから大手企業も模索中のため、</a:t>
            </a:r>
            <a:endParaRPr kumimoji="1" lang="en-US" altLang="ja-JP" dirty="0"/>
          </a:p>
          <a:p>
            <a:pPr marL="457200" lvl="1" indent="0">
              <a:buNone/>
            </a:pPr>
            <a:r>
              <a:rPr lang="ja-JP" altLang="en-US" dirty="0"/>
              <a:t>　　エコシステムの構築から大手企業と組める</a:t>
            </a:r>
            <a:endParaRPr lang="en-US" altLang="ja-JP" dirty="0"/>
          </a:p>
          <a:p>
            <a:pPr marL="457200" lvl="1" indent="0">
              <a:buNone/>
            </a:pPr>
            <a:endParaRPr lang="en-US" altLang="ja-JP" dirty="0"/>
          </a:p>
          <a:p>
            <a:pPr lvl="1"/>
            <a:r>
              <a:rPr lang="ja-JP" altLang="en-US" dirty="0"/>
              <a:t>物理作業は当本部の主要顧客である</a:t>
            </a:r>
            <a:endParaRPr lang="en-US" altLang="ja-JP" dirty="0"/>
          </a:p>
          <a:p>
            <a:pPr marL="457200" lvl="1" indent="0">
              <a:buNone/>
            </a:pPr>
            <a:r>
              <a:rPr lang="ja-JP" altLang="en-US" dirty="0"/>
              <a:t>　　通信事業者においても運用上実施しているため、</a:t>
            </a:r>
            <a:endParaRPr lang="en-US" altLang="ja-JP" dirty="0"/>
          </a:p>
          <a:p>
            <a:pPr marL="457200" lvl="1" indent="0">
              <a:buNone/>
            </a:pPr>
            <a:r>
              <a:rPr lang="ja-JP" altLang="en-US" dirty="0"/>
              <a:t>　　フィジカルＡＩを当社主要顧客にも提案できる可能性がある</a:t>
            </a:r>
            <a:endParaRPr lang="en-US" altLang="ja-JP" dirty="0"/>
          </a:p>
          <a:p>
            <a:pPr marL="457200" lvl="1" indent="0">
              <a:buNone/>
            </a:pPr>
            <a:r>
              <a:rPr lang="ja-JP" altLang="en-US" dirty="0"/>
              <a:t>　　→当社の強みを活かしながらフィジカル</a:t>
            </a:r>
            <a:r>
              <a:rPr lang="en-US" altLang="ja-JP" dirty="0"/>
              <a:t>AI</a:t>
            </a:r>
            <a:r>
              <a:rPr lang="ja-JP" altLang="en-US" dirty="0"/>
              <a:t>の市場を取れる</a:t>
            </a:r>
            <a:endParaRPr lang="en-US" altLang="ja-JP" dirty="0"/>
          </a:p>
        </p:txBody>
      </p:sp>
      <p:pic>
        <p:nvPicPr>
          <p:cNvPr id="5" name="図 4">
            <a:extLst>
              <a:ext uri="{FF2B5EF4-FFF2-40B4-BE49-F238E27FC236}">
                <a16:creationId xmlns:a16="http://schemas.microsoft.com/office/drawing/2014/main" id="{EF094AEF-41D8-08A9-E361-641FA8A4D60A}"/>
              </a:ext>
            </a:extLst>
          </p:cNvPr>
          <p:cNvPicPr>
            <a:picLocks noChangeAspect="1"/>
          </p:cNvPicPr>
          <p:nvPr/>
        </p:nvPicPr>
        <p:blipFill>
          <a:blip r:embed="rId3"/>
          <a:stretch>
            <a:fillRect/>
          </a:stretch>
        </p:blipFill>
        <p:spPr>
          <a:xfrm>
            <a:off x="6957059" y="2647750"/>
            <a:ext cx="4404362" cy="2392492"/>
          </a:xfrm>
          <a:prstGeom prst="rect">
            <a:avLst/>
          </a:prstGeom>
        </p:spPr>
      </p:pic>
      <p:sp>
        <p:nvSpPr>
          <p:cNvPr id="7" name="テキスト ボックス 6">
            <a:extLst>
              <a:ext uri="{FF2B5EF4-FFF2-40B4-BE49-F238E27FC236}">
                <a16:creationId xmlns:a16="http://schemas.microsoft.com/office/drawing/2014/main" id="{E855FB61-3C2B-FC85-7745-CBAA25651716}"/>
              </a:ext>
            </a:extLst>
          </p:cNvPr>
          <p:cNvSpPr txBox="1"/>
          <p:nvPr/>
        </p:nvSpPr>
        <p:spPr>
          <a:xfrm>
            <a:off x="6330169" y="5416195"/>
            <a:ext cx="6097904" cy="369332"/>
          </a:xfrm>
          <a:prstGeom prst="rect">
            <a:avLst/>
          </a:prstGeom>
          <a:noFill/>
        </p:spPr>
        <p:txBody>
          <a:bodyPr wrap="square">
            <a:spAutoFit/>
          </a:bodyPr>
          <a:lstStyle/>
          <a:p>
            <a:r>
              <a:rPr lang="en-US" altLang="ja-JP" dirty="0">
                <a:hlinkClick r:id="rId4"/>
              </a:rPr>
              <a:t>Japan Physical AI Market Size and Forecast 2026 - 2035</a:t>
            </a:r>
            <a:endParaRPr lang="ja-JP" altLang="en-US" dirty="0"/>
          </a:p>
        </p:txBody>
      </p:sp>
      <p:sp>
        <p:nvSpPr>
          <p:cNvPr id="6" name="テキスト ボックス 5">
            <a:extLst>
              <a:ext uri="{FF2B5EF4-FFF2-40B4-BE49-F238E27FC236}">
                <a16:creationId xmlns:a16="http://schemas.microsoft.com/office/drawing/2014/main" id="{49FE39D9-A29B-8321-9162-A35ED862945C}"/>
              </a:ext>
            </a:extLst>
          </p:cNvPr>
          <p:cNvSpPr txBox="1"/>
          <p:nvPr/>
        </p:nvSpPr>
        <p:spPr>
          <a:xfrm>
            <a:off x="1990556" y="6211642"/>
            <a:ext cx="6212732" cy="261610"/>
          </a:xfrm>
          <a:prstGeom prst="rect">
            <a:avLst/>
          </a:prstGeom>
          <a:noFill/>
        </p:spPr>
        <p:txBody>
          <a:bodyPr wrap="square">
            <a:spAutoFit/>
          </a:bodyPr>
          <a:lstStyle/>
          <a:p>
            <a:r>
              <a:rPr lang="en-US" altLang="ja-JP" sz="1050" dirty="0">
                <a:hlinkClick r:id="rId5"/>
              </a:rPr>
              <a:t>Physical AI Market Size to Exceed USD 82,790.9 Million by 2035</a:t>
            </a:r>
            <a:endParaRPr lang="ja-JP" altLang="en-US" sz="1050" dirty="0"/>
          </a:p>
        </p:txBody>
      </p:sp>
      <p:pic>
        <p:nvPicPr>
          <p:cNvPr id="9" name="図 8">
            <a:extLst>
              <a:ext uri="{FF2B5EF4-FFF2-40B4-BE49-F238E27FC236}">
                <a16:creationId xmlns:a16="http://schemas.microsoft.com/office/drawing/2014/main" id="{BCF76E54-228E-C28A-7EA6-E435F5B99EDD}"/>
              </a:ext>
            </a:extLst>
          </p:cNvPr>
          <p:cNvPicPr>
            <a:picLocks noChangeAspect="1"/>
          </p:cNvPicPr>
          <p:nvPr/>
        </p:nvPicPr>
        <p:blipFill>
          <a:blip r:embed="rId6"/>
          <a:stretch>
            <a:fillRect/>
          </a:stretch>
        </p:blipFill>
        <p:spPr>
          <a:xfrm>
            <a:off x="2537770" y="4705745"/>
            <a:ext cx="2338376" cy="1292840"/>
          </a:xfrm>
          <a:prstGeom prst="rect">
            <a:avLst/>
          </a:prstGeom>
        </p:spPr>
      </p:pic>
    </p:spTree>
    <p:extLst>
      <p:ext uri="{BB962C8B-B14F-4D97-AF65-F5344CB8AC3E}">
        <p14:creationId xmlns:p14="http://schemas.microsoft.com/office/powerpoint/2010/main" val="2515304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303F257F-1F28-E718-897F-B61F26927AD9}"/>
              </a:ext>
            </a:extLst>
          </p:cNvPr>
          <p:cNvSpPr>
            <a:spLocks noGrp="1"/>
          </p:cNvSpPr>
          <p:nvPr>
            <p:ph type="title"/>
          </p:nvPr>
        </p:nvSpPr>
        <p:spPr/>
        <p:txBody>
          <a:bodyPr/>
          <a:lstStyle/>
          <a:p>
            <a:pPr algn="l"/>
            <a:r>
              <a:rPr lang="ja-JP" altLang="en-US" dirty="0">
                <a:solidFill>
                  <a:srgbClr val="00209B"/>
                </a:solidFill>
              </a:rPr>
              <a:t>オンプレ生成</a:t>
            </a:r>
            <a:r>
              <a:rPr lang="en-US" altLang="ja-JP" dirty="0">
                <a:solidFill>
                  <a:srgbClr val="00209B"/>
                </a:solidFill>
              </a:rPr>
              <a:t>AI</a:t>
            </a:r>
            <a:r>
              <a:rPr lang="ja-JP" altLang="en-US" dirty="0">
                <a:solidFill>
                  <a:srgbClr val="00209B"/>
                </a:solidFill>
              </a:rPr>
              <a:t>の市場</a:t>
            </a:r>
            <a:endParaRPr kumimoji="1" lang="ja-JP" altLang="en-US" dirty="0">
              <a:solidFill>
                <a:srgbClr val="00209B"/>
              </a:solidFill>
            </a:endParaRPr>
          </a:p>
        </p:txBody>
      </p:sp>
      <p:sp>
        <p:nvSpPr>
          <p:cNvPr id="6" name="コンテンツ プレースホルダー 5">
            <a:extLst>
              <a:ext uri="{FF2B5EF4-FFF2-40B4-BE49-F238E27FC236}">
                <a16:creationId xmlns:a16="http://schemas.microsoft.com/office/drawing/2014/main" id="{B44865B2-3062-8039-EF94-AF3CF1960158}"/>
              </a:ext>
            </a:extLst>
          </p:cNvPr>
          <p:cNvSpPr>
            <a:spLocks noGrp="1"/>
          </p:cNvSpPr>
          <p:nvPr>
            <p:ph idx="1"/>
          </p:nvPr>
        </p:nvSpPr>
        <p:spPr/>
        <p:txBody>
          <a:bodyPr/>
          <a:lstStyle/>
          <a:p>
            <a:r>
              <a:rPr lang="en-US" altLang="ja-JP" dirty="0"/>
              <a:t>FY30</a:t>
            </a:r>
            <a:r>
              <a:rPr lang="ja-JP" altLang="en-US" dirty="0"/>
              <a:t>での日本の生成</a:t>
            </a:r>
            <a:r>
              <a:rPr lang="en-US" altLang="ja-JP" dirty="0"/>
              <a:t>AI</a:t>
            </a:r>
            <a:r>
              <a:rPr lang="ja-JP" altLang="en-US" dirty="0"/>
              <a:t>の市場規模は</a:t>
            </a:r>
            <a:r>
              <a:rPr lang="en-US" altLang="ja-JP" dirty="0"/>
              <a:t>1.7</a:t>
            </a:r>
            <a:r>
              <a:rPr lang="ja-JP" altLang="en-US" dirty="0"/>
              <a:t>兆円で</a:t>
            </a:r>
            <a:r>
              <a:rPr lang="en-US" altLang="ja-JP" dirty="0">
                <a:solidFill>
                  <a:srgbClr val="FF0000"/>
                </a:solidFill>
              </a:rPr>
              <a:t>CAGR</a:t>
            </a:r>
            <a:r>
              <a:rPr lang="ja-JP" altLang="en-US" dirty="0">
                <a:solidFill>
                  <a:srgbClr val="FF0000"/>
                </a:solidFill>
              </a:rPr>
              <a:t>は</a:t>
            </a:r>
            <a:r>
              <a:rPr lang="en-US" altLang="ja-JP" dirty="0">
                <a:solidFill>
                  <a:srgbClr val="FF0000"/>
                </a:solidFill>
              </a:rPr>
              <a:t>47%</a:t>
            </a:r>
          </a:p>
          <a:p>
            <a:pPr lvl="1"/>
            <a:r>
              <a:rPr lang="ja-JP" altLang="en-US" dirty="0"/>
              <a:t>オンプレとクラウドの比率は</a:t>
            </a:r>
            <a:r>
              <a:rPr lang="en-US" altLang="ja-JP" dirty="0"/>
              <a:t>3:7</a:t>
            </a:r>
            <a:r>
              <a:rPr lang="ja-JP" altLang="en-US" dirty="0"/>
              <a:t>というレポートがあるため、</a:t>
            </a:r>
            <a:r>
              <a:rPr lang="ja-JP" altLang="en-US" dirty="0">
                <a:solidFill>
                  <a:srgbClr val="FF0000"/>
                </a:solidFill>
              </a:rPr>
              <a:t>オンプレ市場は５０００億</a:t>
            </a:r>
            <a:r>
              <a:rPr lang="ja-JP" altLang="en-US" dirty="0"/>
              <a:t>と推測</a:t>
            </a:r>
            <a:endParaRPr lang="en-US" altLang="ja-JP" dirty="0"/>
          </a:p>
          <a:p>
            <a:pPr lvl="1"/>
            <a:endParaRPr lang="en-US" altLang="ja-JP" dirty="0"/>
          </a:p>
          <a:p>
            <a:pPr lvl="1"/>
            <a:r>
              <a:rPr lang="en-US" altLang="ja-JP" dirty="0"/>
              <a:t>5000</a:t>
            </a:r>
            <a:r>
              <a:rPr lang="ja-JP" altLang="en-US" dirty="0"/>
              <a:t>億と大規模ではあるが、その分競合も多い状況</a:t>
            </a:r>
            <a:endParaRPr lang="en-US" altLang="ja-JP" dirty="0"/>
          </a:p>
          <a:p>
            <a:pPr lvl="1"/>
            <a:r>
              <a:rPr lang="ja-JP" altLang="en-US" dirty="0"/>
              <a:t>ただし、うまく使うためには業界のセグメントの知識が必要</a:t>
            </a:r>
            <a:endParaRPr lang="en-US" altLang="ja-JP" dirty="0"/>
          </a:p>
          <a:p>
            <a:pPr lvl="2"/>
            <a:r>
              <a:rPr lang="ja-JP" altLang="en-US" dirty="0"/>
              <a:t>データの重要性</a:t>
            </a:r>
            <a:endParaRPr lang="en-US" altLang="ja-JP" dirty="0"/>
          </a:p>
          <a:p>
            <a:pPr lvl="2"/>
            <a:r>
              <a:rPr lang="ja-JP" altLang="en-US" dirty="0"/>
              <a:t>データの関連性</a:t>
            </a:r>
            <a:endParaRPr lang="en-US" altLang="ja-JP" dirty="0"/>
          </a:p>
          <a:p>
            <a:pPr lvl="2"/>
            <a:r>
              <a:rPr lang="ja-JP" altLang="en-US" dirty="0"/>
              <a:t>業務フローなど</a:t>
            </a:r>
            <a:endParaRPr lang="en-US" altLang="ja-JP" dirty="0"/>
          </a:p>
          <a:p>
            <a:pPr lvl="1"/>
            <a:r>
              <a:rPr lang="ja-JP" altLang="en-US" dirty="0"/>
              <a:t>オンプレは</a:t>
            </a:r>
            <a:r>
              <a:rPr lang="en-US" altLang="ja-JP" dirty="0"/>
              <a:t>LLM</a:t>
            </a:r>
            <a:r>
              <a:rPr lang="ja-JP" altLang="en-US" dirty="0"/>
              <a:t>の性能もまだ未成熟なため、これから伸びてくる市場</a:t>
            </a:r>
            <a:endParaRPr lang="en-US" altLang="ja-JP" dirty="0"/>
          </a:p>
          <a:p>
            <a:pPr lvl="1"/>
            <a:r>
              <a:rPr lang="ja-JP" altLang="en-US" dirty="0"/>
              <a:t>生成</a:t>
            </a:r>
            <a:r>
              <a:rPr lang="en-US" altLang="ja-JP" dirty="0"/>
              <a:t>AI</a:t>
            </a:r>
            <a:r>
              <a:rPr lang="ja-JP" altLang="en-US" dirty="0"/>
              <a:t>の基盤の</a:t>
            </a:r>
            <a:r>
              <a:rPr lang="en-US" altLang="ja-JP" dirty="0"/>
              <a:t>SI</a:t>
            </a:r>
            <a:r>
              <a:rPr lang="ja-JP" altLang="en-US" dirty="0"/>
              <a:t>＋アプリケーションまで実施している会社はまだ少なく、</a:t>
            </a:r>
            <a:endParaRPr lang="en-US" altLang="ja-JP" dirty="0"/>
          </a:p>
          <a:p>
            <a:pPr marL="457200" lvl="1" indent="0">
              <a:buNone/>
            </a:pPr>
            <a:r>
              <a:rPr lang="ja-JP" altLang="en-US" dirty="0"/>
              <a:t>　　入り込める余地がある</a:t>
            </a:r>
            <a:endParaRPr lang="en-US" altLang="ja-JP" dirty="0"/>
          </a:p>
          <a:p>
            <a:pPr lvl="1"/>
            <a:endParaRPr lang="en-US" altLang="ja-JP" dirty="0"/>
          </a:p>
          <a:p>
            <a:pPr lvl="1"/>
            <a:endParaRPr lang="en-US" altLang="ja-JP" dirty="0"/>
          </a:p>
          <a:p>
            <a:pPr lvl="1"/>
            <a:endParaRPr lang="ja-JP" altLang="en-US" dirty="0"/>
          </a:p>
        </p:txBody>
      </p:sp>
      <p:pic>
        <p:nvPicPr>
          <p:cNvPr id="10" name="図 9">
            <a:extLst>
              <a:ext uri="{FF2B5EF4-FFF2-40B4-BE49-F238E27FC236}">
                <a16:creationId xmlns:a16="http://schemas.microsoft.com/office/drawing/2014/main" id="{BAE1AA42-C9BD-C07A-90D1-B9290EC6FEB4}"/>
              </a:ext>
            </a:extLst>
          </p:cNvPr>
          <p:cNvPicPr>
            <a:picLocks noChangeAspect="1"/>
          </p:cNvPicPr>
          <p:nvPr/>
        </p:nvPicPr>
        <p:blipFill>
          <a:blip r:embed="rId3"/>
          <a:stretch>
            <a:fillRect/>
          </a:stretch>
        </p:blipFill>
        <p:spPr>
          <a:xfrm>
            <a:off x="7967789" y="2833285"/>
            <a:ext cx="4002917" cy="2934945"/>
          </a:xfrm>
          <a:prstGeom prst="rect">
            <a:avLst/>
          </a:prstGeom>
        </p:spPr>
      </p:pic>
      <p:sp>
        <p:nvSpPr>
          <p:cNvPr id="12" name="テキスト ボックス 11">
            <a:extLst>
              <a:ext uri="{FF2B5EF4-FFF2-40B4-BE49-F238E27FC236}">
                <a16:creationId xmlns:a16="http://schemas.microsoft.com/office/drawing/2014/main" id="{66528149-C7F0-2293-2377-28B4D1FFEE7E}"/>
              </a:ext>
            </a:extLst>
          </p:cNvPr>
          <p:cNvSpPr txBox="1"/>
          <p:nvPr/>
        </p:nvSpPr>
        <p:spPr>
          <a:xfrm>
            <a:off x="1726772" y="6019094"/>
            <a:ext cx="6097904" cy="276999"/>
          </a:xfrm>
          <a:prstGeom prst="rect">
            <a:avLst/>
          </a:prstGeom>
          <a:noFill/>
        </p:spPr>
        <p:txBody>
          <a:bodyPr wrap="square">
            <a:spAutoFit/>
          </a:bodyPr>
          <a:lstStyle/>
          <a:p>
            <a:r>
              <a:rPr lang="ja-JP" altLang="en-US" sz="1200">
                <a:hlinkClick r:id="rId4"/>
              </a:rPr>
              <a:t>生成</a:t>
            </a:r>
            <a:r>
              <a:rPr lang="en-US" altLang="ja-JP" sz="1200">
                <a:hlinkClick r:id="rId4"/>
              </a:rPr>
              <a:t>AI</a:t>
            </a:r>
            <a:r>
              <a:rPr lang="ja-JP" altLang="en-US" sz="1200">
                <a:hlinkClick r:id="rId4"/>
              </a:rPr>
              <a:t>市場規模、成長分析および業界予測、</a:t>
            </a:r>
            <a:r>
              <a:rPr lang="en-US" altLang="ja-JP" sz="1200">
                <a:hlinkClick r:id="rId4"/>
              </a:rPr>
              <a:t>2031</a:t>
            </a:r>
            <a:r>
              <a:rPr lang="ja-JP" altLang="en-US" sz="1200">
                <a:hlinkClick r:id="rId4"/>
              </a:rPr>
              <a:t>年</a:t>
            </a:r>
            <a:endParaRPr lang="ja-JP" altLang="en-US" sz="1200"/>
          </a:p>
        </p:txBody>
      </p:sp>
      <p:sp>
        <p:nvSpPr>
          <p:cNvPr id="14" name="テキスト ボックス 13">
            <a:extLst>
              <a:ext uri="{FF2B5EF4-FFF2-40B4-BE49-F238E27FC236}">
                <a16:creationId xmlns:a16="http://schemas.microsoft.com/office/drawing/2014/main" id="{E29596D9-731F-3735-414B-B84D0C596430}"/>
              </a:ext>
            </a:extLst>
          </p:cNvPr>
          <p:cNvSpPr txBox="1"/>
          <p:nvPr/>
        </p:nvSpPr>
        <p:spPr>
          <a:xfrm>
            <a:off x="7967790" y="5865206"/>
            <a:ext cx="3657916" cy="430887"/>
          </a:xfrm>
          <a:prstGeom prst="rect">
            <a:avLst/>
          </a:prstGeom>
          <a:noFill/>
        </p:spPr>
        <p:txBody>
          <a:bodyPr wrap="square">
            <a:spAutoFit/>
          </a:bodyPr>
          <a:lstStyle/>
          <a:p>
            <a:r>
              <a:rPr lang="ja-JP" altLang="en-US" sz="1100">
                <a:hlinkClick r:id="rId5"/>
              </a:rPr>
              <a:t>生成</a:t>
            </a:r>
            <a:r>
              <a:rPr lang="en-US" altLang="ja-JP" sz="1100">
                <a:hlinkClick r:id="rId5"/>
              </a:rPr>
              <a:t>AI</a:t>
            </a:r>
            <a:r>
              <a:rPr lang="ja-JP" altLang="en-US" sz="1100">
                <a:hlinkClick r:id="rId5"/>
              </a:rPr>
              <a:t>の市場規模</a:t>
            </a:r>
            <a:r>
              <a:rPr lang="en-US" altLang="ja-JP" sz="1100">
                <a:hlinkClick r:id="rId5"/>
              </a:rPr>
              <a:t>-</a:t>
            </a:r>
            <a:r>
              <a:rPr lang="ja-JP" altLang="en-US" sz="1100">
                <a:hlinkClick r:id="rId5"/>
              </a:rPr>
              <a:t>国内外の現状と推移を踏まえ、将来展望を徹底解説 </a:t>
            </a:r>
            <a:r>
              <a:rPr lang="en-US" altLang="ja-JP" sz="1100">
                <a:hlinkClick r:id="rId5"/>
              </a:rPr>
              <a:t>| AI</a:t>
            </a:r>
            <a:r>
              <a:rPr lang="ja-JP" altLang="en-US" sz="1100">
                <a:hlinkClick r:id="rId5"/>
              </a:rPr>
              <a:t>総合研究所 </a:t>
            </a:r>
            <a:r>
              <a:rPr lang="en-US" altLang="ja-JP" sz="1100">
                <a:hlinkClick r:id="rId5"/>
              </a:rPr>
              <a:t>| AI</a:t>
            </a:r>
            <a:r>
              <a:rPr lang="ja-JP" altLang="en-US" sz="1100">
                <a:hlinkClick r:id="rId5"/>
              </a:rPr>
              <a:t>総合研究所</a:t>
            </a:r>
            <a:endParaRPr lang="ja-JP" altLang="en-US" sz="1100"/>
          </a:p>
        </p:txBody>
      </p:sp>
      <p:pic>
        <p:nvPicPr>
          <p:cNvPr id="16" name="図 15">
            <a:extLst>
              <a:ext uri="{FF2B5EF4-FFF2-40B4-BE49-F238E27FC236}">
                <a16:creationId xmlns:a16="http://schemas.microsoft.com/office/drawing/2014/main" id="{203D8C5C-973D-B6F2-CA8F-79F1AA947385}"/>
              </a:ext>
            </a:extLst>
          </p:cNvPr>
          <p:cNvPicPr>
            <a:picLocks noChangeAspect="1"/>
          </p:cNvPicPr>
          <p:nvPr/>
        </p:nvPicPr>
        <p:blipFill>
          <a:blip r:embed="rId6"/>
          <a:stretch>
            <a:fillRect/>
          </a:stretch>
        </p:blipFill>
        <p:spPr>
          <a:xfrm>
            <a:off x="2093973" y="4802579"/>
            <a:ext cx="3211742" cy="1216515"/>
          </a:xfrm>
          <a:prstGeom prst="rect">
            <a:avLst/>
          </a:prstGeom>
        </p:spPr>
      </p:pic>
    </p:spTree>
    <p:extLst>
      <p:ext uri="{BB962C8B-B14F-4D97-AF65-F5344CB8AC3E}">
        <p14:creationId xmlns:p14="http://schemas.microsoft.com/office/powerpoint/2010/main" val="1700792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8A2900-5503-6528-BB18-DD11F8FD2EC0}"/>
            </a:ext>
          </a:extLst>
        </p:cNvPr>
        <p:cNvGrpSpPr/>
        <p:nvPr/>
      </p:nvGrpSpPr>
      <p:grpSpPr>
        <a:xfrm>
          <a:off x="0" y="0"/>
          <a:ext cx="0" cy="0"/>
          <a:chOff x="0" y="0"/>
          <a:chExt cx="0" cy="0"/>
        </a:xfrm>
      </p:grpSpPr>
      <p:sp>
        <p:nvSpPr>
          <p:cNvPr id="9" name="コンテンツ プレースホルダー 8">
            <a:extLst>
              <a:ext uri="{FF2B5EF4-FFF2-40B4-BE49-F238E27FC236}">
                <a16:creationId xmlns:a16="http://schemas.microsoft.com/office/drawing/2014/main" id="{FFA3C7B8-2A01-5202-1B1C-908C9E3F5561}"/>
              </a:ext>
            </a:extLst>
          </p:cNvPr>
          <p:cNvSpPr>
            <a:spLocks noGrp="1"/>
          </p:cNvSpPr>
          <p:nvPr>
            <p:ph idx="1"/>
          </p:nvPr>
        </p:nvSpPr>
        <p:spPr>
          <a:xfrm>
            <a:off x="460431" y="1044103"/>
            <a:ext cx="11083057" cy="5251992"/>
          </a:xfrm>
        </p:spPr>
        <p:txBody>
          <a:bodyPr>
            <a:normAutofit/>
          </a:bodyPr>
          <a:lstStyle/>
          <a:p>
            <a:r>
              <a:rPr lang="en-US" altLang="ja-JP" dirty="0"/>
              <a:t>AIOps/</a:t>
            </a:r>
            <a:r>
              <a:rPr lang="ja-JP" altLang="en-US" dirty="0"/>
              <a:t>運用自動化の市場は</a:t>
            </a:r>
            <a:r>
              <a:rPr lang="en-US" altLang="ja-JP" dirty="0">
                <a:solidFill>
                  <a:srgbClr val="FF0000"/>
                </a:solidFill>
              </a:rPr>
              <a:t>CAGR 20%</a:t>
            </a:r>
            <a:r>
              <a:rPr lang="ja-JP" altLang="en-US" dirty="0">
                <a:solidFill>
                  <a:srgbClr val="FF0000"/>
                </a:solidFill>
              </a:rPr>
              <a:t>前後で、成長を続けている。</a:t>
            </a:r>
            <a:endParaRPr lang="en-US" altLang="ja-JP" dirty="0">
              <a:solidFill>
                <a:srgbClr val="FF0000"/>
              </a:solidFill>
            </a:endParaRPr>
          </a:p>
          <a:p>
            <a:pPr lvl="1"/>
            <a:endParaRPr lang="en-US" altLang="ja-JP" dirty="0">
              <a:solidFill>
                <a:srgbClr val="FF0000"/>
              </a:solidFill>
            </a:endParaRPr>
          </a:p>
          <a:p>
            <a:pPr lvl="1"/>
            <a:r>
              <a:rPr lang="ja-JP" altLang="en-US" dirty="0"/>
              <a:t>通信事業者向けにはメーカ製品内で</a:t>
            </a:r>
            <a:r>
              <a:rPr lang="en-US" altLang="ja-JP" dirty="0"/>
              <a:t>AI</a:t>
            </a:r>
            <a:r>
              <a:rPr lang="ja-JP" altLang="en-US" dirty="0"/>
              <a:t>を搭載しているメーカ製品は多数あるが、個別開発を実施している企業は多くない</a:t>
            </a:r>
            <a:endParaRPr lang="en-US" altLang="ja-JP" dirty="0"/>
          </a:p>
          <a:p>
            <a:pPr lvl="1"/>
            <a:endParaRPr lang="en-US" altLang="ja-JP" dirty="0"/>
          </a:p>
          <a:p>
            <a:pPr lvl="1"/>
            <a:r>
              <a:rPr lang="ja-JP" altLang="en-US" dirty="0"/>
              <a:t>販社かつ開発（ＡＩに留まらず）もしている企業は当社のみ</a:t>
            </a:r>
            <a:endParaRPr lang="en-US" altLang="ja-JP" dirty="0"/>
          </a:p>
          <a:p>
            <a:pPr marL="457200" lvl="1" indent="0">
              <a:buNone/>
            </a:pPr>
            <a:r>
              <a:rPr lang="ja-JP" altLang="en-US" dirty="0"/>
              <a:t>　　</a:t>
            </a:r>
            <a:r>
              <a:rPr lang="en-US" altLang="ja-JP" dirty="0"/>
              <a:t>※</a:t>
            </a:r>
            <a:r>
              <a:rPr lang="ja-JP" altLang="en-US" dirty="0"/>
              <a:t>ＣＴＣが過去実施していたが、当該部署は昨年解散</a:t>
            </a:r>
            <a:endParaRPr lang="en-US" altLang="ja-JP" dirty="0"/>
          </a:p>
          <a:p>
            <a:pPr marL="457200" lvl="1" indent="0">
              <a:buNone/>
            </a:pPr>
            <a:endParaRPr lang="en-US" altLang="ja-JP" dirty="0"/>
          </a:p>
          <a:p>
            <a:pPr lvl="1"/>
            <a:r>
              <a:rPr lang="ja-JP" altLang="en-US" dirty="0"/>
              <a:t>当社の技術力という強み＋運用自動化は業界的にも珍しく、</a:t>
            </a:r>
            <a:endParaRPr lang="en-US" altLang="ja-JP" dirty="0"/>
          </a:p>
          <a:p>
            <a:pPr marL="457200" lvl="1" indent="0">
              <a:buNone/>
            </a:pPr>
            <a:r>
              <a:rPr lang="ja-JP" altLang="en-US" dirty="0"/>
              <a:t>　　商圏を獲得できる見込みが高い</a:t>
            </a:r>
            <a:endParaRPr lang="en-US" altLang="ja-JP" dirty="0"/>
          </a:p>
        </p:txBody>
      </p:sp>
      <p:sp>
        <p:nvSpPr>
          <p:cNvPr id="8" name="タイトル 7">
            <a:extLst>
              <a:ext uri="{FF2B5EF4-FFF2-40B4-BE49-F238E27FC236}">
                <a16:creationId xmlns:a16="http://schemas.microsoft.com/office/drawing/2014/main" id="{FFD97598-90E9-AF64-94A5-2BF50CBE22AA}"/>
              </a:ext>
            </a:extLst>
          </p:cNvPr>
          <p:cNvSpPr>
            <a:spLocks noGrp="1"/>
          </p:cNvSpPr>
          <p:nvPr>
            <p:ph type="title"/>
          </p:nvPr>
        </p:nvSpPr>
        <p:spPr/>
        <p:txBody>
          <a:bodyPr/>
          <a:lstStyle/>
          <a:p>
            <a:pPr algn="l"/>
            <a:r>
              <a:rPr lang="en-US" altLang="ja-JP" dirty="0">
                <a:solidFill>
                  <a:srgbClr val="00209B"/>
                </a:solidFill>
              </a:rPr>
              <a:t>AIOps/</a:t>
            </a:r>
            <a:r>
              <a:rPr lang="ja-JP" altLang="en-US" dirty="0">
                <a:solidFill>
                  <a:srgbClr val="00209B"/>
                </a:solidFill>
              </a:rPr>
              <a:t>運用自動化の市場</a:t>
            </a:r>
          </a:p>
        </p:txBody>
      </p:sp>
      <p:sp>
        <p:nvSpPr>
          <p:cNvPr id="11" name="テキスト ボックス 10">
            <a:extLst>
              <a:ext uri="{FF2B5EF4-FFF2-40B4-BE49-F238E27FC236}">
                <a16:creationId xmlns:a16="http://schemas.microsoft.com/office/drawing/2014/main" id="{882935DC-9117-B5F5-D0A8-E8D16437D443}"/>
              </a:ext>
            </a:extLst>
          </p:cNvPr>
          <p:cNvSpPr txBox="1"/>
          <p:nvPr/>
        </p:nvSpPr>
        <p:spPr>
          <a:xfrm>
            <a:off x="6966093" y="3560829"/>
            <a:ext cx="3797925" cy="261610"/>
          </a:xfrm>
          <a:prstGeom prst="rect">
            <a:avLst/>
          </a:prstGeom>
          <a:noFill/>
        </p:spPr>
        <p:txBody>
          <a:bodyPr wrap="square">
            <a:spAutoFit/>
          </a:bodyPr>
          <a:lstStyle/>
          <a:p>
            <a:r>
              <a:rPr lang="en-US" altLang="ja-JP" sz="1100">
                <a:hlinkClick r:id="rId3"/>
              </a:rPr>
              <a:t>Japan Data Center Automation Market Size &amp; Outlook, 2030</a:t>
            </a:r>
            <a:endParaRPr lang="ja-JP" altLang="en-US" sz="1100"/>
          </a:p>
        </p:txBody>
      </p:sp>
      <p:pic>
        <p:nvPicPr>
          <p:cNvPr id="13" name="図 12">
            <a:extLst>
              <a:ext uri="{FF2B5EF4-FFF2-40B4-BE49-F238E27FC236}">
                <a16:creationId xmlns:a16="http://schemas.microsoft.com/office/drawing/2014/main" id="{F71A1547-3F32-D34C-07BD-07E0A4921BE8}"/>
              </a:ext>
            </a:extLst>
          </p:cNvPr>
          <p:cNvPicPr>
            <a:picLocks noChangeAspect="1"/>
          </p:cNvPicPr>
          <p:nvPr/>
        </p:nvPicPr>
        <p:blipFill>
          <a:blip r:embed="rId4"/>
          <a:stretch>
            <a:fillRect/>
          </a:stretch>
        </p:blipFill>
        <p:spPr>
          <a:xfrm>
            <a:off x="7671219" y="2042802"/>
            <a:ext cx="2387672" cy="1518027"/>
          </a:xfrm>
          <a:prstGeom prst="rect">
            <a:avLst/>
          </a:prstGeom>
        </p:spPr>
      </p:pic>
      <p:sp>
        <p:nvSpPr>
          <p:cNvPr id="17" name="テキスト ボックス 16">
            <a:extLst>
              <a:ext uri="{FF2B5EF4-FFF2-40B4-BE49-F238E27FC236}">
                <a16:creationId xmlns:a16="http://schemas.microsoft.com/office/drawing/2014/main" id="{AC1F979B-2116-9903-FDD7-272C5E09F02D}"/>
              </a:ext>
            </a:extLst>
          </p:cNvPr>
          <p:cNvSpPr txBox="1"/>
          <p:nvPr/>
        </p:nvSpPr>
        <p:spPr>
          <a:xfrm>
            <a:off x="6512459" y="5974468"/>
            <a:ext cx="4705192" cy="415498"/>
          </a:xfrm>
          <a:prstGeom prst="rect">
            <a:avLst/>
          </a:prstGeom>
          <a:noFill/>
        </p:spPr>
        <p:txBody>
          <a:bodyPr wrap="square">
            <a:spAutoFit/>
          </a:bodyPr>
          <a:lstStyle/>
          <a:p>
            <a:r>
              <a:rPr lang="en-US" altLang="ja-JP" sz="1050">
                <a:hlinkClick r:id="rId5"/>
              </a:rPr>
              <a:t>ITR</a:t>
            </a:r>
            <a:r>
              <a:rPr lang="ja-JP" altLang="en-US" sz="1050">
                <a:hlinkClick r:id="rId5"/>
              </a:rPr>
              <a:t>が</a:t>
            </a:r>
            <a:r>
              <a:rPr lang="en-US" altLang="ja-JP" sz="1050">
                <a:hlinkClick r:id="rId5"/>
              </a:rPr>
              <a:t>AIOps</a:t>
            </a:r>
            <a:r>
              <a:rPr lang="ja-JP" altLang="en-US" sz="1050">
                <a:hlinkClick r:id="rId5"/>
              </a:rPr>
              <a:t>／運用自動化市場の提供形態別市場規模推移および予測を発表 ｜株式会社アイ・ティ・アール</a:t>
            </a:r>
            <a:endParaRPr lang="ja-JP" altLang="en-US" sz="1050"/>
          </a:p>
        </p:txBody>
      </p:sp>
      <p:pic>
        <p:nvPicPr>
          <p:cNvPr id="1026" name="Picture 2" descr="図．AIOps／運用自動化市場規模推移および予測：提供形態別（2023～2029年度予測）">
            <a:extLst>
              <a:ext uri="{FF2B5EF4-FFF2-40B4-BE49-F238E27FC236}">
                <a16:creationId xmlns:a16="http://schemas.microsoft.com/office/drawing/2014/main" id="{FE68209B-A370-8D77-3236-48EEC376D63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424833" y="3965307"/>
            <a:ext cx="2880445" cy="1912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35994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2BF07B-1404-E3CC-20F8-672940F3395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47CB9EB-1F68-67D2-5B88-7D122C5F451A}"/>
              </a:ext>
            </a:extLst>
          </p:cNvPr>
          <p:cNvSpPr>
            <a:spLocks noGrp="1"/>
          </p:cNvSpPr>
          <p:nvPr>
            <p:ph type="title"/>
          </p:nvPr>
        </p:nvSpPr>
        <p:spPr/>
        <p:txBody>
          <a:bodyPr/>
          <a:lstStyle/>
          <a:p>
            <a:r>
              <a:rPr lang="ja-JP" altLang="en-US" dirty="0"/>
              <a:t>双日テックイノベーションの進化：キャリア</a:t>
            </a:r>
            <a:r>
              <a:rPr lang="en-US" altLang="ja-JP" dirty="0"/>
              <a:t>NW</a:t>
            </a:r>
            <a:r>
              <a:rPr lang="ja-JP" altLang="en-US" dirty="0"/>
              <a:t>から次の価値創造へ</a:t>
            </a:r>
          </a:p>
        </p:txBody>
      </p:sp>
      <p:sp>
        <p:nvSpPr>
          <p:cNvPr id="3" name="コンテンツ プレースホルダー 2">
            <a:extLst>
              <a:ext uri="{FF2B5EF4-FFF2-40B4-BE49-F238E27FC236}">
                <a16:creationId xmlns:a16="http://schemas.microsoft.com/office/drawing/2014/main" id="{0FB4A39C-0BBE-E7C4-9927-CCBA1E173B00}"/>
              </a:ext>
            </a:extLst>
          </p:cNvPr>
          <p:cNvSpPr>
            <a:spLocks noGrp="1"/>
          </p:cNvSpPr>
          <p:nvPr>
            <p:ph idx="1"/>
          </p:nvPr>
        </p:nvSpPr>
        <p:spPr>
          <a:xfrm>
            <a:off x="460431" y="960017"/>
            <a:ext cx="11184282" cy="5109933"/>
          </a:xfrm>
        </p:spPr>
        <p:txBody>
          <a:bodyPr lIns="36000" tIns="36000" rIns="36000" bIns="36000">
            <a:noAutofit/>
          </a:bodyPr>
          <a:lstStyle/>
          <a:p>
            <a:pPr marL="0" indent="0" algn="l">
              <a:buNone/>
            </a:pPr>
            <a:r>
              <a:rPr kumimoji="1" lang="ja-JP" altLang="en-US" sz="1400" dirty="0"/>
              <a:t>通信インフラのプロフェッショナルとして培った技術・知見を基盤に、</a:t>
            </a:r>
            <a:r>
              <a:rPr kumimoji="1" lang="en-US" altLang="ja-JP" sz="1400" dirty="0"/>
              <a:t>L5G</a:t>
            </a:r>
            <a:r>
              <a:rPr lang="ja-JP" altLang="en-US" sz="1400" dirty="0"/>
              <a:t>・</a:t>
            </a:r>
            <a:r>
              <a:rPr kumimoji="1" lang="ja-JP" altLang="en-US" sz="1400" dirty="0"/>
              <a:t>エッジ・</a:t>
            </a:r>
            <a:r>
              <a:rPr kumimoji="1" lang="en-US" altLang="ja-JP" sz="1400" dirty="0"/>
              <a:t>AI</a:t>
            </a:r>
            <a:r>
              <a:rPr kumimoji="1" lang="ja-JP" altLang="en-US" sz="1400" dirty="0"/>
              <a:t>・フィジカル</a:t>
            </a:r>
            <a:r>
              <a:rPr kumimoji="1" lang="en-US" altLang="ja-JP" sz="1400" dirty="0"/>
              <a:t>AI</a:t>
            </a:r>
            <a:r>
              <a:rPr kumimoji="1" lang="ja-JP" altLang="en-US" sz="1400" dirty="0"/>
              <a:t>で地域と産業の</a:t>
            </a:r>
            <a:r>
              <a:rPr kumimoji="1" lang="en-US" altLang="ja-JP" sz="1400" dirty="0"/>
              <a:t>DX</a:t>
            </a:r>
            <a:r>
              <a:rPr kumimoji="1" lang="ja-JP" altLang="en-US" sz="1400" dirty="0"/>
              <a:t>を加速</a:t>
            </a:r>
          </a:p>
        </p:txBody>
      </p:sp>
      <p:sp>
        <p:nvSpPr>
          <p:cNvPr id="4" name="四角形: 角を丸くする 3">
            <a:extLst>
              <a:ext uri="{FF2B5EF4-FFF2-40B4-BE49-F238E27FC236}">
                <a16:creationId xmlns:a16="http://schemas.microsoft.com/office/drawing/2014/main" id="{0EF7D23E-C51C-ED10-2843-9844240CD4EA}"/>
              </a:ext>
            </a:extLst>
          </p:cNvPr>
          <p:cNvSpPr/>
          <p:nvPr/>
        </p:nvSpPr>
        <p:spPr>
          <a:xfrm>
            <a:off x="9452941" y="443169"/>
            <a:ext cx="1035050" cy="22225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目指すべき姿</a:t>
            </a:r>
          </a:p>
        </p:txBody>
      </p:sp>
      <p:pic>
        <p:nvPicPr>
          <p:cNvPr id="6" name="図 5">
            <a:extLst>
              <a:ext uri="{FF2B5EF4-FFF2-40B4-BE49-F238E27FC236}">
                <a16:creationId xmlns:a16="http://schemas.microsoft.com/office/drawing/2014/main" id="{2F1D15D9-5BA2-8ED5-9AF7-39140CEBEA84}"/>
              </a:ext>
            </a:extLst>
          </p:cNvPr>
          <p:cNvPicPr>
            <a:picLocks noChangeAspect="1"/>
          </p:cNvPicPr>
          <p:nvPr/>
        </p:nvPicPr>
        <p:blipFill>
          <a:blip r:embed="rId3"/>
          <a:stretch>
            <a:fillRect/>
          </a:stretch>
        </p:blipFill>
        <p:spPr>
          <a:xfrm>
            <a:off x="795817" y="1237252"/>
            <a:ext cx="10600366" cy="5514693"/>
          </a:xfrm>
          <a:prstGeom prst="rect">
            <a:avLst/>
          </a:prstGeom>
        </p:spPr>
      </p:pic>
    </p:spTree>
    <p:extLst>
      <p:ext uri="{BB962C8B-B14F-4D97-AF65-F5344CB8AC3E}">
        <p14:creationId xmlns:p14="http://schemas.microsoft.com/office/powerpoint/2010/main" val="27319519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2DD2A-6824-EB4C-7CC5-C69A3250D09B}"/>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32A68682-204F-8F4C-7173-40E3954B59B9}"/>
              </a:ext>
            </a:extLst>
          </p:cNvPr>
          <p:cNvSpPr>
            <a:spLocks noGrp="1"/>
          </p:cNvSpPr>
          <p:nvPr>
            <p:ph type="title"/>
          </p:nvPr>
        </p:nvSpPr>
        <p:spPr/>
        <p:txBody>
          <a:bodyPr>
            <a:normAutofit/>
          </a:bodyPr>
          <a:lstStyle/>
          <a:p>
            <a:pPr algn="l"/>
            <a:r>
              <a:rPr>
                <a:latin typeface="BIZ UDPGothic"/>
                <a:ea typeface="BIZ UDPGothic"/>
              </a:rPr>
              <a:t>フィジカルAIのエコシステム — 当社が推進していく全体像</a:t>
            </a:r>
          </a:p>
        </p:txBody>
      </p:sp>
      <p:sp>
        <p:nvSpPr>
          <p:cNvPr id="7" name="TextBox 6"/>
          <p:cNvSpPr txBox="1"/>
          <p:nvPr/>
        </p:nvSpPr>
        <p:spPr>
          <a:xfrm>
            <a:off x="466344" y="978408"/>
            <a:ext cx="11183112" cy="484632"/>
          </a:xfrm>
          <a:prstGeom prst="rect">
            <a:avLst/>
          </a:prstGeom>
          <a:noFill/>
        </p:spPr>
        <p:txBody>
          <a:bodyPr wrap="square" lIns="0" rIns="0" tIns="0" bIns="0">
            <a:spAutoFit/>
          </a:bodyPr>
          <a:lstStyle/>
          <a:p>
            <a:r>
              <a:rPr sz="2000" b="1">
                <a:solidFill>
                  <a:srgbClr val="191919"/>
                </a:solidFill>
                <a:latin typeface="BIZ UDPGothic"/>
                <a:ea typeface="BIZ UDPGothic"/>
              </a:rPr>
              <a:t>エッジ × ローカル5G × 集中インフラ基盤 — 従来の得意領域を土台に3層をつなぐ</a:t>
            </a:r>
          </a:p>
        </p:txBody>
      </p:sp>
      <p:pic>
        <p:nvPicPr>
          <p:cNvPr id="8" name="Picture 7" descr="eco_diagram.png"/>
          <p:cNvPicPr>
            <a:picLocks noChangeAspect="1"/>
          </p:cNvPicPr>
          <p:nvPr/>
        </p:nvPicPr>
        <p:blipFill>
          <a:blip r:embed="rId9"/>
          <a:stretch>
            <a:fillRect/>
          </a:stretch>
        </p:blipFill>
        <p:spPr>
          <a:xfrm>
            <a:off x="594360" y="1554480"/>
            <a:ext cx="11000232" cy="4206240"/>
          </a:xfrm>
          <a:prstGeom prst="rect">
            <a:avLst/>
          </a:prstGeom>
        </p:spPr>
      </p:pic>
      <p:sp>
        <p:nvSpPr>
          <p:cNvPr id="9" name="Rounded Rectangle 8"/>
          <p:cNvSpPr/>
          <p:nvPr/>
        </p:nvSpPr>
        <p:spPr>
          <a:xfrm>
            <a:off x="594360" y="5852160"/>
            <a:ext cx="11000232" cy="548640"/>
          </a:xfrm>
          <a:prstGeom prst="roundRect">
            <a:avLst>
              <a:gd name="adj" fmla="val 50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lIns="274320"/>
          <a:lstStyle/>
          <a:p>
            <a:pPr algn="ctr"/>
            <a:r>
              <a:rPr sz="1350" b="1">
                <a:solidFill>
                  <a:srgbClr val="FFFFFF"/>
                </a:solidFill>
                <a:latin typeface="BIZ UDPGothic"/>
                <a:ea typeface="BIZ UDPGothic"/>
              </a:rPr>
              <a:t>このエコシステムの「提案・設計・構築・導入」を当社が推進していく — 単品売りから、現場が自律的に回る仕組みの提供へ</a:t>
            </a:r>
          </a:p>
        </p:txBody>
      </p:sp>
    </p:spTree>
    <p:extLst>
      <p:ext uri="{BB962C8B-B14F-4D97-AF65-F5344CB8AC3E}">
        <p14:creationId xmlns:p14="http://schemas.microsoft.com/office/powerpoint/2010/main" val="15068299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2．フィジカルAIとは何か</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フィジカルAIとは — AI進化の「第4の波」</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デジタル世界で完結していたAIが、現実世界を知覚し、行動する段階へ</a:t>
            </a:r>
            <a:endParaRPr lang="ja-JP" altLang="en-US"/>
          </a:p>
        </p:txBody>
      </p:sp>
      <p:sp>
        <p:nvSpPr>
          <p:cNvPr id="9" name="Chevron 8"/>
          <p:cNvSpPr/>
          <p:nvPr/>
        </p:nvSpPr>
        <p:spPr>
          <a:xfrm>
            <a:off x="466344" y="1783080"/>
            <a:ext cx="2926080" cy="2011680"/>
          </a:xfrm>
          <a:prstGeom prst="chevron">
            <a:avLst>
              <a:gd name="adj" fmla="val 25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46304" tIns="566928" rIns="237744" bIns="73152" rtlCol="0" anchor="t"/>
          <a:lstStyle/>
          <a:p>
            <a:pPr algn="ctr"/>
            <a:r>
              <a:rPr sz="1400" b="1">
                <a:solidFill>
                  <a:srgbClr val="191919"/>
                </a:solidFill>
                <a:latin typeface="BIZ UDPGothic"/>
                <a:ea typeface="BIZ UDPGothic"/>
              </a:rPr>
              <a:t>認識AI</a:t>
            </a:r>
          </a:p>
          <a:p>
            <a:pPr algn="ctr">
              <a:spcBef>
                <a:spcPts val="400"/>
              </a:spcBef>
            </a:pPr>
            <a:r>
              <a:rPr sz="1050" b="0">
                <a:solidFill>
                  <a:srgbClr val="191919"/>
                </a:solidFill>
                <a:latin typeface="BIZ UDPGothic"/>
                <a:ea typeface="BIZ UDPGothic"/>
              </a:rPr>
              <a:t>画像・音声を認識する</a:t>
            </a:r>
          </a:p>
          <a:p>
            <a:pPr algn="ctr">
              <a:spcBef>
                <a:spcPts val="400"/>
              </a:spcBef>
            </a:pPr>
            <a:r>
              <a:rPr sz="950" b="1">
                <a:solidFill>
                  <a:srgbClr val="A7ACAF"/>
                </a:solidFill>
                <a:latin typeface="BIZ UDPGothic"/>
                <a:ea typeface="BIZ UDPGothic"/>
              </a:rPr>
              <a:t>2012年頃〜</a:t>
            </a:r>
          </a:p>
        </p:txBody>
      </p:sp>
      <p:pic>
        <p:nvPicPr>
          <p:cNvPr id="10" name="Picture 9" descr="eye_primary.png"/>
          <p:cNvPicPr>
            <a:picLocks noChangeAspect="1"/>
          </p:cNvPicPr>
          <p:nvPr/>
        </p:nvPicPr>
        <p:blipFill>
          <a:blip r:embed="rId3"/>
          <a:stretch>
            <a:fillRect/>
          </a:stretch>
        </p:blipFill>
        <p:spPr>
          <a:xfrm>
            <a:off x="1631472" y="1846356"/>
            <a:ext cx="458663" cy="458663"/>
          </a:xfrm>
          <a:prstGeom prst="rect">
            <a:avLst/>
          </a:prstGeom>
        </p:spPr>
      </p:pic>
      <p:sp>
        <p:nvSpPr>
          <p:cNvPr id="11" name="Chevron 10"/>
          <p:cNvSpPr/>
          <p:nvPr/>
        </p:nvSpPr>
        <p:spPr>
          <a:xfrm>
            <a:off x="3255264" y="1783080"/>
            <a:ext cx="2926080" cy="2011680"/>
          </a:xfrm>
          <a:prstGeom prst="chevron">
            <a:avLst>
              <a:gd name="adj" fmla="val 25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365760" tIns="566928" rIns="237744" bIns="73152" rtlCol="0" anchor="t"/>
          <a:lstStyle/>
          <a:p>
            <a:pPr algn="ctr"/>
            <a:r>
              <a:rPr sz="1400" b="1">
                <a:solidFill>
                  <a:srgbClr val="191919"/>
                </a:solidFill>
                <a:latin typeface="BIZ UDPGothic"/>
                <a:ea typeface="BIZ UDPGothic"/>
              </a:rPr>
              <a:t>生成AI</a:t>
            </a:r>
          </a:p>
          <a:p>
            <a:pPr algn="ctr">
              <a:spcBef>
                <a:spcPts val="400"/>
              </a:spcBef>
            </a:pPr>
            <a:r>
              <a:rPr sz="1050" b="0">
                <a:solidFill>
                  <a:srgbClr val="191919"/>
                </a:solidFill>
                <a:latin typeface="BIZ UDPGothic"/>
                <a:ea typeface="BIZ UDPGothic"/>
              </a:rPr>
              <a:t>文章・画像を生み出す</a:t>
            </a:r>
          </a:p>
          <a:p>
            <a:pPr algn="ctr">
              <a:spcBef>
                <a:spcPts val="400"/>
              </a:spcBef>
            </a:pPr>
            <a:r>
              <a:rPr sz="950" b="1">
                <a:solidFill>
                  <a:srgbClr val="A7ACAF"/>
                </a:solidFill>
                <a:latin typeface="BIZ UDPGothic"/>
                <a:ea typeface="BIZ UDPGothic"/>
              </a:rPr>
              <a:t>2022年頃〜</a:t>
            </a:r>
          </a:p>
        </p:txBody>
      </p:sp>
      <p:pic>
        <p:nvPicPr>
          <p:cNvPr id="12" name="Picture 11" descr="wand_primary.png"/>
          <p:cNvPicPr>
            <a:picLocks noChangeAspect="1"/>
          </p:cNvPicPr>
          <p:nvPr/>
        </p:nvPicPr>
        <p:blipFill>
          <a:blip r:embed="rId4"/>
          <a:stretch>
            <a:fillRect/>
          </a:stretch>
        </p:blipFill>
        <p:spPr>
          <a:xfrm>
            <a:off x="4548408" y="1846356"/>
            <a:ext cx="458663" cy="458663"/>
          </a:xfrm>
          <a:prstGeom prst="rect">
            <a:avLst/>
          </a:prstGeom>
        </p:spPr>
      </p:pic>
      <p:sp>
        <p:nvSpPr>
          <p:cNvPr id="13" name="Chevron 12"/>
          <p:cNvSpPr/>
          <p:nvPr/>
        </p:nvSpPr>
        <p:spPr>
          <a:xfrm>
            <a:off x="6044184" y="1783080"/>
            <a:ext cx="2926080" cy="2011680"/>
          </a:xfrm>
          <a:prstGeom prst="chevron">
            <a:avLst>
              <a:gd name="adj" fmla="val 25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365760" tIns="566928" rIns="237744" bIns="73152" rtlCol="0" anchor="t"/>
          <a:lstStyle/>
          <a:p>
            <a:pPr algn="ctr"/>
            <a:r>
              <a:rPr sz="1400" b="1">
                <a:solidFill>
                  <a:srgbClr val="191919"/>
                </a:solidFill>
                <a:latin typeface="BIZ UDPGothic"/>
                <a:ea typeface="BIZ UDPGothic"/>
              </a:rPr>
              <a:t>エージェントAI</a:t>
            </a:r>
          </a:p>
          <a:p>
            <a:pPr algn="ctr">
              <a:spcBef>
                <a:spcPts val="400"/>
              </a:spcBef>
            </a:pPr>
            <a:r>
              <a:rPr sz="1050" b="0">
                <a:solidFill>
                  <a:srgbClr val="191919"/>
                </a:solidFill>
                <a:latin typeface="BIZ UDPGothic"/>
                <a:ea typeface="BIZ UDPGothic"/>
              </a:rPr>
              <a:t>自律的に仕事を進める</a:t>
            </a:r>
          </a:p>
          <a:p>
            <a:pPr algn="ctr">
              <a:spcBef>
                <a:spcPts val="400"/>
              </a:spcBef>
            </a:pPr>
            <a:r>
              <a:rPr sz="950" b="1">
                <a:solidFill>
                  <a:srgbClr val="A7ACAF"/>
                </a:solidFill>
                <a:latin typeface="BIZ UDPGothic"/>
                <a:ea typeface="BIZ UDPGothic"/>
              </a:rPr>
              <a:t>2024年頃〜</a:t>
            </a:r>
          </a:p>
        </p:txBody>
      </p:sp>
      <p:pic>
        <p:nvPicPr>
          <p:cNvPr id="14" name="Picture 13" descr="usergear_primary.png"/>
          <p:cNvPicPr>
            <a:picLocks noChangeAspect="1"/>
          </p:cNvPicPr>
          <p:nvPr/>
        </p:nvPicPr>
        <p:blipFill>
          <a:blip r:embed="rId5"/>
          <a:stretch>
            <a:fillRect/>
          </a:stretch>
        </p:blipFill>
        <p:spPr>
          <a:xfrm>
            <a:off x="7337328" y="1846356"/>
            <a:ext cx="458663" cy="458663"/>
          </a:xfrm>
          <a:prstGeom prst="rect">
            <a:avLst/>
          </a:prstGeom>
        </p:spPr>
      </p:pic>
      <p:sp>
        <p:nvSpPr>
          <p:cNvPr id="15" name="Chevron 14"/>
          <p:cNvSpPr/>
          <p:nvPr/>
        </p:nvSpPr>
        <p:spPr>
          <a:xfrm>
            <a:off x="8833104" y="1783080"/>
            <a:ext cx="2926080" cy="2011680"/>
          </a:xfrm>
          <a:prstGeom prst="chevron">
            <a:avLst>
              <a:gd name="adj" fmla="val 25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365760" tIns="566928" rIns="237744" bIns="73152" rtlCol="0" anchor="t"/>
          <a:lstStyle/>
          <a:p>
            <a:pPr algn="ctr"/>
            <a:r>
              <a:rPr sz="1400" b="1">
                <a:solidFill>
                  <a:srgbClr val="FFFFFF"/>
                </a:solidFill>
                <a:latin typeface="BIZ UDPGothic"/>
                <a:ea typeface="BIZ UDPGothic"/>
              </a:rPr>
              <a:t>フィジカルAI</a:t>
            </a:r>
          </a:p>
          <a:p>
            <a:pPr algn="ctr">
              <a:spcBef>
                <a:spcPts val="400"/>
              </a:spcBef>
            </a:pPr>
            <a:r>
              <a:rPr sz="1050" b="0">
                <a:solidFill>
                  <a:srgbClr val="FFFFFF"/>
                </a:solidFill>
                <a:latin typeface="BIZ UDPGothic"/>
                <a:ea typeface="BIZ UDPGothic"/>
              </a:rPr>
              <a:t>現実世界で知覚し行動する</a:t>
            </a:r>
          </a:p>
          <a:p>
            <a:pPr algn="ctr">
              <a:spcBef>
                <a:spcPts val="400"/>
              </a:spcBef>
            </a:pPr>
            <a:r>
              <a:rPr sz="950" b="1">
                <a:solidFill>
                  <a:srgbClr val="6BB8F2"/>
                </a:solidFill>
                <a:latin typeface="BIZ UDPGothic"/>
                <a:ea typeface="BIZ UDPGothic"/>
              </a:rPr>
              <a:t>いま・これから</a:t>
            </a:r>
          </a:p>
        </p:txBody>
      </p:sp>
      <p:pic>
        <p:nvPicPr>
          <p:cNvPr id="16" name="Picture 15" descr="robot.png"/>
          <p:cNvPicPr>
            <a:picLocks noChangeAspect="1"/>
          </p:cNvPicPr>
          <p:nvPr/>
        </p:nvPicPr>
        <p:blipFill>
          <a:blip r:embed="rId6"/>
          <a:stretch>
            <a:fillRect/>
          </a:stretch>
        </p:blipFill>
        <p:spPr>
          <a:xfrm>
            <a:off x="10136124" y="1856231"/>
            <a:ext cx="438912" cy="438912"/>
          </a:xfrm>
          <a:prstGeom prst="rect">
            <a:avLst/>
          </a:prstGeom>
        </p:spPr>
      </p:pic>
      <p:sp>
        <p:nvSpPr>
          <p:cNvPr id="17" name="Rounded Rectangle 16"/>
          <p:cNvSpPr/>
          <p:nvPr/>
        </p:nvSpPr>
        <p:spPr>
          <a:xfrm>
            <a:off x="466344" y="4069080"/>
            <a:ext cx="11183112" cy="20116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74320" tIns="182880" rIns="1463040" bIns="73152" rtlCol="0" anchor="t"/>
          <a:lstStyle/>
          <a:p>
            <a:pPr algn="ctr">
              <a:spcAft>
                <a:spcPts val="600"/>
              </a:spcAft>
            </a:pPr>
            <a:r>
              <a:rPr sz="1500" b="1" dirty="0" err="1">
                <a:solidFill>
                  <a:srgbClr val="00219B"/>
                </a:solidFill>
                <a:latin typeface="BIZ UDPGothic"/>
                <a:ea typeface="BIZ UDPGothic"/>
              </a:rPr>
              <a:t>フィジカルAI（Physical</a:t>
            </a:r>
            <a:r>
              <a:rPr sz="1500" b="1" dirty="0">
                <a:solidFill>
                  <a:srgbClr val="00219B"/>
                </a:solidFill>
                <a:latin typeface="BIZ UDPGothic"/>
                <a:ea typeface="BIZ UDPGothic"/>
              </a:rPr>
              <a:t> </a:t>
            </a:r>
            <a:r>
              <a:rPr sz="1500" b="1" dirty="0" err="1">
                <a:solidFill>
                  <a:srgbClr val="00219B"/>
                </a:solidFill>
                <a:latin typeface="BIZ UDPGothic"/>
                <a:ea typeface="BIZ UDPGothic"/>
              </a:rPr>
              <a:t>AI）とは</a:t>
            </a:r>
            <a:endParaRPr sz="1500" b="1" dirty="0">
              <a:solidFill>
                <a:srgbClr val="00219B"/>
              </a:solidFill>
              <a:latin typeface="BIZ UDPGothic"/>
              <a:ea typeface="BIZ UDPGothic"/>
            </a:endParaRPr>
          </a:p>
          <a:p>
            <a:pPr>
              <a:spcAft>
                <a:spcPts val="400"/>
              </a:spcAft>
            </a:pPr>
            <a:r>
              <a:rPr sz="1300" b="0" dirty="0" err="1">
                <a:solidFill>
                  <a:srgbClr val="191919"/>
                </a:solidFill>
                <a:latin typeface="BIZ UDPGothic"/>
                <a:ea typeface="BIZ UDPGothic"/>
              </a:rPr>
              <a:t>物理法則（重力・摩擦・空間など）を理解し、現実世界を</a:t>
            </a:r>
            <a:r>
              <a:rPr sz="1300" b="1" dirty="0" err="1">
                <a:solidFill>
                  <a:srgbClr val="00219B"/>
                </a:solidFill>
                <a:latin typeface="BIZ UDPGothic"/>
                <a:ea typeface="BIZ UDPGothic"/>
              </a:rPr>
              <a:t>知覚・判断・行動</a:t>
            </a:r>
            <a:r>
              <a:rPr sz="1300" b="0" dirty="0" err="1">
                <a:solidFill>
                  <a:srgbClr val="191919"/>
                </a:solidFill>
                <a:latin typeface="BIZ UDPGothic"/>
                <a:ea typeface="BIZ UDPGothic"/>
              </a:rPr>
              <a:t>する自律的なAIのこと</a:t>
            </a:r>
            <a:r>
              <a:rPr sz="1300" b="0" dirty="0">
                <a:solidFill>
                  <a:srgbClr val="191919"/>
                </a:solidFill>
                <a:latin typeface="BIZ UDPGothic"/>
                <a:ea typeface="BIZ UDPGothic"/>
              </a:rPr>
              <a:t>。</a:t>
            </a:r>
          </a:p>
          <a:p>
            <a:pPr>
              <a:spcAft>
                <a:spcPts val="800"/>
              </a:spcAft>
            </a:pPr>
            <a:r>
              <a:rPr sz="1300" b="0" dirty="0" err="1">
                <a:solidFill>
                  <a:srgbClr val="191919"/>
                </a:solidFill>
                <a:latin typeface="BIZ UDPGothic"/>
                <a:ea typeface="BIZ UDPGothic"/>
              </a:rPr>
              <a:t>ヒューマノイドロボット・自動運転車・ドローン・AMR（自律走行搬送ロボット）などの「身体」を通じて、物理的な仕事を行う</a:t>
            </a:r>
            <a:r>
              <a:rPr sz="1300" b="0" dirty="0">
                <a:solidFill>
                  <a:srgbClr val="191919"/>
                </a:solidFill>
                <a:latin typeface="BIZ UDPGothic"/>
                <a:ea typeface="BIZ UDPGothic"/>
              </a:rPr>
              <a:t>。</a:t>
            </a:r>
          </a:p>
          <a:p>
            <a:r>
              <a:rPr sz="1100" b="0" dirty="0" err="1">
                <a:solidFill>
                  <a:srgbClr val="A7ACAF"/>
                </a:solidFill>
                <a:latin typeface="BIZ UDPGothic"/>
                <a:ea typeface="BIZ UDPGothic"/>
              </a:rPr>
              <a:t>NVIDIAのジェンスン・フアンCEOがCES</a:t>
            </a:r>
            <a:r>
              <a:rPr sz="1100" b="0" dirty="0">
                <a:solidFill>
                  <a:srgbClr val="A7ACAF"/>
                </a:solidFill>
                <a:latin typeface="BIZ UDPGothic"/>
                <a:ea typeface="BIZ UDPGothic"/>
              </a:rPr>
              <a:t> 2025基調講演で提唱して以降、業界共通のキーワードに。</a:t>
            </a:r>
          </a:p>
        </p:txBody>
      </p:sp>
      <p:pic>
        <p:nvPicPr>
          <p:cNvPr id="18" name="Picture 17" descr="robot_primary.png"/>
          <p:cNvPicPr>
            <a:picLocks noChangeAspect="1"/>
          </p:cNvPicPr>
          <p:nvPr/>
        </p:nvPicPr>
        <p:blipFill>
          <a:blip r:embed="rId7"/>
          <a:stretch>
            <a:fillRect/>
          </a:stretch>
        </p:blipFill>
        <p:spPr>
          <a:xfrm>
            <a:off x="10263225" y="4365345"/>
            <a:ext cx="1327708" cy="1327708"/>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なぜ今、フィジカルAIが注目されるのか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技術・社会・産業 — 3つの追い風が重なった</a:t>
            </a:r>
            <a:endParaRPr lang="ja-JP" altLang="en-US"/>
          </a:p>
        </p:txBody>
      </p:sp>
      <p:sp>
        <p:nvSpPr>
          <p:cNvPr id="9" name="Rounded Rectangle 8"/>
          <p:cNvSpPr/>
          <p:nvPr/>
        </p:nvSpPr>
        <p:spPr>
          <a:xfrm>
            <a:off x="466344" y="2148840"/>
            <a:ext cx="3611880" cy="33832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777240" rIns="201168" bIns="73152" rtlCol="0" anchor="t"/>
          <a:lstStyle/>
          <a:p>
            <a:pPr algn="ctr">
              <a:spcAft>
                <a:spcPts val="1000"/>
              </a:spcAft>
            </a:pPr>
            <a:r>
              <a:rPr sz="1600" b="1">
                <a:solidFill>
                  <a:srgbClr val="00219B"/>
                </a:solidFill>
                <a:latin typeface="BIZ UDPGothic"/>
                <a:ea typeface="BIZ UDPGothic"/>
              </a:rPr>
              <a:t>技術が追いついた</a:t>
            </a:r>
          </a:p>
          <a:p>
            <a:pPr marL="182880" indent="-182880">
              <a:lnSpc>
                <a:spcPct val="115000"/>
              </a:lnSpc>
              <a:spcAft>
                <a:spcPts val="800"/>
              </a:spcAft>
              <a:buFont typeface="BIZ UDPGothic"/>
              <a:buChar char="・"/>
            </a:pPr>
            <a:r>
              <a:rPr sz="1250" b="0">
                <a:solidFill>
                  <a:srgbClr val="191919"/>
                </a:solidFill>
                <a:latin typeface="BIZ UDPGothic"/>
                <a:ea typeface="BIZ UDPGothic"/>
              </a:rPr>
              <a:t>LLM・基盤モデルの進化で、ロボットが言葉と「常識」を理解できるようになった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シミュレーション技術の成熟で、学習の時間とコストが劇的に低下</a:t>
            </a:r>
          </a:p>
        </p:txBody>
      </p:sp>
      <p:pic>
        <p:nvPicPr>
          <p:cNvPr id="10" name="Picture 9" descr="microchip_teal.png"/>
          <p:cNvPicPr>
            <a:picLocks noChangeAspect="1"/>
          </p:cNvPicPr>
          <p:nvPr/>
        </p:nvPicPr>
        <p:blipFill>
          <a:blip r:embed="rId3"/>
          <a:stretch>
            <a:fillRect/>
          </a:stretch>
        </p:blipFill>
        <p:spPr>
          <a:xfrm>
            <a:off x="1934321" y="2249789"/>
            <a:ext cx="675924" cy="675924"/>
          </a:xfrm>
          <a:prstGeom prst="rect">
            <a:avLst/>
          </a:prstGeom>
        </p:spPr>
      </p:pic>
      <p:sp>
        <p:nvSpPr>
          <p:cNvPr id="11" name="Rounded Rectangle 10"/>
          <p:cNvSpPr/>
          <p:nvPr/>
        </p:nvSpPr>
        <p:spPr>
          <a:xfrm>
            <a:off x="4251960" y="2148840"/>
            <a:ext cx="3611880" cy="33832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777240" rIns="201168" bIns="73152" rtlCol="0" anchor="t"/>
          <a:lstStyle/>
          <a:p>
            <a:pPr algn="ctr">
              <a:spcAft>
                <a:spcPts val="1000"/>
              </a:spcAft>
            </a:pPr>
            <a:r>
              <a:rPr sz="1600" b="1">
                <a:solidFill>
                  <a:srgbClr val="00219B"/>
                </a:solidFill>
                <a:latin typeface="BIZ UDPGothic"/>
                <a:ea typeface="BIZ UDPGothic"/>
              </a:rPr>
              <a:t>現場の人手が足りない</a:t>
            </a:r>
          </a:p>
          <a:p>
            <a:pPr marL="182880" indent="-182880">
              <a:lnSpc>
                <a:spcPct val="115000"/>
              </a:lnSpc>
              <a:spcAft>
                <a:spcPts val="800"/>
              </a:spcAft>
              <a:buFont typeface="BIZ UDPGothic"/>
              <a:buChar char="・"/>
            </a:pPr>
            <a:r>
              <a:rPr sz="1250" b="0">
                <a:solidFill>
                  <a:srgbClr val="191919"/>
                </a:solidFill>
                <a:latin typeface="BIZ UDPGothic"/>
                <a:ea typeface="BIZ UDPGothic"/>
              </a:rPr>
              <a:t>日本では2030年に約644万人の人手不足という試算（パーソル総合研究所ほか）</a:t>
            </a:r>
          </a:p>
          <a:p>
            <a:pPr marL="182880" indent="-182880">
              <a:lnSpc>
                <a:spcPct val="115000"/>
              </a:lnSpc>
              <a:spcAft>
                <a:spcPts val="800"/>
              </a:spcAft>
              <a:buFont typeface="BIZ UDPGothic"/>
              <a:buChar char="・"/>
            </a:pPr>
            <a:r>
              <a:rPr sz="1250" b="0">
                <a:solidFill>
                  <a:srgbClr val="191919"/>
                </a:solidFill>
                <a:latin typeface="BIZ UDPGothic"/>
                <a:ea typeface="BIZ UDPGothic"/>
              </a:rPr>
              <a:t>製造・物流・建設・介護など、身体を使う仕事ほど自動化ニーズが深刻</a:t>
            </a:r>
          </a:p>
        </p:txBody>
      </p:sp>
      <p:pic>
        <p:nvPicPr>
          <p:cNvPr id="12" name="Picture 11" descr="personexcl_red.png"/>
          <p:cNvPicPr>
            <a:picLocks noChangeAspect="1"/>
          </p:cNvPicPr>
          <p:nvPr/>
        </p:nvPicPr>
        <p:blipFill>
          <a:blip r:embed="rId4"/>
          <a:stretch>
            <a:fillRect/>
          </a:stretch>
        </p:blipFill>
        <p:spPr>
          <a:xfrm>
            <a:off x="5719937" y="2249789"/>
            <a:ext cx="675924" cy="675924"/>
          </a:xfrm>
          <a:prstGeom prst="rect">
            <a:avLst/>
          </a:prstGeom>
        </p:spPr>
      </p:pic>
      <p:sp>
        <p:nvSpPr>
          <p:cNvPr id="13" name="Rounded Rectangle 12"/>
          <p:cNvSpPr/>
          <p:nvPr/>
        </p:nvSpPr>
        <p:spPr>
          <a:xfrm>
            <a:off x="8037576" y="2148840"/>
            <a:ext cx="3611880" cy="33832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777240" rIns="201168" bIns="73152" rtlCol="0" anchor="t"/>
          <a:lstStyle/>
          <a:p>
            <a:pPr algn="ctr">
              <a:spcAft>
                <a:spcPts val="1000"/>
              </a:spcAft>
            </a:pPr>
            <a:r>
              <a:rPr sz="1600" b="1">
                <a:solidFill>
                  <a:srgbClr val="00219B"/>
                </a:solidFill>
                <a:latin typeface="BIZ UDPGothic"/>
                <a:ea typeface="BIZ UDPGothic"/>
              </a:rPr>
              <a:t>産業界が本気になった</a:t>
            </a:r>
          </a:p>
          <a:p>
            <a:pPr marL="182880" indent="-182880">
              <a:lnSpc>
                <a:spcPct val="115000"/>
              </a:lnSpc>
              <a:spcAft>
                <a:spcPts val="800"/>
              </a:spcAft>
              <a:buFont typeface="BIZ UDPGothic"/>
              <a:buChar char="・"/>
            </a:pPr>
            <a:r>
              <a:rPr sz="1250" b="0">
                <a:solidFill>
                  <a:srgbClr val="191919"/>
                </a:solidFill>
                <a:latin typeface="BIZ UDPGothic"/>
                <a:ea typeface="BIZ UDPGothic"/>
              </a:rPr>
              <a:t>NVIDIA CEO「ロボティクスのChatGPTモーメントは目前」（CES 2025）</a:t>
            </a:r>
          </a:p>
          <a:p>
            <a:pPr marL="182880" indent="-182880">
              <a:lnSpc>
                <a:spcPct val="115000"/>
              </a:lnSpc>
              <a:spcAft>
                <a:spcPts val="800"/>
              </a:spcAft>
              <a:buFont typeface="BIZ UDPGothic"/>
              <a:buChar char="・"/>
            </a:pPr>
            <a:r>
              <a:rPr sz="1250" b="0">
                <a:solidFill>
                  <a:srgbClr val="191919"/>
                </a:solidFill>
                <a:latin typeface="BIZ UDPGothic"/>
                <a:ea typeface="BIZ UDPGothic"/>
              </a:rPr>
              <a:t>ヒューマノイド各社へ巨額投資が集中し、開発競争が一気に加速</a:t>
            </a:r>
          </a:p>
        </p:txBody>
      </p:sp>
      <p:pic>
        <p:nvPicPr>
          <p:cNvPr id="14" name="Picture 13" descr="rocket_purple.png"/>
          <p:cNvPicPr>
            <a:picLocks noChangeAspect="1"/>
          </p:cNvPicPr>
          <p:nvPr/>
        </p:nvPicPr>
        <p:blipFill>
          <a:blip r:embed="rId5"/>
          <a:stretch>
            <a:fillRect/>
          </a:stretch>
        </p:blipFill>
        <p:spPr>
          <a:xfrm>
            <a:off x="9505553" y="2249789"/>
            <a:ext cx="675924" cy="675924"/>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フィジカルAIを支える3層の技術スタック</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「頭脳」「訓練場」「身体」の3層がそろって初めて機能する</a:t>
            </a:r>
            <a:endParaRPr lang="ja-JP" altLang="en-US"/>
          </a:p>
        </p:txBody>
      </p:sp>
      <p:sp>
        <p:nvSpPr>
          <p:cNvPr id="9" name="Rounded Rectangle 8"/>
          <p:cNvSpPr/>
          <p:nvPr/>
        </p:nvSpPr>
        <p:spPr>
          <a:xfrm>
            <a:off x="466344" y="1828800"/>
            <a:ext cx="1417320" cy="1207008"/>
          </a:xfrm>
          <a:prstGeom prst="roundRect">
            <a:avLst>
              <a:gd name="adj" fmla="val 8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109728" tIns="621792" rIns="109728" bIns="73152" rtlCol="0" anchor="t"/>
          <a:lstStyle/>
          <a:p>
            <a:pPr algn="ctr"/>
            <a:r>
              <a:rPr sz="1500" b="1">
                <a:solidFill>
                  <a:srgbClr val="FFFFFF"/>
                </a:solidFill>
                <a:latin typeface="BIZ UDPGothic"/>
                <a:ea typeface="BIZ UDPGothic"/>
              </a:rPr>
              <a:t>頭脳</a:t>
            </a:r>
          </a:p>
        </p:txBody>
      </p:sp>
      <p:pic>
        <p:nvPicPr>
          <p:cNvPr id="10" name="Picture 9" descr="brain.png"/>
          <p:cNvPicPr>
            <a:picLocks noChangeAspect="1"/>
          </p:cNvPicPr>
          <p:nvPr/>
        </p:nvPicPr>
        <p:blipFill>
          <a:blip r:embed="rId3"/>
          <a:stretch>
            <a:fillRect/>
          </a:stretch>
        </p:blipFill>
        <p:spPr>
          <a:xfrm>
            <a:off x="955548" y="1956816"/>
            <a:ext cx="438912" cy="438912"/>
          </a:xfrm>
          <a:prstGeom prst="rect">
            <a:avLst/>
          </a:prstGeom>
        </p:spPr>
      </p:pic>
      <p:sp>
        <p:nvSpPr>
          <p:cNvPr id="11" name="Rounded Rectangle 10"/>
          <p:cNvSpPr/>
          <p:nvPr/>
        </p:nvSpPr>
        <p:spPr>
          <a:xfrm>
            <a:off x="2029968" y="1828800"/>
            <a:ext cx="6675120" cy="1207008"/>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500" b="1">
                <a:solidFill>
                  <a:srgbClr val="00219B"/>
                </a:solidFill>
                <a:latin typeface="BIZ UDPGothic"/>
                <a:ea typeface="BIZ UDPGothic"/>
              </a:rPr>
              <a:t>基盤モデル</a:t>
            </a:r>
          </a:p>
          <a:p>
            <a:pPr>
              <a:lnSpc>
                <a:spcPct val="110000"/>
              </a:lnSpc>
            </a:pPr>
            <a:r>
              <a:rPr sz="1200" b="0">
                <a:solidFill>
                  <a:srgbClr val="191919"/>
                </a:solidFill>
                <a:latin typeface="BIZ UDPGothic"/>
                <a:ea typeface="BIZ UDPGothic"/>
              </a:rPr>
              <a:t>カメラ映像と言葉を理解し、次の動作を決める（VLAモデル・世界モデル）</a:t>
            </a:r>
          </a:p>
        </p:txBody>
      </p:sp>
      <p:sp>
        <p:nvSpPr>
          <p:cNvPr id="12" name="Rounded Rectangle 11"/>
          <p:cNvSpPr/>
          <p:nvPr/>
        </p:nvSpPr>
        <p:spPr>
          <a:xfrm>
            <a:off x="8851392" y="1828800"/>
            <a:ext cx="2798064" cy="1207008"/>
          </a:xfrm>
          <a:prstGeom prst="roundRect">
            <a:avLst>
              <a:gd name="adj" fmla="val 8000"/>
            </a:avLst>
          </a:prstGeom>
          <a:solidFill>
            <a:srgbClr val="FFFFFF"/>
          </a:solidFill>
          <a:ln w="12700">
            <a:solidFill>
              <a:srgbClr val="A7ACAF"/>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146304" tIns="128016" rIns="109728" bIns="73152" rtlCol="0" anchor="t"/>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Isaac GR00T ／ Gemini Robotics ／ Cosmos</a:t>
            </a:r>
          </a:p>
        </p:txBody>
      </p:sp>
      <p:sp>
        <p:nvSpPr>
          <p:cNvPr id="13" name="Rounded Rectangle 12"/>
          <p:cNvSpPr/>
          <p:nvPr/>
        </p:nvSpPr>
        <p:spPr>
          <a:xfrm>
            <a:off x="466344" y="3218688"/>
            <a:ext cx="1417320" cy="1207008"/>
          </a:xfrm>
          <a:prstGeom prst="roundRect">
            <a:avLst>
              <a:gd name="adj" fmla="val 8000"/>
            </a:avLst>
          </a:prstGeom>
          <a:gradFill rotWithShape="1">
            <a:gsLst>
              <a:gs pos="0">
                <a:srgbClr val="2A65F5"/>
              </a:gs>
              <a:gs pos="100000">
                <a:srgbClr val="0B3BD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109728" tIns="621792" rIns="109728" bIns="73152" rtlCol="0" anchor="t"/>
          <a:lstStyle/>
          <a:p>
            <a:pPr algn="ctr"/>
            <a:r>
              <a:rPr sz="1500" b="1">
                <a:solidFill>
                  <a:srgbClr val="FFFFFF"/>
                </a:solidFill>
                <a:latin typeface="BIZ UDPGothic"/>
                <a:ea typeface="BIZ UDPGothic"/>
              </a:rPr>
              <a:t>訓練場</a:t>
            </a:r>
          </a:p>
        </p:txBody>
      </p:sp>
      <p:pic>
        <p:nvPicPr>
          <p:cNvPr id="14" name="Picture 13" descr="cubes.png"/>
          <p:cNvPicPr>
            <a:picLocks noChangeAspect="1"/>
          </p:cNvPicPr>
          <p:nvPr/>
        </p:nvPicPr>
        <p:blipFill>
          <a:blip r:embed="rId4"/>
          <a:stretch>
            <a:fillRect/>
          </a:stretch>
        </p:blipFill>
        <p:spPr>
          <a:xfrm>
            <a:off x="955548" y="3346704"/>
            <a:ext cx="438912" cy="438912"/>
          </a:xfrm>
          <a:prstGeom prst="rect">
            <a:avLst/>
          </a:prstGeom>
        </p:spPr>
      </p:pic>
      <p:sp>
        <p:nvSpPr>
          <p:cNvPr id="15" name="Rounded Rectangle 14"/>
          <p:cNvSpPr/>
          <p:nvPr/>
        </p:nvSpPr>
        <p:spPr>
          <a:xfrm>
            <a:off x="2029968" y="3218688"/>
            <a:ext cx="6675120" cy="1207008"/>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500" b="1">
                <a:solidFill>
                  <a:srgbClr val="00219B"/>
                </a:solidFill>
                <a:latin typeface="BIZ UDPGothic"/>
                <a:ea typeface="BIZ UDPGothic"/>
              </a:rPr>
              <a:t>シミュレーション</a:t>
            </a:r>
          </a:p>
          <a:p>
            <a:pPr>
              <a:lnSpc>
                <a:spcPct val="110000"/>
              </a:lnSpc>
            </a:pPr>
            <a:r>
              <a:rPr sz="1200" b="0">
                <a:solidFill>
                  <a:srgbClr val="191919"/>
                </a:solidFill>
                <a:latin typeface="BIZ UDPGothic"/>
                <a:ea typeface="BIZ UDPGothic"/>
              </a:rPr>
              <a:t>物理法則を再現した仮想空間（デジタルツイン）で、安全に大量訓練する</a:t>
            </a:r>
          </a:p>
        </p:txBody>
      </p:sp>
      <p:sp>
        <p:nvSpPr>
          <p:cNvPr id="16" name="Rounded Rectangle 15"/>
          <p:cNvSpPr/>
          <p:nvPr/>
        </p:nvSpPr>
        <p:spPr>
          <a:xfrm>
            <a:off x="8851392" y="3218688"/>
            <a:ext cx="2798064" cy="1207008"/>
          </a:xfrm>
          <a:prstGeom prst="roundRect">
            <a:avLst>
              <a:gd name="adj" fmla="val 8000"/>
            </a:avLst>
          </a:prstGeom>
          <a:solidFill>
            <a:srgbClr val="FFFFFF"/>
          </a:solidFill>
          <a:ln w="12700">
            <a:solidFill>
              <a:srgbClr val="A7ACAF"/>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146304" tIns="128016" rIns="109728" bIns="73152" rtlCol="0" anchor="t"/>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NVIDIA Omniverse ／ Isaac Sim</a:t>
            </a:r>
          </a:p>
        </p:txBody>
      </p:sp>
      <p:sp>
        <p:nvSpPr>
          <p:cNvPr id="17" name="Rounded Rectangle 16"/>
          <p:cNvSpPr/>
          <p:nvPr/>
        </p:nvSpPr>
        <p:spPr>
          <a:xfrm>
            <a:off x="466344" y="4608576"/>
            <a:ext cx="1417320" cy="1207008"/>
          </a:xfrm>
          <a:prstGeom prst="roundRect">
            <a:avLst>
              <a:gd name="adj" fmla="val 8000"/>
            </a:avLst>
          </a:prstGeom>
          <a:gradFill rotWithShape="1">
            <a:gsLst>
              <a:gs pos="0">
                <a:srgbClr val="6BB8F2"/>
              </a:gs>
              <a:gs pos="100000">
                <a:srgbClr val="2A65F5"/>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109728" tIns="621792" rIns="109728" bIns="73152" rtlCol="0" anchor="t"/>
          <a:lstStyle/>
          <a:p>
            <a:pPr algn="ctr"/>
            <a:r>
              <a:rPr sz="1500" b="1">
                <a:solidFill>
                  <a:srgbClr val="FFFFFF"/>
                </a:solidFill>
                <a:latin typeface="BIZ UDPGothic"/>
                <a:ea typeface="BIZ UDPGothic"/>
              </a:rPr>
              <a:t>身体</a:t>
            </a:r>
          </a:p>
        </p:txBody>
      </p:sp>
      <p:pic>
        <p:nvPicPr>
          <p:cNvPr id="18" name="Picture 17" descr="robot.png"/>
          <p:cNvPicPr>
            <a:picLocks noChangeAspect="1"/>
          </p:cNvPicPr>
          <p:nvPr/>
        </p:nvPicPr>
        <p:blipFill>
          <a:blip r:embed="rId5"/>
          <a:stretch>
            <a:fillRect/>
          </a:stretch>
        </p:blipFill>
        <p:spPr>
          <a:xfrm>
            <a:off x="955548" y="4736592"/>
            <a:ext cx="438912" cy="438912"/>
          </a:xfrm>
          <a:prstGeom prst="rect">
            <a:avLst/>
          </a:prstGeom>
        </p:spPr>
      </p:pic>
      <p:sp>
        <p:nvSpPr>
          <p:cNvPr id="19" name="Rounded Rectangle 18"/>
          <p:cNvSpPr/>
          <p:nvPr/>
        </p:nvSpPr>
        <p:spPr>
          <a:xfrm>
            <a:off x="2029968" y="4608576"/>
            <a:ext cx="6675120" cy="1207008"/>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500" b="1">
                <a:solidFill>
                  <a:srgbClr val="00219B"/>
                </a:solidFill>
                <a:latin typeface="BIZ UDPGothic"/>
                <a:ea typeface="BIZ UDPGothic"/>
              </a:rPr>
              <a:t>ロボット＋エッジAI</a:t>
            </a:r>
          </a:p>
          <a:p>
            <a:pPr>
              <a:lnSpc>
                <a:spcPct val="110000"/>
              </a:lnSpc>
            </a:pPr>
            <a:r>
              <a:rPr sz="1200" b="0">
                <a:solidFill>
                  <a:srgbClr val="191919"/>
                </a:solidFill>
                <a:latin typeface="BIZ UDPGothic"/>
                <a:ea typeface="BIZ UDPGothic"/>
              </a:rPr>
              <a:t>センサーで知覚し、アクチュエータ（関節・モーター）で現実世界に働きかける</a:t>
            </a:r>
          </a:p>
        </p:txBody>
      </p:sp>
      <p:sp>
        <p:nvSpPr>
          <p:cNvPr id="20" name="Rounded Rectangle 19"/>
          <p:cNvSpPr/>
          <p:nvPr/>
        </p:nvSpPr>
        <p:spPr>
          <a:xfrm>
            <a:off x="8851392" y="4608576"/>
            <a:ext cx="2798064" cy="1207008"/>
          </a:xfrm>
          <a:prstGeom prst="roundRect">
            <a:avLst>
              <a:gd name="adj" fmla="val 8000"/>
            </a:avLst>
          </a:prstGeom>
          <a:solidFill>
            <a:srgbClr val="FFFFFF"/>
          </a:solidFill>
          <a:ln w="12700">
            <a:solidFill>
              <a:srgbClr val="A7ACAF"/>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146304" tIns="128016" rIns="109728" bIns="73152" rtlCol="0" anchor="t"/>
          <a:lstStyle/>
          <a:p>
            <a:pPr algn="ctr">
              <a:spcAft>
                <a:spcPts val="300"/>
              </a:spcAft>
            </a:pPr>
            <a:r>
              <a:rPr sz="1000" b="1">
                <a:solidFill>
                  <a:srgbClr val="A7ACAF"/>
                </a:solidFill>
                <a:latin typeface="BIZ UDPGothic"/>
                <a:ea typeface="BIZ UDPGothic"/>
              </a:rPr>
              <a:t>代表例</a:t>
            </a:r>
          </a:p>
          <a:p>
            <a:pPr>
              <a:lnSpc>
                <a:spcPct val="115000"/>
              </a:lnSpc>
            </a:pPr>
            <a:r>
              <a:rPr sz="1100" b="0">
                <a:solidFill>
                  <a:srgbClr val="191919"/>
                </a:solidFill>
                <a:latin typeface="BIZ UDPGothic"/>
                <a:ea typeface="BIZ UDPGothic"/>
              </a:rPr>
              <a:t>ヒューマノイド ／ AMR ／ Jetson Thor</a:t>
            </a:r>
          </a:p>
        </p:txBody>
      </p:sp>
      <p:sp>
        <p:nvSpPr>
          <p:cNvPr id="21" name="TextBox 20"/>
          <p:cNvSpPr txBox="1"/>
          <p:nvPr/>
        </p:nvSpPr>
        <p:spPr>
          <a:xfrm>
            <a:off x="466344" y="6053328"/>
            <a:ext cx="11183112" cy="365760"/>
          </a:xfrm>
          <a:prstGeom prst="rect">
            <a:avLst/>
          </a:prstGeom>
          <a:noFill/>
        </p:spPr>
        <p:txBody>
          <a:bodyPr wrap="square" lIns="0" tIns="0" rIns="0" bIns="0" anchor="t">
            <a:spAutoFit/>
          </a:bodyPr>
          <a:lstStyle/>
          <a:p>
            <a:r>
              <a:rPr sz="1100" b="0">
                <a:solidFill>
                  <a:srgbClr val="A7ACAF"/>
                </a:solidFill>
                <a:latin typeface="BIZ UDPGothic"/>
                <a:ea typeface="BIZ UDPGothic"/>
              </a:rPr>
              <a:t>※ 3層をつなぐ開発プラットフォームを制した企業が市場の主導権を握る構図（後述のNVIDIA戦略）</a:t>
            </a:r>
          </a:p>
        </p:txBody>
      </p:sp>
    </p:spTree>
    <p:extLst>
      <p:ext uri="{BB962C8B-B14F-4D97-AF65-F5344CB8AC3E}">
        <p14:creationId xmlns:p14="http://schemas.microsoft.com/office/powerpoint/2010/main" val="30617027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3．主要プレイヤーと最新動向</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NVIDIA — フィジカルAIの「共通基盤」を狙う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「3つのコンピュータ」でロボット開発の全工程を押さえる戦略</a:t>
            </a:r>
            <a:endParaRPr lang="ja-JP" altLang="en-US"/>
          </a:p>
        </p:txBody>
      </p:sp>
      <p:sp>
        <p:nvSpPr>
          <p:cNvPr id="9" name="Rounded Rectangle 8"/>
          <p:cNvSpPr/>
          <p:nvPr/>
        </p:nvSpPr>
        <p:spPr>
          <a:xfrm>
            <a:off x="466344" y="1783080"/>
            <a:ext cx="3493008" cy="23317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64592" rIns="182880" bIns="73152" rtlCol="0" anchor="t"/>
          <a:lstStyle/>
          <a:p>
            <a:pPr algn="ctr">
              <a:spcAft>
                <a:spcPts val="200"/>
              </a:spcAft>
            </a:pPr>
            <a:r>
              <a:rPr sz="1500" b="1">
                <a:solidFill>
                  <a:srgbClr val="00219B"/>
                </a:solidFill>
                <a:latin typeface="BIZ UDPGothic"/>
                <a:ea typeface="BIZ UDPGothic"/>
              </a:rPr>
              <a:t>学習</a:t>
            </a:r>
          </a:p>
          <a:p>
            <a:pPr algn="ctr">
              <a:spcAft>
                <a:spcPts val="800"/>
              </a:spcAft>
            </a:pPr>
            <a:r>
              <a:rPr sz="1300" b="1">
                <a:solidFill>
                  <a:srgbClr val="2A65F5"/>
                </a:solidFill>
                <a:latin typeface="BIZ UDPGothic"/>
                <a:ea typeface="BIZ UDPGothic"/>
              </a:rPr>
              <a:t>DGX ／ クラウド</a:t>
            </a:r>
          </a:p>
          <a:p>
            <a:pPr>
              <a:lnSpc>
                <a:spcPct val="120000"/>
              </a:lnSpc>
            </a:pPr>
            <a:r>
              <a:rPr sz="1200" b="0">
                <a:solidFill>
                  <a:srgbClr val="191919"/>
                </a:solidFill>
                <a:latin typeface="BIZ UDPGothic"/>
                <a:ea typeface="BIZ UDPGothic"/>
              </a:rPr>
              <a:t>データセンターで大規模な基盤モデルを訓練する</a:t>
            </a:r>
          </a:p>
        </p:txBody>
      </p:sp>
      <p:pic>
        <p:nvPicPr>
          <p:cNvPr id="10" name="Picture 9" descr="server_primary.png"/>
          <p:cNvPicPr>
            <a:picLocks noChangeAspect="1"/>
          </p:cNvPicPr>
          <p:nvPr/>
        </p:nvPicPr>
        <p:blipFill>
          <a:blip r:embed="rId3"/>
          <a:stretch>
            <a:fillRect/>
          </a:stretch>
        </p:blipFill>
        <p:spPr>
          <a:xfrm>
            <a:off x="566562" y="1883298"/>
            <a:ext cx="531083" cy="531083"/>
          </a:xfrm>
          <a:prstGeom prst="rect">
            <a:avLst/>
          </a:prstGeom>
        </p:spPr>
      </p:pic>
      <p:sp>
        <p:nvSpPr>
          <p:cNvPr id="11" name="Chevron 10"/>
          <p:cNvSpPr/>
          <p:nvPr/>
        </p:nvSpPr>
        <p:spPr>
          <a:xfrm>
            <a:off x="3995928"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2" name="Rounded Rectangle 11"/>
          <p:cNvSpPr/>
          <p:nvPr/>
        </p:nvSpPr>
        <p:spPr>
          <a:xfrm>
            <a:off x="4306824" y="1783080"/>
            <a:ext cx="3493008" cy="23317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64592" rIns="182880" bIns="73152" rtlCol="0" anchor="t"/>
          <a:lstStyle/>
          <a:p>
            <a:pPr algn="ctr">
              <a:spcAft>
                <a:spcPts val="200"/>
              </a:spcAft>
            </a:pPr>
            <a:r>
              <a:rPr sz="1500" b="1">
                <a:solidFill>
                  <a:srgbClr val="00219B"/>
                </a:solidFill>
                <a:latin typeface="BIZ UDPGothic"/>
                <a:ea typeface="BIZ UDPGothic"/>
              </a:rPr>
              <a:t>シミュレーション</a:t>
            </a:r>
          </a:p>
          <a:p>
            <a:pPr algn="ctr">
              <a:spcAft>
                <a:spcPts val="800"/>
              </a:spcAft>
            </a:pPr>
            <a:r>
              <a:rPr sz="1300" b="1">
                <a:solidFill>
                  <a:srgbClr val="2A65F5"/>
                </a:solidFill>
                <a:latin typeface="BIZ UDPGothic"/>
                <a:ea typeface="BIZ UDPGothic"/>
              </a:rPr>
              <a:t>Omniverse ＋ Cosmos</a:t>
            </a:r>
          </a:p>
          <a:p>
            <a:pPr>
              <a:lnSpc>
                <a:spcPct val="120000"/>
              </a:lnSpc>
            </a:pPr>
            <a:r>
              <a:rPr sz="1200" b="0">
                <a:solidFill>
                  <a:srgbClr val="191919"/>
                </a:solidFill>
                <a:latin typeface="BIZ UDPGothic"/>
                <a:ea typeface="BIZ UDPGothic"/>
              </a:rPr>
              <a:t>仮想空間で訓練・検証。世界基盤モデル「Cosmos」が現実さながらの学習データを生成</a:t>
            </a:r>
          </a:p>
        </p:txBody>
      </p:sp>
      <p:pic>
        <p:nvPicPr>
          <p:cNvPr id="13" name="Picture 12" descr="cubes_primary.png"/>
          <p:cNvPicPr>
            <a:picLocks noChangeAspect="1"/>
          </p:cNvPicPr>
          <p:nvPr/>
        </p:nvPicPr>
        <p:blipFill>
          <a:blip r:embed="rId4"/>
          <a:stretch>
            <a:fillRect/>
          </a:stretch>
        </p:blipFill>
        <p:spPr>
          <a:xfrm>
            <a:off x="4407042" y="1883298"/>
            <a:ext cx="531083" cy="531083"/>
          </a:xfrm>
          <a:prstGeom prst="rect">
            <a:avLst/>
          </a:prstGeom>
        </p:spPr>
      </p:pic>
      <p:sp>
        <p:nvSpPr>
          <p:cNvPr id="14" name="Chevron 13"/>
          <p:cNvSpPr/>
          <p:nvPr/>
        </p:nvSpPr>
        <p:spPr>
          <a:xfrm>
            <a:off x="7836407" y="2724912"/>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5" name="Rounded Rectangle 14"/>
          <p:cNvSpPr/>
          <p:nvPr/>
        </p:nvSpPr>
        <p:spPr>
          <a:xfrm>
            <a:off x="8147304" y="1783080"/>
            <a:ext cx="3493008" cy="23317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64592" rIns="182880" bIns="73152" rtlCol="0" anchor="t"/>
          <a:lstStyle/>
          <a:p>
            <a:pPr algn="ctr">
              <a:spcAft>
                <a:spcPts val="200"/>
              </a:spcAft>
            </a:pPr>
            <a:r>
              <a:rPr sz="1500" b="1">
                <a:solidFill>
                  <a:srgbClr val="00219B"/>
                </a:solidFill>
                <a:latin typeface="BIZ UDPGothic"/>
                <a:ea typeface="BIZ UDPGothic"/>
              </a:rPr>
              <a:t>実行</a:t>
            </a:r>
          </a:p>
          <a:p>
            <a:pPr algn="ctr">
              <a:spcAft>
                <a:spcPts val="800"/>
              </a:spcAft>
            </a:pPr>
            <a:r>
              <a:rPr sz="1300" b="1">
                <a:solidFill>
                  <a:srgbClr val="2A65F5"/>
                </a:solidFill>
                <a:latin typeface="BIZ UDPGothic"/>
                <a:ea typeface="BIZ UDPGothic"/>
              </a:rPr>
              <a:t>Jetson Thor</a:t>
            </a:r>
          </a:p>
          <a:p>
            <a:pPr>
              <a:lnSpc>
                <a:spcPct val="120000"/>
              </a:lnSpc>
            </a:pPr>
            <a:r>
              <a:rPr sz="1200" b="0">
                <a:solidFill>
                  <a:srgbClr val="191919"/>
                </a:solidFill>
                <a:latin typeface="BIZ UDPGothic"/>
                <a:ea typeface="BIZ UDPGothic"/>
              </a:rPr>
              <a:t>ロボット本体に搭載するエッジAIコンピュータ。学習済みモデルを現場で動かす</a:t>
            </a:r>
          </a:p>
        </p:txBody>
      </p:sp>
      <p:pic>
        <p:nvPicPr>
          <p:cNvPr id="16" name="Picture 15" descr="microchip_primary.png"/>
          <p:cNvPicPr>
            <a:picLocks noChangeAspect="1"/>
          </p:cNvPicPr>
          <p:nvPr/>
        </p:nvPicPr>
        <p:blipFill>
          <a:blip r:embed="rId5"/>
          <a:stretch>
            <a:fillRect/>
          </a:stretch>
        </p:blipFill>
        <p:spPr>
          <a:xfrm>
            <a:off x="8247522" y="1883298"/>
            <a:ext cx="531083" cy="531083"/>
          </a:xfrm>
          <a:prstGeom prst="rect">
            <a:avLst/>
          </a:prstGeom>
        </p:spPr>
      </p:pic>
      <p:sp>
        <p:nvSpPr>
          <p:cNvPr id="17" name="Rounded Rectangle 16"/>
          <p:cNvSpPr/>
          <p:nvPr/>
        </p:nvSpPr>
        <p:spPr>
          <a:xfrm>
            <a:off x="466344" y="4572000"/>
            <a:ext cx="11183112" cy="1463040"/>
          </a:xfrm>
          <a:prstGeom prst="roundRect">
            <a:avLst>
              <a:gd name="adj" fmla="val 8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tIns="146304" rIns="109728" bIns="73152" rtlCol="0" anchor="t"/>
          <a:lstStyle/>
          <a:p>
            <a:pPr algn="ctr">
              <a:spcAft>
                <a:spcPts val="500"/>
              </a:spcAft>
            </a:pPr>
            <a:r>
              <a:rPr sz="1400" b="1">
                <a:solidFill>
                  <a:srgbClr val="FFFFFF"/>
                </a:solidFill>
                <a:latin typeface="BIZ UDPGothic"/>
                <a:ea typeface="BIZ UDPGothic"/>
              </a:rPr>
              <a:t>Isaac GR00T — ヒューマノイド向けのオープンな基盤モデル</a:t>
            </a:r>
          </a:p>
          <a:p>
            <a:pPr>
              <a:lnSpc>
                <a:spcPct val="125000"/>
              </a:lnSpc>
            </a:pPr>
            <a:r>
              <a:rPr sz="1200" b="0">
                <a:solidFill>
                  <a:srgbClr val="EDF4F9"/>
                </a:solidFill>
                <a:latin typeface="BIZ UDPGothic"/>
                <a:ea typeface="BIZ UDPGothic"/>
              </a:rPr>
              <a:t>モデルを無償公開して各社ロボットに採用を促し、開発ツールからチップまで自社基盤で固める。PC時代の「Wintel」のように、フィジカルAIの“OS層”を握りにいく戦略。</a:t>
            </a:r>
          </a:p>
        </p:txBody>
      </p:sp>
    </p:spTree>
    <p:extLst>
      <p:ext uri="{BB962C8B-B14F-4D97-AF65-F5344CB8AC3E}">
        <p14:creationId xmlns:p14="http://schemas.microsoft.com/office/powerpoint/2010/main" val="30617027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加速するヒューマノイド開発競争</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米中のプレイヤーが先行、価格破壊も始まっている</a:t>
            </a:r>
            <a:endParaRPr lang="ja-JP" altLang="en-US"/>
          </a:p>
        </p:txBody>
      </p:sp>
      <p:sp>
        <p:nvSpPr>
          <p:cNvPr id="9" name="Rounded Rectangle 8"/>
          <p:cNvSpPr/>
          <p:nvPr/>
        </p:nvSpPr>
        <p:spPr>
          <a:xfrm>
            <a:off x="466344" y="1874519"/>
            <a:ext cx="3611880" cy="181051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Tesla Optimus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自社工場での活用から量産・外販までを構想。AI・製造力を武器に本命視</a:t>
            </a:r>
          </a:p>
        </p:txBody>
      </p:sp>
      <p:pic>
        <p:nvPicPr>
          <p:cNvPr id="10" name="Picture 9" descr="robot_primary.png"/>
          <p:cNvPicPr>
            <a:picLocks noChangeAspect="1"/>
          </p:cNvPicPr>
          <p:nvPr/>
        </p:nvPicPr>
        <p:blipFill>
          <a:blip r:embed="rId3"/>
          <a:stretch>
            <a:fillRect/>
          </a:stretch>
        </p:blipFill>
        <p:spPr>
          <a:xfrm>
            <a:off x="554126" y="1944014"/>
            <a:ext cx="482803" cy="482803"/>
          </a:xfrm>
          <a:prstGeom prst="rect">
            <a:avLst/>
          </a:prstGeom>
        </p:spPr>
      </p:pic>
      <p:sp>
        <p:nvSpPr>
          <p:cNvPr id="11" name="Rounded Rectangle 10"/>
          <p:cNvSpPr/>
          <p:nvPr/>
        </p:nvSpPr>
        <p:spPr>
          <a:xfrm>
            <a:off x="4251960" y="1874519"/>
            <a:ext cx="3611880" cy="181051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Figure</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独自のVLAモデル「Helix」を開発。BMW工場での実証で先行</a:t>
            </a:r>
          </a:p>
        </p:txBody>
      </p:sp>
      <p:pic>
        <p:nvPicPr>
          <p:cNvPr id="12" name="Picture 11" descr="robot_primary.png"/>
          <p:cNvPicPr>
            <a:picLocks noChangeAspect="1"/>
          </p:cNvPicPr>
          <p:nvPr/>
        </p:nvPicPr>
        <p:blipFill>
          <a:blip r:embed="rId3"/>
          <a:stretch>
            <a:fillRect/>
          </a:stretch>
        </p:blipFill>
        <p:spPr>
          <a:xfrm>
            <a:off x="4339742" y="1944014"/>
            <a:ext cx="482803" cy="482803"/>
          </a:xfrm>
          <a:prstGeom prst="rect">
            <a:avLst/>
          </a:prstGeom>
        </p:spPr>
      </p:pic>
      <p:sp>
        <p:nvSpPr>
          <p:cNvPr id="13" name="Rounded Rectangle 12"/>
          <p:cNvSpPr/>
          <p:nvPr/>
        </p:nvSpPr>
        <p:spPr>
          <a:xfrm>
            <a:off x="8037576" y="1874519"/>
            <a:ext cx="3611880" cy="181051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Boston Dynamics</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電動化した新型「Atlas」。トヨタ系研究所と基盤モデルで提携</a:t>
            </a:r>
          </a:p>
        </p:txBody>
      </p:sp>
      <p:pic>
        <p:nvPicPr>
          <p:cNvPr id="14" name="Picture 13" descr="robot_primary.png"/>
          <p:cNvPicPr>
            <a:picLocks noChangeAspect="1"/>
          </p:cNvPicPr>
          <p:nvPr/>
        </p:nvPicPr>
        <p:blipFill>
          <a:blip r:embed="rId3"/>
          <a:stretch>
            <a:fillRect/>
          </a:stretch>
        </p:blipFill>
        <p:spPr>
          <a:xfrm>
            <a:off x="8125358" y="1944014"/>
            <a:ext cx="482803" cy="482803"/>
          </a:xfrm>
          <a:prstGeom prst="rect">
            <a:avLst/>
          </a:prstGeom>
        </p:spPr>
      </p:pic>
      <p:sp>
        <p:nvSpPr>
          <p:cNvPr id="15" name="Rounded Rectangle 14"/>
          <p:cNvSpPr/>
          <p:nvPr/>
        </p:nvSpPr>
        <p:spPr>
          <a:xfrm>
            <a:off x="466344" y="4005072"/>
            <a:ext cx="3611880" cy="181051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Unitree（宇樹科技）</a:t>
            </a:r>
            <a:r>
              <a:rPr sz="1050" b="1">
                <a:solidFill>
                  <a:srgbClr val="E86487"/>
                </a:solidFill>
                <a:latin typeface="BIZ UDPGothic"/>
                <a:ea typeface="BIZ UDPGothic"/>
              </a:rPr>
              <a:t>　中国</a:t>
            </a:r>
          </a:p>
          <a:p>
            <a:pPr>
              <a:lnSpc>
                <a:spcPct val="118000"/>
              </a:lnSpc>
            </a:pPr>
            <a:r>
              <a:rPr sz="1150" b="0">
                <a:solidFill>
                  <a:srgbClr val="191919"/>
                </a:solidFill>
                <a:latin typeface="BIZ UDPGothic"/>
                <a:ea typeface="BIZ UDPGothic"/>
              </a:rPr>
              <a:t>「G1」を約1.6万ドルで発売。圧倒的な低価格と量産力で普及を狙う</a:t>
            </a:r>
          </a:p>
        </p:txBody>
      </p:sp>
      <p:pic>
        <p:nvPicPr>
          <p:cNvPr id="16" name="Picture 15" descr="robot_red.png"/>
          <p:cNvPicPr>
            <a:picLocks noChangeAspect="1"/>
          </p:cNvPicPr>
          <p:nvPr/>
        </p:nvPicPr>
        <p:blipFill>
          <a:blip r:embed="rId4"/>
          <a:stretch>
            <a:fillRect/>
          </a:stretch>
        </p:blipFill>
        <p:spPr>
          <a:xfrm>
            <a:off x="554126" y="4074566"/>
            <a:ext cx="482803" cy="482803"/>
          </a:xfrm>
          <a:prstGeom prst="rect">
            <a:avLst/>
          </a:prstGeom>
        </p:spPr>
      </p:pic>
      <p:sp>
        <p:nvSpPr>
          <p:cNvPr id="17" name="Rounded Rectangle 16"/>
          <p:cNvSpPr/>
          <p:nvPr/>
        </p:nvSpPr>
        <p:spPr>
          <a:xfrm>
            <a:off x="4251960" y="4005072"/>
            <a:ext cx="3611880" cy="181051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Google DeepMind</a:t>
            </a:r>
            <a:r>
              <a:rPr sz="1050" b="1">
                <a:solidFill>
                  <a:srgbClr val="2A65F5"/>
                </a:solidFill>
                <a:latin typeface="BIZ UDPGothic"/>
                <a:ea typeface="BIZ UDPGothic"/>
              </a:rPr>
              <a:t>　米国</a:t>
            </a:r>
          </a:p>
          <a:p>
            <a:pPr>
              <a:lnSpc>
                <a:spcPct val="118000"/>
              </a:lnSpc>
            </a:pPr>
            <a:r>
              <a:rPr sz="1150" b="0">
                <a:solidFill>
                  <a:srgbClr val="191919"/>
                </a:solidFill>
                <a:latin typeface="BIZ UDPGothic"/>
                <a:ea typeface="BIZ UDPGothic"/>
              </a:rPr>
              <a:t>VLAモデル「Gemini Robotics」を開発し、ロボット各社へ頭脳を提供</a:t>
            </a:r>
          </a:p>
        </p:txBody>
      </p:sp>
      <p:pic>
        <p:nvPicPr>
          <p:cNvPr id="18" name="Picture 17" descr="robot_primary.png"/>
          <p:cNvPicPr>
            <a:picLocks noChangeAspect="1"/>
          </p:cNvPicPr>
          <p:nvPr/>
        </p:nvPicPr>
        <p:blipFill>
          <a:blip r:embed="rId3"/>
          <a:stretch>
            <a:fillRect/>
          </a:stretch>
        </p:blipFill>
        <p:spPr>
          <a:xfrm>
            <a:off x="4339742" y="4074566"/>
            <a:ext cx="482803" cy="482803"/>
          </a:xfrm>
          <a:prstGeom prst="rect">
            <a:avLst/>
          </a:prstGeom>
        </p:spPr>
      </p:pic>
      <p:sp>
        <p:nvSpPr>
          <p:cNvPr id="19" name="Rounded Rectangle 18"/>
          <p:cNvSpPr/>
          <p:nvPr/>
        </p:nvSpPr>
        <p:spPr>
          <a:xfrm>
            <a:off x="8037576" y="4005072"/>
            <a:ext cx="3611880" cy="181051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128016" rIns="164592" bIns="73152" rtlCol="0" anchor="t"/>
          <a:lstStyle/>
          <a:p>
            <a:pPr algn="ctr">
              <a:spcAft>
                <a:spcPts val="500"/>
              </a:spcAft>
            </a:pPr>
            <a:r>
              <a:rPr sz="1400" b="1">
                <a:solidFill>
                  <a:srgbClr val="00219B"/>
                </a:solidFill>
                <a:latin typeface="BIZ UDPGothic"/>
                <a:ea typeface="BIZ UDPGothic"/>
              </a:rPr>
              <a:t>国内の動き</a:t>
            </a:r>
            <a:r>
              <a:rPr sz="1050" b="1">
                <a:solidFill>
                  <a:srgbClr val="55D2D8"/>
                </a:solidFill>
                <a:latin typeface="BIZ UDPGothic"/>
                <a:ea typeface="BIZ UDPGothic"/>
              </a:rPr>
              <a:t>　日本</a:t>
            </a:r>
          </a:p>
          <a:p>
            <a:pPr>
              <a:lnSpc>
                <a:spcPct val="118000"/>
              </a:lnSpc>
            </a:pPr>
            <a:r>
              <a:rPr sz="1150" b="0">
                <a:solidFill>
                  <a:srgbClr val="191919"/>
                </a:solidFill>
                <a:latin typeface="BIZ UDPGothic"/>
                <a:ea typeface="BIZ UDPGothic"/>
              </a:rPr>
              <a:t>川崎重工「Kaleido」、トヨタ、ソニーGなどが研究開発を推進</a:t>
            </a:r>
          </a:p>
        </p:txBody>
      </p:sp>
      <p:pic>
        <p:nvPicPr>
          <p:cNvPr id="20" name="Picture 19" descr="robot_teal.png"/>
          <p:cNvPicPr>
            <a:picLocks noChangeAspect="1"/>
          </p:cNvPicPr>
          <p:nvPr/>
        </p:nvPicPr>
        <p:blipFill>
          <a:blip r:embed="rId5"/>
          <a:stretch>
            <a:fillRect/>
          </a:stretch>
        </p:blipFill>
        <p:spPr>
          <a:xfrm>
            <a:off x="8125358" y="4074566"/>
            <a:ext cx="482803" cy="482803"/>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産業別ユースケース — どこから使われ始めるか</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まずは「決まった環境 × 繰り返し作業」の現場から広がる</a:t>
            </a:r>
            <a:endParaRPr lang="ja-JP" altLang="en-US"/>
          </a:p>
        </p:txBody>
      </p:sp>
      <p:sp>
        <p:nvSpPr>
          <p:cNvPr id="9" name="Rounded Rectangle 8"/>
          <p:cNvSpPr/>
          <p:nvPr/>
        </p:nvSpPr>
        <p:spPr>
          <a:xfrm>
            <a:off x="466344" y="1783080"/>
            <a:ext cx="5504688" cy="199339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77240" tIns="164592" rIns="201168" bIns="73152" rtlCol="0" anchor="t"/>
          <a:lstStyle/>
          <a:p>
            <a:pPr algn="ctr">
              <a:spcAft>
                <a:spcPts val="600"/>
              </a:spcAft>
            </a:pPr>
            <a:r>
              <a:rPr sz="1500" b="1">
                <a:solidFill>
                  <a:srgbClr val="00219B"/>
                </a:solidFill>
                <a:latin typeface="BIZ UDPGothic"/>
                <a:ea typeface="BIZ UDPGothic"/>
              </a:rPr>
              <a:t>製造</a:t>
            </a:r>
          </a:p>
          <a:p>
            <a:pPr>
              <a:lnSpc>
                <a:spcPct val="125000"/>
              </a:lnSpc>
            </a:pPr>
            <a:r>
              <a:rPr sz="1250" b="0">
                <a:solidFill>
                  <a:srgbClr val="191919"/>
                </a:solidFill>
                <a:latin typeface="BIZ UDPGothic"/>
                <a:ea typeface="BIZ UDPGothic"/>
              </a:rPr>
              <a:t>部品搬送・組立・検査などの反復作業。BMWやMercedes-Benzが工場でヒューマノイドを実証中</a:t>
            </a:r>
          </a:p>
        </p:txBody>
      </p:sp>
      <p:pic>
        <p:nvPicPr>
          <p:cNvPr id="10" name="Picture 9" descr="industry_primary.png"/>
          <p:cNvPicPr>
            <a:picLocks noChangeAspect="1"/>
          </p:cNvPicPr>
          <p:nvPr/>
        </p:nvPicPr>
        <p:blipFill>
          <a:blip r:embed="rId3"/>
          <a:stretch>
            <a:fillRect/>
          </a:stretch>
        </p:blipFill>
        <p:spPr>
          <a:xfrm>
            <a:off x="597286" y="1877446"/>
            <a:ext cx="579363" cy="579363"/>
          </a:xfrm>
          <a:prstGeom prst="rect">
            <a:avLst/>
          </a:prstGeom>
        </p:spPr>
      </p:pic>
      <p:sp>
        <p:nvSpPr>
          <p:cNvPr id="11" name="Rounded Rectangle 10"/>
          <p:cNvSpPr/>
          <p:nvPr/>
        </p:nvSpPr>
        <p:spPr>
          <a:xfrm>
            <a:off x="6144768" y="1783080"/>
            <a:ext cx="5504688" cy="199339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77240" tIns="164592" rIns="201168" bIns="73152" rtlCol="0" anchor="t"/>
          <a:lstStyle/>
          <a:p>
            <a:pPr algn="ctr">
              <a:spcAft>
                <a:spcPts val="600"/>
              </a:spcAft>
            </a:pPr>
            <a:r>
              <a:rPr sz="1500" b="1">
                <a:solidFill>
                  <a:srgbClr val="00219B"/>
                </a:solidFill>
                <a:latin typeface="BIZ UDPGothic"/>
                <a:ea typeface="BIZ UDPGothic"/>
              </a:rPr>
              <a:t>物流・倉庫</a:t>
            </a:r>
          </a:p>
          <a:p>
            <a:pPr>
              <a:lnSpc>
                <a:spcPct val="125000"/>
              </a:lnSpc>
            </a:pPr>
            <a:r>
              <a:rPr sz="1250" b="0">
                <a:solidFill>
                  <a:srgbClr val="191919"/>
                </a:solidFill>
                <a:latin typeface="BIZ UDPGothic"/>
                <a:ea typeface="BIZ UDPGothic"/>
              </a:rPr>
              <a:t>ピッキング・仕分け・荷降ろし。Amazonなどが倉庫でのロボット活用実証を推進</a:t>
            </a:r>
          </a:p>
        </p:txBody>
      </p:sp>
      <p:pic>
        <p:nvPicPr>
          <p:cNvPr id="12" name="Picture 11" descr="warehouse_teal.png"/>
          <p:cNvPicPr>
            <a:picLocks noChangeAspect="1"/>
          </p:cNvPicPr>
          <p:nvPr/>
        </p:nvPicPr>
        <p:blipFill>
          <a:blip r:embed="rId4"/>
          <a:stretch>
            <a:fillRect/>
          </a:stretch>
        </p:blipFill>
        <p:spPr>
          <a:xfrm>
            <a:off x="6275710" y="1877446"/>
            <a:ext cx="579363" cy="579363"/>
          </a:xfrm>
          <a:prstGeom prst="rect">
            <a:avLst/>
          </a:prstGeom>
        </p:spPr>
      </p:pic>
      <p:sp>
        <p:nvSpPr>
          <p:cNvPr id="13" name="Rounded Rectangle 12"/>
          <p:cNvSpPr/>
          <p:nvPr/>
        </p:nvSpPr>
        <p:spPr>
          <a:xfrm>
            <a:off x="466344" y="3977640"/>
            <a:ext cx="5504688" cy="199339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77240" tIns="164592" rIns="201168" bIns="73152" rtlCol="0" anchor="t"/>
          <a:lstStyle/>
          <a:p>
            <a:pPr algn="ctr">
              <a:spcAft>
                <a:spcPts val="600"/>
              </a:spcAft>
            </a:pPr>
            <a:r>
              <a:rPr sz="1500" b="1">
                <a:solidFill>
                  <a:srgbClr val="00219B"/>
                </a:solidFill>
                <a:latin typeface="BIZ UDPGothic"/>
                <a:ea typeface="BIZ UDPGothic"/>
              </a:rPr>
              <a:t>建設・インフラ点検</a:t>
            </a:r>
          </a:p>
          <a:p>
            <a:pPr>
              <a:lnSpc>
                <a:spcPct val="125000"/>
              </a:lnSpc>
            </a:pPr>
            <a:r>
              <a:rPr sz="1250" b="0">
                <a:solidFill>
                  <a:srgbClr val="191919"/>
                </a:solidFill>
                <a:latin typeface="BIZ UDPGothic"/>
                <a:ea typeface="BIZ UDPGothic"/>
              </a:rPr>
              <a:t>四足ロボット（例：Spot）による巡回・危険箇所の点検で、危険作業を代替</a:t>
            </a:r>
          </a:p>
        </p:txBody>
      </p:sp>
      <p:pic>
        <p:nvPicPr>
          <p:cNvPr id="14" name="Picture 13" descr="helmet_purple.png"/>
          <p:cNvPicPr>
            <a:picLocks noChangeAspect="1"/>
          </p:cNvPicPr>
          <p:nvPr/>
        </p:nvPicPr>
        <p:blipFill>
          <a:blip r:embed="rId5"/>
          <a:stretch>
            <a:fillRect/>
          </a:stretch>
        </p:blipFill>
        <p:spPr>
          <a:xfrm>
            <a:off x="597286" y="4072006"/>
            <a:ext cx="579363" cy="579363"/>
          </a:xfrm>
          <a:prstGeom prst="rect">
            <a:avLst/>
          </a:prstGeom>
        </p:spPr>
      </p:pic>
      <p:sp>
        <p:nvSpPr>
          <p:cNvPr id="15" name="Rounded Rectangle 14"/>
          <p:cNvSpPr/>
          <p:nvPr/>
        </p:nvSpPr>
        <p:spPr>
          <a:xfrm>
            <a:off x="6144768" y="3977640"/>
            <a:ext cx="5504688" cy="199339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77240" tIns="164592" rIns="201168" bIns="73152" rtlCol="0" anchor="t"/>
          <a:lstStyle/>
          <a:p>
            <a:pPr algn="ctr">
              <a:spcAft>
                <a:spcPts val="600"/>
              </a:spcAft>
            </a:pPr>
            <a:r>
              <a:rPr sz="1500" b="1">
                <a:solidFill>
                  <a:srgbClr val="00219B"/>
                </a:solidFill>
                <a:latin typeface="BIZ UDPGothic"/>
                <a:ea typeface="BIZ UDPGothic"/>
              </a:rPr>
              <a:t>サービス・小売</a:t>
            </a:r>
          </a:p>
          <a:p>
            <a:pPr>
              <a:lnSpc>
                <a:spcPct val="125000"/>
              </a:lnSpc>
            </a:pPr>
            <a:r>
              <a:rPr sz="1250" b="0">
                <a:solidFill>
                  <a:srgbClr val="191919"/>
                </a:solidFill>
                <a:latin typeface="BIZ UDPGothic"/>
                <a:ea typeface="BIZ UDPGothic"/>
              </a:rPr>
              <a:t>品出し・清掃・警備など。国内ではTelexistenceがコンビニの飲料補充を自動化</a:t>
            </a:r>
          </a:p>
        </p:txBody>
      </p:sp>
      <p:pic>
        <p:nvPicPr>
          <p:cNvPr id="16" name="Picture 15" descr="store_red.png"/>
          <p:cNvPicPr>
            <a:picLocks noChangeAspect="1"/>
          </p:cNvPicPr>
          <p:nvPr/>
        </p:nvPicPr>
        <p:blipFill>
          <a:blip r:embed="rId6"/>
          <a:stretch>
            <a:fillRect/>
          </a:stretch>
        </p:blipFill>
        <p:spPr>
          <a:xfrm>
            <a:off x="6275710" y="4072006"/>
            <a:ext cx="579363" cy="579363"/>
          </a:xfrm>
          <a:prstGeom prst="rect">
            <a:avLst/>
          </a:prstGeom>
        </p:spPr>
      </p:pic>
      <p:sp>
        <p:nvSpPr>
          <p:cNvPr id="17" name="TextBox 16"/>
          <p:cNvSpPr txBox="1"/>
          <p:nvPr/>
        </p:nvSpPr>
        <p:spPr>
          <a:xfrm>
            <a:off x="466344" y="6053328"/>
            <a:ext cx="11183112" cy="365760"/>
          </a:xfrm>
          <a:prstGeom prst="rect">
            <a:avLst/>
          </a:prstGeom>
          <a:noFill/>
        </p:spPr>
        <p:txBody>
          <a:bodyPr wrap="square" lIns="0" tIns="0" rIns="0" bIns="0" anchor="t">
            <a:spAutoFit/>
          </a:bodyPr>
          <a:lstStyle/>
          <a:p>
            <a:r>
              <a:rPr sz="1100" b="0">
                <a:solidFill>
                  <a:srgbClr val="A7ACAF"/>
                </a:solidFill>
                <a:latin typeface="BIZ UDPGothic"/>
                <a:ea typeface="BIZ UDPGothic"/>
              </a:rPr>
              <a:t>※ 完全な汎用ロボットの前に、環境が管理された現場（工場・倉庫）での特定業務から実用化が進む見込み</a:t>
            </a:r>
          </a:p>
        </p:txBody>
      </p:sp>
    </p:spTree>
    <p:extLst>
      <p:ext uri="{BB962C8B-B14F-4D97-AF65-F5344CB8AC3E}">
        <p14:creationId xmlns:p14="http://schemas.microsoft.com/office/powerpoint/2010/main" val="30617027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4．技術の仕組み</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どうやって学習するのか — 鍵はシミュレーション</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現実での試行錯誤は遅くて危険。だから仮想世界で学び、現実へ転移する</a:t>
            </a:r>
            <a:endParaRPr lang="ja-JP" altLang="en-US"/>
          </a:p>
        </p:txBody>
      </p:sp>
      <p:sp>
        <p:nvSpPr>
          <p:cNvPr id="9" name="Rounded Rectangle 8"/>
          <p:cNvSpPr/>
          <p:nvPr/>
        </p:nvSpPr>
        <p:spPr>
          <a:xfrm>
            <a:off x="466344" y="1783080"/>
            <a:ext cx="3493008" cy="20116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STEP 1</a:t>
            </a:r>
          </a:p>
          <a:p>
            <a:pPr algn="ctr">
              <a:spcAft>
                <a:spcPts val="700"/>
              </a:spcAft>
            </a:pPr>
            <a:r>
              <a:rPr sz="1500" b="1">
                <a:solidFill>
                  <a:srgbClr val="00219B"/>
                </a:solidFill>
                <a:latin typeface="BIZ UDPGothic"/>
                <a:ea typeface="BIZ UDPGothic"/>
              </a:rPr>
              <a:t>現場をデジタルツイン化</a:t>
            </a:r>
          </a:p>
          <a:p>
            <a:pPr>
              <a:lnSpc>
                <a:spcPct val="120000"/>
              </a:lnSpc>
            </a:pPr>
            <a:r>
              <a:rPr sz="1200" b="0">
                <a:solidFill>
                  <a:srgbClr val="191919"/>
                </a:solidFill>
                <a:latin typeface="BIZ UDPGothic"/>
                <a:ea typeface="BIZ UDPGothic"/>
              </a:rPr>
              <a:t>工場・倉庫などの現場を、物理法則ごと仮想空間に忠実に再現する</a:t>
            </a:r>
          </a:p>
        </p:txBody>
      </p:sp>
      <p:pic>
        <p:nvPicPr>
          <p:cNvPr id="10" name="Picture 9" descr="building_primary.png"/>
          <p:cNvPicPr>
            <a:picLocks noChangeAspect="1"/>
          </p:cNvPicPr>
          <p:nvPr/>
        </p:nvPicPr>
        <p:blipFill>
          <a:blip r:embed="rId3"/>
          <a:stretch>
            <a:fillRect/>
          </a:stretch>
        </p:blipFill>
        <p:spPr>
          <a:xfrm>
            <a:off x="3328050" y="1865010"/>
            <a:ext cx="531083" cy="531083"/>
          </a:xfrm>
          <a:prstGeom prst="rect">
            <a:avLst/>
          </a:prstGeom>
        </p:spPr>
      </p:pic>
      <p:sp>
        <p:nvSpPr>
          <p:cNvPr id="11" name="Chevron 10"/>
          <p:cNvSpPr/>
          <p:nvPr/>
        </p:nvSpPr>
        <p:spPr>
          <a:xfrm>
            <a:off x="3995928"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2" name="Rounded Rectangle 11"/>
          <p:cNvSpPr/>
          <p:nvPr/>
        </p:nvSpPr>
        <p:spPr>
          <a:xfrm>
            <a:off x="4306824" y="1783080"/>
            <a:ext cx="3493008" cy="20116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STEP 2</a:t>
            </a:r>
          </a:p>
          <a:p>
            <a:pPr algn="ctr">
              <a:spcAft>
                <a:spcPts val="700"/>
              </a:spcAft>
            </a:pPr>
            <a:r>
              <a:rPr sz="1500" b="1">
                <a:solidFill>
                  <a:srgbClr val="00219B"/>
                </a:solidFill>
                <a:latin typeface="BIZ UDPGothic"/>
                <a:ea typeface="BIZ UDPGothic"/>
              </a:rPr>
              <a:t>仮想空間で大量訓練</a:t>
            </a:r>
          </a:p>
          <a:p>
            <a:pPr>
              <a:lnSpc>
                <a:spcPct val="120000"/>
              </a:lnSpc>
            </a:pPr>
            <a:r>
              <a:rPr sz="1200" b="0">
                <a:solidFill>
                  <a:srgbClr val="191919"/>
                </a:solidFill>
                <a:latin typeface="BIZ UDPGothic"/>
                <a:ea typeface="BIZ UDPGothic"/>
              </a:rPr>
              <a:t>数千体のロボットを並列で訓練。実時間の数千倍の速度で試行錯誤を繰り返す</a:t>
            </a:r>
          </a:p>
        </p:txBody>
      </p:sp>
      <p:pic>
        <p:nvPicPr>
          <p:cNvPr id="13" name="Picture 12" descr="cubes_primary.png"/>
          <p:cNvPicPr>
            <a:picLocks noChangeAspect="1"/>
          </p:cNvPicPr>
          <p:nvPr/>
        </p:nvPicPr>
        <p:blipFill>
          <a:blip r:embed="rId4"/>
          <a:stretch>
            <a:fillRect/>
          </a:stretch>
        </p:blipFill>
        <p:spPr>
          <a:xfrm>
            <a:off x="7168530" y="1865010"/>
            <a:ext cx="531083" cy="531083"/>
          </a:xfrm>
          <a:prstGeom prst="rect">
            <a:avLst/>
          </a:prstGeom>
        </p:spPr>
      </p:pic>
      <p:sp>
        <p:nvSpPr>
          <p:cNvPr id="14" name="Chevron 13"/>
          <p:cNvSpPr/>
          <p:nvPr/>
        </p:nvSpPr>
        <p:spPr>
          <a:xfrm>
            <a:off x="7836407" y="256032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5" name="Rounded Rectangle 14"/>
          <p:cNvSpPr/>
          <p:nvPr/>
        </p:nvSpPr>
        <p:spPr>
          <a:xfrm>
            <a:off x="8147304" y="1783080"/>
            <a:ext cx="3493008" cy="20116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STEP 3</a:t>
            </a:r>
          </a:p>
          <a:p>
            <a:pPr algn="ctr">
              <a:spcAft>
                <a:spcPts val="700"/>
              </a:spcAft>
            </a:pPr>
            <a:r>
              <a:rPr sz="1500" b="1">
                <a:solidFill>
                  <a:srgbClr val="00219B"/>
                </a:solidFill>
                <a:latin typeface="BIZ UDPGothic"/>
                <a:ea typeface="BIZ UDPGothic"/>
              </a:rPr>
              <a:t>実機へ転移（Sim2Real）</a:t>
            </a:r>
          </a:p>
          <a:p>
            <a:pPr>
              <a:lnSpc>
                <a:spcPct val="120000"/>
              </a:lnSpc>
            </a:pPr>
            <a:r>
              <a:rPr sz="1200" b="0">
                <a:solidFill>
                  <a:srgbClr val="191919"/>
                </a:solidFill>
                <a:latin typeface="BIZ UDPGothic"/>
                <a:ea typeface="BIZ UDPGothic"/>
              </a:rPr>
              <a:t>学習済みモデルを実機に載せ、現実とのわずかなズレを微調整して仕上げる</a:t>
            </a:r>
          </a:p>
        </p:txBody>
      </p:sp>
      <p:pic>
        <p:nvPicPr>
          <p:cNvPr id="16" name="Picture 15" descr="robot_primary.png"/>
          <p:cNvPicPr>
            <a:picLocks noChangeAspect="1"/>
          </p:cNvPicPr>
          <p:nvPr/>
        </p:nvPicPr>
        <p:blipFill>
          <a:blip r:embed="rId5"/>
          <a:stretch>
            <a:fillRect/>
          </a:stretch>
        </p:blipFill>
        <p:spPr>
          <a:xfrm>
            <a:off x="11009010" y="1865010"/>
            <a:ext cx="531083" cy="531083"/>
          </a:xfrm>
          <a:prstGeom prst="rect">
            <a:avLst/>
          </a:prstGeom>
        </p:spPr>
      </p:pic>
      <p:sp>
        <p:nvSpPr>
          <p:cNvPr id="17" name="Rounded Rectangle 16"/>
          <p:cNvSpPr/>
          <p:nvPr/>
        </p:nvSpPr>
        <p:spPr>
          <a:xfrm>
            <a:off x="466344" y="4251960"/>
            <a:ext cx="11183112" cy="1508760"/>
          </a:xfrm>
          <a:prstGeom prst="roundRect">
            <a:avLst>
              <a:gd name="adj" fmla="val 8000"/>
            </a:avLst>
          </a:prstGeom>
          <a:solidFill>
            <a:srgbClr val="FFFFFF"/>
          </a:solidFill>
          <a:ln w="15875">
            <a:solidFill>
              <a:srgbClr val="2A65F5"/>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274320" tIns="146304" rIns="109728" bIns="73152" rtlCol="0" anchor="t"/>
          <a:lstStyle/>
          <a:p>
            <a:pPr algn="ctr">
              <a:spcAft>
                <a:spcPts val="500"/>
              </a:spcAft>
            </a:pPr>
            <a:r>
              <a:rPr sz="1400" b="1">
                <a:solidFill>
                  <a:srgbClr val="00219B"/>
                </a:solidFill>
                <a:latin typeface="BIZ UDPGothic"/>
                <a:ea typeface="BIZ UDPGothic"/>
              </a:rPr>
              <a:t>ポイント：足りない現実データは「合成データ」で補う</a:t>
            </a:r>
          </a:p>
          <a:p>
            <a:pPr>
              <a:lnSpc>
                <a:spcPct val="125000"/>
              </a:lnSpc>
            </a:pPr>
            <a:r>
              <a:rPr sz="1200" b="0">
                <a:solidFill>
                  <a:srgbClr val="191919"/>
                </a:solidFill>
                <a:latin typeface="BIZ UDPGothic"/>
                <a:ea typeface="BIZ UDPGothic"/>
              </a:rPr>
              <a:t>テキストと違い、ロボットの学習データ（動作・映像）はWeb上にほとんど存在しない。世界モデル（Cosmosなど）が物理的に自然な映像・状況データを大量生成し、このギャップを埋めている。</a:t>
            </a:r>
          </a:p>
        </p:txBody>
      </p:sp>
    </p:spTree>
    <p:extLst>
      <p:ext uri="{BB962C8B-B14F-4D97-AF65-F5344CB8AC3E}">
        <p14:creationId xmlns:p14="http://schemas.microsoft.com/office/powerpoint/2010/main" val="30617027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VLAモデル — ロボットの頭脳のしくみ</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Vision（見る）・Language（理解する）・Action（動く）を1つのモデルで</a:t>
            </a:r>
            <a:endParaRPr lang="ja-JP" altLang="en-US"/>
          </a:p>
        </p:txBody>
      </p:sp>
      <p:sp>
        <p:nvSpPr>
          <p:cNvPr id="9" name="Rounded Rectangle 8"/>
          <p:cNvSpPr/>
          <p:nvPr/>
        </p:nvSpPr>
        <p:spPr>
          <a:xfrm>
            <a:off x="466344" y="1783080"/>
            <a:ext cx="3246120" cy="24688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46304" rIns="621792" bIns="73152" rtlCol="0" anchor="t"/>
          <a:lstStyle/>
          <a:p>
            <a:pPr algn="ctr">
              <a:spcAft>
                <a:spcPts val="500"/>
              </a:spcAft>
            </a:pPr>
            <a:r>
              <a:rPr sz="1300" b="1">
                <a:solidFill>
                  <a:srgbClr val="A7ACAF"/>
                </a:solidFill>
                <a:latin typeface="BIZ UDPGothic"/>
                <a:ea typeface="BIZ UDPGothic"/>
              </a:rPr>
              <a:t>入力</a:t>
            </a:r>
          </a:p>
          <a:p>
            <a:pPr>
              <a:spcAft>
                <a:spcPts val="400"/>
              </a:spcAft>
            </a:pPr>
            <a:r>
              <a:rPr sz="1250" b="1">
                <a:solidFill>
                  <a:srgbClr val="00219B"/>
                </a:solidFill>
                <a:latin typeface="BIZ UDPGothic"/>
                <a:ea typeface="BIZ UDPGothic"/>
              </a:rPr>
              <a:t>Vision：カメラ映像・センサー情報</a:t>
            </a:r>
          </a:p>
          <a:p>
            <a:pPr>
              <a:spcAft>
                <a:spcPts val="800"/>
              </a:spcAft>
            </a:pPr>
            <a:r>
              <a:rPr sz="1250" b="1">
                <a:solidFill>
                  <a:srgbClr val="00219B"/>
                </a:solidFill>
                <a:latin typeface="BIZ UDPGothic"/>
                <a:ea typeface="BIZ UDPGothic"/>
              </a:rPr>
              <a:t>Language：「棚の飲料を補充して」などの自然言語の指示</a:t>
            </a:r>
          </a:p>
          <a:p>
            <a:pPr>
              <a:lnSpc>
                <a:spcPct val="120000"/>
              </a:lnSpc>
            </a:pPr>
            <a:r>
              <a:rPr sz="1100" b="0">
                <a:solidFill>
                  <a:srgbClr val="191919"/>
                </a:solidFill>
                <a:latin typeface="BIZ UDPGothic"/>
                <a:ea typeface="BIZ UDPGothic"/>
              </a:rPr>
              <a:t>人がロボット言語を覚えるのではなく、ロボットが人の言葉を理解する</a:t>
            </a:r>
          </a:p>
        </p:txBody>
      </p:sp>
      <p:pic>
        <p:nvPicPr>
          <p:cNvPr id="10" name="Picture 9" descr="camera_primary.png"/>
          <p:cNvPicPr>
            <a:picLocks noChangeAspect="1"/>
          </p:cNvPicPr>
          <p:nvPr/>
        </p:nvPicPr>
        <p:blipFill>
          <a:blip r:embed="rId3"/>
          <a:stretch>
            <a:fillRect/>
          </a:stretch>
        </p:blipFill>
        <p:spPr>
          <a:xfrm>
            <a:off x="3081162" y="1865010"/>
            <a:ext cx="531083" cy="531083"/>
          </a:xfrm>
          <a:prstGeom prst="rect">
            <a:avLst/>
          </a:prstGeom>
        </p:spPr>
      </p:pic>
      <p:sp>
        <p:nvSpPr>
          <p:cNvPr id="11" name="Chevron 10"/>
          <p:cNvSpPr/>
          <p:nvPr/>
        </p:nvSpPr>
        <p:spPr>
          <a:xfrm>
            <a:off x="380390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2" name="Rounded Rectangle 11"/>
          <p:cNvSpPr/>
          <p:nvPr/>
        </p:nvSpPr>
        <p:spPr>
          <a:xfrm>
            <a:off x="4169663" y="1783080"/>
            <a:ext cx="3749039" cy="2468880"/>
          </a:xfrm>
          <a:prstGeom prst="roundRect">
            <a:avLst>
              <a:gd name="adj" fmla="val 8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19456" tIns="73152" rIns="219456" bIns="73152" rtlCol="0" anchor="ctr"/>
          <a:lstStyle/>
          <a:p>
            <a:pPr algn="ctr">
              <a:spcAft>
                <a:spcPts val="600"/>
              </a:spcAft>
            </a:pPr>
            <a:r>
              <a:rPr sz="1700" b="1">
                <a:solidFill>
                  <a:srgbClr val="FFFFFF"/>
                </a:solidFill>
                <a:latin typeface="BIZ UDPGothic"/>
                <a:ea typeface="BIZ UDPGothic"/>
              </a:rPr>
              <a:t>VLAモデル</a:t>
            </a:r>
          </a:p>
          <a:p>
            <a:pPr algn="ctr">
              <a:lnSpc>
                <a:spcPct val="125000"/>
              </a:lnSpc>
              <a:spcAft>
                <a:spcPts val="600"/>
              </a:spcAft>
            </a:pPr>
            <a:r>
              <a:rPr sz="1200" b="0">
                <a:solidFill>
                  <a:srgbClr val="EDF4F9"/>
                </a:solidFill>
                <a:latin typeface="BIZ UDPGothic"/>
                <a:ea typeface="BIZ UDPGothic"/>
              </a:rPr>
              <a:t>LLM由来の知識・推論力を土台に、状況を理解して動作計画を立てる</a:t>
            </a:r>
          </a:p>
          <a:p>
            <a:pPr algn="ctr">
              <a:lnSpc>
                <a:spcPct val="120000"/>
              </a:lnSpc>
            </a:pPr>
            <a:r>
              <a:rPr sz="1050" b="0">
                <a:solidFill>
                  <a:srgbClr val="6BB8F2"/>
                </a:solidFill>
                <a:latin typeface="BIZ UDPGothic"/>
                <a:ea typeface="BIZ UDPGothic"/>
              </a:rPr>
              <a:t>例：Helix（Figure）／ Gemini Robotics ／ π0（Physical Intelligence）</a:t>
            </a:r>
          </a:p>
        </p:txBody>
      </p:sp>
      <p:pic>
        <p:nvPicPr>
          <p:cNvPr id="13" name="Picture 12" descr="brain.png"/>
          <p:cNvPicPr>
            <a:picLocks noChangeAspect="1"/>
          </p:cNvPicPr>
          <p:nvPr/>
        </p:nvPicPr>
        <p:blipFill>
          <a:blip r:embed="rId4"/>
          <a:stretch>
            <a:fillRect/>
          </a:stretch>
        </p:blipFill>
        <p:spPr>
          <a:xfrm>
            <a:off x="5806440" y="1847088"/>
            <a:ext cx="475488" cy="475488"/>
          </a:xfrm>
          <a:prstGeom prst="rect">
            <a:avLst/>
          </a:prstGeom>
        </p:spPr>
      </p:pic>
      <p:sp>
        <p:nvSpPr>
          <p:cNvPr id="14" name="Chevron 13"/>
          <p:cNvSpPr/>
          <p:nvPr/>
        </p:nvSpPr>
        <p:spPr>
          <a:xfrm>
            <a:off x="8010144" y="2697480"/>
            <a:ext cx="274320" cy="50292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5" name="Rounded Rectangle 14"/>
          <p:cNvSpPr/>
          <p:nvPr/>
        </p:nvSpPr>
        <p:spPr>
          <a:xfrm>
            <a:off x="8375904" y="1783080"/>
            <a:ext cx="3273552" cy="24688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46304" rIns="621792" bIns="73152" rtlCol="0" anchor="t"/>
          <a:lstStyle/>
          <a:p>
            <a:pPr algn="ctr">
              <a:spcAft>
                <a:spcPts val="500"/>
              </a:spcAft>
            </a:pPr>
            <a:r>
              <a:rPr sz="1300" b="1">
                <a:solidFill>
                  <a:srgbClr val="A7ACAF"/>
                </a:solidFill>
                <a:latin typeface="BIZ UDPGothic"/>
                <a:ea typeface="BIZ UDPGothic"/>
              </a:rPr>
              <a:t>出力</a:t>
            </a:r>
          </a:p>
          <a:p>
            <a:pPr>
              <a:spcAft>
                <a:spcPts val="800"/>
              </a:spcAft>
            </a:pPr>
            <a:r>
              <a:rPr sz="1250" b="1">
                <a:solidFill>
                  <a:srgbClr val="00219B"/>
                </a:solidFill>
                <a:latin typeface="BIZ UDPGothic"/>
                <a:ea typeface="BIZ UDPGothic"/>
              </a:rPr>
              <a:t>Action：関節・モーターへの動作指令</a:t>
            </a:r>
          </a:p>
          <a:p>
            <a:pPr>
              <a:lnSpc>
                <a:spcPct val="120000"/>
              </a:lnSpc>
            </a:pPr>
            <a:r>
              <a:rPr sz="1100" b="0">
                <a:solidFill>
                  <a:srgbClr val="191919"/>
                </a:solidFill>
                <a:latin typeface="BIZ UDPGothic"/>
                <a:ea typeface="BIZ UDPGothic"/>
              </a:rPr>
              <a:t>毎秒数十回の連続制御で、つかむ・運ぶ・置くなどの動作を実行</a:t>
            </a:r>
          </a:p>
        </p:txBody>
      </p:sp>
      <p:pic>
        <p:nvPicPr>
          <p:cNvPr id="16" name="Picture 15" descr="arm_primary.png"/>
          <p:cNvPicPr>
            <a:picLocks noChangeAspect="1"/>
          </p:cNvPicPr>
          <p:nvPr/>
        </p:nvPicPr>
        <p:blipFill>
          <a:blip r:embed="rId5"/>
          <a:stretch>
            <a:fillRect/>
          </a:stretch>
        </p:blipFill>
        <p:spPr>
          <a:xfrm>
            <a:off x="11018154" y="1865010"/>
            <a:ext cx="531083" cy="531083"/>
          </a:xfrm>
          <a:prstGeom prst="rect">
            <a:avLst/>
          </a:prstGeom>
        </p:spPr>
      </p:pic>
      <p:sp>
        <p:nvSpPr>
          <p:cNvPr id="17" name="Rounded Rectangle 16"/>
          <p:cNvSpPr/>
          <p:nvPr/>
        </p:nvSpPr>
        <p:spPr>
          <a:xfrm>
            <a:off x="466344" y="4572000"/>
            <a:ext cx="5504688" cy="150876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300" b="1">
                <a:solidFill>
                  <a:srgbClr val="A7ACAF"/>
                </a:solidFill>
                <a:latin typeface="BIZ UDPGothic"/>
                <a:ea typeface="BIZ UDPGothic"/>
              </a:rPr>
              <a:t>従来のロボット</a:t>
            </a:r>
          </a:p>
          <a:p>
            <a:pPr>
              <a:lnSpc>
                <a:spcPct val="120000"/>
              </a:lnSpc>
            </a:pPr>
            <a:r>
              <a:rPr sz="1200" b="0">
                <a:solidFill>
                  <a:srgbClr val="191919"/>
                </a:solidFill>
                <a:latin typeface="BIZ UDPGothic"/>
                <a:ea typeface="BIZ UDPGothic"/>
              </a:rPr>
              <a:t>動作を1つずつプログラミング。決められた環境・手順の外に出ると対応できない</a:t>
            </a:r>
          </a:p>
        </p:txBody>
      </p:sp>
      <p:sp>
        <p:nvSpPr>
          <p:cNvPr id="18" name="Rounded Rectangle 17"/>
          <p:cNvSpPr/>
          <p:nvPr/>
        </p:nvSpPr>
        <p:spPr>
          <a:xfrm>
            <a:off x="6144768" y="4572000"/>
            <a:ext cx="5504688" cy="1508760"/>
          </a:xfrm>
          <a:prstGeom prst="roundRect">
            <a:avLst>
              <a:gd name="adj" fmla="val 8000"/>
            </a:avLst>
          </a:prstGeom>
          <a:solidFill>
            <a:srgbClr val="FFFFFF"/>
          </a:solidFill>
          <a:ln w="15875">
            <a:solidFill>
              <a:srgbClr val="2A65F5"/>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201168" tIns="128016" rIns="109728" bIns="73152" rtlCol="0" anchor="t"/>
          <a:lstStyle/>
          <a:p>
            <a:pPr algn="ctr">
              <a:spcAft>
                <a:spcPts val="400"/>
              </a:spcAft>
            </a:pPr>
            <a:r>
              <a:rPr sz="1300" b="1">
                <a:solidFill>
                  <a:srgbClr val="00219B"/>
                </a:solidFill>
                <a:latin typeface="BIZ UDPGothic"/>
                <a:ea typeface="BIZ UDPGothic"/>
              </a:rPr>
              <a:t>VLA搭載ロボット</a:t>
            </a:r>
          </a:p>
          <a:p>
            <a:pPr>
              <a:lnSpc>
                <a:spcPct val="120000"/>
              </a:lnSpc>
            </a:pPr>
            <a:r>
              <a:rPr sz="1200" b="0">
                <a:solidFill>
                  <a:srgbClr val="191919"/>
                </a:solidFill>
                <a:latin typeface="BIZ UDPGothic"/>
                <a:ea typeface="BIZ UDPGothic"/>
              </a:rPr>
              <a:t>「常識」を持ち、初めて見る物・初めての指示にも柔軟に対応できる（汎用性）</a:t>
            </a:r>
          </a:p>
        </p:txBody>
      </p:sp>
    </p:spTree>
    <p:extLst>
      <p:ext uri="{BB962C8B-B14F-4D97-AF65-F5344CB8AC3E}">
        <p14:creationId xmlns:p14="http://schemas.microsoft.com/office/powerpoint/2010/main" val="30617027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現場ではすでに「AIの部品」が実用段階</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物体検知・VLM・自律移動 — フィジカルAIはこれらを統合したもの</a:t>
            </a:r>
            <a:endParaRPr lang="ja-JP" altLang="en-US"/>
          </a:p>
        </p:txBody>
      </p:sp>
      <p:pic>
        <p:nvPicPr>
          <p:cNvPr id="9" name="Picture 8" descr="scene_detect.png"/>
          <p:cNvPicPr>
            <a:picLocks noChangeAspect="1"/>
          </p:cNvPicPr>
          <p:nvPr/>
        </p:nvPicPr>
        <p:blipFill>
          <a:blip r:embed="rId3"/>
          <a:stretch>
            <a:fillRect/>
          </a:stretch>
        </p:blipFill>
        <p:spPr>
          <a:xfrm>
            <a:off x="466344" y="1783080"/>
            <a:ext cx="3840480" cy="2606040"/>
          </a:xfrm>
          <a:prstGeom prst="rect">
            <a:avLst/>
          </a:prstGeom>
        </p:spPr>
      </p:pic>
      <p:sp>
        <p:nvSpPr>
          <p:cNvPr id="10" name="TextBox 9"/>
          <p:cNvSpPr txBox="1"/>
          <p:nvPr/>
        </p:nvSpPr>
        <p:spPr>
          <a:xfrm>
            <a:off x="466344" y="4572000"/>
            <a:ext cx="3840480" cy="1463040"/>
          </a:xfrm>
          <a:prstGeom prst="rect">
            <a:avLst/>
          </a:prstGeom>
          <a:noFill/>
        </p:spPr>
        <p:txBody>
          <a:bodyPr wrap="square" lIns="0" tIns="0" rIns="0" bIns="0" anchor="t">
            <a:spAutoFit/>
          </a:bodyPr>
          <a:lstStyle/>
          <a:p>
            <a:pPr>
              <a:lnSpc>
                <a:spcPct val="130000"/>
              </a:lnSpc>
            </a:pPr>
            <a:r>
              <a:rPr sz="1100" b="0">
                <a:solidFill>
                  <a:srgbClr val="191919"/>
                </a:solidFill>
                <a:latin typeface="BIZ UDPGothic"/>
                <a:ea typeface="BIZ UDPGothic"/>
              </a:rPr>
              <a:t>カメラ映像から人やモノを囲って検出し、数値は確信度を表す。この「見える化」が現場AIの出発点</a:t>
            </a:r>
          </a:p>
        </p:txBody>
      </p:sp>
      <p:sp>
        <p:nvSpPr>
          <p:cNvPr id="11" name="Rounded Rectangle 10"/>
          <p:cNvSpPr/>
          <p:nvPr/>
        </p:nvSpPr>
        <p:spPr>
          <a:xfrm>
            <a:off x="4526280" y="1783080"/>
            <a:ext cx="7123176" cy="932688"/>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31520" tIns="91440" rIns="182880" bIns="73152" rtlCol="0" anchor="t"/>
          <a:lstStyle/>
          <a:p>
            <a:pPr algn="ctr">
              <a:spcAft>
                <a:spcPts val="200"/>
              </a:spcAft>
            </a:pPr>
            <a:r>
              <a:rPr sz="1350" b="1">
                <a:solidFill>
                  <a:srgbClr val="00219B"/>
                </a:solidFill>
                <a:latin typeface="BIZ UDPGothic"/>
                <a:ea typeface="BIZ UDPGothic"/>
              </a:rPr>
              <a:t>物体検知（YOLO系）</a:t>
            </a:r>
          </a:p>
          <a:p>
            <a:r>
              <a:rPr sz="1150" b="0">
                <a:solidFill>
                  <a:srgbClr val="191919"/>
                </a:solidFill>
                <a:latin typeface="BIZ UDPGothic"/>
                <a:ea typeface="BIZ UDPGothic"/>
              </a:rPr>
              <a:t>カメラ映像から人・モノをリアルタイム検出。安全監視・検品・在庫把握で定着済み</a:t>
            </a:r>
          </a:p>
        </p:txBody>
      </p:sp>
      <p:pic>
        <p:nvPicPr>
          <p:cNvPr id="12" name="Picture 11" descr="crosshairs_primary.png"/>
          <p:cNvPicPr>
            <a:picLocks noChangeAspect="1"/>
          </p:cNvPicPr>
          <p:nvPr/>
        </p:nvPicPr>
        <p:blipFill>
          <a:blip r:embed="rId4"/>
          <a:stretch>
            <a:fillRect/>
          </a:stretch>
        </p:blipFill>
        <p:spPr>
          <a:xfrm>
            <a:off x="4641860" y="1962668"/>
            <a:ext cx="555223" cy="555223"/>
          </a:xfrm>
          <a:prstGeom prst="rect">
            <a:avLst/>
          </a:prstGeom>
        </p:spPr>
      </p:pic>
      <p:sp>
        <p:nvSpPr>
          <p:cNvPr id="13" name="Rounded Rectangle 12"/>
          <p:cNvSpPr/>
          <p:nvPr/>
        </p:nvSpPr>
        <p:spPr>
          <a:xfrm>
            <a:off x="4526280" y="2807208"/>
            <a:ext cx="7123176" cy="932688"/>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31520" tIns="91440" rIns="182880" bIns="73152" rtlCol="0" anchor="t"/>
          <a:lstStyle/>
          <a:p>
            <a:pPr algn="ctr">
              <a:spcAft>
                <a:spcPts val="200"/>
              </a:spcAft>
            </a:pPr>
            <a:r>
              <a:rPr sz="1350" b="1">
                <a:solidFill>
                  <a:srgbClr val="00219B"/>
                </a:solidFill>
                <a:latin typeface="BIZ UDPGothic"/>
                <a:ea typeface="BIZ UDPGothic"/>
              </a:rPr>
              <a:t>VLM（視覚言語モデル）</a:t>
            </a:r>
          </a:p>
          <a:p>
            <a:r>
              <a:rPr sz="1150" b="0">
                <a:solidFill>
                  <a:srgbClr val="191919"/>
                </a:solidFill>
                <a:latin typeface="BIZ UDPGothic"/>
                <a:ea typeface="BIZ UDPGothic"/>
              </a:rPr>
              <a:t>画像を言葉で理解・説明するAI。目視点検の自動化や報告書作成への応用が進む</a:t>
            </a:r>
          </a:p>
        </p:txBody>
      </p:sp>
      <p:pic>
        <p:nvPicPr>
          <p:cNvPr id="14" name="Picture 13" descr="image_primary.png"/>
          <p:cNvPicPr>
            <a:picLocks noChangeAspect="1"/>
          </p:cNvPicPr>
          <p:nvPr/>
        </p:nvPicPr>
        <p:blipFill>
          <a:blip r:embed="rId5"/>
          <a:stretch>
            <a:fillRect/>
          </a:stretch>
        </p:blipFill>
        <p:spPr>
          <a:xfrm>
            <a:off x="4641860" y="2986796"/>
            <a:ext cx="555223" cy="555223"/>
          </a:xfrm>
          <a:prstGeom prst="rect">
            <a:avLst/>
          </a:prstGeom>
        </p:spPr>
      </p:pic>
      <p:sp>
        <p:nvSpPr>
          <p:cNvPr id="15" name="Rounded Rectangle 14"/>
          <p:cNvSpPr/>
          <p:nvPr/>
        </p:nvSpPr>
        <p:spPr>
          <a:xfrm>
            <a:off x="4526280" y="3831336"/>
            <a:ext cx="7123176" cy="932688"/>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31520" tIns="91440" rIns="182880" bIns="73152" rtlCol="0" anchor="t"/>
          <a:lstStyle/>
          <a:p>
            <a:pPr algn="ctr">
              <a:spcAft>
                <a:spcPts val="200"/>
              </a:spcAft>
            </a:pPr>
            <a:r>
              <a:rPr sz="1350" b="1">
                <a:solidFill>
                  <a:srgbClr val="00219B"/>
                </a:solidFill>
                <a:latin typeface="BIZ UDPGothic"/>
                <a:ea typeface="BIZ UDPGothic"/>
              </a:rPr>
              <a:t>SLAM・自律移動</a:t>
            </a:r>
          </a:p>
          <a:p>
            <a:r>
              <a:rPr sz="1150" b="0">
                <a:solidFill>
                  <a:srgbClr val="191919"/>
                </a:solidFill>
                <a:latin typeface="BIZ UDPGothic"/>
                <a:ea typeface="BIZ UDPGothic"/>
              </a:rPr>
              <a:t>自己位置推定と地図生成でAMR・ドローンが自律走行。倉庫・工場で実用段階</a:t>
            </a:r>
          </a:p>
        </p:txBody>
      </p:sp>
      <p:pic>
        <p:nvPicPr>
          <p:cNvPr id="16" name="Picture 15" descr="route_primary.png"/>
          <p:cNvPicPr>
            <a:picLocks noChangeAspect="1"/>
          </p:cNvPicPr>
          <p:nvPr/>
        </p:nvPicPr>
        <p:blipFill>
          <a:blip r:embed="rId6"/>
          <a:stretch>
            <a:fillRect/>
          </a:stretch>
        </p:blipFill>
        <p:spPr>
          <a:xfrm>
            <a:off x="4641860" y="4010924"/>
            <a:ext cx="555223" cy="555223"/>
          </a:xfrm>
          <a:prstGeom prst="rect">
            <a:avLst/>
          </a:prstGeom>
        </p:spPr>
      </p:pic>
      <p:sp>
        <p:nvSpPr>
          <p:cNvPr id="17" name="Rounded Rectangle 16"/>
          <p:cNvSpPr/>
          <p:nvPr/>
        </p:nvSpPr>
        <p:spPr>
          <a:xfrm>
            <a:off x="4526280" y="4855464"/>
            <a:ext cx="7123176" cy="932688"/>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31520" tIns="91440" rIns="182880" bIns="73152" rtlCol="0" anchor="t"/>
          <a:lstStyle/>
          <a:p>
            <a:pPr algn="ctr">
              <a:spcAft>
                <a:spcPts val="200"/>
              </a:spcAft>
            </a:pPr>
            <a:r>
              <a:rPr sz="1350" b="1">
                <a:solidFill>
                  <a:srgbClr val="00219B"/>
                </a:solidFill>
                <a:latin typeface="BIZ UDPGothic"/>
                <a:ea typeface="BIZ UDPGothic"/>
              </a:rPr>
              <a:t>異常検知・予知保全</a:t>
            </a:r>
          </a:p>
          <a:p>
            <a:r>
              <a:rPr sz="1150" b="0">
                <a:solidFill>
                  <a:srgbClr val="191919"/>
                </a:solidFill>
                <a:latin typeface="BIZ UDPGothic"/>
                <a:ea typeface="BIZ UDPGothic"/>
              </a:rPr>
              <a:t>センサーデータから故障の予兆を検出。設備保全の定番手法に</a:t>
            </a:r>
          </a:p>
        </p:txBody>
      </p:sp>
      <p:pic>
        <p:nvPicPr>
          <p:cNvPr id="18" name="Picture 17" descr="glasschart_primary.png"/>
          <p:cNvPicPr>
            <a:picLocks noChangeAspect="1"/>
          </p:cNvPicPr>
          <p:nvPr/>
        </p:nvPicPr>
        <p:blipFill>
          <a:blip r:embed="rId7"/>
          <a:stretch>
            <a:fillRect/>
          </a:stretch>
        </p:blipFill>
        <p:spPr>
          <a:xfrm>
            <a:off x="4641860" y="5035052"/>
            <a:ext cx="555223" cy="555223"/>
          </a:xfrm>
          <a:prstGeom prst="rect">
            <a:avLst/>
          </a:prstGeom>
        </p:spPr>
      </p:pic>
      <p:sp>
        <p:nvSpPr>
          <p:cNvPr id="19" name="Rounded Rectangle 18"/>
          <p:cNvSpPr/>
          <p:nvPr/>
        </p:nvSpPr>
        <p:spPr>
          <a:xfrm>
            <a:off x="4526280" y="5897880"/>
            <a:ext cx="7123176" cy="502920"/>
          </a:xfrm>
          <a:prstGeom prst="roundRect">
            <a:avLst>
              <a:gd name="adj" fmla="val 8000"/>
            </a:avLst>
          </a:prstGeom>
          <a:solidFill>
            <a:srgbClr val="FFFFFF"/>
          </a:solidFill>
          <a:ln w="15875">
            <a:solidFill>
              <a:srgbClr val="2A65F5"/>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201168" tIns="73152" rIns="109728" bIns="73152" rtlCol="0" anchor="ctr"/>
          <a:lstStyle/>
          <a:p>
            <a:pPr algn="ctr"/>
            <a:r>
              <a:rPr sz="1200" b="1">
                <a:solidFill>
                  <a:srgbClr val="00219B"/>
                </a:solidFill>
                <a:latin typeface="BIZ UDPGothic"/>
                <a:ea typeface="BIZ UDPGothic"/>
              </a:rPr>
              <a:t>これらの「部品」をロボットの身体と統合し、自律的に動かすのがフィジカルAI</a:t>
            </a:r>
          </a:p>
        </p:txBody>
      </p:sp>
    </p:spTree>
    <p:extLst>
      <p:ext uri="{BB962C8B-B14F-4D97-AF65-F5344CB8AC3E}">
        <p14:creationId xmlns:p14="http://schemas.microsoft.com/office/powerpoint/2010/main" val="306170275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5．ビジネスへの示唆</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市場予測と、普及までの課題</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期待は大きい。ただし「現場で使える」までのハードルも現実的に見る</a:t>
            </a:r>
            <a:endParaRPr lang="ja-JP" altLang="en-US"/>
          </a:p>
        </p:txBody>
      </p:sp>
      <p:sp>
        <p:nvSpPr>
          <p:cNvPr id="9" name="Rounded Rectangle 8"/>
          <p:cNvSpPr/>
          <p:nvPr/>
        </p:nvSpPr>
        <p:spPr>
          <a:xfrm>
            <a:off x="466344" y="1783080"/>
            <a:ext cx="4754880" cy="4206240"/>
          </a:xfrm>
          <a:prstGeom prst="roundRect">
            <a:avLst>
              <a:gd name="adj" fmla="val 8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56032" tIns="219456" rIns="256032" bIns="73152" rtlCol="0" anchor="t"/>
          <a:lstStyle/>
          <a:p>
            <a:pPr algn="ctr">
              <a:spcAft>
                <a:spcPts val="1000"/>
              </a:spcAft>
            </a:pPr>
            <a:r>
              <a:rPr sz="1400" b="1">
                <a:solidFill>
                  <a:srgbClr val="6BB8F2"/>
                </a:solidFill>
                <a:latin typeface="BIZ UDPGothic"/>
                <a:ea typeface="BIZ UDPGothic"/>
              </a:rPr>
              <a:t>市場予測</a:t>
            </a:r>
          </a:p>
          <a:p>
            <a:pPr>
              <a:spcAft>
                <a:spcPts val="200"/>
              </a:spcAft>
            </a:pPr>
            <a:r>
              <a:rPr sz="3600" b="1">
                <a:solidFill>
                  <a:srgbClr val="FFFFFF"/>
                </a:solidFill>
                <a:latin typeface="BIZ UDPGothic"/>
                <a:ea typeface="BIZ UDPGothic"/>
              </a:rPr>
              <a:t>約380億ドル</a:t>
            </a:r>
          </a:p>
          <a:p>
            <a:pPr>
              <a:lnSpc>
                <a:spcPct val="125000"/>
              </a:lnSpc>
              <a:spcAft>
                <a:spcPts val="1200"/>
              </a:spcAft>
            </a:pPr>
            <a:r>
              <a:rPr sz="1150" b="0">
                <a:solidFill>
                  <a:srgbClr val="EDF4F9"/>
                </a:solidFill>
                <a:latin typeface="BIZ UDPGothic"/>
                <a:ea typeface="BIZ UDPGothic"/>
              </a:rPr>
              <a:t>ヒューマノイドロボットの世界市場規模（2035年、Goldman Sachs予測）</a:t>
            </a:r>
          </a:p>
          <a:p>
            <a:pPr>
              <a:spcAft>
                <a:spcPts val="200"/>
              </a:spcAft>
            </a:pPr>
            <a:r>
              <a:rPr sz="2800" b="1">
                <a:solidFill>
                  <a:srgbClr val="FFFFFF"/>
                </a:solidFill>
                <a:latin typeface="BIZ UDPGothic"/>
                <a:ea typeface="BIZ UDPGothic"/>
              </a:rPr>
              <a:t>約2,300億円</a:t>
            </a:r>
          </a:p>
          <a:p>
            <a:pPr>
              <a:lnSpc>
                <a:spcPct val="125000"/>
              </a:lnSpc>
              <a:spcAft>
                <a:spcPts val="1200"/>
              </a:spcAft>
            </a:pPr>
            <a:r>
              <a:rPr sz="1150" b="0">
                <a:solidFill>
                  <a:srgbClr val="EDF4F9"/>
                </a:solidFill>
                <a:latin typeface="BIZ UDPGothic"/>
                <a:ea typeface="BIZ UDPGothic"/>
              </a:rPr>
              <a:t>日本のフィジカルAI市場規模（FY30予測、CAGR 36.2%）。市場は立ち上げ初期で、SIやユースケースはまだ確立していない</a:t>
            </a:r>
          </a:p>
          <a:p>
            <a:pPr>
              <a:lnSpc>
                <a:spcPct val="125000"/>
              </a:lnSpc>
            </a:pPr>
            <a:r>
              <a:rPr sz="1000" b="0">
                <a:solidFill>
                  <a:srgbClr val="6BB8F2"/>
                </a:solidFill>
                <a:latin typeface="BIZ UDPGothic"/>
                <a:ea typeface="BIZ UDPGothic"/>
              </a:rPr>
              <a:t>※ 予測値は調査機関によって幅が大きい。金額そのものより「各機関がこぞって高成長市場と見ている」という方向感で捉える</a:t>
            </a:r>
          </a:p>
        </p:txBody>
      </p:sp>
      <p:pic>
        <p:nvPicPr>
          <p:cNvPr id="10" name="Picture 9" descr="chartline.png"/>
          <p:cNvPicPr>
            <a:picLocks noChangeAspect="1"/>
          </p:cNvPicPr>
          <p:nvPr/>
        </p:nvPicPr>
        <p:blipFill>
          <a:blip r:embed="rId3"/>
          <a:stretch>
            <a:fillRect/>
          </a:stretch>
        </p:blipFill>
        <p:spPr>
          <a:xfrm>
            <a:off x="4443984" y="1938528"/>
            <a:ext cx="502920" cy="502920"/>
          </a:xfrm>
          <a:prstGeom prst="rect">
            <a:avLst/>
          </a:prstGeom>
        </p:spPr>
      </p:pic>
      <p:sp>
        <p:nvSpPr>
          <p:cNvPr id="11" name="Rounded Rectangle 10"/>
          <p:cNvSpPr/>
          <p:nvPr/>
        </p:nvSpPr>
        <p:spPr>
          <a:xfrm>
            <a:off x="5440680" y="1783080"/>
            <a:ext cx="6208776" cy="94183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91440" rIns="109728" bIns="73152" rtlCol="0" anchor="t"/>
          <a:lstStyle/>
          <a:p>
            <a:pPr algn="ctr">
              <a:spcAft>
                <a:spcPts val="200"/>
              </a:spcAft>
            </a:pPr>
            <a:r>
              <a:rPr sz="1300" b="1">
                <a:solidFill>
                  <a:srgbClr val="00219B"/>
                </a:solidFill>
                <a:latin typeface="BIZ UDPGothic"/>
                <a:ea typeface="BIZ UDPGothic"/>
              </a:rPr>
              <a:t>安全性</a:t>
            </a:r>
          </a:p>
          <a:p>
            <a:r>
              <a:rPr sz="1150" b="0">
                <a:solidFill>
                  <a:srgbClr val="191919"/>
                </a:solidFill>
                <a:latin typeface="BIZ UDPGothic"/>
                <a:ea typeface="BIZ UDPGothic"/>
              </a:rPr>
              <a:t>人と同じ空間で働くための安全基準・規制の整備はこれから</a:t>
            </a:r>
          </a:p>
        </p:txBody>
      </p:sp>
      <p:pic>
        <p:nvPicPr>
          <p:cNvPr id="12" name="Picture 11" descr="warning_slate.png"/>
          <p:cNvPicPr>
            <a:picLocks noChangeAspect="1"/>
          </p:cNvPicPr>
          <p:nvPr/>
        </p:nvPicPr>
        <p:blipFill>
          <a:blip r:embed="rId4"/>
          <a:stretch>
            <a:fillRect/>
          </a:stretch>
        </p:blipFill>
        <p:spPr>
          <a:xfrm>
            <a:off x="5540898" y="1974738"/>
            <a:ext cx="531083" cy="531083"/>
          </a:xfrm>
          <a:prstGeom prst="rect">
            <a:avLst/>
          </a:prstGeom>
        </p:spPr>
      </p:pic>
      <p:sp>
        <p:nvSpPr>
          <p:cNvPr id="13" name="Rounded Rectangle 12"/>
          <p:cNvSpPr/>
          <p:nvPr/>
        </p:nvSpPr>
        <p:spPr>
          <a:xfrm>
            <a:off x="5440680" y="2871215"/>
            <a:ext cx="6208776" cy="94183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91440" rIns="109728" bIns="73152" rtlCol="0" anchor="t"/>
          <a:lstStyle/>
          <a:p>
            <a:pPr algn="ctr">
              <a:spcAft>
                <a:spcPts val="200"/>
              </a:spcAft>
            </a:pPr>
            <a:r>
              <a:rPr sz="1300" b="1">
                <a:solidFill>
                  <a:srgbClr val="00219B"/>
                </a:solidFill>
                <a:latin typeface="BIZ UDPGothic"/>
                <a:ea typeface="BIZ UDPGothic"/>
              </a:rPr>
              <a:t>コスト</a:t>
            </a:r>
          </a:p>
          <a:p>
            <a:r>
              <a:rPr sz="1150" b="0">
                <a:solidFill>
                  <a:srgbClr val="191919"/>
                </a:solidFill>
                <a:latin typeface="BIZ UDPGothic"/>
                <a:ea typeface="BIZ UDPGothic"/>
              </a:rPr>
              <a:t>本体価格に加え、周辺システムと運用まで含めた総コストが課題</a:t>
            </a:r>
          </a:p>
        </p:txBody>
      </p:sp>
      <p:pic>
        <p:nvPicPr>
          <p:cNvPr id="14" name="Picture 13" descr="warning_slate.png"/>
          <p:cNvPicPr>
            <a:picLocks noChangeAspect="1"/>
          </p:cNvPicPr>
          <p:nvPr/>
        </p:nvPicPr>
        <p:blipFill>
          <a:blip r:embed="rId4"/>
          <a:stretch>
            <a:fillRect/>
          </a:stretch>
        </p:blipFill>
        <p:spPr>
          <a:xfrm>
            <a:off x="5540898" y="3062874"/>
            <a:ext cx="531083" cy="531083"/>
          </a:xfrm>
          <a:prstGeom prst="rect">
            <a:avLst/>
          </a:prstGeom>
        </p:spPr>
      </p:pic>
      <p:sp>
        <p:nvSpPr>
          <p:cNvPr id="15" name="Rounded Rectangle 14"/>
          <p:cNvSpPr/>
          <p:nvPr/>
        </p:nvSpPr>
        <p:spPr>
          <a:xfrm>
            <a:off x="5440680" y="3959352"/>
            <a:ext cx="6208776" cy="94183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91440" rIns="109728" bIns="73152" rtlCol="0" anchor="t"/>
          <a:lstStyle/>
          <a:p>
            <a:pPr algn="ctr">
              <a:spcAft>
                <a:spcPts val="200"/>
              </a:spcAft>
            </a:pPr>
            <a:r>
              <a:rPr sz="1300" b="1">
                <a:solidFill>
                  <a:srgbClr val="00219B"/>
                </a:solidFill>
                <a:latin typeface="BIZ UDPGothic"/>
                <a:ea typeface="BIZ UDPGothic"/>
              </a:rPr>
              <a:t>信頼性</a:t>
            </a:r>
          </a:p>
          <a:p>
            <a:r>
              <a:rPr sz="1150" b="0">
                <a:solidFill>
                  <a:srgbClr val="191919"/>
                </a:solidFill>
                <a:latin typeface="BIZ UDPGothic"/>
                <a:ea typeface="BIZ UDPGothic"/>
              </a:rPr>
              <a:t>長時間の連続稼働、故障時の対応など現場品質はまだ発展途上</a:t>
            </a:r>
          </a:p>
        </p:txBody>
      </p:sp>
      <p:pic>
        <p:nvPicPr>
          <p:cNvPr id="16" name="Picture 15" descr="warning_slate.png"/>
          <p:cNvPicPr>
            <a:picLocks noChangeAspect="1"/>
          </p:cNvPicPr>
          <p:nvPr/>
        </p:nvPicPr>
        <p:blipFill>
          <a:blip r:embed="rId4"/>
          <a:stretch>
            <a:fillRect/>
          </a:stretch>
        </p:blipFill>
        <p:spPr>
          <a:xfrm>
            <a:off x="5540898" y="4151010"/>
            <a:ext cx="531083" cy="531083"/>
          </a:xfrm>
          <a:prstGeom prst="rect">
            <a:avLst/>
          </a:prstGeom>
        </p:spPr>
      </p:pic>
      <p:sp>
        <p:nvSpPr>
          <p:cNvPr id="17" name="Rounded Rectangle 16"/>
          <p:cNvSpPr/>
          <p:nvPr/>
        </p:nvSpPr>
        <p:spPr>
          <a:xfrm>
            <a:off x="5440680" y="5047488"/>
            <a:ext cx="6208776" cy="941832"/>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658368" tIns="91440" rIns="109728" bIns="73152" rtlCol="0" anchor="t"/>
          <a:lstStyle/>
          <a:p>
            <a:pPr algn="ctr">
              <a:spcAft>
                <a:spcPts val="200"/>
              </a:spcAft>
            </a:pPr>
            <a:r>
              <a:rPr sz="1300" b="1">
                <a:solidFill>
                  <a:srgbClr val="00219B"/>
                </a:solidFill>
                <a:latin typeface="BIZ UDPGothic"/>
                <a:ea typeface="BIZ UDPGothic"/>
              </a:rPr>
              <a:t>電力・バッテリー</a:t>
            </a:r>
          </a:p>
          <a:p>
            <a:r>
              <a:rPr sz="1150" b="0">
                <a:solidFill>
                  <a:srgbClr val="191919"/>
                </a:solidFill>
                <a:latin typeface="BIZ UDPGothic"/>
                <a:ea typeface="BIZ UDPGothic"/>
              </a:rPr>
              <a:t>稼働時間の短さ（数時間程度）が実用化の壁</a:t>
            </a:r>
          </a:p>
        </p:txBody>
      </p:sp>
      <p:pic>
        <p:nvPicPr>
          <p:cNvPr id="18" name="Picture 17" descr="warning_slate.png"/>
          <p:cNvPicPr>
            <a:picLocks noChangeAspect="1"/>
          </p:cNvPicPr>
          <p:nvPr/>
        </p:nvPicPr>
        <p:blipFill>
          <a:blip r:embed="rId4"/>
          <a:stretch>
            <a:fillRect/>
          </a:stretch>
        </p:blipFill>
        <p:spPr>
          <a:xfrm>
            <a:off x="5540898" y="5239146"/>
            <a:ext cx="531083" cy="531083"/>
          </a:xfrm>
          <a:prstGeom prst="rect">
            <a:avLst/>
          </a:prstGeom>
        </p:spPr>
      </p:pic>
    </p:spTree>
    <p:extLst>
      <p:ext uri="{BB962C8B-B14F-4D97-AF65-F5344CB8AC3E}">
        <p14:creationId xmlns:p14="http://schemas.microsoft.com/office/powerpoint/2010/main" val="3061702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私たちのビジネスへの示唆</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ロボットを「作る」のではなく、「現場で使えるようにする」領域に商機</a:t>
            </a:r>
            <a:endParaRPr lang="ja-JP" altLang="en-US"/>
          </a:p>
        </p:txBody>
      </p:sp>
      <p:sp>
        <p:nvSpPr>
          <p:cNvPr id="9" name="Rounded Rectangle 8"/>
          <p:cNvSpPr/>
          <p:nvPr/>
        </p:nvSpPr>
        <p:spPr>
          <a:xfrm>
            <a:off x="466344" y="1783080"/>
            <a:ext cx="5504688" cy="17830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77240" tIns="146304" rIns="182880" bIns="73152" rtlCol="0" anchor="t"/>
          <a:lstStyle/>
          <a:p>
            <a:pPr algn="ctr">
              <a:spcAft>
                <a:spcPts val="500"/>
              </a:spcAft>
            </a:pPr>
            <a:r>
              <a:rPr sz="1450" b="1">
                <a:solidFill>
                  <a:srgbClr val="00219B"/>
                </a:solidFill>
                <a:latin typeface="BIZ UDPGothic"/>
                <a:ea typeface="BIZ UDPGothic"/>
              </a:rPr>
              <a:t>AIインフラ構築</a:t>
            </a:r>
          </a:p>
          <a:p>
            <a:pPr>
              <a:lnSpc>
                <a:spcPct val="122000"/>
              </a:lnSpc>
            </a:pPr>
            <a:r>
              <a:rPr sz="1200" b="0">
                <a:solidFill>
                  <a:srgbClr val="191919"/>
                </a:solidFill>
                <a:latin typeface="BIZ UDPGothic"/>
                <a:ea typeface="BIZ UDPGothic"/>
              </a:rPr>
              <a:t>GPUサーバー・エッジ〜クラウド基盤・ネットワークの設計構築。学習と推論を支える土台</a:t>
            </a:r>
          </a:p>
        </p:txBody>
      </p:sp>
      <p:pic>
        <p:nvPicPr>
          <p:cNvPr id="10" name="Picture 9" descr="server_primary.png"/>
          <p:cNvPicPr>
            <a:picLocks noChangeAspect="1"/>
          </p:cNvPicPr>
          <p:nvPr/>
        </p:nvPicPr>
        <p:blipFill>
          <a:blip r:embed="rId3"/>
          <a:stretch>
            <a:fillRect/>
          </a:stretch>
        </p:blipFill>
        <p:spPr>
          <a:xfrm>
            <a:off x="597286" y="1859158"/>
            <a:ext cx="579363" cy="579363"/>
          </a:xfrm>
          <a:prstGeom prst="rect">
            <a:avLst/>
          </a:prstGeom>
        </p:spPr>
      </p:pic>
      <p:sp>
        <p:nvSpPr>
          <p:cNvPr id="11" name="Rounded Rectangle 10"/>
          <p:cNvSpPr/>
          <p:nvPr/>
        </p:nvSpPr>
        <p:spPr>
          <a:xfrm>
            <a:off x="6144768" y="1783080"/>
            <a:ext cx="5504688" cy="17830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77240" tIns="146304" rIns="182880" bIns="73152" rtlCol="0" anchor="t"/>
          <a:lstStyle/>
          <a:p>
            <a:pPr algn="ctr">
              <a:spcAft>
                <a:spcPts val="500"/>
              </a:spcAft>
            </a:pPr>
            <a:r>
              <a:rPr sz="1450" b="1">
                <a:solidFill>
                  <a:srgbClr val="00219B"/>
                </a:solidFill>
                <a:latin typeface="BIZ UDPGothic"/>
                <a:ea typeface="BIZ UDPGothic"/>
              </a:rPr>
              <a:t>既存システムとの連携</a:t>
            </a:r>
          </a:p>
          <a:p>
            <a:pPr>
              <a:lnSpc>
                <a:spcPct val="122000"/>
              </a:lnSpc>
            </a:pPr>
            <a:r>
              <a:rPr sz="1200" b="0">
                <a:solidFill>
                  <a:srgbClr val="191919"/>
                </a:solidFill>
                <a:latin typeface="BIZ UDPGothic"/>
                <a:ea typeface="BIZ UDPGothic"/>
              </a:rPr>
              <a:t>WMS・MES・ERPなどの業務システムとロボットの接続。現場業務に組み込むSI</a:t>
            </a:r>
          </a:p>
        </p:txBody>
      </p:sp>
      <p:pic>
        <p:nvPicPr>
          <p:cNvPr id="12" name="Picture 11" descr="network_primary.png"/>
          <p:cNvPicPr>
            <a:picLocks noChangeAspect="1"/>
          </p:cNvPicPr>
          <p:nvPr/>
        </p:nvPicPr>
        <p:blipFill>
          <a:blip r:embed="rId4"/>
          <a:stretch>
            <a:fillRect/>
          </a:stretch>
        </p:blipFill>
        <p:spPr>
          <a:xfrm>
            <a:off x="6275710" y="1859158"/>
            <a:ext cx="579363" cy="579363"/>
          </a:xfrm>
          <a:prstGeom prst="rect">
            <a:avLst/>
          </a:prstGeom>
        </p:spPr>
      </p:pic>
      <p:sp>
        <p:nvSpPr>
          <p:cNvPr id="13" name="Rounded Rectangle 12"/>
          <p:cNvSpPr/>
          <p:nvPr/>
        </p:nvSpPr>
        <p:spPr>
          <a:xfrm>
            <a:off x="466344" y="3749039"/>
            <a:ext cx="5504688" cy="17830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77240" tIns="146304" rIns="182880" bIns="73152" rtlCol="0" anchor="t"/>
          <a:lstStyle/>
          <a:p>
            <a:pPr algn="ctr">
              <a:spcAft>
                <a:spcPts val="500"/>
              </a:spcAft>
            </a:pPr>
            <a:r>
              <a:rPr sz="1450" b="1">
                <a:solidFill>
                  <a:srgbClr val="00219B"/>
                </a:solidFill>
                <a:latin typeface="BIZ UDPGothic"/>
                <a:ea typeface="BIZ UDPGothic"/>
              </a:rPr>
              <a:t>データ・デジタルツイン</a:t>
            </a:r>
          </a:p>
          <a:p>
            <a:pPr>
              <a:lnSpc>
                <a:spcPct val="122000"/>
              </a:lnSpc>
            </a:pPr>
            <a:r>
              <a:rPr sz="1200" b="0">
                <a:solidFill>
                  <a:srgbClr val="191919"/>
                </a:solidFill>
                <a:latin typeface="BIZ UDPGothic"/>
                <a:ea typeface="BIZ UDPGothic"/>
              </a:rPr>
              <a:t>現場データの収集基盤や、シミュレーション環境の構築を支援</a:t>
            </a:r>
          </a:p>
        </p:txBody>
      </p:sp>
      <p:pic>
        <p:nvPicPr>
          <p:cNvPr id="14" name="Picture 13" descr="database_primary.png"/>
          <p:cNvPicPr>
            <a:picLocks noChangeAspect="1"/>
          </p:cNvPicPr>
          <p:nvPr/>
        </p:nvPicPr>
        <p:blipFill>
          <a:blip r:embed="rId5"/>
          <a:stretch>
            <a:fillRect/>
          </a:stretch>
        </p:blipFill>
        <p:spPr>
          <a:xfrm>
            <a:off x="597286" y="3825118"/>
            <a:ext cx="579363" cy="579363"/>
          </a:xfrm>
          <a:prstGeom prst="rect">
            <a:avLst/>
          </a:prstGeom>
        </p:spPr>
      </p:pic>
      <p:sp>
        <p:nvSpPr>
          <p:cNvPr id="15" name="Rounded Rectangle 14"/>
          <p:cNvSpPr/>
          <p:nvPr/>
        </p:nvSpPr>
        <p:spPr>
          <a:xfrm>
            <a:off x="6144768" y="3749039"/>
            <a:ext cx="5504688" cy="17830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777240" tIns="146304" rIns="182880" bIns="73152" rtlCol="0" anchor="t"/>
          <a:lstStyle/>
          <a:p>
            <a:pPr algn="ctr">
              <a:spcAft>
                <a:spcPts val="500"/>
              </a:spcAft>
            </a:pPr>
            <a:r>
              <a:rPr sz="1450" b="1">
                <a:solidFill>
                  <a:srgbClr val="00219B"/>
                </a:solidFill>
                <a:latin typeface="BIZ UDPGothic"/>
                <a:ea typeface="BIZ UDPGothic"/>
              </a:rPr>
              <a:t>運用・セキュリティ</a:t>
            </a:r>
          </a:p>
          <a:p>
            <a:pPr>
              <a:lnSpc>
                <a:spcPct val="122000"/>
              </a:lnSpc>
            </a:pPr>
            <a:r>
              <a:rPr sz="1200" b="0">
                <a:solidFill>
                  <a:srgbClr val="191919"/>
                </a:solidFill>
                <a:latin typeface="BIZ UDPGothic"/>
                <a:ea typeface="BIZ UDPGothic"/>
              </a:rPr>
              <a:t>ロボット群の監視・フリート管理・安全運用。OTセキュリティの知見が活きる</a:t>
            </a:r>
          </a:p>
        </p:txBody>
      </p:sp>
      <p:pic>
        <p:nvPicPr>
          <p:cNvPr id="16" name="Picture 15" descr="shield_primary.png"/>
          <p:cNvPicPr>
            <a:picLocks noChangeAspect="1"/>
          </p:cNvPicPr>
          <p:nvPr/>
        </p:nvPicPr>
        <p:blipFill>
          <a:blip r:embed="rId6"/>
          <a:stretch>
            <a:fillRect/>
          </a:stretch>
        </p:blipFill>
        <p:spPr>
          <a:xfrm>
            <a:off x="6275710" y="3825118"/>
            <a:ext cx="579363" cy="579363"/>
          </a:xfrm>
          <a:prstGeom prst="rect">
            <a:avLst/>
          </a:prstGeom>
        </p:spPr>
      </p:pic>
      <p:sp>
        <p:nvSpPr>
          <p:cNvPr id="17" name="Rounded Rectangle 16"/>
          <p:cNvSpPr/>
          <p:nvPr/>
        </p:nvSpPr>
        <p:spPr>
          <a:xfrm>
            <a:off x="466344" y="5577840"/>
            <a:ext cx="11183112" cy="822960"/>
          </a:xfrm>
          <a:prstGeom prst="roundRect">
            <a:avLst>
              <a:gd name="adj" fmla="val 8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tIns="73152" rIns="109728" bIns="73152" rtlCol="0" anchor="ctr"/>
          <a:lstStyle/>
          <a:p>
            <a:pPr algn="ctr">
              <a:spcAft>
                <a:spcPts val="300"/>
              </a:spcAft>
            </a:pPr>
            <a:r>
              <a:rPr sz="1300" b="1">
                <a:solidFill>
                  <a:srgbClr val="FFFFFF"/>
                </a:solidFill>
                <a:latin typeface="BIZ UDPGothic"/>
                <a:ea typeface="BIZ UDPGothic"/>
              </a:rPr>
              <a:t>フィジカルAIの導入は「IT × OT × AI」の統合プロジェクト — SIerの知見がそのまま活きる領域</a:t>
            </a:r>
          </a:p>
          <a:p>
            <a:r>
              <a:rPr sz="1100" b="0">
                <a:solidFill>
                  <a:srgbClr val="EDF4F9"/>
                </a:solidFill>
                <a:latin typeface="BIZ UDPGothic"/>
                <a:ea typeface="BIZ UDPGothic"/>
              </a:rPr>
              <a:t>通信事業者のDC保守・現場作業など、既存顧客の「物理作業」も将来の提案ターゲットになり得る</a:t>
            </a:r>
          </a:p>
        </p:txBody>
      </p:sp>
    </p:spTree>
    <p:extLst>
      <p:ext uri="{BB962C8B-B14F-4D97-AF65-F5344CB8AC3E}">
        <p14:creationId xmlns:p14="http://schemas.microsoft.com/office/powerpoint/2010/main" val="30617027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FB691E5-B399-DD24-4591-7C2CFEB52351}"/>
              </a:ext>
            </a:extLst>
          </p:cNvPr>
          <p:cNvSpPr>
            <a:spLocks noGrp="1"/>
          </p:cNvSpPr>
          <p:nvPr>
            <p:ph type="ctrTitle"/>
          </p:nvPr>
        </p:nvSpPr>
        <p:spPr/>
        <p:txBody>
          <a:bodyPr/>
          <a:lstStyle/>
          <a:p>
            <a:r>
              <a:rPr>
                <a:latin typeface="BIZ UDPGothic"/>
                <a:ea typeface="BIZ UDPGothic"/>
              </a:rPr>
              <a:t>6．当社の取り組み・まとめ</a:t>
            </a:r>
            <a:endParaRPr lang="ja-JP" altLang="en-US"/>
          </a:p>
        </p:txBody>
      </p:sp>
    </p:spTree>
    <p:extLst>
      <p:ext uri="{BB962C8B-B14F-4D97-AF65-F5344CB8AC3E}">
        <p14:creationId xmlns:p14="http://schemas.microsoft.com/office/powerpoint/2010/main" val="277351864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当社の狙い — 3つの時間軸で市場を取りにいく</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キャリアNW市場が成熟する中、運用自動化・AI領域へ段階的に商圏を広げる</a:t>
            </a:r>
            <a:endParaRPr lang="ja-JP" altLang="en-US"/>
          </a:p>
        </p:txBody>
      </p:sp>
      <p:sp>
        <p:nvSpPr>
          <p:cNvPr id="9" name="Rounded Rectangle 8"/>
          <p:cNvSpPr/>
          <p:nvPr/>
        </p:nvSpPr>
        <p:spPr>
          <a:xfrm>
            <a:off x="466344" y="1737360"/>
            <a:ext cx="3611880" cy="32461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46304" rIns="182880" bIns="73152" rtlCol="0" anchor="t"/>
          <a:lstStyle/>
          <a:p>
            <a:pPr algn="ctr">
              <a:spcAft>
                <a:spcPts val="200"/>
              </a:spcAft>
            </a:pPr>
            <a:r>
              <a:rPr sz="1200" b="1">
                <a:solidFill>
                  <a:srgbClr val="2A65F5"/>
                </a:solidFill>
                <a:latin typeface="BIZ UDPGothic"/>
                <a:ea typeface="BIZ UDPGothic"/>
              </a:rPr>
              <a:t>短期</a:t>
            </a:r>
          </a:p>
          <a:p>
            <a:pPr algn="ctr">
              <a:spcAft>
                <a:spcPts val="800"/>
              </a:spcAft>
            </a:pPr>
            <a:r>
              <a:rPr sz="1450" b="1">
                <a:solidFill>
                  <a:srgbClr val="00219B"/>
                </a:solidFill>
                <a:latin typeface="BIZ UDPGothic"/>
                <a:ea typeface="BIZ UDPGothic"/>
              </a:rPr>
              <a:t>AIOps・運用自動化</a:t>
            </a:r>
          </a:p>
          <a:p>
            <a:pPr marL="182880" indent="-182880">
              <a:lnSpc>
                <a:spcPct val="115000"/>
              </a:lnSpc>
              <a:spcAft>
                <a:spcPts val="600"/>
              </a:spcAft>
              <a:buFont typeface="BIZ UDPGothic"/>
              <a:buChar char="・"/>
            </a:pPr>
            <a:r>
              <a:rPr sz="1150" b="0">
                <a:solidFill>
                  <a:srgbClr val="191919"/>
                </a:solidFill>
                <a:latin typeface="BIZ UDPGothic"/>
                <a:ea typeface="BIZ UDPGothic"/>
              </a:rPr>
              <a:t>市場はCAGR約20%で安定成長</a:t>
            </a:r>
          </a:p>
          <a:p>
            <a:pPr marL="182880" indent="-182880">
              <a:lnSpc>
                <a:spcPct val="115000"/>
              </a:lnSpc>
              <a:spcAft>
                <a:spcPts val="600"/>
              </a:spcAft>
              <a:buFont typeface="BIZ UDPGothic"/>
              <a:buChar char="・"/>
            </a:pPr>
            <a:r>
              <a:rPr sz="1150" b="0">
                <a:solidFill>
                  <a:srgbClr val="191919"/>
                </a:solidFill>
                <a:latin typeface="BIZ UDPGothic"/>
                <a:ea typeface="BIZ UDPGothic"/>
              </a:rPr>
              <a:t>キャリアNW運用の知見を活かし、人手不足・運用高度化ニーズに応える</a:t>
            </a:r>
          </a:p>
          <a:p>
            <a:pPr marL="182880" indent="-182880">
              <a:lnSpc>
                <a:spcPct val="115000"/>
              </a:lnSpc>
              <a:spcAft>
                <a:spcPts val="600"/>
              </a:spcAft>
              <a:buFont typeface="BIZ UDPGothic"/>
              <a:buChar char="・"/>
            </a:pPr>
            <a:r>
              <a:rPr sz="1150" b="0">
                <a:solidFill>
                  <a:srgbClr val="191919"/>
                </a:solidFill>
                <a:latin typeface="BIZ UDPGothic"/>
                <a:ea typeface="BIZ UDPGothic"/>
              </a:rPr>
              <a:t>「販社かつ開発まで担える」企業は少なく、商圏獲得の見込みが高い</a:t>
            </a:r>
          </a:p>
        </p:txBody>
      </p:sp>
      <p:pic>
        <p:nvPicPr>
          <p:cNvPr id="10" name="Picture 9" descr="gears_primary.png"/>
          <p:cNvPicPr>
            <a:picLocks noChangeAspect="1"/>
          </p:cNvPicPr>
          <p:nvPr/>
        </p:nvPicPr>
        <p:blipFill>
          <a:blip r:embed="rId3"/>
          <a:stretch>
            <a:fillRect/>
          </a:stretch>
        </p:blipFill>
        <p:spPr>
          <a:xfrm>
            <a:off x="3446922" y="1819290"/>
            <a:ext cx="531083" cy="531083"/>
          </a:xfrm>
          <a:prstGeom prst="rect">
            <a:avLst/>
          </a:prstGeom>
        </p:spPr>
      </p:pic>
      <p:sp>
        <p:nvSpPr>
          <p:cNvPr id="11" name="Rounded Rectangle 10"/>
          <p:cNvSpPr/>
          <p:nvPr/>
        </p:nvSpPr>
        <p:spPr>
          <a:xfrm>
            <a:off x="4251960" y="1737360"/>
            <a:ext cx="3611880" cy="32461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46304" rIns="182880" bIns="73152" rtlCol="0" anchor="t"/>
          <a:lstStyle/>
          <a:p>
            <a:pPr algn="ctr">
              <a:spcAft>
                <a:spcPts val="200"/>
              </a:spcAft>
            </a:pPr>
            <a:r>
              <a:rPr sz="1200" b="1">
                <a:solidFill>
                  <a:srgbClr val="2A65F5"/>
                </a:solidFill>
                <a:latin typeface="BIZ UDPGothic"/>
                <a:ea typeface="BIZ UDPGothic"/>
              </a:rPr>
              <a:t>中期</a:t>
            </a:r>
          </a:p>
          <a:p>
            <a:pPr algn="ctr">
              <a:spcAft>
                <a:spcPts val="800"/>
              </a:spcAft>
            </a:pPr>
            <a:r>
              <a:rPr sz="1450" b="1">
                <a:solidFill>
                  <a:srgbClr val="00219B"/>
                </a:solidFill>
                <a:latin typeface="BIZ UDPGothic"/>
                <a:ea typeface="BIZ UDPGothic"/>
              </a:rPr>
              <a:t>推論基盤（オンプレ生成AI）</a:t>
            </a:r>
          </a:p>
          <a:p>
            <a:pPr marL="182880" indent="-182880">
              <a:lnSpc>
                <a:spcPct val="115000"/>
              </a:lnSpc>
              <a:spcAft>
                <a:spcPts val="600"/>
              </a:spcAft>
              <a:buFont typeface="BIZ UDPGothic"/>
              <a:buChar char="・"/>
            </a:pPr>
            <a:r>
              <a:rPr sz="1150" b="0">
                <a:solidFill>
                  <a:srgbClr val="191919"/>
                </a:solidFill>
                <a:latin typeface="BIZ UDPGothic"/>
                <a:ea typeface="BIZ UDPGothic"/>
              </a:rPr>
              <a:t>国内生成AI市場はFY30に約1.7兆円（CAGR 47%）</a:t>
            </a:r>
          </a:p>
          <a:p>
            <a:pPr marL="182880" indent="-182880">
              <a:lnSpc>
                <a:spcPct val="115000"/>
              </a:lnSpc>
              <a:spcAft>
                <a:spcPts val="600"/>
              </a:spcAft>
              <a:buFont typeface="BIZ UDPGothic"/>
              <a:buChar char="・"/>
            </a:pPr>
            <a:r>
              <a:rPr sz="1150" b="0">
                <a:solidFill>
                  <a:srgbClr val="191919"/>
                </a:solidFill>
                <a:latin typeface="BIZ UDPGothic"/>
                <a:ea typeface="BIZ UDPGothic"/>
              </a:rPr>
              <a:t>オンプレ比率3割とすると約5,000億円規模と推計</a:t>
            </a:r>
          </a:p>
          <a:p>
            <a:pPr marL="182880" indent="-182880">
              <a:lnSpc>
                <a:spcPct val="115000"/>
              </a:lnSpc>
              <a:spcAft>
                <a:spcPts val="600"/>
              </a:spcAft>
              <a:buFont typeface="BIZ UDPGothic"/>
              <a:buChar char="・"/>
            </a:pPr>
            <a:r>
              <a:rPr sz="1150" b="0">
                <a:solidFill>
                  <a:srgbClr val="191919"/>
                </a:solidFill>
                <a:latin typeface="BIZ UDPGothic"/>
                <a:ea typeface="BIZ UDPGothic"/>
              </a:rPr>
              <a:t>データ主権・コスト・低遅延の要求から、オンプレ・エッジ推論の構築需要が拡大</a:t>
            </a:r>
          </a:p>
        </p:txBody>
      </p:sp>
      <p:pic>
        <p:nvPicPr>
          <p:cNvPr id="12" name="Picture 11" descr="server_primary.png"/>
          <p:cNvPicPr>
            <a:picLocks noChangeAspect="1"/>
          </p:cNvPicPr>
          <p:nvPr/>
        </p:nvPicPr>
        <p:blipFill>
          <a:blip r:embed="rId4"/>
          <a:stretch>
            <a:fillRect/>
          </a:stretch>
        </p:blipFill>
        <p:spPr>
          <a:xfrm>
            <a:off x="7232538" y="1819290"/>
            <a:ext cx="531083" cy="531083"/>
          </a:xfrm>
          <a:prstGeom prst="rect">
            <a:avLst/>
          </a:prstGeom>
        </p:spPr>
      </p:pic>
      <p:sp>
        <p:nvSpPr>
          <p:cNvPr id="13" name="Rounded Rectangle 12"/>
          <p:cNvSpPr/>
          <p:nvPr/>
        </p:nvSpPr>
        <p:spPr>
          <a:xfrm>
            <a:off x="8037576" y="1737360"/>
            <a:ext cx="3611880" cy="32461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46304" rIns="182880" bIns="73152" rtlCol="0" anchor="t"/>
          <a:lstStyle/>
          <a:p>
            <a:pPr algn="ctr">
              <a:spcAft>
                <a:spcPts val="200"/>
              </a:spcAft>
            </a:pPr>
            <a:r>
              <a:rPr sz="1200" b="1">
                <a:solidFill>
                  <a:srgbClr val="2A65F5"/>
                </a:solidFill>
                <a:latin typeface="BIZ UDPGothic"/>
                <a:ea typeface="BIZ UDPGothic"/>
              </a:rPr>
              <a:t>中長期</a:t>
            </a:r>
          </a:p>
          <a:p>
            <a:pPr algn="ctr">
              <a:spcAft>
                <a:spcPts val="800"/>
              </a:spcAft>
            </a:pPr>
            <a:r>
              <a:rPr sz="1450" b="1">
                <a:solidFill>
                  <a:srgbClr val="00219B"/>
                </a:solidFill>
                <a:latin typeface="BIZ UDPGothic"/>
                <a:ea typeface="BIZ UDPGothic"/>
              </a:rPr>
              <a:t>フィジカルAI・AIグリッド</a:t>
            </a:r>
          </a:p>
          <a:p>
            <a:pPr marL="182880" indent="-182880">
              <a:lnSpc>
                <a:spcPct val="115000"/>
              </a:lnSpc>
              <a:spcAft>
                <a:spcPts val="600"/>
              </a:spcAft>
              <a:buFont typeface="BIZ UDPGothic"/>
              <a:buChar char="・"/>
            </a:pPr>
            <a:r>
              <a:rPr sz="1150" b="0">
                <a:solidFill>
                  <a:srgbClr val="191919"/>
                </a:solidFill>
                <a:latin typeface="BIZ UDPGothic"/>
                <a:ea typeface="BIZ UDPGothic"/>
              </a:rPr>
              <a:t>国内フィジカルAI市場はFY30に約2,300億円（CAGR 36.2%）</a:t>
            </a:r>
          </a:p>
          <a:p>
            <a:pPr marL="182880" indent="-182880">
              <a:lnSpc>
                <a:spcPct val="115000"/>
              </a:lnSpc>
              <a:spcAft>
                <a:spcPts val="600"/>
              </a:spcAft>
              <a:buFont typeface="BIZ UDPGothic"/>
              <a:buChar char="・"/>
            </a:pPr>
            <a:r>
              <a:rPr sz="1150" b="0">
                <a:solidFill>
                  <a:srgbClr val="191919"/>
                </a:solidFill>
                <a:latin typeface="BIZ UDPGothic"/>
                <a:ea typeface="BIZ UDPGothic"/>
              </a:rPr>
              <a:t>GPU・ロボット本体は激戦区だが、SI・ユースケースは未確立</a:t>
            </a:r>
          </a:p>
          <a:p>
            <a:pPr marL="182880" indent="-182880">
              <a:lnSpc>
                <a:spcPct val="115000"/>
              </a:lnSpc>
              <a:spcAft>
                <a:spcPts val="600"/>
              </a:spcAft>
              <a:buFont typeface="BIZ UDPGothic"/>
              <a:buChar char="・"/>
            </a:pPr>
            <a:r>
              <a:rPr sz="1150" b="0">
                <a:solidFill>
                  <a:srgbClr val="191919"/>
                </a:solidFill>
                <a:latin typeface="BIZ UDPGothic"/>
                <a:ea typeface="BIZ UDPGothic"/>
              </a:rPr>
              <a:t>立ち上げ期の今なら、エコシステム構築から大手とも組める</a:t>
            </a:r>
          </a:p>
        </p:txBody>
      </p:sp>
      <p:pic>
        <p:nvPicPr>
          <p:cNvPr id="14" name="Picture 13" descr="robot_primary.png"/>
          <p:cNvPicPr>
            <a:picLocks noChangeAspect="1"/>
          </p:cNvPicPr>
          <p:nvPr/>
        </p:nvPicPr>
        <p:blipFill>
          <a:blip r:embed="rId5"/>
          <a:stretch>
            <a:fillRect/>
          </a:stretch>
        </p:blipFill>
        <p:spPr>
          <a:xfrm>
            <a:off x="11018154" y="1819290"/>
            <a:ext cx="531083" cy="531083"/>
          </a:xfrm>
          <a:prstGeom prst="rect">
            <a:avLst/>
          </a:prstGeom>
        </p:spPr>
      </p:pic>
      <p:sp>
        <p:nvSpPr>
          <p:cNvPr id="15" name="Rounded Rectangle 14"/>
          <p:cNvSpPr/>
          <p:nvPr/>
        </p:nvSpPr>
        <p:spPr>
          <a:xfrm>
            <a:off x="466344" y="5257800"/>
            <a:ext cx="11183112" cy="960120"/>
          </a:xfrm>
          <a:prstGeom prst="roundRect">
            <a:avLst>
              <a:gd name="adj" fmla="val 8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tIns="73152" rIns="109728" bIns="73152" rtlCol="0" anchor="ctr"/>
          <a:lstStyle/>
          <a:p>
            <a:pPr algn="ctr">
              <a:spcAft>
                <a:spcPts val="300"/>
              </a:spcAft>
            </a:pPr>
            <a:r>
              <a:rPr sz="1300" b="1">
                <a:solidFill>
                  <a:srgbClr val="FFFFFF"/>
                </a:solidFill>
                <a:latin typeface="BIZ UDPGothic"/>
                <a:ea typeface="BIZ UDPGothic"/>
              </a:rPr>
              <a:t>技術獲得のステップ：基礎技術（Kubernetes・Python・IaC）→ AIOps → 推論基盤 → AIグリッド・フィジカルAI</a:t>
            </a:r>
          </a:p>
          <a:p>
            <a:r>
              <a:rPr sz="1100" b="0">
                <a:solidFill>
                  <a:srgbClr val="EDF4F9"/>
                </a:solidFill>
                <a:latin typeface="BIZ UDPGothic"/>
                <a:ea typeface="BIZ UDPGothic"/>
              </a:rPr>
              <a:t>足元の商圏で稼ぎながら技術を積み上げ、フィジカルAIの立ち上がりに間に合わせる段階的アプローチ</a:t>
            </a:r>
          </a:p>
        </p:txBody>
      </p:sp>
    </p:spTree>
    <p:extLst>
      <p:ext uri="{BB962C8B-B14F-4D97-AF65-F5344CB8AC3E}">
        <p14:creationId xmlns:p14="http://schemas.microsoft.com/office/powerpoint/2010/main" val="30617027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58902F-7B34-941D-BA9B-CF088316397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FEF3117-5C45-AA57-F0BA-A3326262B888}"/>
              </a:ext>
            </a:extLst>
          </p:cNvPr>
          <p:cNvSpPr>
            <a:spLocks noGrp="1"/>
          </p:cNvSpPr>
          <p:nvPr>
            <p:ph type="title"/>
          </p:nvPr>
        </p:nvSpPr>
        <p:spPr/>
        <p:txBody>
          <a:bodyPr/>
          <a:lstStyle/>
          <a:p>
            <a:r>
              <a:rPr lang="ja-JP" altLang="en-US" dirty="0"/>
              <a:t>課題：経緯</a:t>
            </a:r>
          </a:p>
        </p:txBody>
      </p:sp>
      <p:sp>
        <p:nvSpPr>
          <p:cNvPr id="3" name="コンテンツ プレースホルダー 2">
            <a:extLst>
              <a:ext uri="{FF2B5EF4-FFF2-40B4-BE49-F238E27FC236}">
                <a16:creationId xmlns:a16="http://schemas.microsoft.com/office/drawing/2014/main" id="{65B67A46-0480-B523-9396-69FB0153B6F7}"/>
              </a:ext>
            </a:extLst>
          </p:cNvPr>
          <p:cNvSpPr>
            <a:spLocks noGrp="1"/>
          </p:cNvSpPr>
          <p:nvPr>
            <p:ph idx="1"/>
          </p:nvPr>
        </p:nvSpPr>
        <p:spPr>
          <a:xfrm>
            <a:off x="460431" y="960017"/>
            <a:ext cx="11184282" cy="5109933"/>
          </a:xfrm>
        </p:spPr>
        <p:txBody>
          <a:bodyPr lIns="36000" tIns="36000" rIns="36000" bIns="36000">
            <a:noAutofit/>
          </a:bodyPr>
          <a:lstStyle/>
          <a:p>
            <a:pPr marL="0" indent="0" algn="l">
              <a:buNone/>
            </a:pPr>
            <a:r>
              <a:rPr kumimoji="1" lang="ja-JP" altLang="en-US" sz="2400" dirty="0"/>
              <a:t>キャリア</a:t>
            </a:r>
            <a:r>
              <a:rPr kumimoji="1" lang="en-US" altLang="ja-JP" sz="2400" dirty="0"/>
              <a:t>NW</a:t>
            </a:r>
            <a:r>
              <a:rPr kumimoji="1" lang="ja-JP" altLang="en-US" sz="2400" dirty="0"/>
              <a:t>の知見を、成長領域である</a:t>
            </a:r>
            <a:r>
              <a:rPr kumimoji="1" lang="en-US" altLang="ja-JP" sz="2400" dirty="0"/>
              <a:t>AI</a:t>
            </a:r>
            <a:r>
              <a:rPr kumimoji="1" lang="ja-JP" altLang="en-US" sz="2400" dirty="0"/>
              <a:t>・自動化・現場</a:t>
            </a:r>
            <a:r>
              <a:rPr kumimoji="1" lang="en-US" altLang="ja-JP" sz="2400" dirty="0"/>
              <a:t>DX</a:t>
            </a:r>
            <a:r>
              <a:rPr kumimoji="1" lang="ja-JP" altLang="en-US" sz="2400" dirty="0"/>
              <a:t>へ広げる</a:t>
            </a:r>
          </a:p>
        </p:txBody>
      </p:sp>
      <p:sp>
        <p:nvSpPr>
          <p:cNvPr id="150" name="Shape 0">
            <a:extLst>
              <a:ext uri="{FF2B5EF4-FFF2-40B4-BE49-F238E27FC236}">
                <a16:creationId xmlns:a16="http://schemas.microsoft.com/office/drawing/2014/main" id="{1783CA0A-2AB1-3E6B-902D-A0DFABCF398B}"/>
              </a:ext>
            </a:extLst>
          </p:cNvPr>
          <p:cNvSpPr/>
          <p:nvPr/>
        </p:nvSpPr>
        <p:spPr>
          <a:xfrm>
            <a:off x="460431" y="3320849"/>
            <a:ext cx="11144858" cy="2818937"/>
          </a:xfrm>
          <a:prstGeom prst="roundRect">
            <a:avLst>
              <a:gd name="adj" fmla="val 9302"/>
            </a:avLst>
          </a:prstGeom>
          <a:solidFill>
            <a:srgbClr val="FFFFFF"/>
          </a:solidFill>
          <a:ln w="15240">
            <a:solidFill>
              <a:srgbClr val="123B72"/>
            </a:solidFill>
            <a:prstDash val="solid"/>
          </a:ln>
          <a:effectLst>
            <a:outerShdw blurRad="19050" dist="5080" dir="2700000" algn="bl" rotWithShape="0">
              <a:srgbClr val="000000">
                <a:alpha val="14000"/>
              </a:srgbClr>
            </a:outerShdw>
          </a:effectLst>
        </p:spPr>
        <p:txBody>
          <a:bodyPr/>
          <a:lstStyle/>
          <a:p>
            <a:endParaRPr lang="ja-JP" altLang="en-US" sz="1500">
              <a:latin typeface="BIZ UDPゴシック" panose="020B0400000000000000" pitchFamily="50" charset="-128"/>
              <a:ea typeface="BIZ UDPゴシック" panose="020B0400000000000000" pitchFamily="50" charset="-128"/>
            </a:endParaRPr>
          </a:p>
        </p:txBody>
      </p:sp>
      <p:sp>
        <p:nvSpPr>
          <p:cNvPr id="151" name="Shape 4">
            <a:extLst>
              <a:ext uri="{FF2B5EF4-FFF2-40B4-BE49-F238E27FC236}">
                <a16:creationId xmlns:a16="http://schemas.microsoft.com/office/drawing/2014/main" id="{49CAABB7-FB79-1A01-4478-9FD5B3962EE8}"/>
              </a:ext>
            </a:extLst>
          </p:cNvPr>
          <p:cNvSpPr/>
          <p:nvPr/>
        </p:nvSpPr>
        <p:spPr>
          <a:xfrm>
            <a:off x="546590" y="1726427"/>
            <a:ext cx="5212080" cy="1306484"/>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52" name="Shape 5">
            <a:extLst>
              <a:ext uri="{FF2B5EF4-FFF2-40B4-BE49-F238E27FC236}">
                <a16:creationId xmlns:a16="http://schemas.microsoft.com/office/drawing/2014/main" id="{C4B1454E-551B-1E84-A6D4-2AE4E77BFF49}"/>
              </a:ext>
            </a:extLst>
          </p:cNvPr>
          <p:cNvSpPr/>
          <p:nvPr/>
        </p:nvSpPr>
        <p:spPr>
          <a:xfrm>
            <a:off x="592310" y="1836155"/>
            <a:ext cx="64008" cy="614469"/>
          </a:xfrm>
          <a:prstGeom prst="rect">
            <a:avLst/>
          </a:prstGeom>
          <a:solidFill>
            <a:srgbClr val="1D4ED8"/>
          </a:solidFill>
          <a:ln w="12700">
            <a:solidFill>
              <a:srgbClr val="1D4ED8"/>
            </a:solidFill>
            <a:prstDash val="solid"/>
          </a:ln>
        </p:spPr>
        <p:txBody>
          <a:bodyPr/>
          <a:lstStyle/>
          <a:p>
            <a:endParaRPr lang="ja-JP" altLang="en-US" sz="2800"/>
          </a:p>
        </p:txBody>
      </p:sp>
      <p:sp>
        <p:nvSpPr>
          <p:cNvPr id="153" name="Shape 6">
            <a:extLst>
              <a:ext uri="{FF2B5EF4-FFF2-40B4-BE49-F238E27FC236}">
                <a16:creationId xmlns:a16="http://schemas.microsoft.com/office/drawing/2014/main" id="{46E040EC-8DD4-1EC9-A9CF-2C78DFC1AFB8}"/>
              </a:ext>
            </a:extLst>
          </p:cNvPr>
          <p:cNvSpPr/>
          <p:nvPr/>
        </p:nvSpPr>
        <p:spPr>
          <a:xfrm>
            <a:off x="756902" y="1891019"/>
            <a:ext cx="384048" cy="300090"/>
          </a:xfrm>
          <a:prstGeom prst="ellipse">
            <a:avLst/>
          </a:prstGeom>
          <a:solidFill>
            <a:srgbClr val="1D4ED8"/>
          </a:solidFill>
          <a:ln w="12700">
            <a:solidFill>
              <a:srgbClr val="1D4ED8"/>
            </a:solidFill>
            <a:prstDash val="solid"/>
          </a:ln>
        </p:spPr>
        <p:txBody>
          <a:bodyPr/>
          <a:lstStyle/>
          <a:p>
            <a:endParaRPr lang="ja-JP" altLang="en-US" sz="2800"/>
          </a:p>
        </p:txBody>
      </p:sp>
      <p:sp>
        <p:nvSpPr>
          <p:cNvPr id="154" name="Text 7">
            <a:extLst>
              <a:ext uri="{FF2B5EF4-FFF2-40B4-BE49-F238E27FC236}">
                <a16:creationId xmlns:a16="http://schemas.microsoft.com/office/drawing/2014/main" id="{8DB473B0-8CF9-974E-2482-98C2F915F479}"/>
              </a:ext>
            </a:extLst>
          </p:cNvPr>
          <p:cNvSpPr/>
          <p:nvPr/>
        </p:nvSpPr>
        <p:spPr>
          <a:xfrm>
            <a:off x="798050" y="1959599"/>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1</a:t>
            </a:r>
            <a:endParaRPr lang="en-US" dirty="0"/>
          </a:p>
        </p:txBody>
      </p:sp>
      <p:sp>
        <p:nvSpPr>
          <p:cNvPr id="155" name="Text 8">
            <a:extLst>
              <a:ext uri="{FF2B5EF4-FFF2-40B4-BE49-F238E27FC236}">
                <a16:creationId xmlns:a16="http://schemas.microsoft.com/office/drawing/2014/main" id="{A6E0E7A8-5F7D-8F29-456A-F5AA2F8B73CB}"/>
              </a:ext>
            </a:extLst>
          </p:cNvPr>
          <p:cNvSpPr/>
          <p:nvPr/>
        </p:nvSpPr>
        <p:spPr>
          <a:xfrm>
            <a:off x="1250678" y="2271999"/>
            <a:ext cx="4343400" cy="178625"/>
          </a:xfrm>
          <a:prstGeom prst="rect">
            <a:avLst/>
          </a:prstGeom>
          <a:noFill/>
          <a:ln/>
        </p:spPr>
        <p:txBody>
          <a:bodyPr wrap="square" lIns="0" tIns="0" rIns="0" bIns="0" rtlCol="0" anchor="ctr"/>
          <a:lstStyle/>
          <a:p>
            <a:pPr marL="0" indent="0">
              <a:buNone/>
            </a:pPr>
            <a:r>
              <a:rPr lang="ja-JP" altLang="en-US" b="1" dirty="0">
                <a:solidFill>
                  <a:srgbClr val="0B1F33"/>
                </a:solidFill>
                <a:latin typeface="Yu Gothic" pitchFamily="34" charset="0"/>
                <a:ea typeface="Yu Gothic" pitchFamily="34" charset="-122"/>
              </a:rPr>
              <a:t>大手</a:t>
            </a:r>
            <a:r>
              <a:rPr lang="en-US" altLang="ja-JP" b="1" dirty="0">
                <a:solidFill>
                  <a:srgbClr val="0B1F33"/>
                </a:solidFill>
                <a:latin typeface="Yu Gothic" pitchFamily="34" charset="0"/>
                <a:ea typeface="Yu Gothic" pitchFamily="34" charset="-122"/>
              </a:rPr>
              <a:t>ISP</a:t>
            </a:r>
            <a:r>
              <a:rPr lang="ja-JP" altLang="en-US" b="1" dirty="0">
                <a:solidFill>
                  <a:srgbClr val="0B1F33"/>
                </a:solidFill>
                <a:latin typeface="Yu Gothic" pitchFamily="34" charset="0"/>
                <a:ea typeface="Yu Gothic" pitchFamily="34" charset="-122"/>
              </a:rPr>
              <a:t>が大手</a:t>
            </a:r>
            <a:r>
              <a:rPr lang="en-US" altLang="ja-JP" b="1" dirty="0">
                <a:solidFill>
                  <a:srgbClr val="0B1F33"/>
                </a:solidFill>
                <a:latin typeface="Yu Gothic" pitchFamily="34" charset="0"/>
                <a:ea typeface="Yu Gothic" pitchFamily="34" charset="-122"/>
              </a:rPr>
              <a:t>SP</a:t>
            </a:r>
            <a:r>
              <a:rPr lang="ja-JP" altLang="en-US" b="1" dirty="0">
                <a:solidFill>
                  <a:srgbClr val="0B1F33"/>
                </a:solidFill>
                <a:latin typeface="Yu Gothic" pitchFamily="34" charset="0"/>
                <a:ea typeface="Yu Gothic" pitchFamily="34" charset="-122"/>
              </a:rPr>
              <a:t>投資が横ばいとなる中、付加価値を加えたソリューション提案が必要。</a:t>
            </a:r>
          </a:p>
        </p:txBody>
      </p:sp>
      <p:sp>
        <p:nvSpPr>
          <p:cNvPr id="156" name="Shape 10">
            <a:extLst>
              <a:ext uri="{FF2B5EF4-FFF2-40B4-BE49-F238E27FC236}">
                <a16:creationId xmlns:a16="http://schemas.microsoft.com/office/drawing/2014/main" id="{833207B8-8EBB-36B3-7D82-F0D6160E8DB1}"/>
              </a:ext>
            </a:extLst>
          </p:cNvPr>
          <p:cNvSpPr/>
          <p:nvPr/>
        </p:nvSpPr>
        <p:spPr>
          <a:xfrm>
            <a:off x="6393208" y="1726427"/>
            <a:ext cx="5212080" cy="1306484"/>
          </a:xfrm>
          <a:prstGeom prst="roundRect">
            <a:avLst>
              <a:gd name="adj" fmla="val 6364"/>
            </a:avLst>
          </a:prstGeom>
          <a:solidFill>
            <a:srgbClr val="FFFFFF"/>
          </a:solidFill>
          <a:ln w="10160">
            <a:solidFill>
              <a:srgbClr val="D7E2EA"/>
            </a:solidFill>
            <a:prstDash val="solid"/>
          </a:ln>
          <a:effectLst>
            <a:outerShdw blurRad="25400" dist="12700" dir="2700000" algn="bl" rotWithShape="0">
              <a:srgbClr val="000000">
                <a:alpha val="10000"/>
              </a:srgbClr>
            </a:outerShdw>
          </a:effectLst>
        </p:spPr>
        <p:txBody>
          <a:bodyPr/>
          <a:lstStyle/>
          <a:p>
            <a:endParaRPr lang="ja-JP" altLang="en-US" sz="2800"/>
          </a:p>
        </p:txBody>
      </p:sp>
      <p:sp>
        <p:nvSpPr>
          <p:cNvPr id="157" name="Shape 11">
            <a:extLst>
              <a:ext uri="{FF2B5EF4-FFF2-40B4-BE49-F238E27FC236}">
                <a16:creationId xmlns:a16="http://schemas.microsoft.com/office/drawing/2014/main" id="{69713A52-4B4E-6FE7-BE46-C48C8766166C}"/>
              </a:ext>
            </a:extLst>
          </p:cNvPr>
          <p:cNvSpPr/>
          <p:nvPr/>
        </p:nvSpPr>
        <p:spPr>
          <a:xfrm>
            <a:off x="6438928" y="1836155"/>
            <a:ext cx="64008" cy="614469"/>
          </a:xfrm>
          <a:prstGeom prst="rect">
            <a:avLst/>
          </a:prstGeom>
          <a:solidFill>
            <a:srgbClr val="0D9488"/>
          </a:solidFill>
          <a:ln w="12700">
            <a:solidFill>
              <a:srgbClr val="0D9488"/>
            </a:solidFill>
            <a:prstDash val="solid"/>
          </a:ln>
        </p:spPr>
        <p:txBody>
          <a:bodyPr/>
          <a:lstStyle/>
          <a:p>
            <a:endParaRPr lang="ja-JP" altLang="en-US" sz="2800"/>
          </a:p>
        </p:txBody>
      </p:sp>
      <p:sp>
        <p:nvSpPr>
          <p:cNvPr id="158" name="Shape 12">
            <a:extLst>
              <a:ext uri="{FF2B5EF4-FFF2-40B4-BE49-F238E27FC236}">
                <a16:creationId xmlns:a16="http://schemas.microsoft.com/office/drawing/2014/main" id="{E936072E-1AD9-26AF-E5F4-8B22F4403484}"/>
              </a:ext>
            </a:extLst>
          </p:cNvPr>
          <p:cNvSpPr/>
          <p:nvPr/>
        </p:nvSpPr>
        <p:spPr>
          <a:xfrm>
            <a:off x="6603520" y="1891019"/>
            <a:ext cx="384048" cy="300090"/>
          </a:xfrm>
          <a:prstGeom prst="ellipse">
            <a:avLst/>
          </a:prstGeom>
          <a:solidFill>
            <a:srgbClr val="0D9488"/>
          </a:solidFill>
          <a:ln w="12700">
            <a:solidFill>
              <a:srgbClr val="0D9488"/>
            </a:solidFill>
            <a:prstDash val="solid"/>
          </a:ln>
        </p:spPr>
        <p:txBody>
          <a:bodyPr/>
          <a:lstStyle/>
          <a:p>
            <a:endParaRPr lang="ja-JP" altLang="en-US" sz="2800"/>
          </a:p>
        </p:txBody>
      </p:sp>
      <p:sp>
        <p:nvSpPr>
          <p:cNvPr id="159" name="Text 13">
            <a:extLst>
              <a:ext uri="{FF2B5EF4-FFF2-40B4-BE49-F238E27FC236}">
                <a16:creationId xmlns:a16="http://schemas.microsoft.com/office/drawing/2014/main" id="{94342CC4-EC28-9851-BA48-E5C3F1C00E0D}"/>
              </a:ext>
            </a:extLst>
          </p:cNvPr>
          <p:cNvSpPr/>
          <p:nvPr/>
        </p:nvSpPr>
        <p:spPr>
          <a:xfrm>
            <a:off x="6644668" y="1959599"/>
            <a:ext cx="301752" cy="157190"/>
          </a:xfrm>
          <a:prstGeom prst="rect">
            <a:avLst/>
          </a:prstGeom>
          <a:noFill/>
          <a:ln/>
        </p:spPr>
        <p:txBody>
          <a:bodyPr wrap="square" lIns="0" tIns="0" rIns="0" bIns="0" rtlCol="0" anchor="ctr"/>
          <a:lstStyle/>
          <a:p>
            <a:pPr marL="0" indent="0" algn="ctr">
              <a:buNone/>
            </a:pPr>
            <a:r>
              <a:rPr lang="en-US" b="1" dirty="0">
                <a:solidFill>
                  <a:srgbClr val="FFFFFF"/>
                </a:solidFill>
                <a:latin typeface="Yu Gothic" pitchFamily="34" charset="0"/>
                <a:ea typeface="Yu Gothic" pitchFamily="34" charset="-122"/>
                <a:cs typeface="Yu Gothic" pitchFamily="34" charset="-120"/>
              </a:rPr>
              <a:t>2</a:t>
            </a:r>
            <a:endParaRPr lang="en-US" dirty="0"/>
          </a:p>
        </p:txBody>
      </p:sp>
      <p:sp>
        <p:nvSpPr>
          <p:cNvPr id="160" name="Text 14">
            <a:extLst>
              <a:ext uri="{FF2B5EF4-FFF2-40B4-BE49-F238E27FC236}">
                <a16:creationId xmlns:a16="http://schemas.microsoft.com/office/drawing/2014/main" id="{EE14D4D9-7112-DEC7-1DB1-C257C61B310E}"/>
              </a:ext>
            </a:extLst>
          </p:cNvPr>
          <p:cNvSpPr/>
          <p:nvPr/>
        </p:nvSpPr>
        <p:spPr>
          <a:xfrm>
            <a:off x="7097296" y="2093374"/>
            <a:ext cx="4343400" cy="178625"/>
          </a:xfrm>
          <a:prstGeom prst="rect">
            <a:avLst/>
          </a:prstGeom>
          <a:noFill/>
          <a:ln/>
        </p:spPr>
        <p:txBody>
          <a:bodyPr wrap="square" lIns="0" tIns="0" rIns="0" bIns="0" rtlCol="0" anchor="ctr"/>
          <a:lstStyle/>
          <a:p>
            <a:pPr marL="0" indent="0">
              <a:buNone/>
            </a:pPr>
            <a:r>
              <a:rPr lang="en-US" altLang="ja-JP" b="1" dirty="0">
                <a:solidFill>
                  <a:srgbClr val="0B1F33"/>
                </a:solidFill>
                <a:latin typeface="Yu Gothic" pitchFamily="34" charset="0"/>
                <a:ea typeface="Yu Gothic" pitchFamily="34" charset="-122"/>
                <a:cs typeface="Yu Gothic" pitchFamily="34" charset="-120"/>
              </a:rPr>
              <a:t>L5G</a:t>
            </a:r>
            <a:r>
              <a:rPr lang="ja-JP" altLang="en-US" b="1" dirty="0">
                <a:solidFill>
                  <a:srgbClr val="0B1F33"/>
                </a:solidFill>
                <a:latin typeface="Yu Gothic" pitchFamily="34" charset="0"/>
                <a:ea typeface="Yu Gothic" pitchFamily="34" charset="-122"/>
                <a:cs typeface="Yu Gothic" pitchFamily="34" charset="-120"/>
              </a:rPr>
              <a:t>・エッジ・</a:t>
            </a:r>
            <a:r>
              <a:rPr lang="en-US" altLang="ja-JP" b="1" dirty="0">
                <a:solidFill>
                  <a:srgbClr val="0B1F33"/>
                </a:solidFill>
                <a:latin typeface="Yu Gothic" pitchFamily="34" charset="0"/>
                <a:ea typeface="Yu Gothic" pitchFamily="34" charset="-122"/>
                <a:cs typeface="Yu Gothic" pitchFamily="34" charset="-120"/>
              </a:rPr>
              <a:t>AI</a:t>
            </a:r>
            <a:r>
              <a:rPr lang="ja-JP" altLang="en-US" b="1" dirty="0">
                <a:solidFill>
                  <a:srgbClr val="0B1F33"/>
                </a:solidFill>
                <a:latin typeface="Yu Gothic" pitchFamily="34" charset="0"/>
                <a:ea typeface="Yu Gothic" pitchFamily="34" charset="-122"/>
                <a:cs typeface="Yu Gothic" pitchFamily="34" charset="-120"/>
              </a:rPr>
              <a:t>を、地域課題を解く共通インフラとして説明します。</a:t>
            </a:r>
          </a:p>
        </p:txBody>
      </p:sp>
      <p:sp>
        <p:nvSpPr>
          <p:cNvPr id="161" name="コンテンツ プレースホルダー 2">
            <a:extLst>
              <a:ext uri="{FF2B5EF4-FFF2-40B4-BE49-F238E27FC236}">
                <a16:creationId xmlns:a16="http://schemas.microsoft.com/office/drawing/2014/main" id="{5CA8A82B-A211-B45A-71A0-418E0F98D59B}"/>
              </a:ext>
            </a:extLst>
          </p:cNvPr>
          <p:cNvSpPr txBox="1">
            <a:spLocks/>
          </p:cNvSpPr>
          <p:nvPr/>
        </p:nvSpPr>
        <p:spPr>
          <a:xfrm>
            <a:off x="571254" y="3499459"/>
            <a:ext cx="11492903" cy="2607762"/>
          </a:xfrm>
        </p:spPr>
        <p:txBody>
          <a:bodyPr>
            <a:normAutofit/>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L5G</a:t>
            </a: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を始めるまでの経緯：</a:t>
            </a:r>
            <a:endPar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endParaRPr>
          </a:p>
          <a:p>
            <a:pPr marL="0" indent="0">
              <a:buNone/>
            </a:pP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　</a:t>
            </a: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a:t>
            </a: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キャリア</a:t>
            </a: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NW→L5G</a:t>
            </a: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、及び周辺機器への提案に至るまでの試行錯誤</a:t>
            </a:r>
          </a:p>
          <a:p>
            <a:pPr marL="0" indent="0">
              <a:buNone/>
            </a:pP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　・ローカル</a:t>
            </a: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LLM</a:t>
            </a:r>
          </a:p>
          <a:p>
            <a:pPr marL="0" indent="0">
              <a:buNone/>
            </a:pP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　・ログの自動化、生成</a:t>
            </a:r>
          </a:p>
          <a:p>
            <a:pPr marL="0" indent="0">
              <a:buNone/>
            </a:pP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　・</a:t>
            </a:r>
            <a:r>
              <a:rPr lang="en-US" altLang="ja-JP" sz="2400" b="1" dirty="0" err="1">
                <a:solidFill>
                  <a:schemeClr val="tx1">
                    <a:lumMod val="65000"/>
                    <a:lumOff val="35000"/>
                  </a:schemeClr>
                </a:solidFill>
                <a:latin typeface="BIZ UDPゴシック" panose="020B0400000000000000" pitchFamily="50" charset="-128"/>
                <a:ea typeface="BIZ UDPゴシック" panose="020B0400000000000000" pitchFamily="50" charset="-128"/>
              </a:rPr>
              <a:t>OSv</a:t>
            </a:r>
            <a:r>
              <a:rPr lang="en-US" altLang="ja-JP"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-up</a:t>
            </a:r>
            <a:r>
              <a:rPr lang="ja-JP" altLang="en-US" sz="2400" b="1" dirty="0">
                <a:solidFill>
                  <a:schemeClr val="tx1">
                    <a:lumMod val="65000"/>
                    <a:lumOff val="35000"/>
                  </a:schemeClr>
                </a:solidFill>
                <a:latin typeface="BIZ UDPゴシック" panose="020B0400000000000000" pitchFamily="50" charset="-128"/>
                <a:ea typeface="BIZ UDPゴシック" panose="020B0400000000000000" pitchFamily="50" charset="-128"/>
              </a:rPr>
              <a:t>自動化</a:t>
            </a:r>
          </a:p>
        </p:txBody>
      </p:sp>
    </p:spTree>
    <p:extLst>
      <p:ext uri="{BB962C8B-B14F-4D97-AF65-F5344CB8AC3E}">
        <p14:creationId xmlns:p14="http://schemas.microsoft.com/office/powerpoint/2010/main" val="26597480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検証で積み上げてきた技術アセット</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机上調査ではなく、実機検証・パッケージ化まで進めている</a:t>
            </a:r>
            <a:endParaRPr lang="ja-JP" altLang="en-US"/>
          </a:p>
        </p:txBody>
      </p:sp>
      <p:sp>
        <p:nvSpPr>
          <p:cNvPr id="9" name="Rounded Rectangle 8"/>
          <p:cNvSpPr/>
          <p:nvPr/>
        </p:nvSpPr>
        <p:spPr>
          <a:xfrm>
            <a:off x="466344" y="1737360"/>
            <a:ext cx="5504688" cy="20116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37160" rIns="182880" bIns="73152" rtlCol="0" anchor="t"/>
          <a:lstStyle/>
          <a:p>
            <a:pPr algn="ctr">
              <a:spcAft>
                <a:spcPts val="200"/>
              </a:spcAft>
            </a:pPr>
            <a:r>
              <a:rPr sz="1100" b="1">
                <a:solidFill>
                  <a:srgbClr val="A7ACAF"/>
                </a:solidFill>
                <a:latin typeface="BIZ UDPGothic"/>
                <a:ea typeface="BIZ UDPGothic"/>
              </a:rPr>
              <a:t>オンプレ生成AI基盤パッケージ</a:t>
            </a:r>
          </a:p>
          <a:p>
            <a:pPr algn="ctr">
              <a:spcAft>
                <a:spcPts val="600"/>
              </a:spcAft>
            </a:pPr>
            <a:r>
              <a:rPr sz="1500" b="1">
                <a:solidFill>
                  <a:srgbClr val="00219B"/>
                </a:solidFill>
                <a:latin typeface="BIZ UDPGothic"/>
                <a:ea typeface="BIZ UDPGothic"/>
              </a:rPr>
              <a:t>STech I-AI-Innovation Suite</a:t>
            </a:r>
          </a:p>
          <a:p>
            <a:pPr>
              <a:lnSpc>
                <a:spcPct val="120000"/>
              </a:lnSpc>
            </a:pPr>
            <a:r>
              <a:rPr sz="1150" b="0">
                <a:solidFill>
                  <a:srgbClr val="191919"/>
                </a:solidFill>
                <a:latin typeface="BIZ UDPGothic"/>
                <a:ea typeface="BIZ UDPGothic"/>
              </a:rPr>
              <a:t>neoAI社LLM × HPEサーバーの事前検証済み構成。基盤SIに加え、伴走支援・AI教育まで一貫提供</a:t>
            </a:r>
          </a:p>
        </p:txBody>
      </p:sp>
      <p:pic>
        <p:nvPicPr>
          <p:cNvPr id="10" name="Picture 9" descr="boxopen_primary.png"/>
          <p:cNvPicPr>
            <a:picLocks noChangeAspect="1"/>
          </p:cNvPicPr>
          <p:nvPr/>
        </p:nvPicPr>
        <p:blipFill>
          <a:blip r:embed="rId3"/>
          <a:stretch>
            <a:fillRect/>
          </a:stretch>
        </p:blipFill>
        <p:spPr>
          <a:xfrm>
            <a:off x="581924" y="1816364"/>
            <a:ext cx="555223" cy="555223"/>
          </a:xfrm>
          <a:prstGeom prst="rect">
            <a:avLst/>
          </a:prstGeom>
        </p:spPr>
      </p:pic>
      <p:sp>
        <p:nvSpPr>
          <p:cNvPr id="11" name="Rounded Rectangle 10"/>
          <p:cNvSpPr/>
          <p:nvPr/>
        </p:nvSpPr>
        <p:spPr>
          <a:xfrm>
            <a:off x="6144768" y="1737360"/>
            <a:ext cx="5504688" cy="20116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37160" rIns="182880" bIns="73152" rtlCol="0" anchor="t"/>
          <a:lstStyle/>
          <a:p>
            <a:pPr algn="ctr">
              <a:spcAft>
                <a:spcPts val="200"/>
              </a:spcAft>
            </a:pPr>
            <a:r>
              <a:rPr sz="1100" b="1">
                <a:solidFill>
                  <a:srgbClr val="A7ACAF"/>
                </a:solidFill>
                <a:latin typeface="BIZ UDPGothic"/>
                <a:ea typeface="BIZ UDPGothic"/>
              </a:rPr>
              <a:t>エッジAIアクセラレータ実機検証</a:t>
            </a:r>
          </a:p>
          <a:p>
            <a:pPr algn="ctr">
              <a:spcAft>
                <a:spcPts val="600"/>
              </a:spcAft>
            </a:pPr>
            <a:r>
              <a:rPr sz="1500" b="1">
                <a:solidFill>
                  <a:srgbClr val="00219B"/>
                </a:solidFill>
                <a:latin typeface="BIZ UDPGothic"/>
                <a:ea typeface="BIZ UDPGothic"/>
              </a:rPr>
              <a:t>EdgeCortix SAKURA-II</a:t>
            </a:r>
          </a:p>
          <a:p>
            <a:pPr>
              <a:lnSpc>
                <a:spcPct val="120000"/>
              </a:lnSpc>
            </a:pPr>
            <a:r>
              <a:rPr sz="1150" b="0">
                <a:solidFill>
                  <a:srgbClr val="191919"/>
                </a:solidFill>
                <a:latin typeface="BIZ UDPGothic"/>
                <a:ea typeface="BIZ UDPGothic"/>
              </a:rPr>
              <a:t>データフロー型NPUで、遅延ゆらぎ±1ms未満・平均消費電力10W未満を実証。ロボット・VLA・自動運転などフィジカルAI領域に適合</a:t>
            </a:r>
          </a:p>
        </p:txBody>
      </p:sp>
      <p:pic>
        <p:nvPicPr>
          <p:cNvPr id="12" name="Picture 11" descr="microchip_primary.png"/>
          <p:cNvPicPr>
            <a:picLocks noChangeAspect="1"/>
          </p:cNvPicPr>
          <p:nvPr/>
        </p:nvPicPr>
        <p:blipFill>
          <a:blip r:embed="rId4"/>
          <a:stretch>
            <a:fillRect/>
          </a:stretch>
        </p:blipFill>
        <p:spPr>
          <a:xfrm>
            <a:off x="6260348" y="1816364"/>
            <a:ext cx="555223" cy="555223"/>
          </a:xfrm>
          <a:prstGeom prst="rect">
            <a:avLst/>
          </a:prstGeom>
        </p:spPr>
      </p:pic>
      <p:sp>
        <p:nvSpPr>
          <p:cNvPr id="13" name="Rounded Rectangle 12"/>
          <p:cNvSpPr/>
          <p:nvPr/>
        </p:nvSpPr>
        <p:spPr>
          <a:xfrm>
            <a:off x="466344" y="3931920"/>
            <a:ext cx="5504688" cy="20116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37160" rIns="182880" bIns="73152" rtlCol="0" anchor="t"/>
          <a:lstStyle/>
          <a:p>
            <a:pPr algn="ctr">
              <a:spcAft>
                <a:spcPts val="200"/>
              </a:spcAft>
            </a:pPr>
            <a:r>
              <a:rPr sz="1100" b="1">
                <a:solidFill>
                  <a:srgbClr val="A7ACAF"/>
                </a:solidFill>
                <a:latin typeface="BIZ UDPGothic"/>
                <a:ea typeface="BIZ UDPGothic"/>
              </a:rPr>
              <a:t>AI推論を支える分散ストレージ</a:t>
            </a:r>
          </a:p>
          <a:p>
            <a:pPr algn="ctr">
              <a:spcAft>
                <a:spcPts val="600"/>
              </a:spcAft>
            </a:pPr>
            <a:r>
              <a:rPr sz="1500" b="1">
                <a:solidFill>
                  <a:srgbClr val="00219B"/>
                </a:solidFill>
                <a:latin typeface="BIZ UDPGothic"/>
                <a:ea typeface="BIZ UDPGothic"/>
              </a:rPr>
              <a:t>simplyblock</a:t>
            </a:r>
          </a:p>
          <a:p>
            <a:pPr>
              <a:lnSpc>
                <a:spcPct val="120000"/>
              </a:lnSpc>
            </a:pPr>
            <a:r>
              <a:rPr sz="1150" b="0">
                <a:solidFill>
                  <a:srgbClr val="191919"/>
                </a:solidFill>
                <a:latin typeface="BIZ UDPGothic"/>
                <a:ea typeface="BIZ UDPGothic"/>
              </a:rPr>
              <a:t>LLM推論のKVキャッシュを永続化・ノード間共有して再計算を削減。Kubernetesネイティブな推論基盤を検証</a:t>
            </a:r>
          </a:p>
        </p:txBody>
      </p:sp>
      <p:pic>
        <p:nvPicPr>
          <p:cNvPr id="14" name="Picture 13" descr="harddrive_primary.png"/>
          <p:cNvPicPr>
            <a:picLocks noChangeAspect="1"/>
          </p:cNvPicPr>
          <p:nvPr/>
        </p:nvPicPr>
        <p:blipFill>
          <a:blip r:embed="rId5"/>
          <a:stretch>
            <a:fillRect/>
          </a:stretch>
        </p:blipFill>
        <p:spPr>
          <a:xfrm>
            <a:off x="581924" y="4010924"/>
            <a:ext cx="555223" cy="555223"/>
          </a:xfrm>
          <a:prstGeom prst="rect">
            <a:avLst/>
          </a:prstGeom>
        </p:spPr>
      </p:pic>
      <p:sp>
        <p:nvSpPr>
          <p:cNvPr id="15" name="Rounded Rectangle 14"/>
          <p:cNvSpPr/>
          <p:nvPr/>
        </p:nvSpPr>
        <p:spPr>
          <a:xfrm>
            <a:off x="6144768" y="3931920"/>
            <a:ext cx="5504688" cy="20116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01168" tIns="137160" rIns="182880" bIns="73152" rtlCol="0" anchor="t"/>
          <a:lstStyle/>
          <a:p>
            <a:pPr algn="ctr">
              <a:spcAft>
                <a:spcPts val="200"/>
              </a:spcAft>
            </a:pPr>
            <a:r>
              <a:rPr sz="1100" b="1">
                <a:solidFill>
                  <a:srgbClr val="A7ACAF"/>
                </a:solidFill>
                <a:latin typeface="BIZ UDPGothic"/>
                <a:ea typeface="BIZ UDPGothic"/>
              </a:rPr>
              <a:t>「認識して動く」社内デモ</a:t>
            </a:r>
          </a:p>
          <a:p>
            <a:pPr algn="ctr">
              <a:spcAft>
                <a:spcPts val="600"/>
              </a:spcAft>
            </a:pPr>
            <a:r>
              <a:rPr sz="1500" b="1">
                <a:solidFill>
                  <a:srgbClr val="00219B"/>
                </a:solidFill>
                <a:latin typeface="BIZ UDPGothic"/>
                <a:ea typeface="BIZ UDPGothic"/>
              </a:rPr>
              <a:t>ロボットアーム連携</a:t>
            </a:r>
          </a:p>
          <a:p>
            <a:pPr>
              <a:lnSpc>
                <a:spcPct val="120000"/>
              </a:lnSpc>
            </a:pPr>
            <a:r>
              <a:rPr sz="1150" b="0">
                <a:solidFill>
                  <a:srgbClr val="191919"/>
                </a:solidFill>
                <a:latin typeface="BIZ UDPGothic"/>
                <a:ea typeface="BIZ UDPGothic"/>
              </a:rPr>
              <a:t>カメラの物体検知（エッジNPU）とロボットアームを連携。青いボールを認識してつかみ、所定位置へ配置する一連動作を実装</a:t>
            </a:r>
          </a:p>
        </p:txBody>
      </p:sp>
      <p:pic>
        <p:nvPicPr>
          <p:cNvPr id="16" name="Picture 15" descr="arm_primary.png"/>
          <p:cNvPicPr>
            <a:picLocks noChangeAspect="1"/>
          </p:cNvPicPr>
          <p:nvPr/>
        </p:nvPicPr>
        <p:blipFill>
          <a:blip r:embed="rId6"/>
          <a:stretch>
            <a:fillRect/>
          </a:stretch>
        </p:blipFill>
        <p:spPr>
          <a:xfrm>
            <a:off x="6260348" y="4010924"/>
            <a:ext cx="555223" cy="555223"/>
          </a:xfrm>
          <a:prstGeom prst="rect">
            <a:avLst/>
          </a:prstGeom>
        </p:spPr>
      </p:pic>
      <p:sp>
        <p:nvSpPr>
          <p:cNvPr id="17" name="TextBox 16"/>
          <p:cNvSpPr txBox="1"/>
          <p:nvPr/>
        </p:nvSpPr>
        <p:spPr>
          <a:xfrm>
            <a:off x="466344" y="5989320"/>
            <a:ext cx="11183112" cy="365760"/>
          </a:xfrm>
          <a:prstGeom prst="rect">
            <a:avLst/>
          </a:prstGeom>
          <a:noFill/>
        </p:spPr>
        <p:txBody>
          <a:bodyPr wrap="square" lIns="0" tIns="0" rIns="0" bIns="0" anchor="t">
            <a:spAutoFit/>
          </a:bodyPr>
          <a:lstStyle/>
          <a:p>
            <a:r>
              <a:rPr sz="1050" b="0">
                <a:solidFill>
                  <a:srgbClr val="A7ACAF"/>
                </a:solidFill>
                <a:latin typeface="BIZ UDPGothic"/>
                <a:ea typeface="BIZ UDPGothic"/>
              </a:rPr>
              <a:t>※ 検証結果の詳細は技術共有会資料（2026年7月・ネットワークインテグレーション事業本部）を参照</a:t>
            </a:r>
          </a:p>
        </p:txBody>
      </p:sp>
    </p:spTree>
    <p:extLst>
      <p:ext uri="{BB962C8B-B14F-4D97-AF65-F5344CB8AC3E}">
        <p14:creationId xmlns:p14="http://schemas.microsoft.com/office/powerpoint/2010/main" val="30617027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構想 — エッジAI × 地域デジタルツインで「認識・予測・行動」を回す</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フィジカルAIの構成要素を、防災・害獣対策などの地域課題に応用する</a:t>
            </a:r>
            <a:endParaRPr lang="ja-JP" altLang="en-US"/>
          </a:p>
        </p:txBody>
      </p:sp>
      <p:sp>
        <p:nvSpPr>
          <p:cNvPr id="9" name="Rounded Rectangle 8"/>
          <p:cNvSpPr/>
          <p:nvPr/>
        </p:nvSpPr>
        <p:spPr>
          <a:xfrm>
            <a:off x="466344" y="1783080"/>
            <a:ext cx="3493008" cy="21031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認識</a:t>
            </a:r>
          </a:p>
          <a:p>
            <a:pPr algn="ctr">
              <a:spcAft>
                <a:spcPts val="700"/>
              </a:spcAft>
            </a:pPr>
            <a:r>
              <a:rPr sz="1500" b="1">
                <a:solidFill>
                  <a:srgbClr val="00219B"/>
                </a:solidFill>
                <a:latin typeface="BIZ UDPGothic"/>
                <a:ea typeface="BIZ UDPGothic"/>
              </a:rPr>
              <a:t>現場のエッジAI端末</a:t>
            </a:r>
          </a:p>
          <a:p>
            <a:pPr>
              <a:lnSpc>
                <a:spcPct val="120000"/>
              </a:lnSpc>
            </a:pPr>
            <a:r>
              <a:rPr sz="1150" b="0">
                <a:solidFill>
                  <a:srgbClr val="191919"/>
                </a:solidFill>
                <a:latin typeface="BIZ UDPGothic"/>
                <a:ea typeface="BIZ UDPGothic"/>
              </a:rPr>
              <a:t>ドローン・カメラ・センサーが対象（被災者・害獣など）と周囲環境をリアルタイムに認識</a:t>
            </a:r>
          </a:p>
        </p:txBody>
      </p:sp>
      <p:pic>
        <p:nvPicPr>
          <p:cNvPr id="10" name="Picture 9" descr="eye_primary.png"/>
          <p:cNvPicPr>
            <a:picLocks noChangeAspect="1"/>
          </p:cNvPicPr>
          <p:nvPr/>
        </p:nvPicPr>
        <p:blipFill>
          <a:blip r:embed="rId3"/>
          <a:stretch>
            <a:fillRect/>
          </a:stretch>
        </p:blipFill>
        <p:spPr>
          <a:xfrm>
            <a:off x="3328050" y="1865010"/>
            <a:ext cx="531083" cy="531083"/>
          </a:xfrm>
          <a:prstGeom prst="rect">
            <a:avLst/>
          </a:prstGeom>
        </p:spPr>
      </p:pic>
      <p:sp>
        <p:nvSpPr>
          <p:cNvPr id="11" name="Chevron 10"/>
          <p:cNvSpPr/>
          <p:nvPr/>
        </p:nvSpPr>
        <p:spPr>
          <a:xfrm>
            <a:off x="3995928" y="260604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2" name="Rounded Rectangle 11"/>
          <p:cNvSpPr/>
          <p:nvPr/>
        </p:nvSpPr>
        <p:spPr>
          <a:xfrm>
            <a:off x="4306824" y="1783080"/>
            <a:ext cx="3493008" cy="21031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予測</a:t>
            </a:r>
          </a:p>
          <a:p>
            <a:pPr algn="ctr">
              <a:spcAft>
                <a:spcPts val="700"/>
              </a:spcAft>
            </a:pPr>
            <a:r>
              <a:rPr sz="1500" b="1">
                <a:solidFill>
                  <a:srgbClr val="00219B"/>
                </a:solidFill>
                <a:latin typeface="BIZ UDPGothic"/>
                <a:ea typeface="BIZ UDPGothic"/>
              </a:rPr>
              <a:t>地域デジタルツイン</a:t>
            </a:r>
          </a:p>
          <a:p>
            <a:pPr>
              <a:lnSpc>
                <a:spcPct val="120000"/>
              </a:lnSpc>
            </a:pPr>
            <a:r>
              <a:rPr sz="1150" b="0">
                <a:solidFill>
                  <a:srgbClr val="191919"/>
                </a:solidFill>
                <a:latin typeface="BIZ UDPGothic"/>
                <a:ea typeface="BIZ UDPGothic"/>
              </a:rPr>
              <a:t>地域共有型のGPU/NPU基盤上で現実を再現し、氾濫・行動などの未来をシミュレーション</a:t>
            </a:r>
          </a:p>
        </p:txBody>
      </p:sp>
      <p:pic>
        <p:nvPicPr>
          <p:cNvPr id="13" name="Picture 12" descr="maploc_primary.png"/>
          <p:cNvPicPr>
            <a:picLocks noChangeAspect="1"/>
          </p:cNvPicPr>
          <p:nvPr/>
        </p:nvPicPr>
        <p:blipFill>
          <a:blip r:embed="rId4"/>
          <a:stretch>
            <a:fillRect/>
          </a:stretch>
        </p:blipFill>
        <p:spPr>
          <a:xfrm>
            <a:off x="7168530" y="1865010"/>
            <a:ext cx="531083" cy="531083"/>
          </a:xfrm>
          <a:prstGeom prst="rect">
            <a:avLst/>
          </a:prstGeom>
        </p:spPr>
      </p:pic>
      <p:sp>
        <p:nvSpPr>
          <p:cNvPr id="14" name="Chevron 13"/>
          <p:cNvSpPr/>
          <p:nvPr/>
        </p:nvSpPr>
        <p:spPr>
          <a:xfrm>
            <a:off x="7836407" y="2606040"/>
            <a:ext cx="237744" cy="457200"/>
          </a:xfrm>
          <a:prstGeom prst="chevron">
            <a:avLst>
              <a:gd name="adj" fmla="val 80000"/>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15" name="Rounded Rectangle 14"/>
          <p:cNvSpPr/>
          <p:nvPr/>
        </p:nvSpPr>
        <p:spPr>
          <a:xfrm>
            <a:off x="8147304" y="1783080"/>
            <a:ext cx="3493008" cy="21031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146304" rIns="182880" bIns="73152" rtlCol="0" anchor="t"/>
          <a:lstStyle/>
          <a:p>
            <a:pPr algn="ctr">
              <a:spcAft>
                <a:spcPts val="300"/>
              </a:spcAft>
            </a:pPr>
            <a:r>
              <a:rPr sz="1200" b="1">
                <a:solidFill>
                  <a:srgbClr val="2A65F5"/>
                </a:solidFill>
                <a:latin typeface="BIZ UDPGothic"/>
                <a:ea typeface="BIZ UDPGothic"/>
              </a:rPr>
              <a:t>行動</a:t>
            </a:r>
          </a:p>
          <a:p>
            <a:pPr algn="ctr">
              <a:spcAft>
                <a:spcPts val="700"/>
              </a:spcAft>
            </a:pPr>
            <a:r>
              <a:rPr sz="1500" b="1">
                <a:solidFill>
                  <a:srgbClr val="00219B"/>
                </a:solidFill>
                <a:latin typeface="BIZ UDPGothic"/>
                <a:ea typeface="BIZ UDPGothic"/>
              </a:rPr>
              <a:t>現場へフィードバック</a:t>
            </a:r>
          </a:p>
          <a:p>
            <a:pPr>
              <a:lnSpc>
                <a:spcPct val="120000"/>
              </a:lnSpc>
            </a:pPr>
            <a:r>
              <a:rPr sz="1150" b="0">
                <a:solidFill>
                  <a:srgbClr val="191919"/>
                </a:solidFill>
                <a:latin typeface="BIZ UDPGothic"/>
                <a:ea typeface="BIZ UDPGothic"/>
              </a:rPr>
              <a:t>予測結果をエッジへ返し、ドローン群制御・誘導・追い込みなどの協調行動につなげる</a:t>
            </a:r>
          </a:p>
        </p:txBody>
      </p:sp>
      <p:pic>
        <p:nvPicPr>
          <p:cNvPr id="16" name="Picture 15" descr="drone_primary.png"/>
          <p:cNvPicPr>
            <a:picLocks noChangeAspect="1"/>
          </p:cNvPicPr>
          <p:nvPr/>
        </p:nvPicPr>
        <p:blipFill>
          <a:blip r:embed="rId5"/>
          <a:stretch>
            <a:fillRect/>
          </a:stretch>
        </p:blipFill>
        <p:spPr>
          <a:xfrm>
            <a:off x="11009010" y="1865010"/>
            <a:ext cx="531083" cy="531083"/>
          </a:xfrm>
          <a:prstGeom prst="rect">
            <a:avLst/>
          </a:prstGeom>
        </p:spPr>
      </p:pic>
      <p:sp>
        <p:nvSpPr>
          <p:cNvPr id="17" name="Rounded Rectangle 16"/>
          <p:cNvSpPr/>
          <p:nvPr/>
        </p:nvSpPr>
        <p:spPr>
          <a:xfrm>
            <a:off x="466344" y="4206240"/>
            <a:ext cx="5504688" cy="1234440"/>
          </a:xfrm>
          <a:prstGeom prst="roundRect">
            <a:avLst>
              <a:gd name="adj" fmla="val 8000"/>
            </a:avLst>
          </a:prstGeom>
          <a:solidFill>
            <a:srgbClr val="FFFFFF"/>
          </a:solidFill>
          <a:ln w="12700">
            <a:solidFill>
              <a:srgbClr val="2A65F5"/>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201168" tIns="118872" rIns="109728" bIns="73152" rtlCol="0" anchor="t"/>
          <a:lstStyle/>
          <a:p>
            <a:pPr algn="ctr">
              <a:spcAft>
                <a:spcPts val="400"/>
              </a:spcAft>
            </a:pPr>
            <a:r>
              <a:rPr sz="1200" b="1">
                <a:solidFill>
                  <a:srgbClr val="E86487"/>
                </a:solidFill>
                <a:latin typeface="BIZ UDPGothic"/>
                <a:ea typeface="BIZ UDPGothic"/>
              </a:rPr>
              <a:t>■ </a:t>
            </a:r>
            <a:r>
              <a:rPr sz="1300" b="1">
                <a:solidFill>
                  <a:srgbClr val="00219B"/>
                </a:solidFill>
                <a:latin typeface="BIZ UDPGothic"/>
                <a:ea typeface="BIZ UDPGothic"/>
              </a:rPr>
              <a:t>ユースケース：防災</a:t>
            </a:r>
          </a:p>
          <a:p>
            <a:pPr>
              <a:lnSpc>
                <a:spcPct val="120000"/>
              </a:lnSpc>
            </a:pPr>
            <a:r>
              <a:rPr sz="1150" b="0">
                <a:solidFill>
                  <a:srgbClr val="191919"/>
                </a:solidFill>
                <a:latin typeface="BIZ UDPGothic"/>
                <a:ea typeface="BIZ UDPGothic"/>
              </a:rPr>
              <a:t>河川監視データから氾濫・浸水を予測し、逃げ遅れをドローンが発見・避難誘導</a:t>
            </a:r>
          </a:p>
        </p:txBody>
      </p:sp>
      <p:sp>
        <p:nvSpPr>
          <p:cNvPr id="18" name="Rounded Rectangle 17"/>
          <p:cNvSpPr/>
          <p:nvPr/>
        </p:nvSpPr>
        <p:spPr>
          <a:xfrm>
            <a:off x="6144768" y="4206240"/>
            <a:ext cx="5504688" cy="1234440"/>
          </a:xfrm>
          <a:prstGeom prst="roundRect">
            <a:avLst>
              <a:gd name="adj" fmla="val 8000"/>
            </a:avLst>
          </a:prstGeom>
          <a:solidFill>
            <a:srgbClr val="FFFFFF"/>
          </a:solidFill>
          <a:ln w="12700">
            <a:solidFill>
              <a:srgbClr val="2A65F5"/>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201168" tIns="118872" rIns="109728" bIns="73152" rtlCol="0" anchor="t"/>
          <a:lstStyle/>
          <a:p>
            <a:pPr algn="ctr">
              <a:spcAft>
                <a:spcPts val="400"/>
              </a:spcAft>
            </a:pPr>
            <a:r>
              <a:rPr sz="1200" b="1">
                <a:solidFill>
                  <a:srgbClr val="55D2D8"/>
                </a:solidFill>
                <a:latin typeface="BIZ UDPGothic"/>
                <a:ea typeface="BIZ UDPGothic"/>
              </a:rPr>
              <a:t>■ </a:t>
            </a:r>
            <a:r>
              <a:rPr sz="1300" b="1">
                <a:solidFill>
                  <a:srgbClr val="00219B"/>
                </a:solidFill>
                <a:latin typeface="BIZ UDPGothic"/>
                <a:ea typeface="BIZ UDPGothic"/>
              </a:rPr>
              <a:t>ユースケース：害獣対策</a:t>
            </a:r>
          </a:p>
          <a:p>
            <a:pPr>
              <a:lnSpc>
                <a:spcPct val="120000"/>
              </a:lnSpc>
            </a:pPr>
            <a:r>
              <a:rPr sz="1150" b="0">
                <a:solidFill>
                  <a:srgbClr val="191919"/>
                </a:solidFill>
                <a:latin typeface="BIZ UDPGothic"/>
                <a:ea typeface="BIZ UDPGothic"/>
              </a:rPr>
              <a:t>行動予知と包囲計算に基づき、ドローン群を再配置して音・光で追い込み・誘導</a:t>
            </a:r>
          </a:p>
        </p:txBody>
      </p:sp>
      <p:sp>
        <p:nvSpPr>
          <p:cNvPr id="19" name="TextBox 18"/>
          <p:cNvSpPr txBox="1"/>
          <p:nvPr/>
        </p:nvSpPr>
        <p:spPr>
          <a:xfrm>
            <a:off x="466344" y="5715000"/>
            <a:ext cx="11183112" cy="548640"/>
          </a:xfrm>
          <a:prstGeom prst="rect">
            <a:avLst/>
          </a:prstGeom>
          <a:noFill/>
        </p:spPr>
        <p:txBody>
          <a:bodyPr wrap="square" lIns="0" tIns="0" rIns="0" bIns="0" anchor="t">
            <a:spAutoFit/>
          </a:bodyPr>
          <a:lstStyle/>
          <a:p>
            <a:pPr>
              <a:lnSpc>
                <a:spcPct val="120000"/>
              </a:lnSpc>
            </a:pPr>
            <a:r>
              <a:rPr sz="1050" b="0">
                <a:solidFill>
                  <a:srgbClr val="A7ACAF"/>
                </a:solidFill>
                <a:latin typeface="BIZ UDPGothic"/>
                <a:ea typeface="BIZ UDPGothic"/>
              </a:rPr>
              <a:t>※ エッジAI・ローカル5G・デジタルツインを通信基盤で相互接続する構想。将来はシミュレーション結果の自動運転への応用展開も視野</a:t>
            </a:r>
          </a:p>
        </p:txBody>
      </p:sp>
    </p:spTree>
    <p:extLst>
      <p:ext uri="{BB962C8B-B14F-4D97-AF65-F5344CB8AC3E}">
        <p14:creationId xmlns:p14="http://schemas.microsoft.com/office/powerpoint/2010/main" val="30617027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942B9-C622-FCDB-76F2-2B5353AB6D3F}"/>
            </a:ext>
          </a:extLst>
        </p:cNvPr>
        <p:cNvGrpSpPr/>
        <p:nvPr/>
      </p:nvGrpSpPr>
      <p:grpSpPr>
        <a:xfrm>
          <a:off x="0" y="0"/>
          <a:ext cx="0" cy="0"/>
          <a:chOff x="0" y="0"/>
          <a:chExt cx="0" cy="0"/>
        </a:xfrm>
      </p:grpSpPr>
      <p:sp>
        <p:nvSpPr>
          <p:cNvPr id="1094" name="正方形/長方形 1093">
            <a:extLst>
              <a:ext uri="{FF2B5EF4-FFF2-40B4-BE49-F238E27FC236}">
                <a16:creationId xmlns:a16="http://schemas.microsoft.com/office/drawing/2014/main" id="{808A1535-6C44-E18F-3D32-1AB02F2D533B}"/>
              </a:ext>
            </a:extLst>
          </p:cNvPr>
          <p:cNvSpPr/>
          <p:nvPr/>
        </p:nvSpPr>
        <p:spPr>
          <a:xfrm>
            <a:off x="460431" y="6303813"/>
            <a:ext cx="3601936" cy="43594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タイトル 5">
            <a:extLst>
              <a:ext uri="{FF2B5EF4-FFF2-40B4-BE49-F238E27FC236}">
                <a16:creationId xmlns:a16="http://schemas.microsoft.com/office/drawing/2014/main" id="{41776D2C-84FF-4DEF-4370-0A5564AF7475}"/>
              </a:ext>
            </a:extLst>
          </p:cNvPr>
          <p:cNvSpPr>
            <a:spLocks noGrp="1"/>
          </p:cNvSpPr>
          <p:nvPr>
            <p:ph type="title"/>
          </p:nvPr>
        </p:nvSpPr>
        <p:spPr/>
        <p:txBody>
          <a:bodyPr>
            <a:normAutofit/>
          </a:bodyPr>
          <a:lstStyle/>
          <a:p>
            <a:pPr algn="l"/>
            <a:r>
              <a:rPr lang="ja-JP" altLang="en-US" dirty="0">
                <a:solidFill>
                  <a:srgbClr val="00209B"/>
                </a:solidFill>
                <a:latin typeface="+mn-ea"/>
                <a:ea typeface="+mn-ea"/>
              </a:rPr>
              <a:t>エッジソリューション</a:t>
            </a:r>
          </a:p>
        </p:txBody>
      </p:sp>
      <p:sp>
        <p:nvSpPr>
          <p:cNvPr id="11" name="楕円 10">
            <a:extLst>
              <a:ext uri="{FF2B5EF4-FFF2-40B4-BE49-F238E27FC236}">
                <a16:creationId xmlns:a16="http://schemas.microsoft.com/office/drawing/2014/main" id="{0BE380B3-CD24-622D-611A-433FFDAFD83F}"/>
              </a:ext>
            </a:extLst>
          </p:cNvPr>
          <p:cNvSpPr/>
          <p:nvPr/>
        </p:nvSpPr>
        <p:spPr bwMode="auto">
          <a:xfrm>
            <a:off x="1866337" y="5211526"/>
            <a:ext cx="1712117" cy="965178"/>
          </a:xfrm>
          <a:prstGeom prst="ellipse">
            <a:avLst/>
          </a:prstGeom>
          <a:solidFill>
            <a:schemeClr val="accent3">
              <a:lumMod val="20000"/>
              <a:lumOff val="80000"/>
            </a:schemeClr>
          </a:solidFill>
          <a:ln w="9525">
            <a:solidFill>
              <a:srgbClr val="B2B2B2"/>
            </a:solidFill>
            <a:miter lim="800000"/>
            <a:headEnd/>
            <a:tailEnd/>
          </a:ln>
          <a:effectLst/>
        </p:spPr>
        <p:txBody>
          <a:bodyPr wrap="none" rtlCol="0" anchor="ctr"/>
          <a:lstStyle/>
          <a:p>
            <a:pPr algn="l"/>
            <a:endParaRPr lang="ja-JP" altLang="en-US" dirty="0"/>
          </a:p>
        </p:txBody>
      </p:sp>
      <p:sp>
        <p:nvSpPr>
          <p:cNvPr id="12" name="楕円 11">
            <a:extLst>
              <a:ext uri="{FF2B5EF4-FFF2-40B4-BE49-F238E27FC236}">
                <a16:creationId xmlns:a16="http://schemas.microsoft.com/office/drawing/2014/main" id="{4CD69635-0ECE-CA9E-4EB9-BE6D7AD22248}"/>
              </a:ext>
            </a:extLst>
          </p:cNvPr>
          <p:cNvSpPr/>
          <p:nvPr/>
        </p:nvSpPr>
        <p:spPr bwMode="auto">
          <a:xfrm>
            <a:off x="5506759" y="3257436"/>
            <a:ext cx="2646123" cy="1081250"/>
          </a:xfrm>
          <a:prstGeom prst="ellipse">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13" name="四角形: 角を丸くする 12">
            <a:extLst>
              <a:ext uri="{FF2B5EF4-FFF2-40B4-BE49-F238E27FC236}">
                <a16:creationId xmlns:a16="http://schemas.microsoft.com/office/drawing/2014/main" id="{72C8A33C-828E-3CE8-9DD8-690EB4E38688}"/>
              </a:ext>
            </a:extLst>
          </p:cNvPr>
          <p:cNvSpPr/>
          <p:nvPr/>
        </p:nvSpPr>
        <p:spPr bwMode="auto">
          <a:xfrm>
            <a:off x="4213821" y="4388024"/>
            <a:ext cx="4639302" cy="2088603"/>
          </a:xfrm>
          <a:prstGeom prst="roundRect">
            <a:avLst>
              <a:gd name="adj" fmla="val 8868"/>
            </a:avLst>
          </a:prstGeom>
          <a:solidFill>
            <a:srgbClr val="3366FF"/>
          </a:solidFill>
          <a:ln w="9525">
            <a:solidFill>
              <a:srgbClr val="B2B2B2"/>
            </a:solidFill>
            <a:miter lim="800000"/>
            <a:headEnd/>
            <a:tailEnd/>
          </a:ln>
          <a:effectLst/>
        </p:spPr>
        <p:txBody>
          <a:bodyPr wrap="none" rtlCol="0" anchor="ctr"/>
          <a:lstStyle/>
          <a:p>
            <a:pPr algn="l"/>
            <a:endParaRPr lang="ja-JP" altLang="en-US" dirty="0"/>
          </a:p>
        </p:txBody>
      </p:sp>
      <p:sp>
        <p:nvSpPr>
          <p:cNvPr id="14" name="四角形: 角を丸くする 13">
            <a:extLst>
              <a:ext uri="{FF2B5EF4-FFF2-40B4-BE49-F238E27FC236}">
                <a16:creationId xmlns:a16="http://schemas.microsoft.com/office/drawing/2014/main" id="{AB9EC19A-9FE6-CC11-F66A-89C03462DC38}"/>
              </a:ext>
            </a:extLst>
          </p:cNvPr>
          <p:cNvSpPr/>
          <p:nvPr/>
        </p:nvSpPr>
        <p:spPr bwMode="auto">
          <a:xfrm>
            <a:off x="4492589" y="5417415"/>
            <a:ext cx="4158078" cy="699587"/>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wrap="none" rtlCol="0" anchor="ctr"/>
          <a:lstStyle/>
          <a:p>
            <a:pPr algn="l"/>
            <a:endParaRPr lang="ja-JP" altLang="en-US" dirty="0"/>
          </a:p>
        </p:txBody>
      </p:sp>
      <p:sp>
        <p:nvSpPr>
          <p:cNvPr id="15" name="四角形: 角を丸くする 14">
            <a:extLst>
              <a:ext uri="{FF2B5EF4-FFF2-40B4-BE49-F238E27FC236}">
                <a16:creationId xmlns:a16="http://schemas.microsoft.com/office/drawing/2014/main" id="{0D6E3BDD-8091-0140-4D6A-31291B2491C0}"/>
              </a:ext>
            </a:extLst>
          </p:cNvPr>
          <p:cNvSpPr/>
          <p:nvPr/>
        </p:nvSpPr>
        <p:spPr bwMode="auto">
          <a:xfrm>
            <a:off x="4520112" y="4457736"/>
            <a:ext cx="4158078" cy="928833"/>
          </a:xfrm>
          <a:prstGeom prst="roundRect">
            <a:avLst/>
          </a:prstGeom>
          <a:ln>
            <a:headEnd/>
            <a:tailEnd/>
          </a:ln>
        </p:spPr>
        <p:style>
          <a:lnRef idx="2">
            <a:schemeClr val="accent1"/>
          </a:lnRef>
          <a:fillRef idx="1">
            <a:schemeClr val="lt1"/>
          </a:fillRef>
          <a:effectRef idx="0">
            <a:schemeClr val="accent1"/>
          </a:effectRef>
          <a:fontRef idx="minor">
            <a:schemeClr val="dk1"/>
          </a:fontRef>
        </p:style>
        <p:txBody>
          <a:bodyPr wrap="none" rtlCol="0" anchor="ctr"/>
          <a:lstStyle/>
          <a:p>
            <a:pPr algn="l"/>
            <a:endParaRPr lang="ja-JP" altLang="en-US" dirty="0"/>
          </a:p>
        </p:txBody>
      </p:sp>
      <p:sp>
        <p:nvSpPr>
          <p:cNvPr id="16" name="楕円 15">
            <a:extLst>
              <a:ext uri="{FF2B5EF4-FFF2-40B4-BE49-F238E27FC236}">
                <a16:creationId xmlns:a16="http://schemas.microsoft.com/office/drawing/2014/main" id="{C1E301D0-2AED-9951-5AE0-801263CB4843}"/>
              </a:ext>
            </a:extLst>
          </p:cNvPr>
          <p:cNvSpPr/>
          <p:nvPr/>
        </p:nvSpPr>
        <p:spPr bwMode="auto">
          <a:xfrm>
            <a:off x="1478457" y="3489200"/>
            <a:ext cx="2005255" cy="839729"/>
          </a:xfrm>
          <a:prstGeom prst="ellipse">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17" name="正方形/長方形 16">
            <a:extLst>
              <a:ext uri="{FF2B5EF4-FFF2-40B4-BE49-F238E27FC236}">
                <a16:creationId xmlns:a16="http://schemas.microsoft.com/office/drawing/2014/main" id="{C0A7B686-A1E4-49F2-10AE-DF5DAC7C2ABD}"/>
              </a:ext>
            </a:extLst>
          </p:cNvPr>
          <p:cNvSpPr/>
          <p:nvPr/>
        </p:nvSpPr>
        <p:spPr bwMode="auto">
          <a:xfrm>
            <a:off x="1271464" y="3098800"/>
            <a:ext cx="9649072" cy="3642160"/>
          </a:xfrm>
          <a:prstGeom prst="rect">
            <a:avLst/>
          </a:prstGeom>
          <a:noFill/>
          <a:ln w="19050">
            <a:solidFill>
              <a:srgbClr val="002060"/>
            </a:solidFill>
            <a:headEnd/>
            <a:tailEnd/>
          </a:ln>
        </p:spPr>
        <p:style>
          <a:lnRef idx="2">
            <a:schemeClr val="accent6"/>
          </a:lnRef>
          <a:fillRef idx="1">
            <a:schemeClr val="lt1"/>
          </a:fillRef>
          <a:effectRef idx="0">
            <a:schemeClr val="accent6"/>
          </a:effectRef>
          <a:fontRef idx="minor">
            <a:schemeClr val="dk1"/>
          </a:fontRef>
        </p:style>
        <p:txBody>
          <a:bodyPr wrap="none" rtlCol="0" anchor="ctr"/>
          <a:lstStyle/>
          <a:p>
            <a:pPr algn="l"/>
            <a:endParaRPr lang="ja-JP" altLang="en-US" dirty="0">
              <a:latin typeface="游ゴシック" panose="020B0400000000000000" pitchFamily="50" charset="-128"/>
              <a:ea typeface="游ゴシック" panose="020B0400000000000000" pitchFamily="50" charset="-128"/>
            </a:endParaRPr>
          </a:p>
        </p:txBody>
      </p:sp>
      <p:sp>
        <p:nvSpPr>
          <p:cNvPr id="18" name="正方形/長方形 17">
            <a:extLst>
              <a:ext uri="{FF2B5EF4-FFF2-40B4-BE49-F238E27FC236}">
                <a16:creationId xmlns:a16="http://schemas.microsoft.com/office/drawing/2014/main" id="{11130DAC-FA22-5FE3-1C79-88F5142C1A5D}"/>
              </a:ext>
            </a:extLst>
          </p:cNvPr>
          <p:cNvSpPr/>
          <p:nvPr/>
        </p:nvSpPr>
        <p:spPr bwMode="auto">
          <a:xfrm>
            <a:off x="1292694" y="3129906"/>
            <a:ext cx="1008112" cy="299095"/>
          </a:xfrm>
          <a:prstGeom prst="rect">
            <a:avLst/>
          </a:prstGeom>
          <a:solidFill>
            <a:srgbClr val="0070C0"/>
          </a:solidFill>
          <a:ln>
            <a:noFill/>
            <a:headEnd/>
            <a:tailEnd/>
          </a:ln>
        </p:spPr>
        <p:style>
          <a:lnRef idx="2">
            <a:schemeClr val="accent6"/>
          </a:lnRef>
          <a:fillRef idx="1">
            <a:schemeClr val="lt1"/>
          </a:fillRef>
          <a:effectRef idx="0">
            <a:schemeClr val="accent6"/>
          </a:effectRef>
          <a:fontRef idx="minor">
            <a:schemeClr val="dk1"/>
          </a:fontRef>
        </p:style>
        <p:txBody>
          <a:bodyPr wrap="none" rtlCol="0" anchor="ctr"/>
          <a:lstStyle/>
          <a:p>
            <a:pPr algn="ctr"/>
            <a:r>
              <a:rPr lang="ja-JP" altLang="en-US" sz="1300" b="1" dirty="0">
                <a:solidFill>
                  <a:schemeClr val="bg1"/>
                </a:solidFill>
                <a:latin typeface="游ゴシック" panose="020B0400000000000000" pitchFamily="50" charset="-128"/>
                <a:ea typeface="游ゴシック" panose="020B0400000000000000" pitchFamily="50" charset="-128"/>
              </a:rPr>
              <a:t>全体</a:t>
            </a:r>
            <a:r>
              <a:rPr lang="ja-JP" altLang="en-US" sz="1300" b="1" dirty="0">
                <a:solidFill>
                  <a:schemeClr val="lt1"/>
                </a:solidFill>
                <a:latin typeface="游ゴシック" panose="020B0400000000000000" pitchFamily="50" charset="-128"/>
                <a:ea typeface="游ゴシック" panose="020B0400000000000000" pitchFamily="50" charset="-128"/>
              </a:rPr>
              <a:t>構成</a:t>
            </a:r>
          </a:p>
        </p:txBody>
      </p:sp>
      <p:graphicFrame>
        <p:nvGraphicFramePr>
          <p:cNvPr id="19" name="表 18">
            <a:extLst>
              <a:ext uri="{FF2B5EF4-FFF2-40B4-BE49-F238E27FC236}">
                <a16:creationId xmlns:a16="http://schemas.microsoft.com/office/drawing/2014/main" id="{29A88EC7-FA41-4267-2DBF-4293EB0F29F8}"/>
              </a:ext>
            </a:extLst>
          </p:cNvPr>
          <p:cNvGraphicFramePr>
            <a:graphicFrameLocks noGrp="1"/>
          </p:cNvGraphicFramePr>
          <p:nvPr/>
        </p:nvGraphicFramePr>
        <p:xfrm>
          <a:off x="1271464" y="1025672"/>
          <a:ext cx="9649072" cy="1889760"/>
        </p:xfrm>
        <a:graphic>
          <a:graphicData uri="http://schemas.openxmlformats.org/drawingml/2006/table">
            <a:tbl>
              <a:tblPr firstRow="1" bandRow="1">
                <a:tableStyleId>{5C22544A-7EE6-4342-B048-85BDC9FD1C3A}</a:tableStyleId>
              </a:tblPr>
              <a:tblGrid>
                <a:gridCol w="1512168">
                  <a:extLst>
                    <a:ext uri="{9D8B030D-6E8A-4147-A177-3AD203B41FA5}">
                      <a16:colId xmlns:a16="http://schemas.microsoft.com/office/drawing/2014/main" val="79393982"/>
                    </a:ext>
                  </a:extLst>
                </a:gridCol>
                <a:gridCol w="8136904">
                  <a:extLst>
                    <a:ext uri="{9D8B030D-6E8A-4147-A177-3AD203B41FA5}">
                      <a16:colId xmlns:a16="http://schemas.microsoft.com/office/drawing/2014/main" val="3200822846"/>
                    </a:ext>
                  </a:extLst>
                </a:gridCol>
              </a:tblGrid>
              <a:tr h="360040">
                <a:tc>
                  <a:txBody>
                    <a:bodyPr/>
                    <a:lstStyle/>
                    <a:p>
                      <a:r>
                        <a:rPr kumimoji="0" lang="ja-JP" altLang="en-US" sz="1300" b="1" kern="1200" dirty="0">
                          <a:solidFill>
                            <a:schemeClr val="bg1"/>
                          </a:solidFill>
                          <a:latin typeface="游ゴシック" panose="020B0400000000000000" pitchFamily="50" charset="-128"/>
                          <a:ea typeface="游ゴシック" panose="020B0400000000000000" pitchFamily="50" charset="-128"/>
                          <a:cs typeface="+mn-cs"/>
                        </a:rPr>
                        <a:t>検証名</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70C0"/>
                    </a:solidFill>
                  </a:tcPr>
                </a:tc>
                <a:tc>
                  <a:txBody>
                    <a:bodyPr/>
                    <a:lstStyle/>
                    <a:p>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地域デジタルツインを活用したマルチエージェント協調</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基盤の検証</a:t>
                      </a:r>
                      <a:b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b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「害獣対策」と「防災対策」への応用検証</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55241305"/>
                  </a:ext>
                </a:extLst>
              </a:tr>
              <a:tr h="573166">
                <a:tc>
                  <a:txBody>
                    <a:bodyPr/>
                    <a:lstStyle/>
                    <a:p>
                      <a:pPr marL="0" algn="l" defTabSz="914400" rtl="0" eaLnBrk="1" latinLnBrk="0" hangingPunct="1"/>
                      <a:r>
                        <a:rPr kumimoji="0" lang="ja-JP" altLang="en-US" sz="1300" b="1" kern="1200" dirty="0">
                          <a:solidFill>
                            <a:schemeClr val="bg1"/>
                          </a:solidFill>
                          <a:latin typeface="游ゴシック" panose="020B0400000000000000" pitchFamily="50" charset="-128"/>
                          <a:ea typeface="游ゴシック" panose="020B0400000000000000" pitchFamily="50" charset="-128"/>
                          <a:cs typeface="+mn-cs"/>
                        </a:rPr>
                        <a:t>検証概要</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70C0"/>
                    </a:solidFill>
                  </a:tcPr>
                </a:tc>
                <a:tc>
                  <a:txBody>
                    <a:bodyPr/>
                    <a:lstStyle/>
                    <a:p>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「現場の状況をリアルタイムに認識・理解し、自律的に行動する</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」として次世代エッジ端末</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、地域共有型エッジ</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基盤（</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GPU</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）を「地域全体を俯瞰し、デジタルツイン上でシミュレーションを実施する未来を予測・予知する</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」として機能さる。また、それらの</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を通信基盤上で相互接続、対象の行動予測、被害予測などをリアルタイムに実施、予測結果をエッジ</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端末へフィードバックし、現実空間における協調制御へ反映する。これにより「認識」「予測」「行動」が循環する新しい</a:t>
                      </a:r>
                      <a:r>
                        <a:rPr kumimoji="0" lang="en-US" altLang="ja-JP" sz="1400" b="1" kern="1200" dirty="0">
                          <a:solidFill>
                            <a:schemeClr val="tx1"/>
                          </a:solidFill>
                          <a:latin typeface="游ゴシック" panose="020B0400000000000000" pitchFamily="50" charset="-128"/>
                          <a:ea typeface="游ゴシック" panose="020B0400000000000000" pitchFamily="50" charset="-128"/>
                          <a:cs typeface="+mn-cs"/>
                        </a:rPr>
                        <a:t>AI×</a:t>
                      </a:r>
                      <a:r>
                        <a:rPr kumimoji="0" lang="ja-JP" altLang="en-US" sz="1400" b="1" kern="1200" dirty="0">
                          <a:solidFill>
                            <a:schemeClr val="tx1"/>
                          </a:solidFill>
                          <a:latin typeface="游ゴシック" panose="020B0400000000000000" pitchFamily="50" charset="-128"/>
                          <a:ea typeface="游ゴシック" panose="020B0400000000000000" pitchFamily="50" charset="-128"/>
                          <a:cs typeface="+mn-cs"/>
                        </a:rPr>
                        <a:t>通信の実現を目指し、将来的にはシュミレーション結果は自動運転車への応用展開を目指す。</a:t>
                      </a:r>
                      <a:endParaRPr kumimoji="1" lang="en-US" altLang="ja-JP"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53486232"/>
                  </a:ext>
                </a:extLst>
              </a:tr>
            </a:tbl>
          </a:graphicData>
        </a:graphic>
      </p:graphicFrame>
      <p:pic>
        <p:nvPicPr>
          <p:cNvPr id="20" name="グラフィックス 19" descr="クワッドコプター 単色塗りつぶし">
            <a:extLst>
              <a:ext uri="{FF2B5EF4-FFF2-40B4-BE49-F238E27FC236}">
                <a16:creationId xmlns:a16="http://schemas.microsoft.com/office/drawing/2014/main" id="{0B429920-705C-A6B5-16F9-C19DE02D08F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52566" y="3852032"/>
            <a:ext cx="410344" cy="410344"/>
          </a:xfrm>
          <a:prstGeom prst="rect">
            <a:avLst/>
          </a:prstGeom>
        </p:spPr>
      </p:pic>
      <p:pic>
        <p:nvPicPr>
          <p:cNvPr id="21" name="グラフィックス 20" descr="杖を持った男性 単色塗りつぶし">
            <a:extLst>
              <a:ext uri="{FF2B5EF4-FFF2-40B4-BE49-F238E27FC236}">
                <a16:creationId xmlns:a16="http://schemas.microsoft.com/office/drawing/2014/main" id="{59F9DFDB-4B5B-ECDE-8520-C6AAB77ED76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74353" y="6141646"/>
            <a:ext cx="338336" cy="338336"/>
          </a:xfrm>
          <a:prstGeom prst="rect">
            <a:avLst/>
          </a:prstGeom>
        </p:spPr>
      </p:pic>
      <p:sp>
        <p:nvSpPr>
          <p:cNvPr id="22" name="テキスト ボックス 21">
            <a:extLst>
              <a:ext uri="{FF2B5EF4-FFF2-40B4-BE49-F238E27FC236}">
                <a16:creationId xmlns:a16="http://schemas.microsoft.com/office/drawing/2014/main" id="{11FEF8F0-262D-89F4-591F-1A34B44BC0C5}"/>
              </a:ext>
            </a:extLst>
          </p:cNvPr>
          <p:cNvSpPr txBox="1"/>
          <p:nvPr/>
        </p:nvSpPr>
        <p:spPr>
          <a:xfrm>
            <a:off x="2732996" y="6432914"/>
            <a:ext cx="564578" cy="215444"/>
          </a:xfrm>
          <a:prstGeom prst="rect">
            <a:avLst/>
          </a:prstGeom>
          <a:noFill/>
        </p:spPr>
        <p:txBody>
          <a:bodyPr wrap="none" rtlCol="0">
            <a:spAutoFit/>
          </a:bodyPr>
          <a:lstStyle/>
          <a:p>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逃げ遅れ</a:t>
            </a:r>
          </a:p>
        </p:txBody>
      </p:sp>
      <p:sp>
        <p:nvSpPr>
          <p:cNvPr id="23" name="テキスト ボックス 22">
            <a:extLst>
              <a:ext uri="{FF2B5EF4-FFF2-40B4-BE49-F238E27FC236}">
                <a16:creationId xmlns:a16="http://schemas.microsoft.com/office/drawing/2014/main" id="{5DF444BF-B33E-D5B1-4600-A344346ED6D4}"/>
              </a:ext>
            </a:extLst>
          </p:cNvPr>
          <p:cNvSpPr txBox="1"/>
          <p:nvPr/>
        </p:nvSpPr>
        <p:spPr>
          <a:xfrm>
            <a:off x="2232847" y="4156070"/>
            <a:ext cx="851515"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現場把握・分析</a:t>
            </a:r>
          </a:p>
        </p:txBody>
      </p:sp>
      <p:pic>
        <p:nvPicPr>
          <p:cNvPr id="24" name="グラフィックス 23" descr="熊 単色塗りつぶし">
            <a:extLst>
              <a:ext uri="{FF2B5EF4-FFF2-40B4-BE49-F238E27FC236}">
                <a16:creationId xmlns:a16="http://schemas.microsoft.com/office/drawing/2014/main" id="{1129BDA0-0560-5CC1-8754-06DAE1A143E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09929" y="5113295"/>
            <a:ext cx="360592" cy="360592"/>
          </a:xfrm>
          <a:prstGeom prst="rect">
            <a:avLst/>
          </a:prstGeom>
        </p:spPr>
      </p:pic>
      <p:sp>
        <p:nvSpPr>
          <p:cNvPr id="25" name="テキスト ボックス 24">
            <a:extLst>
              <a:ext uri="{FF2B5EF4-FFF2-40B4-BE49-F238E27FC236}">
                <a16:creationId xmlns:a16="http://schemas.microsoft.com/office/drawing/2014/main" id="{DBA59E8F-EDB6-02DF-081E-8602649439F1}"/>
              </a:ext>
            </a:extLst>
          </p:cNvPr>
          <p:cNvSpPr txBox="1"/>
          <p:nvPr/>
        </p:nvSpPr>
        <p:spPr>
          <a:xfrm>
            <a:off x="1798514" y="5399432"/>
            <a:ext cx="389850" cy="215444"/>
          </a:xfrm>
          <a:prstGeom prst="rect">
            <a:avLst/>
          </a:prstGeom>
          <a:noFill/>
        </p:spPr>
        <p:txBody>
          <a:bodyPr wrap="none" rtlCol="0">
            <a:spAutoFit/>
          </a:bodyPr>
          <a:lstStyle/>
          <a:p>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害獣</a:t>
            </a:r>
          </a:p>
        </p:txBody>
      </p:sp>
      <p:pic>
        <p:nvPicPr>
          <p:cNvPr id="26" name="グラフィックス 25" descr="クワッドコプター 単色塗りつぶし">
            <a:extLst>
              <a:ext uri="{FF2B5EF4-FFF2-40B4-BE49-F238E27FC236}">
                <a16:creationId xmlns:a16="http://schemas.microsoft.com/office/drawing/2014/main" id="{F2C795B7-4A88-8BBA-FC54-F0805943CAA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73591" y="3700440"/>
            <a:ext cx="410344" cy="410344"/>
          </a:xfrm>
          <a:prstGeom prst="rect">
            <a:avLst/>
          </a:prstGeom>
        </p:spPr>
      </p:pic>
      <p:sp>
        <p:nvSpPr>
          <p:cNvPr id="27" name="テキスト ボックス 26">
            <a:extLst>
              <a:ext uri="{FF2B5EF4-FFF2-40B4-BE49-F238E27FC236}">
                <a16:creationId xmlns:a16="http://schemas.microsoft.com/office/drawing/2014/main" id="{13B19BAA-EE5D-CA59-7F1C-7FC45DDF2379}"/>
              </a:ext>
            </a:extLst>
          </p:cNvPr>
          <p:cNvSpPr txBox="1"/>
          <p:nvPr/>
        </p:nvSpPr>
        <p:spPr>
          <a:xfrm>
            <a:off x="1507228" y="4040343"/>
            <a:ext cx="851515"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現場把握・分析</a:t>
            </a:r>
          </a:p>
        </p:txBody>
      </p:sp>
      <p:sp>
        <p:nvSpPr>
          <p:cNvPr id="28" name="矢印: 右 27">
            <a:extLst>
              <a:ext uri="{FF2B5EF4-FFF2-40B4-BE49-F238E27FC236}">
                <a16:creationId xmlns:a16="http://schemas.microsoft.com/office/drawing/2014/main" id="{BFDED76D-EB5E-27BC-EAD2-BFF5CBB5C7D5}"/>
              </a:ext>
            </a:extLst>
          </p:cNvPr>
          <p:cNvSpPr/>
          <p:nvPr/>
        </p:nvSpPr>
        <p:spPr bwMode="auto">
          <a:xfrm flipH="1">
            <a:off x="1485145" y="5214269"/>
            <a:ext cx="292715" cy="245094"/>
          </a:xfrm>
          <a:prstGeom prst="rightArrow">
            <a:avLst/>
          </a:prstGeom>
          <a:solidFill>
            <a:srgbClr val="0070C0"/>
          </a:solidFill>
          <a:ln w="9525">
            <a:solidFill>
              <a:srgbClr val="B2B2B2"/>
            </a:solidFill>
            <a:miter lim="800000"/>
            <a:headEnd/>
            <a:tailEnd/>
          </a:ln>
          <a:effectLst/>
        </p:spPr>
        <p:txBody>
          <a:bodyPr wrap="none" rtlCol="0" anchor="ctr"/>
          <a:lstStyle/>
          <a:p>
            <a:pPr algn="l"/>
            <a:endParaRPr lang="ja-JP" altLang="en-US" dirty="0"/>
          </a:p>
        </p:txBody>
      </p:sp>
      <p:sp>
        <p:nvSpPr>
          <p:cNvPr id="29" name="矢印: 右 28">
            <a:extLst>
              <a:ext uri="{FF2B5EF4-FFF2-40B4-BE49-F238E27FC236}">
                <a16:creationId xmlns:a16="http://schemas.microsoft.com/office/drawing/2014/main" id="{AC66CAF7-B975-87FE-95B2-30B9045F686F}"/>
              </a:ext>
            </a:extLst>
          </p:cNvPr>
          <p:cNvSpPr/>
          <p:nvPr/>
        </p:nvSpPr>
        <p:spPr bwMode="auto">
          <a:xfrm>
            <a:off x="3302726" y="6232175"/>
            <a:ext cx="292715" cy="245094"/>
          </a:xfrm>
          <a:prstGeom prst="rightArrow">
            <a:avLst/>
          </a:prstGeom>
          <a:solidFill>
            <a:schemeClr val="accent1"/>
          </a:solidFill>
          <a:ln w="9525">
            <a:solidFill>
              <a:srgbClr val="B2B2B2"/>
            </a:solidFill>
            <a:miter lim="800000"/>
            <a:headEnd/>
            <a:tailEnd/>
          </a:ln>
          <a:effectLst/>
        </p:spPr>
        <p:txBody>
          <a:bodyPr wrap="none" rtlCol="0" anchor="ctr"/>
          <a:lstStyle/>
          <a:p>
            <a:pPr algn="l"/>
            <a:endParaRPr lang="ja-JP" altLang="en-US" dirty="0">
              <a:highlight>
                <a:srgbClr val="FFFF00"/>
              </a:highlight>
            </a:endParaRPr>
          </a:p>
        </p:txBody>
      </p:sp>
      <p:sp>
        <p:nvSpPr>
          <p:cNvPr id="30" name="テキスト ボックス 29">
            <a:extLst>
              <a:ext uri="{FF2B5EF4-FFF2-40B4-BE49-F238E27FC236}">
                <a16:creationId xmlns:a16="http://schemas.microsoft.com/office/drawing/2014/main" id="{6F5EC64A-CE16-542B-078A-D2DB62A1C268}"/>
              </a:ext>
            </a:extLst>
          </p:cNvPr>
          <p:cNvSpPr txBox="1"/>
          <p:nvPr/>
        </p:nvSpPr>
        <p:spPr>
          <a:xfrm>
            <a:off x="3219172" y="6454520"/>
            <a:ext cx="389850" cy="215444"/>
          </a:xfrm>
          <a:prstGeom prst="rect">
            <a:avLst/>
          </a:prstGeom>
          <a:noFill/>
        </p:spPr>
        <p:txBody>
          <a:bodyPr wrap="none" rtlCol="0">
            <a:spAutoFit/>
          </a:bodyPr>
          <a:lstStyle/>
          <a:p>
            <a:r>
              <a:rPr lang="ja-JP" altLang="en-US" sz="800" dirty="0">
                <a:latin typeface="Meiryo UI" panose="020B0604030504040204" pitchFamily="50" charset="-128"/>
                <a:ea typeface="Meiryo UI" panose="020B0604030504040204" pitchFamily="50" charset="-128"/>
                <a:cs typeface="Meiryo UI" panose="020B0604030504040204" pitchFamily="50" charset="-128"/>
              </a:rPr>
              <a:t>誘導</a:t>
            </a:r>
            <a:endParaRPr kumimoji="1" lang="ja-JP" altLang="en-US" sz="8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31" name="テキスト ボックス 30">
            <a:extLst>
              <a:ext uri="{FF2B5EF4-FFF2-40B4-BE49-F238E27FC236}">
                <a16:creationId xmlns:a16="http://schemas.microsoft.com/office/drawing/2014/main" id="{D0518D58-62E2-CC3F-639E-3D815E340560}"/>
              </a:ext>
            </a:extLst>
          </p:cNvPr>
          <p:cNvSpPr txBox="1"/>
          <p:nvPr/>
        </p:nvSpPr>
        <p:spPr>
          <a:xfrm>
            <a:off x="2573246" y="4978131"/>
            <a:ext cx="1216202" cy="261610"/>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エッジ端末</a:t>
            </a:r>
            <a:r>
              <a:rPr lang="en-US" altLang="ja-JP" sz="1100" b="1" dirty="0">
                <a:latin typeface="BIZ UDPゴシック" panose="020B0400000000000000" pitchFamily="50" charset="-128"/>
                <a:ea typeface="BIZ UDPゴシック" panose="020B0400000000000000" pitchFamily="50" charset="-128"/>
              </a:rPr>
              <a:t>AI</a:t>
            </a:r>
            <a:endParaRPr lang="ja-JP" altLang="en-US" sz="1100" b="1" dirty="0">
              <a:latin typeface="BIZ UDPゴシック" panose="020B0400000000000000" pitchFamily="50" charset="-128"/>
              <a:ea typeface="BIZ UDPゴシック" panose="020B0400000000000000" pitchFamily="50" charset="-128"/>
            </a:endParaRPr>
          </a:p>
        </p:txBody>
      </p:sp>
      <p:pic>
        <p:nvPicPr>
          <p:cNvPr id="32" name="グラフィックス 31" descr="基地局 単色塗りつぶし">
            <a:extLst>
              <a:ext uri="{FF2B5EF4-FFF2-40B4-BE49-F238E27FC236}">
                <a16:creationId xmlns:a16="http://schemas.microsoft.com/office/drawing/2014/main" id="{42BABD48-9F6E-27A4-B467-04987374696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35760" y="4163787"/>
            <a:ext cx="491466" cy="491466"/>
          </a:xfrm>
          <a:prstGeom prst="rect">
            <a:avLst/>
          </a:prstGeom>
        </p:spPr>
      </p:pic>
      <p:sp>
        <p:nvSpPr>
          <p:cNvPr id="33" name="コンテンツ プレースホルダー 7">
            <a:extLst>
              <a:ext uri="{FF2B5EF4-FFF2-40B4-BE49-F238E27FC236}">
                <a16:creationId xmlns:a16="http://schemas.microsoft.com/office/drawing/2014/main" id="{BA99EC32-385F-61C4-3B51-4A412DA3AD36}"/>
              </a:ext>
            </a:extLst>
          </p:cNvPr>
          <p:cNvSpPr txBox="1">
            <a:spLocks/>
          </p:cNvSpPr>
          <p:nvPr/>
        </p:nvSpPr>
        <p:spPr>
          <a:xfrm>
            <a:off x="4266337" y="4196417"/>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800" dirty="0">
                <a:latin typeface="BIZ UDPゴシック" panose="020B0400000000000000" pitchFamily="50" charset="-128"/>
                <a:ea typeface="BIZ UDPゴシック" panose="020B0400000000000000" pitchFamily="50" charset="-128"/>
              </a:rPr>
              <a:t>5G</a:t>
            </a:r>
            <a:r>
              <a:rPr lang="ja-JP" altLang="en-US" sz="800" dirty="0">
                <a:latin typeface="BIZ UDPゴシック" panose="020B0400000000000000" pitchFamily="50" charset="-128"/>
                <a:ea typeface="BIZ UDPゴシック" panose="020B0400000000000000" pitchFamily="50" charset="-128"/>
              </a:rPr>
              <a:t> 基地局</a:t>
            </a:r>
            <a:br>
              <a:rPr lang="en-US" altLang="ja-JP" sz="800" dirty="0">
                <a:latin typeface="BIZ UDPゴシック" panose="020B0400000000000000" pitchFamily="50" charset="-128"/>
                <a:ea typeface="BIZ UDPゴシック" panose="020B0400000000000000" pitchFamily="50" charset="-128"/>
              </a:rPr>
            </a:br>
            <a:endParaRPr lang="en-US" altLang="ja-JP" sz="800" dirty="0">
              <a:latin typeface="BIZ UDPゴシック" panose="020B0400000000000000" pitchFamily="50" charset="-128"/>
              <a:ea typeface="BIZ UDPゴシック" panose="020B0400000000000000" pitchFamily="50" charset="-128"/>
            </a:endParaRPr>
          </a:p>
        </p:txBody>
      </p:sp>
      <p:sp>
        <p:nvSpPr>
          <p:cNvPr id="34" name="テキスト ボックス 33">
            <a:extLst>
              <a:ext uri="{FF2B5EF4-FFF2-40B4-BE49-F238E27FC236}">
                <a16:creationId xmlns:a16="http://schemas.microsoft.com/office/drawing/2014/main" id="{E745580A-1645-BBFB-E251-6B780E2600A9}"/>
              </a:ext>
            </a:extLst>
          </p:cNvPr>
          <p:cNvSpPr txBox="1"/>
          <p:nvPr/>
        </p:nvSpPr>
        <p:spPr>
          <a:xfrm>
            <a:off x="7765929" y="3183268"/>
            <a:ext cx="1432631" cy="430887"/>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詳細情報把握</a:t>
            </a:r>
            <a:endParaRPr lang="en-US" altLang="ja-JP" sz="1100" b="1" dirty="0">
              <a:latin typeface="BIZ UDPゴシック" panose="020B0400000000000000" pitchFamily="50" charset="-128"/>
              <a:ea typeface="BIZ UDPゴシック" panose="020B0400000000000000" pitchFamily="50" charset="-128"/>
            </a:endParaRPr>
          </a:p>
          <a:p>
            <a:r>
              <a:rPr lang="ja-JP" altLang="en-US" sz="1100" b="1" dirty="0">
                <a:latin typeface="BIZ UDPゴシック" panose="020B0400000000000000" pitchFamily="50" charset="-128"/>
                <a:ea typeface="BIZ UDPゴシック" panose="020B0400000000000000" pitchFamily="50" charset="-128"/>
              </a:rPr>
              <a:t>（災害・害獣発生時）</a:t>
            </a:r>
            <a:endParaRPr lang="en-US" altLang="ja-JP" sz="1100" b="1" dirty="0">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1243C26C-E420-6150-08AD-EDF65BE089FA}"/>
              </a:ext>
            </a:extLst>
          </p:cNvPr>
          <p:cNvSpPr txBox="1"/>
          <p:nvPr/>
        </p:nvSpPr>
        <p:spPr>
          <a:xfrm>
            <a:off x="2826745" y="5234692"/>
            <a:ext cx="696024" cy="338554"/>
          </a:xfrm>
          <a:prstGeom prst="rect">
            <a:avLst/>
          </a:prstGeom>
          <a:noFill/>
        </p:spPr>
        <p:txBody>
          <a:bodyPr wrap="none" rtlCol="0">
            <a:spAutoFit/>
          </a:bodyPr>
          <a:lstStyle/>
          <a:p>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ユースケース</a:t>
            </a:r>
            <a:br>
              <a:rPr kumimoji="1" lang="en-US" altLang="ja-JP" sz="800" b="1" dirty="0">
                <a:latin typeface="Meiryo UI" panose="020B0604030504040204" pitchFamily="50" charset="-128"/>
                <a:ea typeface="Meiryo UI" panose="020B0604030504040204" pitchFamily="50" charset="-128"/>
                <a:cs typeface="Meiryo UI" panose="020B0604030504040204" pitchFamily="50" charset="-128"/>
              </a:rPr>
            </a:br>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（害獣）</a:t>
            </a:r>
          </a:p>
        </p:txBody>
      </p:sp>
      <p:sp>
        <p:nvSpPr>
          <p:cNvPr id="36" name="矢印: 右 35">
            <a:extLst>
              <a:ext uri="{FF2B5EF4-FFF2-40B4-BE49-F238E27FC236}">
                <a16:creationId xmlns:a16="http://schemas.microsoft.com/office/drawing/2014/main" id="{F4492D4F-EB1D-BB89-FC7D-D87D941D7F3F}"/>
              </a:ext>
            </a:extLst>
          </p:cNvPr>
          <p:cNvSpPr/>
          <p:nvPr/>
        </p:nvSpPr>
        <p:spPr bwMode="auto">
          <a:xfrm rot="1264597">
            <a:off x="3521755" y="3897721"/>
            <a:ext cx="586692"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37" name="矢印: 右 36">
            <a:extLst>
              <a:ext uri="{FF2B5EF4-FFF2-40B4-BE49-F238E27FC236}">
                <a16:creationId xmlns:a16="http://schemas.microsoft.com/office/drawing/2014/main" id="{03ECAD11-2358-7B35-AC88-133457D085F9}"/>
              </a:ext>
            </a:extLst>
          </p:cNvPr>
          <p:cNvSpPr/>
          <p:nvPr/>
        </p:nvSpPr>
        <p:spPr bwMode="auto">
          <a:xfrm rot="10158196">
            <a:off x="3754216" y="5508598"/>
            <a:ext cx="851515"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pic>
        <p:nvPicPr>
          <p:cNvPr id="38" name="グラフィックス 37" descr="クワッドコプター 単色塗りつぶし">
            <a:extLst>
              <a:ext uri="{FF2B5EF4-FFF2-40B4-BE49-F238E27FC236}">
                <a16:creationId xmlns:a16="http://schemas.microsoft.com/office/drawing/2014/main" id="{DCECFAFE-599A-DC19-F857-1BD73A68C6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83668" y="3246465"/>
            <a:ext cx="410344" cy="410344"/>
          </a:xfrm>
          <a:prstGeom prst="rect">
            <a:avLst/>
          </a:prstGeom>
        </p:spPr>
      </p:pic>
      <p:sp>
        <p:nvSpPr>
          <p:cNvPr id="39" name="テキスト ボックス 38">
            <a:extLst>
              <a:ext uri="{FF2B5EF4-FFF2-40B4-BE49-F238E27FC236}">
                <a16:creationId xmlns:a16="http://schemas.microsoft.com/office/drawing/2014/main" id="{3D238854-7C4C-7F39-C1E4-05A19D5827E7}"/>
              </a:ext>
            </a:extLst>
          </p:cNvPr>
          <p:cNvSpPr txBox="1"/>
          <p:nvPr/>
        </p:nvSpPr>
        <p:spPr>
          <a:xfrm>
            <a:off x="5317174" y="3606797"/>
            <a:ext cx="851515"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現場把握・分析</a:t>
            </a:r>
          </a:p>
        </p:txBody>
      </p:sp>
      <p:sp>
        <p:nvSpPr>
          <p:cNvPr id="40" name="コンテンツ プレースホルダー 7">
            <a:extLst>
              <a:ext uri="{FF2B5EF4-FFF2-40B4-BE49-F238E27FC236}">
                <a16:creationId xmlns:a16="http://schemas.microsoft.com/office/drawing/2014/main" id="{B6C919C2-78E8-8D6F-41F0-6C93A4D72B32}"/>
              </a:ext>
            </a:extLst>
          </p:cNvPr>
          <p:cNvSpPr txBox="1">
            <a:spLocks/>
          </p:cNvSpPr>
          <p:nvPr/>
        </p:nvSpPr>
        <p:spPr>
          <a:xfrm>
            <a:off x="3426161" y="3976209"/>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sp>
        <p:nvSpPr>
          <p:cNvPr id="41" name="コンテンツ プレースホルダー 7">
            <a:extLst>
              <a:ext uri="{FF2B5EF4-FFF2-40B4-BE49-F238E27FC236}">
                <a16:creationId xmlns:a16="http://schemas.microsoft.com/office/drawing/2014/main" id="{F06CB68C-42F8-3D54-06B9-10B6CA0E85F2}"/>
              </a:ext>
            </a:extLst>
          </p:cNvPr>
          <p:cNvSpPr txBox="1">
            <a:spLocks/>
          </p:cNvSpPr>
          <p:nvPr/>
        </p:nvSpPr>
        <p:spPr>
          <a:xfrm>
            <a:off x="6257314" y="3238516"/>
            <a:ext cx="1267494" cy="23081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エッジ</a:t>
            </a:r>
            <a:r>
              <a:rPr lang="en-US" altLang="ja-JP" sz="800" dirty="0">
                <a:latin typeface="BIZ UDPゴシック" panose="020B0400000000000000" pitchFamily="50" charset="-128"/>
                <a:ea typeface="BIZ UDPゴシック" panose="020B0400000000000000" pitchFamily="50" charset="-128"/>
              </a:rPr>
              <a:t>AI</a:t>
            </a:r>
            <a:r>
              <a:rPr lang="ja-JP" altLang="en-US" sz="800" dirty="0">
                <a:latin typeface="BIZ UDPゴシック" panose="020B0400000000000000" pitchFamily="50" charset="-128"/>
                <a:ea typeface="BIZ UDPゴシック" panose="020B0400000000000000" pitchFamily="50" charset="-128"/>
              </a:rPr>
              <a:t>（＋</a:t>
            </a:r>
            <a:r>
              <a:rPr lang="en-US" altLang="ja-JP" sz="800" dirty="0">
                <a:latin typeface="BIZ UDPゴシック" panose="020B0400000000000000" pitchFamily="50" charset="-128"/>
                <a:ea typeface="BIZ UDPゴシック" panose="020B0400000000000000" pitchFamily="50" charset="-128"/>
              </a:rPr>
              <a:t>※NPU</a:t>
            </a:r>
            <a:r>
              <a:rPr lang="ja-JP" altLang="en-US" sz="800" dirty="0">
                <a:latin typeface="BIZ UDPゴシック" panose="020B0400000000000000" pitchFamily="50" charset="-128"/>
                <a:ea typeface="BIZ UDPゴシック" panose="020B0400000000000000" pitchFamily="50" charset="-128"/>
              </a:rPr>
              <a:t>）</a:t>
            </a:r>
            <a:endParaRPr lang="en-US" altLang="ja-JP" sz="800" dirty="0">
              <a:latin typeface="BIZ UDPゴシック" panose="020B0400000000000000" pitchFamily="50" charset="-128"/>
              <a:ea typeface="BIZ UDPゴシック" panose="020B0400000000000000" pitchFamily="50" charset="-128"/>
            </a:endParaRPr>
          </a:p>
        </p:txBody>
      </p:sp>
      <p:sp>
        <p:nvSpPr>
          <p:cNvPr id="42" name="コンテンツ プレースホルダー 7">
            <a:extLst>
              <a:ext uri="{FF2B5EF4-FFF2-40B4-BE49-F238E27FC236}">
                <a16:creationId xmlns:a16="http://schemas.microsoft.com/office/drawing/2014/main" id="{9F8A232E-1328-8BD0-599F-6F2965FBFAFD}"/>
              </a:ext>
            </a:extLst>
          </p:cNvPr>
          <p:cNvSpPr txBox="1">
            <a:spLocks/>
          </p:cNvSpPr>
          <p:nvPr/>
        </p:nvSpPr>
        <p:spPr>
          <a:xfrm>
            <a:off x="5420024" y="6189114"/>
            <a:ext cx="2323971" cy="23081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gn="ctr"/>
            <a:r>
              <a:rPr lang="ja-JP" altLang="en-US" sz="1400" dirty="0">
                <a:solidFill>
                  <a:schemeClr val="bg1"/>
                </a:solidFill>
                <a:latin typeface="BIZ UDPゴシック" panose="020B0400000000000000" pitchFamily="50" charset="-128"/>
                <a:ea typeface="BIZ UDPゴシック" panose="020B0400000000000000" pitchFamily="50" charset="-128"/>
              </a:rPr>
              <a:t>地域共有型エッジ</a:t>
            </a:r>
            <a:r>
              <a:rPr lang="en-US" altLang="ja-JP" sz="1400" dirty="0">
                <a:solidFill>
                  <a:schemeClr val="bg1"/>
                </a:solidFill>
                <a:latin typeface="BIZ UDPゴシック" panose="020B0400000000000000" pitchFamily="50" charset="-128"/>
                <a:ea typeface="BIZ UDPゴシック" panose="020B0400000000000000" pitchFamily="50" charset="-128"/>
              </a:rPr>
              <a:t>AI</a:t>
            </a:r>
            <a:r>
              <a:rPr lang="ja-JP" altLang="en-US" sz="1400" dirty="0">
                <a:solidFill>
                  <a:schemeClr val="bg1"/>
                </a:solidFill>
                <a:latin typeface="BIZ UDPゴシック" panose="020B0400000000000000" pitchFamily="50" charset="-128"/>
                <a:ea typeface="BIZ UDPゴシック" panose="020B0400000000000000" pitchFamily="50" charset="-128"/>
              </a:rPr>
              <a:t>基盤</a:t>
            </a:r>
          </a:p>
        </p:txBody>
      </p:sp>
      <p:sp>
        <p:nvSpPr>
          <p:cNvPr id="43" name="テキスト ボックス 42">
            <a:extLst>
              <a:ext uri="{FF2B5EF4-FFF2-40B4-BE49-F238E27FC236}">
                <a16:creationId xmlns:a16="http://schemas.microsoft.com/office/drawing/2014/main" id="{47AB1A82-CFCC-61D6-D66F-4872927E42B7}"/>
              </a:ext>
            </a:extLst>
          </p:cNvPr>
          <p:cNvSpPr txBox="1"/>
          <p:nvPr/>
        </p:nvSpPr>
        <p:spPr>
          <a:xfrm>
            <a:off x="9644122" y="6554735"/>
            <a:ext cx="1474249" cy="215444"/>
          </a:xfrm>
          <a:prstGeom prst="rect">
            <a:avLst/>
          </a:prstGeom>
          <a:noFill/>
        </p:spPr>
        <p:txBody>
          <a:bodyPr wrap="square">
            <a:spAutoFit/>
          </a:bodyPr>
          <a:lstStyle/>
          <a:p>
            <a:r>
              <a:rPr lang="en-US" altLang="ja-JP" sz="800" dirty="0">
                <a:latin typeface="BIZ UDPゴシック" panose="020B0400000000000000" pitchFamily="50" charset="-128"/>
                <a:ea typeface="BIZ UDPゴシック" panose="020B0400000000000000" pitchFamily="50" charset="-128"/>
              </a:rPr>
              <a:t>※NPU</a:t>
            </a:r>
            <a:r>
              <a:rPr lang="ja-JP" altLang="en-US" sz="800" dirty="0">
                <a:latin typeface="BIZ UDPゴシック" panose="020B0400000000000000" pitchFamily="50" charset="-128"/>
                <a:ea typeface="BIZ UDPゴシック" panose="020B0400000000000000" pitchFamily="50" charset="-128"/>
              </a:rPr>
              <a:t>（推論用専用基盤）</a:t>
            </a:r>
            <a:endParaRPr lang="ja-JP" altLang="en-US" sz="800" dirty="0"/>
          </a:p>
        </p:txBody>
      </p:sp>
      <p:sp>
        <p:nvSpPr>
          <p:cNvPr id="44" name="矢印: 右 43">
            <a:extLst>
              <a:ext uri="{FF2B5EF4-FFF2-40B4-BE49-F238E27FC236}">
                <a16:creationId xmlns:a16="http://schemas.microsoft.com/office/drawing/2014/main" id="{8ABC4C84-B96A-9DDF-951B-0EBF518D28FD}"/>
              </a:ext>
            </a:extLst>
          </p:cNvPr>
          <p:cNvSpPr/>
          <p:nvPr/>
        </p:nvSpPr>
        <p:spPr bwMode="auto">
          <a:xfrm rot="19482916" flipH="1">
            <a:off x="8624977" y="4075378"/>
            <a:ext cx="851515"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45" name="コンテンツ プレースホルダー 7">
            <a:extLst>
              <a:ext uri="{FF2B5EF4-FFF2-40B4-BE49-F238E27FC236}">
                <a16:creationId xmlns:a16="http://schemas.microsoft.com/office/drawing/2014/main" id="{294B797E-8A0E-BE83-6F75-FEFE97294481}"/>
              </a:ext>
            </a:extLst>
          </p:cNvPr>
          <p:cNvSpPr txBox="1">
            <a:spLocks/>
          </p:cNvSpPr>
          <p:nvPr/>
        </p:nvSpPr>
        <p:spPr>
          <a:xfrm flipH="1">
            <a:off x="8847166" y="4124638"/>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pic>
        <p:nvPicPr>
          <p:cNvPr id="46" name="グラフィックス 45" descr="クワッドコプター 単色塗りつぶし">
            <a:extLst>
              <a:ext uri="{FF2B5EF4-FFF2-40B4-BE49-F238E27FC236}">
                <a16:creationId xmlns:a16="http://schemas.microsoft.com/office/drawing/2014/main" id="{6F434C19-3DB9-312C-209E-1957175F82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14630" y="3793202"/>
            <a:ext cx="410344" cy="410344"/>
          </a:xfrm>
          <a:prstGeom prst="rect">
            <a:avLst/>
          </a:prstGeom>
        </p:spPr>
      </p:pic>
      <p:sp>
        <p:nvSpPr>
          <p:cNvPr id="47" name="コンテンツ プレースホルダー 7">
            <a:extLst>
              <a:ext uri="{FF2B5EF4-FFF2-40B4-BE49-F238E27FC236}">
                <a16:creationId xmlns:a16="http://schemas.microsoft.com/office/drawing/2014/main" id="{9FE22067-E6AE-77AE-35EF-5E1B719551FD}"/>
              </a:ext>
            </a:extLst>
          </p:cNvPr>
          <p:cNvSpPr txBox="1">
            <a:spLocks/>
          </p:cNvSpPr>
          <p:nvPr/>
        </p:nvSpPr>
        <p:spPr>
          <a:xfrm>
            <a:off x="1964576" y="3517471"/>
            <a:ext cx="1267494" cy="23081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エッジ</a:t>
            </a:r>
            <a:r>
              <a:rPr lang="en-US" altLang="ja-JP" sz="800" dirty="0">
                <a:latin typeface="BIZ UDPゴシック" panose="020B0400000000000000" pitchFamily="50" charset="-128"/>
                <a:ea typeface="BIZ UDPゴシック" panose="020B0400000000000000" pitchFamily="50" charset="-128"/>
              </a:rPr>
              <a:t>AI</a:t>
            </a:r>
            <a:r>
              <a:rPr lang="ja-JP" altLang="en-US" sz="800" dirty="0">
                <a:latin typeface="BIZ UDPゴシック" panose="020B0400000000000000" pitchFamily="50" charset="-128"/>
                <a:ea typeface="BIZ UDPゴシック" panose="020B0400000000000000" pitchFamily="50" charset="-128"/>
              </a:rPr>
              <a:t>（＋</a:t>
            </a:r>
            <a:r>
              <a:rPr lang="en-US" altLang="ja-JP" sz="800" dirty="0">
                <a:latin typeface="BIZ UDPゴシック" panose="020B0400000000000000" pitchFamily="50" charset="-128"/>
                <a:ea typeface="BIZ UDPゴシック" panose="020B0400000000000000" pitchFamily="50" charset="-128"/>
              </a:rPr>
              <a:t>※NPU</a:t>
            </a:r>
            <a:r>
              <a:rPr lang="ja-JP" altLang="en-US" sz="800" dirty="0">
                <a:latin typeface="BIZ UDPゴシック" panose="020B0400000000000000" pitchFamily="50" charset="-128"/>
                <a:ea typeface="BIZ UDPゴシック" panose="020B0400000000000000" pitchFamily="50" charset="-128"/>
              </a:rPr>
              <a:t>）</a:t>
            </a:r>
            <a:endParaRPr lang="en-US" altLang="ja-JP" sz="800" dirty="0">
              <a:latin typeface="BIZ UDPゴシック" panose="020B0400000000000000" pitchFamily="50" charset="-128"/>
              <a:ea typeface="BIZ UDPゴシック" panose="020B0400000000000000" pitchFamily="50" charset="-128"/>
            </a:endParaRPr>
          </a:p>
        </p:txBody>
      </p:sp>
      <p:sp>
        <p:nvSpPr>
          <p:cNvPr id="48" name="テキスト ボックス 47">
            <a:extLst>
              <a:ext uri="{FF2B5EF4-FFF2-40B4-BE49-F238E27FC236}">
                <a16:creationId xmlns:a16="http://schemas.microsoft.com/office/drawing/2014/main" id="{574091E4-FB92-A98E-70E2-BF912C38D939}"/>
              </a:ext>
            </a:extLst>
          </p:cNvPr>
          <p:cNvSpPr txBox="1"/>
          <p:nvPr/>
        </p:nvSpPr>
        <p:spPr>
          <a:xfrm>
            <a:off x="5970099" y="4426402"/>
            <a:ext cx="1734853" cy="1815882"/>
          </a:xfrm>
          <a:prstGeom prst="rect">
            <a:avLst/>
          </a:prstGeom>
          <a:noFill/>
        </p:spPr>
        <p:txBody>
          <a:bodyPr wrap="square">
            <a:spAutoFit/>
          </a:bodyPr>
          <a:lstStyle/>
          <a:p>
            <a:r>
              <a:rPr lang="ja-JP" altLang="en-US" sz="800" dirty="0">
                <a:latin typeface="BIZ UDPゴシック" panose="020B0400000000000000" pitchFamily="50" charset="-128"/>
                <a:ea typeface="BIZ UDPゴシック" panose="020B0400000000000000" pitchFamily="50" charset="-128"/>
              </a:rPr>
              <a:t>＜平常時＞</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地形マップ</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雨量分析 </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河川分析 </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地形分析</a:t>
            </a:r>
            <a:endParaRPr lang="en-US" altLang="ja-JP" sz="800" dirty="0">
              <a:latin typeface="BIZ UDPゴシック" panose="020B0400000000000000" pitchFamily="50" charset="-128"/>
              <a:ea typeface="BIZ UDPゴシック" panose="020B0400000000000000" pitchFamily="50" charset="-128"/>
            </a:endParaRPr>
          </a:p>
          <a:p>
            <a:endParaRPr lang="en-US" altLang="ja-JP" sz="800" dirty="0">
              <a:latin typeface="BIZ UDPゴシック" panose="020B0400000000000000" pitchFamily="50" charset="-128"/>
              <a:ea typeface="BIZ UDPゴシック" panose="020B0400000000000000" pitchFamily="50" charset="-128"/>
            </a:endParaRPr>
          </a:p>
          <a:p>
            <a:endParaRPr lang="en-US" altLang="ja-JP" sz="800" dirty="0">
              <a:latin typeface="BIZ UDPゴシック" panose="020B0400000000000000" pitchFamily="50" charset="-128"/>
              <a:ea typeface="BIZ UDPゴシック" panose="020B0400000000000000" pitchFamily="50" charset="-128"/>
            </a:endParaRPr>
          </a:p>
          <a:p>
            <a:endParaRPr lang="en-US" altLang="zh-TW"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＜災害予測・シュミレーション＞</a:t>
            </a:r>
            <a:endParaRPr lang="en-US" altLang="zh-TW" sz="800" dirty="0">
              <a:latin typeface="BIZ UDPゴシック" panose="020B0400000000000000" pitchFamily="50" charset="-128"/>
              <a:ea typeface="BIZ UDPゴシック" panose="020B0400000000000000" pitchFamily="50" charset="-128"/>
            </a:endParaRPr>
          </a:p>
          <a:p>
            <a:r>
              <a:rPr lang="zh-TW" altLang="en-US" sz="800" dirty="0">
                <a:latin typeface="BIZ UDPゴシック" panose="020B0400000000000000" pitchFamily="50" charset="-128"/>
                <a:ea typeface="BIZ UDPゴシック" panose="020B0400000000000000" pitchFamily="50" charset="-128"/>
              </a:rPr>
              <a:t>浸水予測</a:t>
            </a:r>
            <a:endParaRPr lang="en-US" altLang="zh-TW" sz="800" dirty="0">
              <a:latin typeface="BIZ UDPゴシック" panose="020B0400000000000000" pitchFamily="50" charset="-128"/>
              <a:ea typeface="BIZ UDPゴシック" panose="020B0400000000000000" pitchFamily="50" charset="-128"/>
            </a:endParaRPr>
          </a:p>
          <a:p>
            <a:r>
              <a:rPr lang="zh-TW" altLang="en-US" sz="800" dirty="0">
                <a:latin typeface="BIZ UDPゴシック" panose="020B0400000000000000" pitchFamily="50" charset="-128"/>
                <a:ea typeface="BIZ UDPゴシック" panose="020B0400000000000000" pitchFamily="50" charset="-128"/>
              </a:rPr>
              <a:t>崩落予測</a:t>
            </a:r>
            <a:endParaRPr lang="en-US" altLang="zh-TW" sz="800" dirty="0">
              <a:latin typeface="BIZ UDPゴシック" panose="020B0400000000000000" pitchFamily="50" charset="-128"/>
              <a:ea typeface="BIZ UDPゴシック" panose="020B0400000000000000" pitchFamily="50" charset="-128"/>
            </a:endParaRPr>
          </a:p>
          <a:p>
            <a:r>
              <a:rPr lang="zh-TW" altLang="en-US" sz="800" dirty="0">
                <a:latin typeface="BIZ UDPゴシック" panose="020B0400000000000000" pitchFamily="50" charset="-128"/>
                <a:ea typeface="BIZ UDPゴシック" panose="020B0400000000000000" pitchFamily="50" charset="-128"/>
              </a:rPr>
              <a:t>危険区域予測</a:t>
            </a:r>
            <a:endParaRPr lang="en-US" altLang="zh-TW"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避難経路生成</a:t>
            </a:r>
            <a:br>
              <a:rPr lang="en-US" altLang="ja-JP" sz="800" dirty="0">
                <a:latin typeface="BIZ UDPゴシック" panose="020B0400000000000000" pitchFamily="50" charset="-128"/>
                <a:ea typeface="BIZ UDPゴシック" panose="020B0400000000000000" pitchFamily="50" charset="-128"/>
              </a:rPr>
            </a:br>
            <a:endParaRPr lang="ja-JP" altLang="en-US" sz="800" dirty="0">
              <a:latin typeface="BIZ UDPゴシック" panose="020B0400000000000000" pitchFamily="50" charset="-128"/>
              <a:ea typeface="BIZ UDPゴシック" panose="020B0400000000000000" pitchFamily="50" charset="-128"/>
            </a:endParaRPr>
          </a:p>
        </p:txBody>
      </p:sp>
      <p:sp>
        <p:nvSpPr>
          <p:cNvPr id="49" name="テキスト ボックス 48">
            <a:extLst>
              <a:ext uri="{FF2B5EF4-FFF2-40B4-BE49-F238E27FC236}">
                <a16:creationId xmlns:a16="http://schemas.microsoft.com/office/drawing/2014/main" id="{88CF6044-AF9F-9496-08F2-16491E01E7E4}"/>
              </a:ext>
            </a:extLst>
          </p:cNvPr>
          <p:cNvSpPr txBox="1"/>
          <p:nvPr/>
        </p:nvSpPr>
        <p:spPr>
          <a:xfrm>
            <a:off x="3267929" y="4172771"/>
            <a:ext cx="883514" cy="338554"/>
          </a:xfrm>
          <a:prstGeom prst="rect">
            <a:avLst/>
          </a:prstGeom>
          <a:noFill/>
        </p:spPr>
        <p:txBody>
          <a:bodyPr wrap="square">
            <a:spAutoFit/>
          </a:bodyPr>
          <a:lstStyle/>
          <a:p>
            <a:r>
              <a:rPr lang="ja-JP" altLang="en-US" sz="800" dirty="0">
                <a:latin typeface="BIZ UDPゴシック" panose="020B0400000000000000" pitchFamily="50" charset="-128"/>
                <a:ea typeface="BIZ UDPゴシック" panose="020B0400000000000000" pitchFamily="50" charset="-128"/>
              </a:rPr>
              <a:t>監視カメラ</a:t>
            </a:r>
          </a:p>
          <a:p>
            <a:r>
              <a:rPr lang="ja-JP" altLang="en-US" sz="800" dirty="0">
                <a:latin typeface="BIZ UDPゴシック" panose="020B0400000000000000" pitchFamily="50" charset="-128"/>
                <a:ea typeface="BIZ UDPゴシック" panose="020B0400000000000000" pitchFamily="50" charset="-128"/>
              </a:rPr>
              <a:t>各種センサー</a:t>
            </a:r>
          </a:p>
        </p:txBody>
      </p:sp>
      <p:sp>
        <p:nvSpPr>
          <p:cNvPr id="50" name="テキスト ボックス 49">
            <a:extLst>
              <a:ext uri="{FF2B5EF4-FFF2-40B4-BE49-F238E27FC236}">
                <a16:creationId xmlns:a16="http://schemas.microsoft.com/office/drawing/2014/main" id="{AAE2EB18-C676-C699-5647-1F10EEB84669}"/>
              </a:ext>
            </a:extLst>
          </p:cNvPr>
          <p:cNvSpPr txBox="1"/>
          <p:nvPr/>
        </p:nvSpPr>
        <p:spPr>
          <a:xfrm>
            <a:off x="4552598" y="4450712"/>
            <a:ext cx="1734853" cy="1692771"/>
          </a:xfrm>
          <a:prstGeom prst="rect">
            <a:avLst/>
          </a:prstGeom>
          <a:noFill/>
        </p:spPr>
        <p:txBody>
          <a:bodyPr wrap="square">
            <a:spAutoFit/>
          </a:bodyPr>
          <a:lstStyle/>
          <a:p>
            <a:r>
              <a:rPr lang="ja-JP" altLang="en-US" sz="800" dirty="0">
                <a:latin typeface="BIZ UDPゴシック" panose="020B0400000000000000" pitchFamily="50" charset="-128"/>
                <a:ea typeface="BIZ UDPゴシック" panose="020B0400000000000000" pitchFamily="50" charset="-128"/>
              </a:rPr>
              <a:t>＜平常時＞</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地域マップ</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行動予測</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侵入予測 </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包囲計算</a:t>
            </a:r>
            <a:endParaRPr lang="en-US" altLang="ja-JP" sz="800" dirty="0">
              <a:latin typeface="BIZ UDPゴシック" panose="020B0400000000000000" pitchFamily="50" charset="-128"/>
              <a:ea typeface="BIZ UDPゴシック" panose="020B0400000000000000" pitchFamily="50" charset="-128"/>
            </a:endParaRPr>
          </a:p>
          <a:p>
            <a:endParaRPr lang="en-US" altLang="ja-JP" sz="800" dirty="0">
              <a:latin typeface="BIZ UDPゴシック" panose="020B0400000000000000" pitchFamily="50" charset="-128"/>
              <a:ea typeface="BIZ UDPゴシック" panose="020B0400000000000000" pitchFamily="50" charset="-128"/>
            </a:endParaRPr>
          </a:p>
          <a:p>
            <a:endParaRPr lang="en-US" altLang="ja-JP" sz="800" dirty="0">
              <a:latin typeface="BIZ UDPゴシック" panose="020B0400000000000000" pitchFamily="50" charset="-128"/>
              <a:ea typeface="BIZ UDPゴシック" panose="020B0400000000000000" pitchFamily="50" charset="-128"/>
            </a:endParaRPr>
          </a:p>
          <a:p>
            <a:endParaRPr lang="en-US" altLang="zh-TW"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＜害獣・追い込み計画＞</a:t>
            </a:r>
            <a:endParaRPr lang="en-US" altLang="zh-TW"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行動予知</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封鎖方針決定</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群制御・ドローン再配置</a:t>
            </a:r>
            <a:endParaRPr lang="en-US" altLang="ja-JP" sz="800" dirty="0">
              <a:latin typeface="BIZ UDPゴシック" panose="020B0400000000000000" pitchFamily="50" charset="-128"/>
              <a:ea typeface="BIZ UDPゴシック" panose="020B0400000000000000" pitchFamily="50" charset="-128"/>
            </a:endParaRPr>
          </a:p>
          <a:p>
            <a:endParaRPr lang="en-US" altLang="zh-TW" sz="800" dirty="0">
              <a:latin typeface="BIZ UDPゴシック" panose="020B0400000000000000" pitchFamily="50" charset="-128"/>
              <a:ea typeface="BIZ UDPゴシック" panose="020B0400000000000000" pitchFamily="50" charset="-128"/>
            </a:endParaRPr>
          </a:p>
        </p:txBody>
      </p:sp>
      <p:sp>
        <p:nvSpPr>
          <p:cNvPr id="51" name="テキスト ボックス 50">
            <a:extLst>
              <a:ext uri="{FF2B5EF4-FFF2-40B4-BE49-F238E27FC236}">
                <a16:creationId xmlns:a16="http://schemas.microsoft.com/office/drawing/2014/main" id="{409797E0-C50C-6617-9549-130D9874F82D}"/>
              </a:ext>
            </a:extLst>
          </p:cNvPr>
          <p:cNvSpPr txBox="1"/>
          <p:nvPr/>
        </p:nvSpPr>
        <p:spPr>
          <a:xfrm>
            <a:off x="7260581" y="5615799"/>
            <a:ext cx="1377581" cy="430887"/>
          </a:xfrm>
          <a:prstGeom prst="rect">
            <a:avLst/>
          </a:prstGeom>
          <a:noFill/>
        </p:spPr>
        <p:txBody>
          <a:bodyPr wrap="square">
            <a:spAutoFit/>
          </a:bodyPr>
          <a:lstStyle/>
          <a:p>
            <a:r>
              <a:rPr lang="en-US" altLang="ja-JP" sz="1100" b="1" dirty="0">
                <a:latin typeface="BIZ UDPゴシック" panose="020B0400000000000000" pitchFamily="50" charset="-128"/>
                <a:ea typeface="BIZ UDPゴシック" panose="020B0400000000000000" pitchFamily="50" charset="-128"/>
              </a:rPr>
              <a:t>AI</a:t>
            </a:r>
            <a:r>
              <a:rPr lang="ja-JP" altLang="en-US" sz="1100" b="1" dirty="0">
                <a:latin typeface="BIZ UDPゴシック" panose="020B0400000000000000" pitchFamily="50" charset="-128"/>
                <a:ea typeface="BIZ UDPゴシック" panose="020B0400000000000000" pitchFamily="50" charset="-128"/>
              </a:rPr>
              <a:t>シュミレーション</a:t>
            </a:r>
            <a:endParaRPr lang="en-US" altLang="ja-JP" sz="1100" b="1" dirty="0">
              <a:latin typeface="BIZ UDPゴシック" panose="020B0400000000000000" pitchFamily="50" charset="-128"/>
              <a:ea typeface="BIZ UDPゴシック" panose="020B0400000000000000" pitchFamily="50" charset="-128"/>
            </a:endParaRPr>
          </a:p>
          <a:p>
            <a:r>
              <a:rPr lang="ja-JP" altLang="en-US" sz="1100" b="1" dirty="0">
                <a:latin typeface="BIZ UDPゴシック" panose="020B0400000000000000" pitchFamily="50" charset="-128"/>
                <a:ea typeface="BIZ UDPゴシック" panose="020B0400000000000000" pitchFamily="50" charset="-128"/>
              </a:rPr>
              <a:t>（未来予測・予知）</a:t>
            </a:r>
            <a:endParaRPr lang="en-US" altLang="ja-JP" sz="1100" b="1" dirty="0">
              <a:latin typeface="BIZ UDPゴシック" panose="020B0400000000000000" pitchFamily="50" charset="-128"/>
              <a:ea typeface="BIZ UDPゴシック" panose="020B0400000000000000" pitchFamily="50" charset="-128"/>
            </a:endParaRPr>
          </a:p>
        </p:txBody>
      </p:sp>
      <p:sp>
        <p:nvSpPr>
          <p:cNvPr id="52" name="テキスト ボックス 51">
            <a:extLst>
              <a:ext uri="{FF2B5EF4-FFF2-40B4-BE49-F238E27FC236}">
                <a16:creationId xmlns:a16="http://schemas.microsoft.com/office/drawing/2014/main" id="{90F98AE4-66A6-74CB-51EE-219ACD64AD46}"/>
              </a:ext>
            </a:extLst>
          </p:cNvPr>
          <p:cNvSpPr txBox="1"/>
          <p:nvPr/>
        </p:nvSpPr>
        <p:spPr>
          <a:xfrm>
            <a:off x="7296684" y="4503368"/>
            <a:ext cx="2035439" cy="430887"/>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地域デジタルツイン</a:t>
            </a:r>
            <a:br>
              <a:rPr lang="en-US" altLang="ja-JP" sz="1100" b="1" dirty="0">
                <a:latin typeface="BIZ UDPゴシック" panose="020B0400000000000000" pitchFamily="50" charset="-128"/>
                <a:ea typeface="BIZ UDPゴシック" panose="020B0400000000000000" pitchFamily="50" charset="-128"/>
              </a:rPr>
            </a:br>
            <a:r>
              <a:rPr lang="ja-JP" altLang="en-US" sz="1100" b="1" dirty="0">
                <a:latin typeface="BIZ UDPゴシック" panose="020B0400000000000000" pitchFamily="50" charset="-128"/>
                <a:ea typeface="BIZ UDPゴシック" panose="020B0400000000000000" pitchFamily="50" charset="-128"/>
              </a:rPr>
              <a:t>（現実世界の再現）</a:t>
            </a:r>
            <a:endParaRPr lang="en-US" altLang="ja-JP" sz="1100" b="1" dirty="0">
              <a:latin typeface="BIZ UDPゴシック" panose="020B0400000000000000" pitchFamily="50" charset="-128"/>
              <a:ea typeface="BIZ UDPゴシック" panose="020B0400000000000000" pitchFamily="50" charset="-128"/>
            </a:endParaRPr>
          </a:p>
        </p:txBody>
      </p:sp>
      <p:sp>
        <p:nvSpPr>
          <p:cNvPr id="53" name="テキスト ボックス 52">
            <a:extLst>
              <a:ext uri="{FF2B5EF4-FFF2-40B4-BE49-F238E27FC236}">
                <a16:creationId xmlns:a16="http://schemas.microsoft.com/office/drawing/2014/main" id="{84FD6689-295F-7B9D-1177-F0512457011D}"/>
              </a:ext>
            </a:extLst>
          </p:cNvPr>
          <p:cNvSpPr txBox="1"/>
          <p:nvPr/>
        </p:nvSpPr>
        <p:spPr>
          <a:xfrm>
            <a:off x="1944222" y="4314376"/>
            <a:ext cx="1206723" cy="430887"/>
          </a:xfrm>
          <a:prstGeom prst="rect">
            <a:avLst/>
          </a:prstGeom>
          <a:noFill/>
        </p:spPr>
        <p:txBody>
          <a:bodyPr wrap="square">
            <a:spAutoFit/>
          </a:bodyPr>
          <a:lstStyle/>
          <a:p>
            <a:pPr algn="ctr"/>
            <a:r>
              <a:rPr lang="ja-JP" altLang="en-US" sz="1100" b="1" dirty="0">
                <a:latin typeface="BIZ UDPゴシック" panose="020B0400000000000000" pitchFamily="50" charset="-128"/>
                <a:ea typeface="BIZ UDPゴシック" panose="020B0400000000000000" pitchFamily="50" charset="-128"/>
              </a:rPr>
              <a:t>地域データ収集</a:t>
            </a:r>
            <a:endParaRPr lang="en-US" altLang="ja-JP" sz="1100" b="1" dirty="0">
              <a:latin typeface="BIZ UDPゴシック" panose="020B0400000000000000" pitchFamily="50" charset="-128"/>
              <a:ea typeface="BIZ UDPゴシック" panose="020B0400000000000000" pitchFamily="50" charset="-128"/>
            </a:endParaRPr>
          </a:p>
          <a:p>
            <a:pPr algn="ctr"/>
            <a:r>
              <a:rPr lang="ja-JP" altLang="en-US" sz="1100" b="1" dirty="0">
                <a:latin typeface="BIZ UDPゴシック" panose="020B0400000000000000" pitchFamily="50" charset="-128"/>
                <a:ea typeface="BIZ UDPゴシック" panose="020B0400000000000000" pitchFamily="50" charset="-128"/>
              </a:rPr>
              <a:t>（平常時）</a:t>
            </a:r>
            <a:endParaRPr lang="en-US" altLang="ja-JP" sz="1100" b="1" dirty="0">
              <a:latin typeface="BIZ UDPゴシック" panose="020B0400000000000000" pitchFamily="50" charset="-128"/>
              <a:ea typeface="BIZ UDPゴシック" panose="020B0400000000000000" pitchFamily="50" charset="-128"/>
            </a:endParaRPr>
          </a:p>
        </p:txBody>
      </p:sp>
      <p:grpSp>
        <p:nvGrpSpPr>
          <p:cNvPr id="54" name="グループ化 53">
            <a:extLst>
              <a:ext uri="{FF2B5EF4-FFF2-40B4-BE49-F238E27FC236}">
                <a16:creationId xmlns:a16="http://schemas.microsoft.com/office/drawing/2014/main" id="{43686969-634E-9996-1B34-4F58A7DDF83C}"/>
              </a:ext>
            </a:extLst>
          </p:cNvPr>
          <p:cNvGrpSpPr/>
          <p:nvPr/>
        </p:nvGrpSpPr>
        <p:grpSpPr>
          <a:xfrm>
            <a:off x="9419946" y="3408706"/>
            <a:ext cx="638976" cy="545947"/>
            <a:chOff x="9419946" y="3408706"/>
            <a:chExt cx="638976" cy="545947"/>
          </a:xfrm>
        </p:grpSpPr>
        <p:pic>
          <p:nvPicPr>
            <p:cNvPr id="55" name="グラフィックス 54" descr="世界 枠線">
              <a:extLst>
                <a:ext uri="{FF2B5EF4-FFF2-40B4-BE49-F238E27FC236}">
                  <a16:creationId xmlns:a16="http://schemas.microsoft.com/office/drawing/2014/main" id="{681D778E-885F-BAB4-03AD-9AB2625A4FE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476694" y="3408706"/>
              <a:ext cx="545947" cy="545947"/>
            </a:xfrm>
            <a:prstGeom prst="rect">
              <a:avLst/>
            </a:prstGeom>
          </p:spPr>
        </p:pic>
        <p:sp>
          <p:nvSpPr>
            <p:cNvPr id="56" name="円弧 55">
              <a:extLst>
                <a:ext uri="{FF2B5EF4-FFF2-40B4-BE49-F238E27FC236}">
                  <a16:creationId xmlns:a16="http://schemas.microsoft.com/office/drawing/2014/main" id="{00A2DDDC-99AF-E3D7-2DC7-F55DD5395925}"/>
                </a:ext>
              </a:extLst>
            </p:cNvPr>
            <p:cNvSpPr/>
            <p:nvPr/>
          </p:nvSpPr>
          <p:spPr>
            <a:xfrm rot="13569638">
              <a:off x="9672981" y="3329638"/>
              <a:ext cx="132905" cy="638976"/>
            </a:xfrm>
            <a:prstGeom prst="arc">
              <a:avLst>
                <a:gd name="adj1" fmla="val 15432489"/>
                <a:gd name="adj2" fmla="val 6381068"/>
              </a:avLst>
            </a:prstGeom>
            <a:noFill/>
            <a:ln w="31750" cmpd="sng">
              <a:solidFill>
                <a:schemeClr val="tx1"/>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dirty="0"/>
            </a:p>
          </p:txBody>
        </p:sp>
      </p:grpSp>
      <p:sp>
        <p:nvSpPr>
          <p:cNvPr id="57" name="コンテンツ プレースホルダー 7">
            <a:extLst>
              <a:ext uri="{FF2B5EF4-FFF2-40B4-BE49-F238E27FC236}">
                <a16:creationId xmlns:a16="http://schemas.microsoft.com/office/drawing/2014/main" id="{3DFE7803-D34C-9108-75A0-6053C28ADD12}"/>
              </a:ext>
            </a:extLst>
          </p:cNvPr>
          <p:cNvSpPr txBox="1">
            <a:spLocks/>
          </p:cNvSpPr>
          <p:nvPr/>
        </p:nvSpPr>
        <p:spPr>
          <a:xfrm>
            <a:off x="9379751" y="3906192"/>
            <a:ext cx="735853"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800" dirty="0">
                <a:latin typeface="BIZ UDPゴシック" panose="020B0400000000000000" pitchFamily="50" charset="-128"/>
                <a:ea typeface="BIZ UDPゴシック" panose="020B0400000000000000" pitchFamily="50" charset="-128"/>
              </a:rPr>
              <a:t>Internet</a:t>
            </a:r>
          </a:p>
        </p:txBody>
      </p:sp>
      <p:sp>
        <p:nvSpPr>
          <p:cNvPr id="58" name="矢印: 右 57">
            <a:extLst>
              <a:ext uri="{FF2B5EF4-FFF2-40B4-BE49-F238E27FC236}">
                <a16:creationId xmlns:a16="http://schemas.microsoft.com/office/drawing/2014/main" id="{B996890B-4938-F2C2-E315-75630C179A37}"/>
              </a:ext>
            </a:extLst>
          </p:cNvPr>
          <p:cNvSpPr/>
          <p:nvPr/>
        </p:nvSpPr>
        <p:spPr bwMode="auto">
          <a:xfrm rot="20335403" flipH="1">
            <a:off x="4900471" y="3827647"/>
            <a:ext cx="586692"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59" name="コンテンツ プレースホルダー 7">
            <a:extLst>
              <a:ext uri="{FF2B5EF4-FFF2-40B4-BE49-F238E27FC236}">
                <a16:creationId xmlns:a16="http://schemas.microsoft.com/office/drawing/2014/main" id="{B53EBAEC-257F-85C0-148A-B75A87CE69A7}"/>
              </a:ext>
            </a:extLst>
          </p:cNvPr>
          <p:cNvSpPr txBox="1">
            <a:spLocks/>
          </p:cNvSpPr>
          <p:nvPr/>
        </p:nvSpPr>
        <p:spPr>
          <a:xfrm>
            <a:off x="4915256" y="3921209"/>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pic>
        <p:nvPicPr>
          <p:cNvPr id="60" name="グラフィックス 59" descr="基地局 単色塗りつぶし">
            <a:extLst>
              <a:ext uri="{FF2B5EF4-FFF2-40B4-BE49-F238E27FC236}">
                <a16:creationId xmlns:a16="http://schemas.microsoft.com/office/drawing/2014/main" id="{3624BB1F-97F8-564E-3912-216C9CEDC29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909678" y="6056478"/>
            <a:ext cx="491466" cy="491466"/>
          </a:xfrm>
          <a:prstGeom prst="rect">
            <a:avLst/>
          </a:prstGeom>
        </p:spPr>
      </p:pic>
      <p:sp>
        <p:nvSpPr>
          <p:cNvPr id="61" name="コンテンツ プレースホルダー 7">
            <a:extLst>
              <a:ext uri="{FF2B5EF4-FFF2-40B4-BE49-F238E27FC236}">
                <a16:creationId xmlns:a16="http://schemas.microsoft.com/office/drawing/2014/main" id="{3FE2CB60-3070-ACDD-94DB-6A445CF60BD0}"/>
              </a:ext>
            </a:extLst>
          </p:cNvPr>
          <p:cNvSpPr txBox="1">
            <a:spLocks/>
          </p:cNvSpPr>
          <p:nvPr/>
        </p:nvSpPr>
        <p:spPr>
          <a:xfrm>
            <a:off x="3839802" y="6513265"/>
            <a:ext cx="698143" cy="230809"/>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800" dirty="0">
                <a:latin typeface="BIZ UDPゴシック" panose="020B0400000000000000" pitchFamily="50" charset="-128"/>
                <a:ea typeface="BIZ UDPゴシック" panose="020B0400000000000000" pitchFamily="50" charset="-128"/>
              </a:rPr>
              <a:t>5G</a:t>
            </a:r>
            <a:r>
              <a:rPr lang="ja-JP" altLang="en-US" sz="800" dirty="0">
                <a:latin typeface="BIZ UDPゴシック" panose="020B0400000000000000" pitchFamily="50" charset="-128"/>
                <a:ea typeface="BIZ UDPゴシック" panose="020B0400000000000000" pitchFamily="50" charset="-128"/>
              </a:rPr>
              <a:t> 基地局</a:t>
            </a:r>
            <a:br>
              <a:rPr lang="en-US" altLang="ja-JP" sz="800" dirty="0">
                <a:latin typeface="BIZ UDPゴシック" panose="020B0400000000000000" pitchFamily="50" charset="-128"/>
                <a:ea typeface="BIZ UDPゴシック" panose="020B0400000000000000" pitchFamily="50" charset="-128"/>
              </a:rPr>
            </a:br>
            <a:endParaRPr lang="en-US" altLang="ja-JP" sz="800" dirty="0">
              <a:latin typeface="BIZ UDPゴシック" panose="020B0400000000000000" pitchFamily="50" charset="-128"/>
              <a:ea typeface="BIZ UDPゴシック" panose="020B0400000000000000" pitchFamily="50" charset="-128"/>
            </a:endParaRPr>
          </a:p>
        </p:txBody>
      </p:sp>
      <p:sp>
        <p:nvSpPr>
          <p:cNvPr id="62" name="テキスト ボックス 61">
            <a:extLst>
              <a:ext uri="{FF2B5EF4-FFF2-40B4-BE49-F238E27FC236}">
                <a16:creationId xmlns:a16="http://schemas.microsoft.com/office/drawing/2014/main" id="{C45E42B9-26F2-E827-DFC6-ABBC0B0266CC}"/>
              </a:ext>
            </a:extLst>
          </p:cNvPr>
          <p:cNvSpPr txBox="1"/>
          <p:nvPr/>
        </p:nvSpPr>
        <p:spPr>
          <a:xfrm>
            <a:off x="1282287" y="4983601"/>
            <a:ext cx="902811" cy="215444"/>
          </a:xfrm>
          <a:prstGeom prst="rect">
            <a:avLst/>
          </a:prstGeom>
          <a:noFill/>
        </p:spPr>
        <p:txBody>
          <a:bodyPr wrap="none" rtlCol="0">
            <a:spAutoFit/>
          </a:bodyPr>
          <a:lstStyle/>
          <a:p>
            <a:r>
              <a:rPr lang="ja-JP" altLang="en-US" sz="800" dirty="0">
                <a:latin typeface="Meiryo UI" panose="020B0604030504040204" pitchFamily="50" charset="-128"/>
                <a:ea typeface="Meiryo UI" panose="020B0604030504040204" pitchFamily="50" charset="-128"/>
                <a:cs typeface="Meiryo UI" panose="020B0604030504040204" pitchFamily="50" charset="-128"/>
              </a:rPr>
              <a:t>排除・誘導・駆除</a:t>
            </a:r>
            <a:endParaRPr kumimoji="1" lang="ja-JP" altLang="en-US" sz="8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63" name="コンテンツ プレースホルダー 7">
            <a:extLst>
              <a:ext uri="{FF2B5EF4-FFF2-40B4-BE49-F238E27FC236}">
                <a16:creationId xmlns:a16="http://schemas.microsoft.com/office/drawing/2014/main" id="{77B10FC1-763D-FC39-10FD-C3628CC2A92E}"/>
              </a:ext>
            </a:extLst>
          </p:cNvPr>
          <p:cNvSpPr txBox="1">
            <a:spLocks/>
          </p:cNvSpPr>
          <p:nvPr/>
        </p:nvSpPr>
        <p:spPr>
          <a:xfrm>
            <a:off x="5615539" y="6469267"/>
            <a:ext cx="2164041" cy="230816"/>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1100" dirty="0">
                <a:latin typeface="BIZ UDPゴシック" panose="020B0400000000000000" pitchFamily="50" charset="-128"/>
                <a:ea typeface="BIZ UDPゴシック" panose="020B0400000000000000" pitchFamily="50" charset="-128"/>
              </a:rPr>
              <a:t>（</a:t>
            </a:r>
            <a:r>
              <a:rPr lang="en-US" altLang="ja-JP" sz="1100" dirty="0">
                <a:latin typeface="BIZ UDPゴシック" panose="020B0400000000000000" pitchFamily="50" charset="-128"/>
                <a:ea typeface="BIZ UDPゴシック" panose="020B0400000000000000" pitchFamily="50" charset="-128"/>
              </a:rPr>
              <a:t>GPU</a:t>
            </a:r>
            <a:r>
              <a:rPr lang="ja-JP" altLang="en-US" sz="1100" dirty="0">
                <a:latin typeface="BIZ UDPゴシック" panose="020B0400000000000000" pitchFamily="50" charset="-128"/>
                <a:ea typeface="BIZ UDPゴシック" panose="020B0400000000000000" pitchFamily="50" charset="-128"/>
              </a:rPr>
              <a:t>＋</a:t>
            </a:r>
            <a:r>
              <a:rPr lang="en-US" altLang="ja-JP" sz="1100" dirty="0">
                <a:latin typeface="BIZ UDPゴシック" panose="020B0400000000000000" pitchFamily="50" charset="-128"/>
                <a:ea typeface="BIZ UDPゴシック" panose="020B0400000000000000" pitchFamily="50" charset="-128"/>
              </a:rPr>
              <a:t>NPU</a:t>
            </a:r>
            <a:r>
              <a:rPr lang="ja-JP" altLang="en-US" sz="1100" dirty="0">
                <a:latin typeface="BIZ UDPゴシック" panose="020B0400000000000000" pitchFamily="50" charset="-128"/>
                <a:ea typeface="BIZ UDPゴシック" panose="020B0400000000000000" pitchFamily="50" charset="-128"/>
              </a:rPr>
              <a:t>＋ストレージ）</a:t>
            </a:r>
            <a:endParaRPr lang="en-US" altLang="ja-JP" sz="1100" dirty="0">
              <a:latin typeface="BIZ UDPゴシック" panose="020B0400000000000000" pitchFamily="50" charset="-128"/>
              <a:ea typeface="BIZ UDPゴシック" panose="020B0400000000000000" pitchFamily="50" charset="-128"/>
            </a:endParaRPr>
          </a:p>
        </p:txBody>
      </p:sp>
      <p:sp>
        <p:nvSpPr>
          <p:cNvPr id="1024" name="テキスト ボックス 1023">
            <a:extLst>
              <a:ext uri="{FF2B5EF4-FFF2-40B4-BE49-F238E27FC236}">
                <a16:creationId xmlns:a16="http://schemas.microsoft.com/office/drawing/2014/main" id="{C0E59578-2537-BD21-4E40-EF54731DDA05}"/>
              </a:ext>
            </a:extLst>
          </p:cNvPr>
          <p:cNvSpPr txBox="1"/>
          <p:nvPr/>
        </p:nvSpPr>
        <p:spPr>
          <a:xfrm>
            <a:off x="9699614" y="4100749"/>
            <a:ext cx="1220923" cy="584775"/>
          </a:xfrm>
          <a:prstGeom prst="rect">
            <a:avLst/>
          </a:prstGeom>
          <a:noFill/>
        </p:spPr>
        <p:txBody>
          <a:bodyPr wrap="square">
            <a:spAutoFit/>
          </a:bodyPr>
          <a:lstStyle/>
          <a:p>
            <a:r>
              <a:rPr lang="ja-JP" altLang="en-US" sz="800" dirty="0">
                <a:latin typeface="BIZ UDPゴシック" panose="020B0400000000000000" pitchFamily="50" charset="-128"/>
                <a:ea typeface="BIZ UDPゴシック" panose="020B0400000000000000" pitchFamily="50" charset="-128"/>
              </a:rPr>
              <a:t>対象認識</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状況理解</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環境把握</a:t>
            </a:r>
            <a:endParaRPr lang="en-US" altLang="ja-JP" sz="800" dirty="0">
              <a:latin typeface="BIZ UDPゴシック" panose="020B0400000000000000" pitchFamily="50" charset="-128"/>
              <a:ea typeface="BIZ UDPゴシック" panose="020B0400000000000000" pitchFamily="50" charset="-128"/>
            </a:endParaRPr>
          </a:p>
          <a:p>
            <a:r>
              <a:rPr lang="ja-JP" altLang="en-US" sz="800" dirty="0">
                <a:latin typeface="BIZ UDPゴシック" panose="020B0400000000000000" pitchFamily="50" charset="-128"/>
                <a:ea typeface="BIZ UDPゴシック" panose="020B0400000000000000" pitchFamily="50" charset="-128"/>
              </a:rPr>
              <a:t>自律行動</a:t>
            </a:r>
          </a:p>
        </p:txBody>
      </p:sp>
      <p:sp>
        <p:nvSpPr>
          <p:cNvPr id="1025" name="円弧 1024">
            <a:extLst>
              <a:ext uri="{FF2B5EF4-FFF2-40B4-BE49-F238E27FC236}">
                <a16:creationId xmlns:a16="http://schemas.microsoft.com/office/drawing/2014/main" id="{354BAF14-BB0C-4468-74FF-146C330AE7A9}"/>
              </a:ext>
            </a:extLst>
          </p:cNvPr>
          <p:cNvSpPr/>
          <p:nvPr/>
        </p:nvSpPr>
        <p:spPr>
          <a:xfrm>
            <a:off x="6403828" y="3429000"/>
            <a:ext cx="1247810" cy="767416"/>
          </a:xfrm>
          <a:prstGeom prst="arc">
            <a:avLst>
              <a:gd name="adj1" fmla="val 19559132"/>
              <a:gd name="adj2" fmla="val 12716659"/>
            </a:avLst>
          </a:prstGeom>
          <a:ln>
            <a:headEnd w="lg" len="lg"/>
            <a:tailEnd type="stealth"/>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dirty="0"/>
          </a:p>
        </p:txBody>
      </p:sp>
      <p:sp>
        <p:nvSpPr>
          <p:cNvPr id="1027" name="正方形/長方形 1026">
            <a:extLst>
              <a:ext uri="{FF2B5EF4-FFF2-40B4-BE49-F238E27FC236}">
                <a16:creationId xmlns:a16="http://schemas.microsoft.com/office/drawing/2014/main" id="{C47175A0-F774-2BD3-EC10-B4025905D6A1}"/>
              </a:ext>
            </a:extLst>
          </p:cNvPr>
          <p:cNvSpPr/>
          <p:nvPr/>
        </p:nvSpPr>
        <p:spPr bwMode="auto">
          <a:xfrm>
            <a:off x="6708937" y="3404515"/>
            <a:ext cx="635991" cy="282034"/>
          </a:xfrm>
          <a:prstGeom prst="rect">
            <a:avLst/>
          </a:prstGeom>
          <a:solidFill>
            <a:schemeClr val="accent1">
              <a:lumMod val="20000"/>
              <a:lumOff val="80000"/>
            </a:schemeClr>
          </a:solidFill>
          <a:ln w="9525">
            <a:noFill/>
            <a:miter lim="800000"/>
            <a:headEnd/>
            <a:tailEnd/>
          </a:ln>
          <a:effectLst/>
        </p:spPr>
        <p:txBody>
          <a:bodyPr wrap="none" rtlCol="0" anchor="ctr"/>
          <a:lstStyle/>
          <a:p>
            <a:pPr algn="ctr"/>
            <a:r>
              <a:rPr lang="ja-JP" altLang="en-US" sz="800" dirty="0">
                <a:latin typeface="BIZ UDPゴシック" panose="020B0400000000000000" pitchFamily="50" charset="-128"/>
                <a:ea typeface="BIZ UDPゴシック" panose="020B0400000000000000" pitchFamily="50" charset="-128"/>
              </a:rPr>
              <a:t>対象認識</a:t>
            </a:r>
            <a:br>
              <a:rPr lang="en-US" altLang="ja-JP" sz="800" dirty="0">
                <a:latin typeface="BIZ UDPゴシック" panose="020B0400000000000000" pitchFamily="50" charset="-128"/>
                <a:ea typeface="BIZ UDPゴシック" panose="020B0400000000000000" pitchFamily="50" charset="-128"/>
              </a:rPr>
            </a:br>
            <a:r>
              <a:rPr lang="ja-JP" altLang="en-US" sz="800" dirty="0">
                <a:latin typeface="BIZ UDPゴシック" panose="020B0400000000000000" pitchFamily="50" charset="-128"/>
                <a:ea typeface="BIZ UDPゴシック" panose="020B0400000000000000" pitchFamily="50" charset="-128"/>
              </a:rPr>
              <a:t>（害獣、被災者）</a:t>
            </a:r>
          </a:p>
        </p:txBody>
      </p:sp>
      <p:sp>
        <p:nvSpPr>
          <p:cNvPr id="1028" name="正方形/長方形 1027">
            <a:extLst>
              <a:ext uri="{FF2B5EF4-FFF2-40B4-BE49-F238E27FC236}">
                <a16:creationId xmlns:a16="http://schemas.microsoft.com/office/drawing/2014/main" id="{ADFD8ED3-AD57-2293-4256-33810E827207}"/>
              </a:ext>
            </a:extLst>
          </p:cNvPr>
          <p:cNvSpPr/>
          <p:nvPr/>
        </p:nvSpPr>
        <p:spPr bwMode="auto">
          <a:xfrm>
            <a:off x="7386956" y="3714648"/>
            <a:ext cx="635991" cy="282034"/>
          </a:xfrm>
          <a:prstGeom prst="rect">
            <a:avLst/>
          </a:prstGeom>
          <a:solidFill>
            <a:schemeClr val="accent1">
              <a:lumMod val="20000"/>
              <a:lumOff val="80000"/>
            </a:schemeClr>
          </a:solidFill>
          <a:ln w="9525">
            <a:noFill/>
            <a:miter lim="800000"/>
            <a:headEnd/>
            <a:tailEnd/>
          </a:ln>
          <a:effectLst/>
        </p:spPr>
        <p:txBody>
          <a:bodyPr wrap="none" rtlCol="0" anchor="ctr"/>
          <a:lstStyle/>
          <a:p>
            <a:pPr algn="ctr"/>
            <a:r>
              <a:rPr lang="ja-JP" altLang="en-US" sz="800" dirty="0">
                <a:latin typeface="BIZ UDPゴシック" panose="020B0400000000000000" pitchFamily="50" charset="-128"/>
                <a:ea typeface="BIZ UDPゴシック" panose="020B0400000000000000" pitchFamily="50" charset="-128"/>
              </a:rPr>
              <a:t>状況理解</a:t>
            </a:r>
            <a:endParaRPr lang="en-US" altLang="ja-JP" sz="800" dirty="0">
              <a:latin typeface="BIZ UDPゴシック" panose="020B0400000000000000" pitchFamily="50" charset="-128"/>
              <a:ea typeface="BIZ UDPゴシック" panose="020B0400000000000000" pitchFamily="50" charset="-128"/>
            </a:endParaRPr>
          </a:p>
          <a:p>
            <a:pPr algn="ctr"/>
            <a:r>
              <a:rPr lang="ja-JP" altLang="en-US" sz="800" dirty="0">
                <a:latin typeface="BIZ UDPゴシック" panose="020B0400000000000000" pitchFamily="50" charset="-128"/>
                <a:ea typeface="BIZ UDPゴシック" panose="020B0400000000000000" pitchFamily="50" charset="-128"/>
              </a:rPr>
              <a:t>（対象活動）</a:t>
            </a:r>
          </a:p>
        </p:txBody>
      </p:sp>
      <p:sp>
        <p:nvSpPr>
          <p:cNvPr id="1029" name="正方形/長方形 1028">
            <a:extLst>
              <a:ext uri="{FF2B5EF4-FFF2-40B4-BE49-F238E27FC236}">
                <a16:creationId xmlns:a16="http://schemas.microsoft.com/office/drawing/2014/main" id="{C6D689AE-2B90-E38D-3DFC-8F88728B52FC}"/>
              </a:ext>
            </a:extLst>
          </p:cNvPr>
          <p:cNvSpPr/>
          <p:nvPr/>
        </p:nvSpPr>
        <p:spPr bwMode="auto">
          <a:xfrm>
            <a:off x="6715815" y="4023163"/>
            <a:ext cx="635991" cy="282034"/>
          </a:xfrm>
          <a:prstGeom prst="rect">
            <a:avLst/>
          </a:prstGeom>
          <a:solidFill>
            <a:schemeClr val="accent1">
              <a:lumMod val="20000"/>
              <a:lumOff val="80000"/>
            </a:schemeClr>
          </a:solidFill>
          <a:ln w="9525">
            <a:noFill/>
            <a:miter lim="800000"/>
            <a:headEnd/>
            <a:tailEnd/>
          </a:ln>
          <a:effectLst/>
        </p:spPr>
        <p:txBody>
          <a:bodyPr wrap="none" rtlCol="0" anchor="ctr"/>
          <a:lstStyle/>
          <a:p>
            <a:pPr algn="ctr"/>
            <a:r>
              <a:rPr lang="ja-JP" altLang="en-US" sz="800" dirty="0">
                <a:latin typeface="BIZ UDPゴシック" panose="020B0400000000000000" pitchFamily="50" charset="-128"/>
                <a:ea typeface="BIZ UDPゴシック" panose="020B0400000000000000" pitchFamily="50" charset="-128"/>
              </a:rPr>
              <a:t>環境理解</a:t>
            </a:r>
            <a:br>
              <a:rPr lang="en-US" altLang="ja-JP" sz="800" dirty="0">
                <a:latin typeface="BIZ UDPゴシック" panose="020B0400000000000000" pitchFamily="50" charset="-128"/>
                <a:ea typeface="BIZ UDPゴシック" panose="020B0400000000000000" pitchFamily="50" charset="-128"/>
              </a:rPr>
            </a:br>
            <a:r>
              <a:rPr lang="ja-JP" altLang="en-US" sz="800" dirty="0">
                <a:latin typeface="BIZ UDPゴシック" panose="020B0400000000000000" pitchFamily="50" charset="-128"/>
                <a:ea typeface="BIZ UDPゴシック" panose="020B0400000000000000" pitchFamily="50" charset="-128"/>
              </a:rPr>
              <a:t>（周囲状況）</a:t>
            </a:r>
          </a:p>
        </p:txBody>
      </p:sp>
      <p:sp>
        <p:nvSpPr>
          <p:cNvPr id="1030" name="正方形/長方形 1029">
            <a:extLst>
              <a:ext uri="{FF2B5EF4-FFF2-40B4-BE49-F238E27FC236}">
                <a16:creationId xmlns:a16="http://schemas.microsoft.com/office/drawing/2014/main" id="{8324703D-76A0-70EE-4008-8EF0EA2B0493}"/>
              </a:ext>
            </a:extLst>
          </p:cNvPr>
          <p:cNvSpPr/>
          <p:nvPr/>
        </p:nvSpPr>
        <p:spPr bwMode="auto">
          <a:xfrm>
            <a:off x="6102507" y="3731879"/>
            <a:ext cx="582063" cy="282034"/>
          </a:xfrm>
          <a:prstGeom prst="rect">
            <a:avLst/>
          </a:prstGeom>
          <a:solidFill>
            <a:schemeClr val="accent1">
              <a:lumMod val="20000"/>
              <a:lumOff val="80000"/>
            </a:schemeClr>
          </a:solidFill>
          <a:ln w="9525">
            <a:noFill/>
            <a:miter lim="800000"/>
            <a:headEnd/>
            <a:tailEnd/>
          </a:ln>
          <a:effectLst/>
        </p:spPr>
        <p:txBody>
          <a:bodyPr wrap="none" rtlCol="0" anchor="ctr"/>
          <a:lstStyle/>
          <a:p>
            <a:pPr algn="ctr"/>
            <a:r>
              <a:rPr lang="ja-JP" altLang="en-US" sz="800" dirty="0">
                <a:latin typeface="BIZ UDPゴシック" panose="020B0400000000000000" pitchFamily="50" charset="-128"/>
                <a:ea typeface="BIZ UDPゴシック" panose="020B0400000000000000" pitchFamily="50" charset="-128"/>
              </a:rPr>
              <a:t>自律行動</a:t>
            </a:r>
            <a:endParaRPr lang="en-US" altLang="ja-JP" sz="800" dirty="0">
              <a:latin typeface="BIZ UDPゴシック" panose="020B0400000000000000" pitchFamily="50" charset="-128"/>
              <a:ea typeface="BIZ UDPゴシック" panose="020B0400000000000000" pitchFamily="50" charset="-128"/>
            </a:endParaRPr>
          </a:p>
          <a:p>
            <a:pPr algn="ctr"/>
            <a:r>
              <a:rPr lang="ja-JP" altLang="en-US" sz="800" dirty="0">
                <a:latin typeface="BIZ UDPゴシック" panose="020B0400000000000000" pitchFamily="50" charset="-128"/>
                <a:ea typeface="BIZ UDPゴシック" panose="020B0400000000000000" pitchFamily="50" charset="-128"/>
              </a:rPr>
              <a:t>（追随、補正）</a:t>
            </a:r>
          </a:p>
        </p:txBody>
      </p:sp>
      <p:sp>
        <p:nvSpPr>
          <p:cNvPr id="1031" name="テキスト ボックス 1030">
            <a:extLst>
              <a:ext uri="{FF2B5EF4-FFF2-40B4-BE49-F238E27FC236}">
                <a16:creationId xmlns:a16="http://schemas.microsoft.com/office/drawing/2014/main" id="{8639A8C5-DC24-59E7-0E37-3219554B65C7}"/>
              </a:ext>
            </a:extLst>
          </p:cNvPr>
          <p:cNvSpPr txBox="1"/>
          <p:nvPr/>
        </p:nvSpPr>
        <p:spPr>
          <a:xfrm>
            <a:off x="3048290" y="5850611"/>
            <a:ext cx="723275" cy="338554"/>
          </a:xfrm>
          <a:prstGeom prst="rect">
            <a:avLst/>
          </a:prstGeom>
          <a:noFill/>
        </p:spPr>
        <p:txBody>
          <a:bodyPr wrap="none" rtlCol="0">
            <a:spAutoFit/>
          </a:bodyPr>
          <a:lstStyle/>
          <a:p>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ユースケース</a:t>
            </a:r>
            <a:br>
              <a:rPr kumimoji="1" lang="en-US" altLang="ja-JP" sz="800" b="1" dirty="0">
                <a:latin typeface="Meiryo UI" panose="020B0604030504040204" pitchFamily="50" charset="-128"/>
                <a:ea typeface="Meiryo UI" panose="020B0604030504040204" pitchFamily="50" charset="-128"/>
                <a:cs typeface="Meiryo UI" panose="020B0604030504040204" pitchFamily="50" charset="-128"/>
              </a:rPr>
            </a:br>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（防災）</a:t>
            </a:r>
          </a:p>
        </p:txBody>
      </p:sp>
      <p:sp>
        <p:nvSpPr>
          <p:cNvPr id="1032" name="テキスト ボックス 1031">
            <a:extLst>
              <a:ext uri="{FF2B5EF4-FFF2-40B4-BE49-F238E27FC236}">
                <a16:creationId xmlns:a16="http://schemas.microsoft.com/office/drawing/2014/main" id="{32D6110E-75F6-356F-AC85-B596FE6E5E9A}"/>
              </a:ext>
            </a:extLst>
          </p:cNvPr>
          <p:cNvSpPr txBox="1"/>
          <p:nvPr/>
        </p:nvSpPr>
        <p:spPr>
          <a:xfrm>
            <a:off x="6599667" y="3681818"/>
            <a:ext cx="844356" cy="338554"/>
          </a:xfrm>
          <a:prstGeom prst="rect">
            <a:avLst/>
          </a:prstGeom>
          <a:noFill/>
        </p:spPr>
        <p:txBody>
          <a:bodyPr wrap="square">
            <a:spAutoFit/>
          </a:bodyPr>
          <a:lstStyle/>
          <a:p>
            <a:pPr algn="ctr"/>
            <a:r>
              <a:rPr lang="ja-JP" altLang="en-US" sz="800" b="1" dirty="0">
                <a:latin typeface="BIZ UDPゴシック" panose="020B0400000000000000" pitchFamily="50" charset="-128"/>
                <a:ea typeface="BIZ UDPゴシック" panose="020B0400000000000000" pitchFamily="50" charset="-128"/>
              </a:rPr>
              <a:t>リアルタイム</a:t>
            </a:r>
            <a:endParaRPr lang="en-US" altLang="ja-JP" sz="800" b="1" dirty="0">
              <a:latin typeface="BIZ UDPゴシック" panose="020B0400000000000000" pitchFamily="50" charset="-128"/>
              <a:ea typeface="BIZ UDPゴシック" panose="020B0400000000000000" pitchFamily="50" charset="-128"/>
            </a:endParaRPr>
          </a:p>
          <a:p>
            <a:pPr algn="ctr"/>
            <a:r>
              <a:rPr lang="ja-JP" altLang="en-US" sz="800" b="1" dirty="0">
                <a:latin typeface="BIZ UDPゴシック" panose="020B0400000000000000" pitchFamily="50" charset="-128"/>
                <a:ea typeface="BIZ UDPゴシック" panose="020B0400000000000000" pitchFamily="50" charset="-128"/>
              </a:rPr>
              <a:t>（反射的行動）</a:t>
            </a:r>
            <a:endParaRPr lang="en-US" altLang="ja-JP" sz="800" b="1" dirty="0">
              <a:latin typeface="BIZ UDPゴシック" panose="020B0400000000000000" pitchFamily="50" charset="-128"/>
              <a:ea typeface="BIZ UDPゴシック" panose="020B0400000000000000" pitchFamily="50" charset="-128"/>
            </a:endParaRPr>
          </a:p>
        </p:txBody>
      </p:sp>
      <p:sp>
        <p:nvSpPr>
          <p:cNvPr id="1033" name="テキスト ボックス 1032">
            <a:extLst>
              <a:ext uri="{FF2B5EF4-FFF2-40B4-BE49-F238E27FC236}">
                <a16:creationId xmlns:a16="http://schemas.microsoft.com/office/drawing/2014/main" id="{10E6A64D-73C3-B88E-E948-79380564A96A}"/>
              </a:ext>
            </a:extLst>
          </p:cNvPr>
          <p:cNvSpPr txBox="1"/>
          <p:nvPr/>
        </p:nvSpPr>
        <p:spPr>
          <a:xfrm>
            <a:off x="3774423" y="5535286"/>
            <a:ext cx="595035" cy="461665"/>
          </a:xfrm>
          <a:prstGeom prst="rect">
            <a:avLst/>
          </a:prstGeom>
          <a:noFill/>
        </p:spPr>
        <p:txBody>
          <a:bodyPr wrap="none" rtlCol="0">
            <a:spAutoFit/>
          </a:bodyPr>
          <a:lstStyle/>
          <a:p>
            <a:r>
              <a:rPr kumimoji="1" lang="ja-JP" altLang="en-US" sz="800" b="1" dirty="0">
                <a:latin typeface="Meiryo UI" panose="020B0604030504040204" pitchFamily="50" charset="-128"/>
                <a:ea typeface="Meiryo UI" panose="020B0604030504040204" pitchFamily="50" charset="-128"/>
                <a:cs typeface="Meiryo UI" panose="020B0604030504040204" pitchFamily="50" charset="-128"/>
              </a:rPr>
              <a:t>群制御</a:t>
            </a:r>
            <a:endParaRPr kumimoji="1" lang="en-US" altLang="ja-JP" sz="800" b="1" dirty="0">
              <a:latin typeface="Meiryo UI" panose="020B0604030504040204" pitchFamily="50" charset="-128"/>
              <a:ea typeface="Meiryo UI" panose="020B0604030504040204" pitchFamily="50" charset="-128"/>
              <a:cs typeface="Meiryo UI" panose="020B0604030504040204" pitchFamily="50" charset="-128"/>
            </a:endParaRPr>
          </a:p>
          <a:p>
            <a:r>
              <a:rPr lang="ja-JP" altLang="en-US" sz="800" b="1" dirty="0">
                <a:latin typeface="Meiryo UI" panose="020B0604030504040204" pitchFamily="50" charset="-128"/>
                <a:ea typeface="Meiryo UI" panose="020B0604030504040204" pitchFamily="50" charset="-128"/>
                <a:cs typeface="Meiryo UI" panose="020B0604030504040204" pitchFamily="50" charset="-128"/>
              </a:rPr>
              <a:t>適正配置</a:t>
            </a:r>
            <a:endParaRPr lang="en-US" altLang="ja-JP" sz="800" b="1" dirty="0">
              <a:latin typeface="Meiryo UI" panose="020B0604030504040204" pitchFamily="50" charset="-128"/>
              <a:ea typeface="Meiryo UI" panose="020B0604030504040204" pitchFamily="50" charset="-128"/>
              <a:cs typeface="Meiryo UI" panose="020B0604030504040204" pitchFamily="50" charset="-128"/>
            </a:endParaRPr>
          </a:p>
          <a:p>
            <a:r>
              <a:rPr lang="ja-JP" altLang="en-US" sz="800" b="1" dirty="0">
                <a:latin typeface="Meiryo UI" panose="020B0604030504040204" pitchFamily="50" charset="-128"/>
                <a:ea typeface="Meiryo UI" panose="020B0604030504040204" pitchFamily="50" charset="-128"/>
                <a:cs typeface="Meiryo UI" panose="020B0604030504040204" pitchFamily="50" charset="-128"/>
              </a:rPr>
              <a:t>誘導支援</a:t>
            </a:r>
            <a:endParaRPr lang="en-US" altLang="ja-JP" sz="800" b="1"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1034" name="吹き出し: 角を丸めた四角形 1033">
            <a:extLst>
              <a:ext uri="{FF2B5EF4-FFF2-40B4-BE49-F238E27FC236}">
                <a16:creationId xmlns:a16="http://schemas.microsoft.com/office/drawing/2014/main" id="{8310B6C4-6AAC-B435-02DA-9240282529D9}"/>
              </a:ext>
            </a:extLst>
          </p:cNvPr>
          <p:cNvSpPr/>
          <p:nvPr/>
        </p:nvSpPr>
        <p:spPr bwMode="auto">
          <a:xfrm>
            <a:off x="2083935" y="6303813"/>
            <a:ext cx="664938" cy="294044"/>
          </a:xfrm>
          <a:prstGeom prst="wedgeRoundRectCallout">
            <a:avLst>
              <a:gd name="adj1" fmla="val 42071"/>
              <a:gd name="adj2" fmla="val -108535"/>
              <a:gd name="adj3" fmla="val 16667"/>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35" name="テキスト ボックス 1034">
            <a:extLst>
              <a:ext uri="{FF2B5EF4-FFF2-40B4-BE49-F238E27FC236}">
                <a16:creationId xmlns:a16="http://schemas.microsoft.com/office/drawing/2014/main" id="{8CE7241F-1A5B-FFFB-A83E-CCEB1C58C236}"/>
              </a:ext>
            </a:extLst>
          </p:cNvPr>
          <p:cNvSpPr txBox="1"/>
          <p:nvPr/>
        </p:nvSpPr>
        <p:spPr>
          <a:xfrm>
            <a:off x="2056638" y="6287876"/>
            <a:ext cx="866601" cy="338554"/>
          </a:xfrm>
          <a:prstGeom prst="rect">
            <a:avLst/>
          </a:prstGeom>
          <a:noFill/>
        </p:spPr>
        <p:txBody>
          <a:bodyPr wrap="square" rtlCol="0">
            <a:spAutoFit/>
          </a:bodyPr>
          <a:lstStyle/>
          <a:p>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この先で河川が</a:t>
            </a:r>
            <a:endParaRPr kumimoji="1" lang="en-US" altLang="ja-JP" sz="800" dirty="0">
              <a:latin typeface="Meiryo UI" panose="020B0604030504040204" pitchFamily="50" charset="-128"/>
              <a:ea typeface="Meiryo UI" panose="020B0604030504040204" pitchFamily="50" charset="-128"/>
              <a:cs typeface="Meiryo UI" panose="020B0604030504040204" pitchFamily="50" charset="-128"/>
            </a:endParaRPr>
          </a:p>
          <a:p>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氾濫、逃げて</a:t>
            </a:r>
            <a:endParaRPr kumimoji="1" lang="en-US" altLang="ja-JP" sz="800" dirty="0">
              <a:latin typeface="Meiryo UI" panose="020B0604030504040204" pitchFamily="50" charset="-128"/>
              <a:ea typeface="Meiryo UI" panose="020B0604030504040204" pitchFamily="50" charset="-128"/>
              <a:cs typeface="Meiryo UI" panose="020B0604030504040204" pitchFamily="50" charset="-128"/>
            </a:endParaRPr>
          </a:p>
        </p:txBody>
      </p:sp>
      <p:sp>
        <p:nvSpPr>
          <p:cNvPr id="1036" name="コンテンツ プレースホルダー 7">
            <a:extLst>
              <a:ext uri="{FF2B5EF4-FFF2-40B4-BE49-F238E27FC236}">
                <a16:creationId xmlns:a16="http://schemas.microsoft.com/office/drawing/2014/main" id="{4EA2377D-615E-44F6-FBD9-3CC6F6E8DAA7}"/>
              </a:ext>
            </a:extLst>
          </p:cNvPr>
          <p:cNvSpPr txBox="1">
            <a:spLocks/>
          </p:cNvSpPr>
          <p:nvPr/>
        </p:nvSpPr>
        <p:spPr>
          <a:xfrm>
            <a:off x="9471408" y="5410627"/>
            <a:ext cx="889184" cy="28482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900" b="0" dirty="0">
                <a:latin typeface="BIZ UDPゴシック" panose="020B0400000000000000" pitchFamily="50" charset="-128"/>
                <a:ea typeface="BIZ UDPゴシック" panose="020B0400000000000000" pitchFamily="50" charset="-128"/>
              </a:rPr>
              <a:t>地域防災情報</a:t>
            </a:r>
            <a:endParaRPr lang="en-US" altLang="ja-JP" sz="900" b="0" dirty="0">
              <a:latin typeface="BIZ UDPゴシック" panose="020B0400000000000000" pitchFamily="50" charset="-128"/>
              <a:ea typeface="BIZ UDPゴシック" panose="020B0400000000000000" pitchFamily="50" charset="-128"/>
            </a:endParaRPr>
          </a:p>
        </p:txBody>
      </p:sp>
      <p:pic>
        <p:nvPicPr>
          <p:cNvPr id="1037" name="グラフィックス 1036" descr="同期中のクラウド 単色塗りつぶし">
            <a:extLst>
              <a:ext uri="{FF2B5EF4-FFF2-40B4-BE49-F238E27FC236}">
                <a16:creationId xmlns:a16="http://schemas.microsoft.com/office/drawing/2014/main" id="{500F074F-6BA5-BEA9-81EF-869F87538284}"/>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621136" y="4964229"/>
            <a:ext cx="536250" cy="536250"/>
          </a:xfrm>
          <a:prstGeom prst="rect">
            <a:avLst/>
          </a:prstGeom>
        </p:spPr>
      </p:pic>
      <p:sp>
        <p:nvSpPr>
          <p:cNvPr id="1038" name="矢印: 右 1037">
            <a:extLst>
              <a:ext uri="{FF2B5EF4-FFF2-40B4-BE49-F238E27FC236}">
                <a16:creationId xmlns:a16="http://schemas.microsoft.com/office/drawing/2014/main" id="{5781782B-1E9B-00BC-A195-3C5EBE5DDF5F}"/>
              </a:ext>
            </a:extLst>
          </p:cNvPr>
          <p:cNvSpPr/>
          <p:nvPr/>
        </p:nvSpPr>
        <p:spPr bwMode="auto">
          <a:xfrm rot="964070" flipH="1">
            <a:off x="8635763" y="4880961"/>
            <a:ext cx="851515"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1039" name="コンテンツ プレースホルダー 7">
            <a:extLst>
              <a:ext uri="{FF2B5EF4-FFF2-40B4-BE49-F238E27FC236}">
                <a16:creationId xmlns:a16="http://schemas.microsoft.com/office/drawing/2014/main" id="{C44130DD-6A80-68E0-C607-57A1EA05DAFE}"/>
              </a:ext>
            </a:extLst>
          </p:cNvPr>
          <p:cNvSpPr txBox="1">
            <a:spLocks/>
          </p:cNvSpPr>
          <p:nvPr/>
        </p:nvSpPr>
        <p:spPr>
          <a:xfrm flipH="1">
            <a:off x="8780776" y="4999668"/>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sp>
        <p:nvSpPr>
          <p:cNvPr id="1040" name="矢印: 右 1039">
            <a:extLst>
              <a:ext uri="{FF2B5EF4-FFF2-40B4-BE49-F238E27FC236}">
                <a16:creationId xmlns:a16="http://schemas.microsoft.com/office/drawing/2014/main" id="{2AAC9168-2187-43F9-2DE4-3F2CA349E980}"/>
              </a:ext>
            </a:extLst>
          </p:cNvPr>
          <p:cNvSpPr/>
          <p:nvPr/>
        </p:nvSpPr>
        <p:spPr bwMode="auto">
          <a:xfrm rot="20467270" flipH="1">
            <a:off x="8630853" y="5447539"/>
            <a:ext cx="851515" cy="419582"/>
          </a:xfrm>
          <a:prstGeom prst="rightArrow">
            <a:avLst/>
          </a:prstGeom>
          <a:solidFill>
            <a:srgbClr val="DDDDDD"/>
          </a:solidFill>
          <a:ln w="9525">
            <a:solidFill>
              <a:srgbClr val="B2B2B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rtlCol="0" anchor="ctr"/>
          <a:lstStyle/>
          <a:p>
            <a:pPr algn="l"/>
            <a:endParaRPr lang="ja-JP" altLang="en-US" dirty="0"/>
          </a:p>
        </p:txBody>
      </p:sp>
      <p:sp>
        <p:nvSpPr>
          <p:cNvPr id="1041" name="コンテンツ プレースホルダー 7">
            <a:extLst>
              <a:ext uri="{FF2B5EF4-FFF2-40B4-BE49-F238E27FC236}">
                <a16:creationId xmlns:a16="http://schemas.microsoft.com/office/drawing/2014/main" id="{35ADA269-8EA2-1E55-FA7E-B80A382612D3}"/>
              </a:ext>
            </a:extLst>
          </p:cNvPr>
          <p:cNvSpPr txBox="1">
            <a:spLocks/>
          </p:cNvSpPr>
          <p:nvPr/>
        </p:nvSpPr>
        <p:spPr>
          <a:xfrm flipH="1">
            <a:off x="8775866" y="5566246"/>
            <a:ext cx="1267494" cy="412923"/>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Clr>
                <a:schemeClr val="tx2"/>
              </a:buClr>
              <a:buFont typeface="Wingdings" panose="05000000000000000000" pitchFamily="2" charset="2"/>
              <a:buNone/>
              <a:defRPr kumimoji="1" sz="2000" b="1" i="0" kern="1200">
                <a:solidFill>
                  <a:schemeClr val="tx1"/>
                </a:solidFill>
                <a:latin typeface="BIZ UDPGothic" panose="020B0400000000000000" pitchFamily="34" charset="-128"/>
                <a:ea typeface="BIZ UDPGothic" panose="020B0400000000000000" pitchFamily="34" charset="-128"/>
                <a:cs typeface="+mn-cs"/>
              </a:defRPr>
            </a:lvl1pPr>
            <a:lvl2pPr marL="685800" indent="-228600" algn="l" defTabSz="914400" rtl="0" eaLnBrk="1" latinLnBrk="0" hangingPunct="1">
              <a:lnSpc>
                <a:spcPct val="90000"/>
              </a:lnSpc>
              <a:spcBef>
                <a:spcPts val="500"/>
              </a:spcBef>
              <a:buClr>
                <a:schemeClr val="tx2"/>
              </a:buClr>
              <a:buFont typeface="Wingdings" panose="05000000000000000000" pitchFamily="2" charset="2"/>
              <a:buChar char="ü"/>
              <a:defRPr kumimoji="1" sz="1600" b="0" i="0" kern="1200">
                <a:solidFill>
                  <a:schemeClr val="tx1"/>
                </a:solidFill>
                <a:latin typeface="BIZ UDPGothic" panose="020B0400000000000000" pitchFamily="34" charset="-128"/>
                <a:ea typeface="BIZ UDPGothic" panose="020B0400000000000000" pitchFamily="34" charset="-128"/>
                <a:cs typeface="+mn-cs"/>
              </a:defRPr>
            </a:lvl2pPr>
            <a:lvl3pPr marL="11430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200" b="0" i="0" kern="1200">
                <a:solidFill>
                  <a:schemeClr val="tx1"/>
                </a:solidFill>
                <a:latin typeface="BIZ UDPGothic" panose="020B0400000000000000" pitchFamily="34" charset="-128"/>
                <a:ea typeface="BIZ UDPGothic" panose="020B0400000000000000" pitchFamily="34" charset="-128"/>
                <a:cs typeface="+mn-cs"/>
              </a:defRPr>
            </a:lvl3pPr>
            <a:lvl4pPr marL="16002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4pPr>
            <a:lvl5pPr marL="2057400" indent="-228600" algn="l" defTabSz="914400" rtl="0" eaLnBrk="1" latinLnBrk="0" hangingPunct="1">
              <a:lnSpc>
                <a:spcPct val="90000"/>
              </a:lnSpc>
              <a:spcBef>
                <a:spcPts val="500"/>
              </a:spcBef>
              <a:buClr>
                <a:schemeClr val="tx2"/>
              </a:buClr>
              <a:buFont typeface="Wingdings" panose="05000000000000000000" pitchFamily="2" charset="2"/>
              <a:buChar char="l"/>
              <a:defRPr kumimoji="1" sz="1000" b="0" i="0" kern="1200">
                <a:solidFill>
                  <a:schemeClr val="tx1"/>
                </a:solidFill>
                <a:latin typeface="BIZ UDPGothic" panose="020B0400000000000000" pitchFamily="34" charset="-128"/>
                <a:ea typeface="BIZ UDPGothic" panose="020B0400000000000000" pitchFamily="34"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sz="800" dirty="0">
                <a:latin typeface="BIZ UDPゴシック" panose="020B0400000000000000" pitchFamily="50" charset="-128"/>
                <a:ea typeface="BIZ UDPゴシック" panose="020B0400000000000000" pitchFamily="50" charset="-128"/>
              </a:rPr>
              <a:t>情報収集</a:t>
            </a:r>
            <a:endParaRPr lang="en-US" altLang="ja-JP" sz="800" dirty="0">
              <a:latin typeface="BIZ UDPゴシック" panose="020B0400000000000000" pitchFamily="50" charset="-128"/>
              <a:ea typeface="BIZ UDPゴシック" panose="020B0400000000000000" pitchFamily="50" charset="-128"/>
            </a:endParaRPr>
          </a:p>
        </p:txBody>
      </p:sp>
      <p:sp>
        <p:nvSpPr>
          <p:cNvPr id="1042" name="テキスト ボックス 1041">
            <a:extLst>
              <a:ext uri="{FF2B5EF4-FFF2-40B4-BE49-F238E27FC236}">
                <a16:creationId xmlns:a16="http://schemas.microsoft.com/office/drawing/2014/main" id="{71D9765E-8B2A-CFAF-E98D-A43088E031B2}"/>
              </a:ext>
            </a:extLst>
          </p:cNvPr>
          <p:cNvSpPr txBox="1"/>
          <p:nvPr/>
        </p:nvSpPr>
        <p:spPr>
          <a:xfrm>
            <a:off x="2667661" y="5536026"/>
            <a:ext cx="844356" cy="338554"/>
          </a:xfrm>
          <a:prstGeom prst="rect">
            <a:avLst/>
          </a:prstGeom>
          <a:noFill/>
        </p:spPr>
        <p:txBody>
          <a:bodyPr wrap="square">
            <a:spAutoFit/>
          </a:bodyPr>
          <a:lstStyle/>
          <a:p>
            <a:pPr algn="ctr"/>
            <a:r>
              <a:rPr lang="ja-JP" altLang="en-US" sz="800" b="1" dirty="0">
                <a:latin typeface="BIZ UDPゴシック" panose="020B0400000000000000" pitchFamily="50" charset="-128"/>
                <a:ea typeface="BIZ UDPゴシック" panose="020B0400000000000000" pitchFamily="50" charset="-128"/>
              </a:rPr>
              <a:t>リアルタイム</a:t>
            </a:r>
            <a:endParaRPr lang="en-US" altLang="ja-JP" sz="800" b="1" dirty="0">
              <a:latin typeface="BIZ UDPゴシック" panose="020B0400000000000000" pitchFamily="50" charset="-128"/>
              <a:ea typeface="BIZ UDPゴシック" panose="020B0400000000000000" pitchFamily="50" charset="-128"/>
            </a:endParaRPr>
          </a:p>
          <a:p>
            <a:pPr algn="ctr"/>
            <a:r>
              <a:rPr lang="ja-JP" altLang="en-US" sz="800" b="1" dirty="0">
                <a:latin typeface="BIZ UDPゴシック" panose="020B0400000000000000" pitchFamily="50" charset="-128"/>
                <a:ea typeface="BIZ UDPゴシック" panose="020B0400000000000000" pitchFamily="50" charset="-128"/>
              </a:rPr>
              <a:t>（反射的行動）</a:t>
            </a:r>
            <a:endParaRPr lang="en-US" altLang="ja-JP" sz="800" b="1" dirty="0">
              <a:latin typeface="BIZ UDPゴシック" panose="020B0400000000000000" pitchFamily="50" charset="-128"/>
              <a:ea typeface="BIZ UDPゴシック" panose="020B0400000000000000" pitchFamily="50" charset="-128"/>
            </a:endParaRPr>
          </a:p>
        </p:txBody>
      </p:sp>
      <p:grpSp>
        <p:nvGrpSpPr>
          <p:cNvPr id="1043" name="グループ化 1042">
            <a:extLst>
              <a:ext uri="{FF2B5EF4-FFF2-40B4-BE49-F238E27FC236}">
                <a16:creationId xmlns:a16="http://schemas.microsoft.com/office/drawing/2014/main" id="{762C6F8D-09B9-B63D-3487-ED9F5708081C}"/>
              </a:ext>
            </a:extLst>
          </p:cNvPr>
          <p:cNvGrpSpPr/>
          <p:nvPr/>
        </p:nvGrpSpPr>
        <p:grpSpPr>
          <a:xfrm>
            <a:off x="2574342" y="5275361"/>
            <a:ext cx="326392" cy="223156"/>
            <a:chOff x="2574342" y="5275361"/>
            <a:chExt cx="326392" cy="223156"/>
          </a:xfrm>
        </p:grpSpPr>
        <p:grpSp>
          <p:nvGrpSpPr>
            <p:cNvPr id="1044" name="グループ化 1043">
              <a:extLst>
                <a:ext uri="{FF2B5EF4-FFF2-40B4-BE49-F238E27FC236}">
                  <a16:creationId xmlns:a16="http://schemas.microsoft.com/office/drawing/2014/main" id="{3C7A7AE9-BC1F-9DCE-2DA7-D8A9D9DFEA09}"/>
                </a:ext>
              </a:extLst>
            </p:cNvPr>
            <p:cNvGrpSpPr/>
            <p:nvPr/>
          </p:nvGrpSpPr>
          <p:grpSpPr>
            <a:xfrm rot="19937645">
              <a:off x="2774822" y="5369464"/>
              <a:ext cx="125912" cy="124424"/>
              <a:chOff x="2259857" y="4675281"/>
              <a:chExt cx="777059" cy="767873"/>
            </a:xfrm>
          </p:grpSpPr>
          <p:sp>
            <p:nvSpPr>
              <p:cNvPr id="1056" name="四角形: 角を丸くする 1055">
                <a:extLst>
                  <a:ext uri="{FF2B5EF4-FFF2-40B4-BE49-F238E27FC236}">
                    <a16:creationId xmlns:a16="http://schemas.microsoft.com/office/drawing/2014/main" id="{C1D7A291-B783-5735-2C49-E7971A79B699}"/>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57" name="四角形: 角を丸くする 1056">
                <a:extLst>
                  <a:ext uri="{FF2B5EF4-FFF2-40B4-BE49-F238E27FC236}">
                    <a16:creationId xmlns:a16="http://schemas.microsoft.com/office/drawing/2014/main" id="{B70FA3A9-BCF3-192E-B0AB-98FBAC7D4F6D}"/>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grpSp>
          <p:nvGrpSpPr>
            <p:cNvPr id="1045" name="グループ化 1044">
              <a:extLst>
                <a:ext uri="{FF2B5EF4-FFF2-40B4-BE49-F238E27FC236}">
                  <a16:creationId xmlns:a16="http://schemas.microsoft.com/office/drawing/2014/main" id="{78966ED9-1CCC-6049-36C1-7DEE13C6A120}"/>
                </a:ext>
              </a:extLst>
            </p:cNvPr>
            <p:cNvGrpSpPr/>
            <p:nvPr/>
          </p:nvGrpSpPr>
          <p:grpSpPr>
            <a:xfrm rot="19937645">
              <a:off x="2603075" y="5374093"/>
              <a:ext cx="125912" cy="124424"/>
              <a:chOff x="2259857" y="4675281"/>
              <a:chExt cx="777059" cy="767873"/>
            </a:xfrm>
          </p:grpSpPr>
          <p:sp>
            <p:nvSpPr>
              <p:cNvPr id="1054" name="四角形: 角を丸くする 1053">
                <a:extLst>
                  <a:ext uri="{FF2B5EF4-FFF2-40B4-BE49-F238E27FC236}">
                    <a16:creationId xmlns:a16="http://schemas.microsoft.com/office/drawing/2014/main" id="{26559D9B-9E63-AE42-6EC6-77C1CB5C177E}"/>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55" name="四角形: 角を丸くする 1054">
                <a:extLst>
                  <a:ext uri="{FF2B5EF4-FFF2-40B4-BE49-F238E27FC236}">
                    <a16:creationId xmlns:a16="http://schemas.microsoft.com/office/drawing/2014/main" id="{7B2E816F-725A-4AE6-B654-A3EE86499BE5}"/>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
          <p:nvSpPr>
            <p:cNvPr id="1046" name="正方形/長方形 1045">
              <a:extLst>
                <a:ext uri="{FF2B5EF4-FFF2-40B4-BE49-F238E27FC236}">
                  <a16:creationId xmlns:a16="http://schemas.microsoft.com/office/drawing/2014/main" id="{E06ECB8F-F679-FD8F-A2A1-9314615A9B16}"/>
                </a:ext>
              </a:extLst>
            </p:cNvPr>
            <p:cNvSpPr/>
            <p:nvPr/>
          </p:nvSpPr>
          <p:spPr bwMode="auto">
            <a:xfrm>
              <a:off x="2619397" y="5319312"/>
              <a:ext cx="227042" cy="82111"/>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47" name="四角形: 角を丸くする 1046">
              <a:extLst>
                <a:ext uri="{FF2B5EF4-FFF2-40B4-BE49-F238E27FC236}">
                  <a16:creationId xmlns:a16="http://schemas.microsoft.com/office/drawing/2014/main" id="{531F7FA0-E098-2907-9C08-BE20C42B7AAD}"/>
                </a:ext>
              </a:extLst>
            </p:cNvPr>
            <p:cNvSpPr/>
            <p:nvPr/>
          </p:nvSpPr>
          <p:spPr bwMode="auto">
            <a:xfrm rot="14600000">
              <a:off x="2784072" y="5398977"/>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48" name="四角形: 角を丸くする 1047">
              <a:extLst>
                <a:ext uri="{FF2B5EF4-FFF2-40B4-BE49-F238E27FC236}">
                  <a16:creationId xmlns:a16="http://schemas.microsoft.com/office/drawing/2014/main" id="{1AF53404-D355-6767-08B0-893042462F09}"/>
                </a:ext>
              </a:extLst>
            </p:cNvPr>
            <p:cNvSpPr/>
            <p:nvPr/>
          </p:nvSpPr>
          <p:spPr bwMode="auto">
            <a:xfrm rot="8391530">
              <a:off x="2732129" y="5470601"/>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49" name="正方形/長方形 1048">
              <a:extLst>
                <a:ext uri="{FF2B5EF4-FFF2-40B4-BE49-F238E27FC236}">
                  <a16:creationId xmlns:a16="http://schemas.microsoft.com/office/drawing/2014/main" id="{74DEBDDA-C027-3C90-D1CD-73CC43F8DD44}"/>
                </a:ext>
              </a:extLst>
            </p:cNvPr>
            <p:cNvSpPr/>
            <p:nvPr/>
          </p:nvSpPr>
          <p:spPr bwMode="auto">
            <a:xfrm>
              <a:off x="2574342" y="5275361"/>
              <a:ext cx="68980" cy="109875"/>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50" name="正方形/長方形 1049">
              <a:extLst>
                <a:ext uri="{FF2B5EF4-FFF2-40B4-BE49-F238E27FC236}">
                  <a16:creationId xmlns:a16="http://schemas.microsoft.com/office/drawing/2014/main" id="{128C66A5-4AD5-46BE-ACD1-76E98BE62C36}"/>
                </a:ext>
              </a:extLst>
            </p:cNvPr>
            <p:cNvSpPr/>
            <p:nvPr/>
          </p:nvSpPr>
          <p:spPr bwMode="auto">
            <a:xfrm>
              <a:off x="2695799" y="5369513"/>
              <a:ext cx="82172" cy="21256"/>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51" name="正方形/長方形 1050">
              <a:extLst>
                <a:ext uri="{FF2B5EF4-FFF2-40B4-BE49-F238E27FC236}">
                  <a16:creationId xmlns:a16="http://schemas.microsoft.com/office/drawing/2014/main" id="{D81EAA82-50EC-D4F9-35E7-1B98ABE1D2CB}"/>
                </a:ext>
              </a:extLst>
            </p:cNvPr>
            <p:cNvSpPr/>
            <p:nvPr/>
          </p:nvSpPr>
          <p:spPr bwMode="auto">
            <a:xfrm>
              <a:off x="2586696" y="5287177"/>
              <a:ext cx="45343" cy="32135"/>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52" name="四角形: 角を丸くする 1051">
              <a:extLst>
                <a:ext uri="{FF2B5EF4-FFF2-40B4-BE49-F238E27FC236}">
                  <a16:creationId xmlns:a16="http://schemas.microsoft.com/office/drawing/2014/main" id="{3A91D266-2209-1773-5A96-329C12727EF4}"/>
                </a:ext>
              </a:extLst>
            </p:cNvPr>
            <p:cNvSpPr/>
            <p:nvPr/>
          </p:nvSpPr>
          <p:spPr bwMode="auto">
            <a:xfrm rot="14600000">
              <a:off x="2631928" y="5398977"/>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53" name="四角形: 角を丸くする 1052">
              <a:extLst>
                <a:ext uri="{FF2B5EF4-FFF2-40B4-BE49-F238E27FC236}">
                  <a16:creationId xmlns:a16="http://schemas.microsoft.com/office/drawing/2014/main" id="{14143391-02B9-6DA0-9C9B-720732E75D33}"/>
                </a:ext>
              </a:extLst>
            </p:cNvPr>
            <p:cNvSpPr/>
            <p:nvPr/>
          </p:nvSpPr>
          <p:spPr bwMode="auto">
            <a:xfrm rot="8391530">
              <a:off x="2579986" y="5470601"/>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grpSp>
        <p:nvGrpSpPr>
          <p:cNvPr id="1058" name="グループ化 1057">
            <a:extLst>
              <a:ext uri="{FF2B5EF4-FFF2-40B4-BE49-F238E27FC236}">
                <a16:creationId xmlns:a16="http://schemas.microsoft.com/office/drawing/2014/main" id="{82A7FD4F-1F5F-D491-56EB-CB9A4D7939A1}"/>
              </a:ext>
            </a:extLst>
          </p:cNvPr>
          <p:cNvGrpSpPr/>
          <p:nvPr/>
        </p:nvGrpSpPr>
        <p:grpSpPr>
          <a:xfrm>
            <a:off x="2688577" y="5923756"/>
            <a:ext cx="326392" cy="223156"/>
            <a:chOff x="2688577" y="5923756"/>
            <a:chExt cx="326392" cy="223156"/>
          </a:xfrm>
        </p:grpSpPr>
        <p:grpSp>
          <p:nvGrpSpPr>
            <p:cNvPr id="1059" name="グループ化 1058">
              <a:extLst>
                <a:ext uri="{FF2B5EF4-FFF2-40B4-BE49-F238E27FC236}">
                  <a16:creationId xmlns:a16="http://schemas.microsoft.com/office/drawing/2014/main" id="{1999146C-E4B9-8BE0-D9A7-DE453E4D1D07}"/>
                </a:ext>
              </a:extLst>
            </p:cNvPr>
            <p:cNvGrpSpPr/>
            <p:nvPr/>
          </p:nvGrpSpPr>
          <p:grpSpPr>
            <a:xfrm rot="19937645">
              <a:off x="2889057" y="6017859"/>
              <a:ext cx="125912" cy="124424"/>
              <a:chOff x="2259857" y="4675281"/>
              <a:chExt cx="777059" cy="767873"/>
            </a:xfrm>
          </p:grpSpPr>
          <p:sp>
            <p:nvSpPr>
              <p:cNvPr id="1071" name="四角形: 角を丸くする 1070">
                <a:extLst>
                  <a:ext uri="{FF2B5EF4-FFF2-40B4-BE49-F238E27FC236}">
                    <a16:creationId xmlns:a16="http://schemas.microsoft.com/office/drawing/2014/main" id="{4BE88EA2-35F6-BD8C-ADD8-15E3DCA61C96}"/>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72" name="四角形: 角を丸くする 1071">
                <a:extLst>
                  <a:ext uri="{FF2B5EF4-FFF2-40B4-BE49-F238E27FC236}">
                    <a16:creationId xmlns:a16="http://schemas.microsoft.com/office/drawing/2014/main" id="{77DAF678-D143-1887-60F8-58469544A9BB}"/>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grpSp>
          <p:nvGrpSpPr>
            <p:cNvPr id="1060" name="グループ化 1059">
              <a:extLst>
                <a:ext uri="{FF2B5EF4-FFF2-40B4-BE49-F238E27FC236}">
                  <a16:creationId xmlns:a16="http://schemas.microsoft.com/office/drawing/2014/main" id="{2C9DA09C-D5DF-F02C-6F96-6836EC9F8AC2}"/>
                </a:ext>
              </a:extLst>
            </p:cNvPr>
            <p:cNvGrpSpPr/>
            <p:nvPr/>
          </p:nvGrpSpPr>
          <p:grpSpPr>
            <a:xfrm rot="19937645">
              <a:off x="2717310" y="6022488"/>
              <a:ext cx="125912" cy="124424"/>
              <a:chOff x="2259857" y="4675281"/>
              <a:chExt cx="777059" cy="767873"/>
            </a:xfrm>
          </p:grpSpPr>
          <p:sp>
            <p:nvSpPr>
              <p:cNvPr id="1069" name="四角形: 角を丸くする 1068">
                <a:extLst>
                  <a:ext uri="{FF2B5EF4-FFF2-40B4-BE49-F238E27FC236}">
                    <a16:creationId xmlns:a16="http://schemas.microsoft.com/office/drawing/2014/main" id="{02520108-E7F9-680F-AE88-4ED5623C8CCC}"/>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70" name="四角形: 角を丸くする 1069">
                <a:extLst>
                  <a:ext uri="{FF2B5EF4-FFF2-40B4-BE49-F238E27FC236}">
                    <a16:creationId xmlns:a16="http://schemas.microsoft.com/office/drawing/2014/main" id="{C3506E5B-BDA2-0670-012E-4D4537E672E0}"/>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
          <p:nvSpPr>
            <p:cNvPr id="1061" name="正方形/長方形 1060">
              <a:extLst>
                <a:ext uri="{FF2B5EF4-FFF2-40B4-BE49-F238E27FC236}">
                  <a16:creationId xmlns:a16="http://schemas.microsoft.com/office/drawing/2014/main" id="{4961E43E-C4D9-CE1B-9629-F01DCD251810}"/>
                </a:ext>
              </a:extLst>
            </p:cNvPr>
            <p:cNvSpPr/>
            <p:nvPr/>
          </p:nvSpPr>
          <p:spPr bwMode="auto">
            <a:xfrm>
              <a:off x="2733632" y="5967707"/>
              <a:ext cx="227042" cy="82111"/>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2" name="四角形: 角を丸くする 1061">
              <a:extLst>
                <a:ext uri="{FF2B5EF4-FFF2-40B4-BE49-F238E27FC236}">
                  <a16:creationId xmlns:a16="http://schemas.microsoft.com/office/drawing/2014/main" id="{E36E3C8F-56B5-95C8-4FDF-7FE9F32BEA5E}"/>
                </a:ext>
              </a:extLst>
            </p:cNvPr>
            <p:cNvSpPr/>
            <p:nvPr/>
          </p:nvSpPr>
          <p:spPr bwMode="auto">
            <a:xfrm rot="14600000">
              <a:off x="2898307" y="6047372"/>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3" name="四角形: 角を丸くする 1062">
              <a:extLst>
                <a:ext uri="{FF2B5EF4-FFF2-40B4-BE49-F238E27FC236}">
                  <a16:creationId xmlns:a16="http://schemas.microsoft.com/office/drawing/2014/main" id="{CC9D2534-3B17-E03D-D760-E60C6206155D}"/>
                </a:ext>
              </a:extLst>
            </p:cNvPr>
            <p:cNvSpPr/>
            <p:nvPr/>
          </p:nvSpPr>
          <p:spPr bwMode="auto">
            <a:xfrm rot="8391530">
              <a:off x="2846364" y="6118996"/>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4" name="正方形/長方形 1063">
              <a:extLst>
                <a:ext uri="{FF2B5EF4-FFF2-40B4-BE49-F238E27FC236}">
                  <a16:creationId xmlns:a16="http://schemas.microsoft.com/office/drawing/2014/main" id="{D87D30EB-7952-5FF4-0158-89D4C962EDB8}"/>
                </a:ext>
              </a:extLst>
            </p:cNvPr>
            <p:cNvSpPr/>
            <p:nvPr/>
          </p:nvSpPr>
          <p:spPr bwMode="auto">
            <a:xfrm>
              <a:off x="2688577" y="5923756"/>
              <a:ext cx="68980" cy="109875"/>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5" name="正方形/長方形 1064">
              <a:extLst>
                <a:ext uri="{FF2B5EF4-FFF2-40B4-BE49-F238E27FC236}">
                  <a16:creationId xmlns:a16="http://schemas.microsoft.com/office/drawing/2014/main" id="{BBACDF0D-65E2-D2CF-A43B-E7794BD0F725}"/>
                </a:ext>
              </a:extLst>
            </p:cNvPr>
            <p:cNvSpPr/>
            <p:nvPr/>
          </p:nvSpPr>
          <p:spPr bwMode="auto">
            <a:xfrm>
              <a:off x="2810034" y="6017908"/>
              <a:ext cx="82172" cy="21256"/>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66" name="正方形/長方形 1065">
              <a:extLst>
                <a:ext uri="{FF2B5EF4-FFF2-40B4-BE49-F238E27FC236}">
                  <a16:creationId xmlns:a16="http://schemas.microsoft.com/office/drawing/2014/main" id="{A3B49A0D-FAA5-839F-EE19-DF17D3EE8B78}"/>
                </a:ext>
              </a:extLst>
            </p:cNvPr>
            <p:cNvSpPr/>
            <p:nvPr/>
          </p:nvSpPr>
          <p:spPr bwMode="auto">
            <a:xfrm>
              <a:off x="2700931" y="5935572"/>
              <a:ext cx="45343" cy="32135"/>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67" name="四角形: 角を丸くする 1066">
              <a:extLst>
                <a:ext uri="{FF2B5EF4-FFF2-40B4-BE49-F238E27FC236}">
                  <a16:creationId xmlns:a16="http://schemas.microsoft.com/office/drawing/2014/main" id="{8EA601BC-FF79-1243-19D4-E82DD361B1AA}"/>
                </a:ext>
              </a:extLst>
            </p:cNvPr>
            <p:cNvSpPr/>
            <p:nvPr/>
          </p:nvSpPr>
          <p:spPr bwMode="auto">
            <a:xfrm rot="14600000">
              <a:off x="2746163" y="6047372"/>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68" name="四角形: 角を丸くする 1067">
              <a:extLst>
                <a:ext uri="{FF2B5EF4-FFF2-40B4-BE49-F238E27FC236}">
                  <a16:creationId xmlns:a16="http://schemas.microsoft.com/office/drawing/2014/main" id="{ECBC3758-EED5-EB8A-707F-855649DCC985}"/>
                </a:ext>
              </a:extLst>
            </p:cNvPr>
            <p:cNvSpPr/>
            <p:nvPr/>
          </p:nvSpPr>
          <p:spPr bwMode="auto">
            <a:xfrm rot="8391530">
              <a:off x="2694221" y="6118996"/>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
        <p:nvSpPr>
          <p:cNvPr id="1073" name="部分円 1072">
            <a:extLst>
              <a:ext uri="{FF2B5EF4-FFF2-40B4-BE49-F238E27FC236}">
                <a16:creationId xmlns:a16="http://schemas.microsoft.com/office/drawing/2014/main" id="{D654F212-AC9C-E47A-58BA-6A0E2563F1B9}"/>
              </a:ext>
            </a:extLst>
          </p:cNvPr>
          <p:cNvSpPr/>
          <p:nvPr/>
        </p:nvSpPr>
        <p:spPr bwMode="auto">
          <a:xfrm rot="19135846">
            <a:off x="2157380" y="5176309"/>
            <a:ext cx="661669" cy="556710"/>
          </a:xfrm>
          <a:prstGeom prst="pie">
            <a:avLst>
              <a:gd name="adj1" fmla="val 11079339"/>
              <a:gd name="adj2" fmla="val 16200000"/>
            </a:avLst>
          </a:prstGeom>
          <a:solidFill>
            <a:schemeClr val="tx2">
              <a:lumMod val="20000"/>
              <a:lumOff val="80000"/>
            </a:schemeClr>
          </a:solidFill>
          <a:ln w="9525">
            <a:solidFill>
              <a:srgbClr val="B2B2B2"/>
            </a:solidFill>
            <a:miter lim="800000"/>
            <a:headEnd/>
            <a:tailEnd/>
          </a:ln>
          <a:effectLst/>
        </p:spPr>
        <p:txBody>
          <a:bodyPr wrap="none" rtlCol="0" anchor="ctr"/>
          <a:lstStyle/>
          <a:p>
            <a:pPr algn="l"/>
            <a:endParaRPr lang="ja-JP" altLang="en-US" dirty="0"/>
          </a:p>
        </p:txBody>
      </p:sp>
      <p:sp>
        <p:nvSpPr>
          <p:cNvPr id="1074" name="テキスト ボックス 1073">
            <a:extLst>
              <a:ext uri="{FF2B5EF4-FFF2-40B4-BE49-F238E27FC236}">
                <a16:creationId xmlns:a16="http://schemas.microsoft.com/office/drawing/2014/main" id="{A4F0839D-AF54-EF45-F3C3-0F676D7D2CA5}"/>
              </a:ext>
            </a:extLst>
          </p:cNvPr>
          <p:cNvSpPr txBox="1"/>
          <p:nvPr/>
        </p:nvSpPr>
        <p:spPr>
          <a:xfrm>
            <a:off x="2095439" y="5336275"/>
            <a:ext cx="441146"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音・光</a:t>
            </a:r>
          </a:p>
        </p:txBody>
      </p:sp>
      <p:sp>
        <p:nvSpPr>
          <p:cNvPr id="1075" name="テキスト ボックス 1074">
            <a:extLst>
              <a:ext uri="{FF2B5EF4-FFF2-40B4-BE49-F238E27FC236}">
                <a16:creationId xmlns:a16="http://schemas.microsoft.com/office/drawing/2014/main" id="{11A6868D-F7B5-FF16-9426-B43C095CB3AC}"/>
              </a:ext>
            </a:extLst>
          </p:cNvPr>
          <p:cNvSpPr txBox="1"/>
          <p:nvPr/>
        </p:nvSpPr>
        <p:spPr>
          <a:xfrm>
            <a:off x="2315137" y="3231775"/>
            <a:ext cx="1216202" cy="261610"/>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エッジ端末</a:t>
            </a:r>
            <a:r>
              <a:rPr lang="en-US" altLang="ja-JP" sz="1100" b="1" dirty="0">
                <a:latin typeface="BIZ UDPゴシック" panose="020B0400000000000000" pitchFamily="50" charset="-128"/>
                <a:ea typeface="BIZ UDPゴシック" panose="020B0400000000000000" pitchFamily="50" charset="-128"/>
              </a:rPr>
              <a:t>AI</a:t>
            </a:r>
            <a:endParaRPr lang="ja-JP" altLang="en-US" sz="1100" b="1" dirty="0">
              <a:latin typeface="BIZ UDPゴシック" panose="020B0400000000000000" pitchFamily="50" charset="-128"/>
              <a:ea typeface="BIZ UDPゴシック" panose="020B0400000000000000" pitchFamily="50" charset="-128"/>
            </a:endParaRPr>
          </a:p>
        </p:txBody>
      </p:sp>
      <p:sp>
        <p:nvSpPr>
          <p:cNvPr id="1076" name="テキスト ボックス 1075">
            <a:extLst>
              <a:ext uri="{FF2B5EF4-FFF2-40B4-BE49-F238E27FC236}">
                <a16:creationId xmlns:a16="http://schemas.microsoft.com/office/drawing/2014/main" id="{12926051-F1BF-7D27-E951-D7AFABFD8CC4}"/>
              </a:ext>
            </a:extLst>
          </p:cNvPr>
          <p:cNvSpPr txBox="1"/>
          <p:nvPr/>
        </p:nvSpPr>
        <p:spPr>
          <a:xfrm>
            <a:off x="5179636" y="3091618"/>
            <a:ext cx="1216202" cy="261610"/>
          </a:xfrm>
          <a:prstGeom prst="rect">
            <a:avLst/>
          </a:prstGeom>
          <a:noFill/>
        </p:spPr>
        <p:txBody>
          <a:bodyPr wrap="square">
            <a:spAutoFit/>
          </a:bodyPr>
          <a:lstStyle/>
          <a:p>
            <a:r>
              <a:rPr lang="ja-JP" altLang="en-US" sz="1100" b="1" dirty="0">
                <a:latin typeface="BIZ UDPゴシック" panose="020B0400000000000000" pitchFamily="50" charset="-128"/>
                <a:ea typeface="BIZ UDPゴシック" panose="020B0400000000000000" pitchFamily="50" charset="-128"/>
              </a:rPr>
              <a:t>エッジ端末</a:t>
            </a:r>
            <a:r>
              <a:rPr lang="en-US" altLang="ja-JP" sz="1100" b="1" dirty="0">
                <a:latin typeface="BIZ UDPゴシック" panose="020B0400000000000000" pitchFamily="50" charset="-128"/>
                <a:ea typeface="BIZ UDPゴシック" panose="020B0400000000000000" pitchFamily="50" charset="-128"/>
              </a:rPr>
              <a:t>AI</a:t>
            </a:r>
            <a:endParaRPr lang="ja-JP" altLang="en-US" sz="1100" b="1" dirty="0">
              <a:latin typeface="BIZ UDPゴシック" panose="020B0400000000000000" pitchFamily="50" charset="-128"/>
              <a:ea typeface="BIZ UDPゴシック" panose="020B0400000000000000" pitchFamily="50" charset="-128"/>
            </a:endParaRPr>
          </a:p>
        </p:txBody>
      </p:sp>
      <p:sp>
        <p:nvSpPr>
          <p:cNvPr id="1077" name="部分円 1076">
            <a:extLst>
              <a:ext uri="{FF2B5EF4-FFF2-40B4-BE49-F238E27FC236}">
                <a16:creationId xmlns:a16="http://schemas.microsoft.com/office/drawing/2014/main" id="{927839FA-B72A-E721-EC8A-97CB707EFFC4}"/>
              </a:ext>
            </a:extLst>
          </p:cNvPr>
          <p:cNvSpPr/>
          <p:nvPr/>
        </p:nvSpPr>
        <p:spPr bwMode="auto">
          <a:xfrm rot="1262271">
            <a:off x="1711435" y="5583097"/>
            <a:ext cx="661669" cy="556710"/>
          </a:xfrm>
          <a:prstGeom prst="pie">
            <a:avLst>
              <a:gd name="adj1" fmla="val 11079339"/>
              <a:gd name="adj2" fmla="val 16200000"/>
            </a:avLst>
          </a:prstGeom>
          <a:solidFill>
            <a:schemeClr val="tx2">
              <a:lumMod val="20000"/>
              <a:lumOff val="80000"/>
            </a:schemeClr>
          </a:solidFill>
          <a:ln w="9525">
            <a:solidFill>
              <a:srgbClr val="B2B2B2"/>
            </a:solidFill>
            <a:miter lim="800000"/>
            <a:headEnd/>
            <a:tailEnd/>
          </a:ln>
          <a:effectLst/>
        </p:spPr>
        <p:txBody>
          <a:bodyPr wrap="none" rtlCol="0" anchor="ctr"/>
          <a:lstStyle/>
          <a:p>
            <a:pPr algn="l"/>
            <a:endParaRPr lang="ja-JP" altLang="en-US" dirty="0"/>
          </a:p>
        </p:txBody>
      </p:sp>
      <p:sp>
        <p:nvSpPr>
          <p:cNvPr id="1078" name="テキスト ボックス 1077">
            <a:extLst>
              <a:ext uri="{FF2B5EF4-FFF2-40B4-BE49-F238E27FC236}">
                <a16:creationId xmlns:a16="http://schemas.microsoft.com/office/drawing/2014/main" id="{9D0F8C78-B8B8-093B-6B5A-8E03886E32FC}"/>
              </a:ext>
            </a:extLst>
          </p:cNvPr>
          <p:cNvSpPr txBox="1"/>
          <p:nvPr/>
        </p:nvSpPr>
        <p:spPr>
          <a:xfrm>
            <a:off x="1725925" y="5577882"/>
            <a:ext cx="441146" cy="215444"/>
          </a:xfrm>
          <a:prstGeom prst="rect">
            <a:avLst/>
          </a:prstGeom>
          <a:noFill/>
        </p:spPr>
        <p:txBody>
          <a:bodyPr wrap="none" rtlCol="0">
            <a:spAutoFit/>
          </a:bodyPr>
          <a:lstStyle/>
          <a:p>
            <a:pPr algn="ctr"/>
            <a:r>
              <a:rPr kumimoji="1" lang="ja-JP" altLang="en-US" sz="800" dirty="0">
                <a:latin typeface="Meiryo UI" panose="020B0604030504040204" pitchFamily="50" charset="-128"/>
                <a:ea typeface="Meiryo UI" panose="020B0604030504040204" pitchFamily="50" charset="-128"/>
                <a:cs typeface="Meiryo UI" panose="020B0604030504040204" pitchFamily="50" charset="-128"/>
              </a:rPr>
              <a:t>音・光</a:t>
            </a:r>
          </a:p>
        </p:txBody>
      </p:sp>
      <p:grpSp>
        <p:nvGrpSpPr>
          <p:cNvPr id="1079" name="グループ化 1078">
            <a:extLst>
              <a:ext uri="{FF2B5EF4-FFF2-40B4-BE49-F238E27FC236}">
                <a16:creationId xmlns:a16="http://schemas.microsoft.com/office/drawing/2014/main" id="{F90B6B8E-6524-0570-2A6B-FD459C764434}"/>
              </a:ext>
            </a:extLst>
          </p:cNvPr>
          <p:cNvGrpSpPr/>
          <p:nvPr/>
        </p:nvGrpSpPr>
        <p:grpSpPr>
          <a:xfrm>
            <a:off x="1888650" y="5756012"/>
            <a:ext cx="326392" cy="223156"/>
            <a:chOff x="1888650" y="5756012"/>
            <a:chExt cx="326392" cy="223156"/>
          </a:xfrm>
        </p:grpSpPr>
        <p:grpSp>
          <p:nvGrpSpPr>
            <p:cNvPr id="1080" name="グループ化 1079">
              <a:extLst>
                <a:ext uri="{FF2B5EF4-FFF2-40B4-BE49-F238E27FC236}">
                  <a16:creationId xmlns:a16="http://schemas.microsoft.com/office/drawing/2014/main" id="{DF805A88-38B9-EBE1-905A-F2435CE8A7A7}"/>
                </a:ext>
              </a:extLst>
            </p:cNvPr>
            <p:cNvGrpSpPr/>
            <p:nvPr/>
          </p:nvGrpSpPr>
          <p:grpSpPr>
            <a:xfrm rot="19937645">
              <a:off x="2089130" y="5850115"/>
              <a:ext cx="125912" cy="124424"/>
              <a:chOff x="2259857" y="4675281"/>
              <a:chExt cx="777059" cy="767873"/>
            </a:xfrm>
          </p:grpSpPr>
          <p:sp>
            <p:nvSpPr>
              <p:cNvPr id="1092" name="四角形: 角を丸くする 1091">
                <a:extLst>
                  <a:ext uri="{FF2B5EF4-FFF2-40B4-BE49-F238E27FC236}">
                    <a16:creationId xmlns:a16="http://schemas.microsoft.com/office/drawing/2014/main" id="{D2295603-4854-684A-ADCF-BD59E892A6A1}"/>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93" name="四角形: 角を丸くする 1092">
                <a:extLst>
                  <a:ext uri="{FF2B5EF4-FFF2-40B4-BE49-F238E27FC236}">
                    <a16:creationId xmlns:a16="http://schemas.microsoft.com/office/drawing/2014/main" id="{79D6B060-9A16-D033-6DD8-3D21D44F2A79}"/>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grpSp>
          <p:nvGrpSpPr>
            <p:cNvPr id="1081" name="グループ化 1080">
              <a:extLst>
                <a:ext uri="{FF2B5EF4-FFF2-40B4-BE49-F238E27FC236}">
                  <a16:creationId xmlns:a16="http://schemas.microsoft.com/office/drawing/2014/main" id="{70D09A44-C5DE-0956-C95E-D4B04AFD3024}"/>
                </a:ext>
              </a:extLst>
            </p:cNvPr>
            <p:cNvGrpSpPr/>
            <p:nvPr/>
          </p:nvGrpSpPr>
          <p:grpSpPr>
            <a:xfrm rot="19937645">
              <a:off x="1917383" y="5854744"/>
              <a:ext cx="125912" cy="124424"/>
              <a:chOff x="2259857" y="4675281"/>
              <a:chExt cx="777059" cy="767873"/>
            </a:xfrm>
          </p:grpSpPr>
          <p:sp>
            <p:nvSpPr>
              <p:cNvPr id="1090" name="四角形: 角を丸くする 1089">
                <a:extLst>
                  <a:ext uri="{FF2B5EF4-FFF2-40B4-BE49-F238E27FC236}">
                    <a16:creationId xmlns:a16="http://schemas.microsoft.com/office/drawing/2014/main" id="{D2E7EC71-0EF1-5ACB-5536-3278B5D4932F}"/>
                  </a:ext>
                </a:extLst>
              </p:cNvPr>
              <p:cNvSpPr/>
              <p:nvPr/>
            </p:nvSpPr>
            <p:spPr bwMode="auto">
              <a:xfrm rot="14600000">
                <a:off x="2580415" y="4845681"/>
                <a:ext cx="576000" cy="23519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91" name="四角形: 角を丸くする 1090">
                <a:extLst>
                  <a:ext uri="{FF2B5EF4-FFF2-40B4-BE49-F238E27FC236}">
                    <a16:creationId xmlns:a16="http://schemas.microsoft.com/office/drawing/2014/main" id="{97C5D496-35C4-9A13-3FDD-3E93465C6445}"/>
                  </a:ext>
                </a:extLst>
              </p:cNvPr>
              <p:cNvSpPr/>
              <p:nvPr/>
            </p:nvSpPr>
            <p:spPr bwMode="auto">
              <a:xfrm rot="8391530">
                <a:off x="2259857" y="5287703"/>
                <a:ext cx="777059" cy="15545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
          <p:nvSpPr>
            <p:cNvPr id="1082" name="正方形/長方形 1081">
              <a:extLst>
                <a:ext uri="{FF2B5EF4-FFF2-40B4-BE49-F238E27FC236}">
                  <a16:creationId xmlns:a16="http://schemas.microsoft.com/office/drawing/2014/main" id="{CDFA542C-768E-428B-CB3D-C202357180CA}"/>
                </a:ext>
              </a:extLst>
            </p:cNvPr>
            <p:cNvSpPr/>
            <p:nvPr/>
          </p:nvSpPr>
          <p:spPr bwMode="auto">
            <a:xfrm>
              <a:off x="1933705" y="5799963"/>
              <a:ext cx="227042" cy="82111"/>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3" name="四角形: 角を丸くする 1082">
              <a:extLst>
                <a:ext uri="{FF2B5EF4-FFF2-40B4-BE49-F238E27FC236}">
                  <a16:creationId xmlns:a16="http://schemas.microsoft.com/office/drawing/2014/main" id="{235313A2-6A59-5DF1-766D-3662BA7ECE8F}"/>
                </a:ext>
              </a:extLst>
            </p:cNvPr>
            <p:cNvSpPr/>
            <p:nvPr/>
          </p:nvSpPr>
          <p:spPr bwMode="auto">
            <a:xfrm rot="14600000">
              <a:off x="2098380" y="5879628"/>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4" name="四角形: 角を丸くする 1083">
              <a:extLst>
                <a:ext uri="{FF2B5EF4-FFF2-40B4-BE49-F238E27FC236}">
                  <a16:creationId xmlns:a16="http://schemas.microsoft.com/office/drawing/2014/main" id="{68676F28-4082-C7EF-C857-61DC7044F54A}"/>
                </a:ext>
              </a:extLst>
            </p:cNvPr>
            <p:cNvSpPr/>
            <p:nvPr/>
          </p:nvSpPr>
          <p:spPr bwMode="auto">
            <a:xfrm rot="8391530">
              <a:off x="2046437" y="5951252"/>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5" name="正方形/長方形 1084">
              <a:extLst>
                <a:ext uri="{FF2B5EF4-FFF2-40B4-BE49-F238E27FC236}">
                  <a16:creationId xmlns:a16="http://schemas.microsoft.com/office/drawing/2014/main" id="{5020AABF-91B3-873C-AA42-0A8E786D69DA}"/>
                </a:ext>
              </a:extLst>
            </p:cNvPr>
            <p:cNvSpPr/>
            <p:nvPr/>
          </p:nvSpPr>
          <p:spPr bwMode="auto">
            <a:xfrm>
              <a:off x="1888650" y="5756012"/>
              <a:ext cx="68980" cy="109875"/>
            </a:xfrm>
            <a:prstGeom prst="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6" name="正方形/長方形 1085">
              <a:extLst>
                <a:ext uri="{FF2B5EF4-FFF2-40B4-BE49-F238E27FC236}">
                  <a16:creationId xmlns:a16="http://schemas.microsoft.com/office/drawing/2014/main" id="{E1E927CC-A404-53D2-4495-4DCA364967AD}"/>
                </a:ext>
              </a:extLst>
            </p:cNvPr>
            <p:cNvSpPr/>
            <p:nvPr/>
          </p:nvSpPr>
          <p:spPr bwMode="auto">
            <a:xfrm>
              <a:off x="2010107" y="5850164"/>
              <a:ext cx="82172" cy="21256"/>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87" name="正方形/長方形 1086">
              <a:extLst>
                <a:ext uri="{FF2B5EF4-FFF2-40B4-BE49-F238E27FC236}">
                  <a16:creationId xmlns:a16="http://schemas.microsoft.com/office/drawing/2014/main" id="{4C05BA47-0ABF-4392-FC85-DDB7923B4CEA}"/>
                </a:ext>
              </a:extLst>
            </p:cNvPr>
            <p:cNvSpPr/>
            <p:nvPr/>
          </p:nvSpPr>
          <p:spPr bwMode="auto">
            <a:xfrm>
              <a:off x="1901004" y="5767828"/>
              <a:ext cx="45343" cy="32135"/>
            </a:xfrm>
            <a:prstGeom prst="rect">
              <a:avLst/>
            </a:prstGeom>
            <a:solidFill>
              <a:schemeClr val="bg1"/>
            </a:solidFill>
            <a:ln w="9525">
              <a:solidFill>
                <a:srgbClr val="B2B2B2"/>
              </a:solidFill>
              <a:miter lim="800000"/>
              <a:headEnd/>
              <a:tailEnd/>
            </a:ln>
            <a:effectLst/>
          </p:spPr>
          <p:txBody>
            <a:bodyPr wrap="none" rtlCol="0" anchor="ctr"/>
            <a:lstStyle/>
            <a:p>
              <a:pPr algn="l"/>
              <a:endParaRPr lang="ja-JP" altLang="en-US" dirty="0"/>
            </a:p>
          </p:txBody>
        </p:sp>
        <p:sp>
          <p:nvSpPr>
            <p:cNvPr id="1088" name="四角形: 角を丸くする 1087">
              <a:extLst>
                <a:ext uri="{FF2B5EF4-FFF2-40B4-BE49-F238E27FC236}">
                  <a16:creationId xmlns:a16="http://schemas.microsoft.com/office/drawing/2014/main" id="{96DCA141-7EFE-922E-734E-2FE75E8C6698}"/>
                </a:ext>
              </a:extLst>
            </p:cNvPr>
            <p:cNvSpPr/>
            <p:nvPr/>
          </p:nvSpPr>
          <p:spPr bwMode="auto">
            <a:xfrm rot="14600000">
              <a:off x="1946236" y="5879628"/>
              <a:ext cx="93333" cy="38111"/>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sp>
          <p:nvSpPr>
            <p:cNvPr id="1089" name="四角形: 角を丸くする 1088">
              <a:extLst>
                <a:ext uri="{FF2B5EF4-FFF2-40B4-BE49-F238E27FC236}">
                  <a16:creationId xmlns:a16="http://schemas.microsoft.com/office/drawing/2014/main" id="{38BDAB1C-B4AA-6762-720E-4623DC379F12}"/>
                </a:ext>
              </a:extLst>
            </p:cNvPr>
            <p:cNvSpPr/>
            <p:nvPr/>
          </p:nvSpPr>
          <p:spPr bwMode="auto">
            <a:xfrm rot="8391530">
              <a:off x="1894294" y="5951252"/>
              <a:ext cx="125912" cy="25189"/>
            </a:xfrm>
            <a:prstGeom prst="roundRect">
              <a:avLst/>
            </a:prstGeom>
            <a:solidFill>
              <a:schemeClr val="tx1"/>
            </a:solidFill>
            <a:ln w="9525">
              <a:solidFill>
                <a:srgbClr val="B2B2B2"/>
              </a:solidFill>
              <a:miter lim="800000"/>
              <a:headEnd/>
              <a:tailEnd/>
            </a:ln>
            <a:effectLst/>
          </p:spPr>
          <p:txBody>
            <a:bodyPr wrap="none" rtlCol="0" anchor="ctr"/>
            <a:lstStyle/>
            <a:p>
              <a:pPr algn="l"/>
              <a:endParaRPr lang="ja-JP" altLang="en-US" dirty="0"/>
            </a:p>
          </p:txBody>
        </p:sp>
      </p:grpSp>
    </p:spTree>
    <p:extLst>
      <p:ext uri="{BB962C8B-B14F-4D97-AF65-F5344CB8AC3E}">
        <p14:creationId xmlns:p14="http://schemas.microsoft.com/office/powerpoint/2010/main" val="6648973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目指す提案像 — ロボット × ローカル5G × AI集中分析・学習基盤</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検証済みアセットを組み合わせ、「現場が自律的に回る」仕組みを一気通貫で提供する</a:t>
            </a:r>
            <a:endParaRPr lang="ja-JP" altLang="en-US"/>
          </a:p>
        </p:txBody>
      </p:sp>
      <p:sp>
        <p:nvSpPr>
          <p:cNvPr id="9" name="Rounded Rectangle 8"/>
          <p:cNvSpPr/>
          <p:nvPr/>
        </p:nvSpPr>
        <p:spPr>
          <a:xfrm>
            <a:off x="466344" y="1920240"/>
            <a:ext cx="3291840" cy="301752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182880" tIns="914400" rIns="182880" bIns="73152" rtlCol="0" anchor="t"/>
          <a:lstStyle/>
          <a:p>
            <a:pPr algn="ctr">
              <a:spcAft>
                <a:spcPts val="600"/>
              </a:spcAft>
            </a:pPr>
            <a:r>
              <a:rPr sz="1500" b="1">
                <a:solidFill>
                  <a:srgbClr val="00219B"/>
                </a:solidFill>
                <a:latin typeface="BIZ UDPGothic"/>
                <a:ea typeface="BIZ UDPGothic"/>
              </a:rPr>
              <a:t>現場（エッジ）</a:t>
            </a:r>
          </a:p>
          <a:p>
            <a:pPr>
              <a:lnSpc>
                <a:spcPct val="120000"/>
              </a:lnSpc>
              <a:spcAft>
                <a:spcPts val="400"/>
              </a:spcAft>
            </a:pPr>
            <a:r>
              <a:rPr sz="1150" b="0">
                <a:solidFill>
                  <a:srgbClr val="191919"/>
                </a:solidFill>
                <a:latin typeface="BIZ UDPGothic"/>
                <a:ea typeface="BIZ UDPGothic"/>
              </a:rPr>
              <a:t>ロボット・ドローン・カメラが作業と収集を担う</a:t>
            </a:r>
          </a:p>
          <a:p>
            <a:pPr>
              <a:lnSpc>
                <a:spcPct val="120000"/>
              </a:lnSpc>
            </a:pPr>
            <a:r>
              <a:rPr sz="1150" b="0">
                <a:solidFill>
                  <a:srgbClr val="191919"/>
                </a:solidFill>
                <a:latin typeface="BIZ UDPGothic"/>
                <a:ea typeface="BIZ UDPGothic"/>
              </a:rPr>
              <a:t>エッジNPU（SAKURA-II）で±1ms級の即時推論</a:t>
            </a:r>
          </a:p>
        </p:txBody>
      </p:sp>
      <p:pic>
        <p:nvPicPr>
          <p:cNvPr id="10" name="Picture 9" descr="robot_primary.png"/>
          <p:cNvPicPr>
            <a:picLocks noChangeAspect="1"/>
          </p:cNvPicPr>
          <p:nvPr/>
        </p:nvPicPr>
        <p:blipFill>
          <a:blip r:embed="rId3"/>
          <a:stretch>
            <a:fillRect/>
          </a:stretch>
        </p:blipFill>
        <p:spPr>
          <a:xfrm>
            <a:off x="1030345" y="2045329"/>
            <a:ext cx="627644" cy="627644"/>
          </a:xfrm>
          <a:prstGeom prst="rect">
            <a:avLst/>
          </a:prstGeom>
        </p:spPr>
      </p:pic>
      <p:pic>
        <p:nvPicPr>
          <p:cNvPr id="11" name="Picture 10" descr="drone_primary.png"/>
          <p:cNvPicPr>
            <a:picLocks noChangeAspect="1"/>
          </p:cNvPicPr>
          <p:nvPr/>
        </p:nvPicPr>
        <p:blipFill>
          <a:blip r:embed="rId4"/>
          <a:stretch>
            <a:fillRect/>
          </a:stretch>
        </p:blipFill>
        <p:spPr>
          <a:xfrm>
            <a:off x="1716145" y="2045329"/>
            <a:ext cx="627644" cy="627644"/>
          </a:xfrm>
          <a:prstGeom prst="rect">
            <a:avLst/>
          </a:prstGeom>
        </p:spPr>
      </p:pic>
      <p:pic>
        <p:nvPicPr>
          <p:cNvPr id="12" name="Picture 11" descr="camera_primary.png"/>
          <p:cNvPicPr>
            <a:picLocks noChangeAspect="1"/>
          </p:cNvPicPr>
          <p:nvPr/>
        </p:nvPicPr>
        <p:blipFill>
          <a:blip r:embed="rId5"/>
          <a:stretch>
            <a:fillRect/>
          </a:stretch>
        </p:blipFill>
        <p:spPr>
          <a:xfrm>
            <a:off x="2401945" y="2045329"/>
            <a:ext cx="627644" cy="627644"/>
          </a:xfrm>
          <a:prstGeom prst="rect">
            <a:avLst/>
          </a:prstGeom>
        </p:spPr>
      </p:pic>
      <p:sp>
        <p:nvSpPr>
          <p:cNvPr id="13" name="Rounded Rectangle 12"/>
          <p:cNvSpPr/>
          <p:nvPr/>
        </p:nvSpPr>
        <p:spPr>
          <a:xfrm>
            <a:off x="4306824" y="1920240"/>
            <a:ext cx="2377440" cy="3017520"/>
          </a:xfrm>
          <a:prstGeom prst="roundRect">
            <a:avLst>
              <a:gd name="adj" fmla="val 8000"/>
            </a:avLst>
          </a:prstGeom>
          <a:gradFill rotWithShape="1">
            <a:gsLst>
              <a:gs pos="0">
                <a:srgbClr val="2A65F5"/>
              </a:gs>
              <a:gs pos="100000">
                <a:srgbClr val="0B3BD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164592" tIns="914400" rIns="164592" bIns="73152" rtlCol="0" anchor="t"/>
          <a:lstStyle/>
          <a:p>
            <a:pPr algn="ctr">
              <a:spcAft>
                <a:spcPts val="600"/>
              </a:spcAft>
            </a:pPr>
            <a:r>
              <a:rPr sz="1500" b="1">
                <a:solidFill>
                  <a:srgbClr val="FFFFFF"/>
                </a:solidFill>
                <a:latin typeface="BIZ UDPGothic"/>
                <a:ea typeface="BIZ UDPGothic"/>
              </a:rPr>
              <a:t>ローカル5G</a:t>
            </a:r>
          </a:p>
          <a:p>
            <a:pPr algn="ctr">
              <a:lnSpc>
                <a:spcPct val="125000"/>
              </a:lnSpc>
            </a:pPr>
            <a:r>
              <a:rPr sz="1150" b="0">
                <a:solidFill>
                  <a:srgbClr val="EDF4F9"/>
                </a:solidFill>
                <a:latin typeface="BIZ UDPGothic"/>
                <a:ea typeface="BIZ UDPGothic"/>
              </a:rPr>
              <a:t>高信頼・低遅延の専用無線で、現場データと制御指示を安全に往復</a:t>
            </a:r>
          </a:p>
        </p:txBody>
      </p:sp>
      <p:pic>
        <p:nvPicPr>
          <p:cNvPr id="14" name="Picture 13" descr="tower.png"/>
          <p:cNvPicPr>
            <a:picLocks noChangeAspect="1"/>
          </p:cNvPicPr>
          <p:nvPr/>
        </p:nvPicPr>
        <p:blipFill>
          <a:blip r:embed="rId6"/>
          <a:stretch>
            <a:fillRect/>
          </a:stretch>
        </p:blipFill>
        <p:spPr>
          <a:xfrm>
            <a:off x="5166359" y="2048256"/>
            <a:ext cx="658368" cy="658368"/>
          </a:xfrm>
          <a:prstGeom prst="rect">
            <a:avLst/>
          </a:prstGeom>
        </p:spPr>
      </p:pic>
      <p:sp>
        <p:nvSpPr>
          <p:cNvPr id="15" name="Rounded Rectangle 14"/>
          <p:cNvSpPr/>
          <p:nvPr/>
        </p:nvSpPr>
        <p:spPr>
          <a:xfrm>
            <a:off x="7598664" y="1920240"/>
            <a:ext cx="4050791" cy="3017520"/>
          </a:xfrm>
          <a:prstGeom prst="roundRect">
            <a:avLst>
              <a:gd name="adj" fmla="val 8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01168" tIns="914400" rIns="182880" bIns="73152" rtlCol="0" anchor="t"/>
          <a:lstStyle/>
          <a:p>
            <a:pPr algn="ctr">
              <a:spcAft>
                <a:spcPts val="600"/>
              </a:spcAft>
            </a:pPr>
            <a:r>
              <a:rPr sz="1500" b="1">
                <a:solidFill>
                  <a:srgbClr val="FFFFFF"/>
                </a:solidFill>
                <a:latin typeface="BIZ UDPGothic"/>
                <a:ea typeface="BIZ UDPGothic"/>
              </a:rPr>
              <a:t>AI集中分析・学習基盤</a:t>
            </a:r>
          </a:p>
          <a:p>
            <a:pPr marL="182880" indent="-182880">
              <a:lnSpc>
                <a:spcPct val="120000"/>
              </a:lnSpc>
              <a:spcAft>
                <a:spcPts val="300"/>
              </a:spcAft>
              <a:buFont typeface="BIZ UDPGothic"/>
              <a:buChar char="・"/>
            </a:pPr>
            <a:r>
              <a:rPr sz="1150" b="0">
                <a:solidFill>
                  <a:srgbClr val="EDF4F9"/>
                </a:solidFill>
                <a:latin typeface="BIZ UDPGothic"/>
                <a:ea typeface="BIZ UDPGothic"/>
              </a:rPr>
              <a:t>Kubernetes基盤で推論・学習を集中実行</a:t>
            </a:r>
          </a:p>
          <a:p>
            <a:pPr marL="182880" indent="-182880">
              <a:lnSpc>
                <a:spcPct val="120000"/>
              </a:lnSpc>
              <a:spcAft>
                <a:spcPts val="300"/>
              </a:spcAft>
              <a:buFont typeface="BIZ UDPGothic"/>
              <a:buChar char="・"/>
            </a:pPr>
            <a:r>
              <a:rPr sz="1150" b="0">
                <a:solidFill>
                  <a:srgbClr val="EDF4F9"/>
                </a:solidFill>
                <a:latin typeface="BIZ UDPGothic"/>
                <a:ea typeface="BIZ UDPGothic"/>
              </a:rPr>
              <a:t>大規模分散ストレージ（simplyblock）でデータ・KVキャッシュを共有</a:t>
            </a:r>
          </a:p>
          <a:p>
            <a:pPr marL="182880" indent="-182880">
              <a:lnSpc>
                <a:spcPct val="120000"/>
              </a:lnSpc>
              <a:buFont typeface="BIZ UDPGothic"/>
              <a:buChar char="・"/>
            </a:pPr>
            <a:r>
              <a:rPr sz="1150" b="0">
                <a:solidFill>
                  <a:srgbClr val="EDF4F9"/>
                </a:solidFill>
                <a:latin typeface="BIZ UDPGothic"/>
                <a:ea typeface="BIZ UDPGothic"/>
              </a:rPr>
              <a:t>デジタルツインで予測・シミュレーション</a:t>
            </a:r>
          </a:p>
        </p:txBody>
      </p:sp>
      <p:pic>
        <p:nvPicPr>
          <p:cNvPr id="16" name="Picture 15" descr="k8s.png"/>
          <p:cNvPicPr>
            <a:picLocks noChangeAspect="1"/>
          </p:cNvPicPr>
          <p:nvPr/>
        </p:nvPicPr>
        <p:blipFill>
          <a:blip r:embed="rId7"/>
          <a:stretch>
            <a:fillRect/>
          </a:stretch>
        </p:blipFill>
        <p:spPr>
          <a:xfrm>
            <a:off x="8732520" y="2084831"/>
            <a:ext cx="530352" cy="530352"/>
          </a:xfrm>
          <a:prstGeom prst="rect">
            <a:avLst/>
          </a:prstGeom>
        </p:spPr>
      </p:pic>
      <p:pic>
        <p:nvPicPr>
          <p:cNvPr id="17" name="Picture 16" descr="server.png"/>
          <p:cNvPicPr>
            <a:picLocks noChangeAspect="1"/>
          </p:cNvPicPr>
          <p:nvPr/>
        </p:nvPicPr>
        <p:blipFill>
          <a:blip r:embed="rId8"/>
          <a:stretch>
            <a:fillRect/>
          </a:stretch>
        </p:blipFill>
        <p:spPr>
          <a:xfrm>
            <a:off x="9418320" y="2084831"/>
            <a:ext cx="530352" cy="530352"/>
          </a:xfrm>
          <a:prstGeom prst="rect">
            <a:avLst/>
          </a:prstGeom>
        </p:spPr>
      </p:pic>
      <p:pic>
        <p:nvPicPr>
          <p:cNvPr id="18" name="Picture 17" descr="harddrive.png"/>
          <p:cNvPicPr>
            <a:picLocks noChangeAspect="1"/>
          </p:cNvPicPr>
          <p:nvPr/>
        </p:nvPicPr>
        <p:blipFill>
          <a:blip r:embed="rId9"/>
          <a:stretch>
            <a:fillRect/>
          </a:stretch>
        </p:blipFill>
        <p:spPr>
          <a:xfrm>
            <a:off x="10104120" y="2084831"/>
            <a:ext cx="530352" cy="530352"/>
          </a:xfrm>
          <a:prstGeom prst="rect">
            <a:avLst/>
          </a:prstGeom>
        </p:spPr>
      </p:pic>
      <p:sp>
        <p:nvSpPr>
          <p:cNvPr id="19" name="Left-Right Arrow 18"/>
          <p:cNvSpPr/>
          <p:nvPr/>
        </p:nvSpPr>
        <p:spPr>
          <a:xfrm>
            <a:off x="3813048" y="3200400"/>
            <a:ext cx="438912" cy="384048"/>
          </a:xfrm>
          <a:prstGeom prst="leftRight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20" name="Left-Right Arrow 19"/>
          <p:cNvSpPr/>
          <p:nvPr/>
        </p:nvSpPr>
        <p:spPr>
          <a:xfrm>
            <a:off x="6739128" y="3200400"/>
            <a:ext cx="438912" cy="384048"/>
          </a:xfrm>
          <a:prstGeom prst="leftRightArrow">
            <a:avLst/>
          </a:prstGeom>
          <a:solidFill>
            <a:srgbClr val="2A65F5"/>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73152" rIns="109728" bIns="73152" rtlCol="0" anchor="t"/>
          <a:lstStyle/>
          <a:p>
            <a:pPr algn="ctr"/>
            <a:endParaRPr/>
          </a:p>
        </p:txBody>
      </p:sp>
      <p:sp>
        <p:nvSpPr>
          <p:cNvPr id="21" name="TextBox 20"/>
          <p:cNvSpPr txBox="1"/>
          <p:nvPr/>
        </p:nvSpPr>
        <p:spPr>
          <a:xfrm>
            <a:off x="466344" y="5074920"/>
            <a:ext cx="11183112" cy="365760"/>
          </a:xfrm>
          <a:prstGeom prst="rect">
            <a:avLst/>
          </a:prstGeom>
          <a:noFill/>
        </p:spPr>
        <p:txBody>
          <a:bodyPr wrap="square" lIns="0" tIns="0" rIns="0" bIns="0" anchor="t">
            <a:spAutoFit/>
          </a:bodyPr>
          <a:lstStyle/>
          <a:p>
            <a:pPr algn="ctr"/>
            <a:r>
              <a:rPr sz="1150" b="1">
                <a:solidFill>
                  <a:srgbClr val="2A65F5"/>
                </a:solidFill>
                <a:latin typeface="BIZ UDPGothic"/>
                <a:ea typeface="BIZ UDPGothic"/>
              </a:rPr>
              <a:t>上り：現場のデータを収集・集約　／　下り：学習済みモデル・制御指示を現場へ配信</a:t>
            </a:r>
          </a:p>
        </p:txBody>
      </p:sp>
      <p:sp>
        <p:nvSpPr>
          <p:cNvPr id="22" name="Rounded Rectangle 21"/>
          <p:cNvSpPr/>
          <p:nvPr/>
        </p:nvSpPr>
        <p:spPr>
          <a:xfrm>
            <a:off x="466344" y="5532120"/>
            <a:ext cx="11183112" cy="777240"/>
          </a:xfrm>
          <a:prstGeom prst="roundRect">
            <a:avLst>
              <a:gd name="adj" fmla="val 8000"/>
            </a:avLst>
          </a:prstGeom>
          <a:gradFill rotWithShape="1">
            <a:gsLst>
              <a:gs pos="0">
                <a:srgbClr val="012AB5"/>
              </a:gs>
              <a:gs pos="100000">
                <a:srgbClr val="001040"/>
              </a:gs>
            </a:gsLst>
            <a:lin ang="2700000" scaled="1"/>
          </a:gradFill>
          <a:ln>
            <a:noFill/>
          </a:ln>
          <a:effectLst>
            <a:outerShdw blurRad="100584" dist="32004" dir="5400000" rotWithShape="0">
              <a:srgbClr val="1B3A8C">
                <a:alpha val="38000"/>
              </a:srgbClr>
            </a:outerShdw>
          </a:effectLst>
        </p:spPr>
        <p:style>
          <a:lnRef idx="1">
            <a:schemeClr val="accent1"/>
          </a:lnRef>
          <a:fillRef idx="3">
            <a:schemeClr val="accent1"/>
          </a:fillRef>
          <a:effectRef idx="2">
            <a:schemeClr val="accent1"/>
          </a:effectRef>
          <a:fontRef idx="minor">
            <a:schemeClr val="lt1"/>
          </a:fontRef>
        </p:style>
        <p:txBody>
          <a:bodyPr wrap="square" lIns="274320" tIns="73152" rIns="109728" bIns="73152" rtlCol="0" anchor="ctr"/>
          <a:lstStyle/>
          <a:p>
            <a:pPr algn="ctr"/>
            <a:r>
              <a:rPr sz="1300" b="1">
                <a:solidFill>
                  <a:srgbClr val="FFFFFF"/>
                </a:solidFill>
                <a:latin typeface="BIZ UDPGothic"/>
                <a:ea typeface="BIZ UDPGothic"/>
              </a:rPr>
              <a:t>AIOps・推論基盤で培う技術と検証済みアセットを統合し、この提案像を実装していく — 当社のフィジカルAI参入の到達点</a:t>
            </a:r>
          </a:p>
        </p:txBody>
      </p:sp>
    </p:spTree>
    <p:extLst>
      <p:ext uri="{BB962C8B-B14F-4D97-AF65-F5344CB8AC3E}">
        <p14:creationId xmlns:p14="http://schemas.microsoft.com/office/powerpoint/2010/main" val="30617027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C61704E3-8110-72C8-5476-DAC03CA6A035}"/>
              </a:ext>
            </a:extLst>
          </p:cNvPr>
          <p:cNvSpPr>
            <a:spLocks noGrp="1"/>
          </p:cNvSpPr>
          <p:nvPr>
            <p:ph type="title"/>
          </p:nvPr>
        </p:nvSpPr>
        <p:spPr/>
        <p:txBody>
          <a:bodyPr/>
          <a:lstStyle/>
          <a:p>
            <a:r>
              <a:rPr>
                <a:latin typeface="BIZ UDPGothic"/>
                <a:ea typeface="BIZ UDPGothic"/>
              </a:rPr>
              <a:t>まとめ</a:t>
            </a:r>
            <a:endParaRPr lang="ja-JP" altLang="en-US"/>
          </a:p>
        </p:txBody>
      </p:sp>
      <p:sp>
        <p:nvSpPr>
          <p:cNvPr id="8" name="コンテンツ プレースホルダー 7">
            <a:extLst>
              <a:ext uri="{FF2B5EF4-FFF2-40B4-BE49-F238E27FC236}">
                <a16:creationId xmlns:a16="http://schemas.microsoft.com/office/drawing/2014/main" id="{D4C96A99-692B-ED55-FB7F-403B2DCD88C7}"/>
              </a:ext>
            </a:extLst>
          </p:cNvPr>
          <p:cNvSpPr>
            <a:spLocks noGrp="1"/>
          </p:cNvSpPr>
          <p:nvPr>
            <p:ph idx="11"/>
          </p:nvPr>
        </p:nvSpPr>
        <p:spPr/>
        <p:txBody>
          <a:bodyPr/>
          <a:lstStyle/>
          <a:p>
            <a:r>
              <a:rPr>
                <a:latin typeface="BIZ UDPGothic"/>
                <a:ea typeface="BIZ UDPGothic"/>
              </a:rPr>
              <a:t>本日押さえてほしい3点と、ディスカッション</a:t>
            </a:r>
            <a:endParaRPr lang="ja-JP" altLang="en-US"/>
          </a:p>
        </p:txBody>
      </p:sp>
      <p:sp>
        <p:nvSpPr>
          <p:cNvPr id="9" name="Oval 8"/>
          <p:cNvSpPr/>
          <p:nvPr/>
        </p:nvSpPr>
        <p:spPr>
          <a:xfrm>
            <a:off x="466344" y="1892807"/>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a:solidFill>
                  <a:srgbClr val="FFFFFF"/>
                </a:solidFill>
                <a:latin typeface="BIZ UDPGothic"/>
                <a:ea typeface="BIZ UDPGothic"/>
              </a:rPr>
              <a:t>1</a:t>
            </a:r>
          </a:p>
        </p:txBody>
      </p:sp>
      <p:sp>
        <p:nvSpPr>
          <p:cNvPr id="10" name="Rounded Rectangle 9"/>
          <p:cNvSpPr/>
          <p:nvPr/>
        </p:nvSpPr>
        <p:spPr>
          <a:xfrm>
            <a:off x="1143000" y="1783080"/>
            <a:ext cx="10506456" cy="10972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19456" tIns="109728" rIns="109728" bIns="73152" rtlCol="0" anchor="t"/>
          <a:lstStyle/>
          <a:p>
            <a:pPr algn="ctr">
              <a:spcAft>
                <a:spcPts val="300"/>
              </a:spcAft>
            </a:pPr>
            <a:r>
              <a:rPr sz="1450" b="1">
                <a:solidFill>
                  <a:srgbClr val="00219B"/>
                </a:solidFill>
                <a:latin typeface="BIZ UDPGothic"/>
                <a:ea typeface="BIZ UDPGothic"/>
              </a:rPr>
              <a:t>フィジカルAIは、AI進化の「次章」</a:t>
            </a:r>
          </a:p>
          <a:p>
            <a:r>
              <a:rPr sz="1200" b="0">
                <a:solidFill>
                  <a:srgbClr val="191919"/>
                </a:solidFill>
                <a:latin typeface="BIZ UDPGothic"/>
                <a:ea typeface="BIZ UDPGothic"/>
              </a:rPr>
              <a:t>デジタルの知能が現実世界で働く段階へ。出力がテキストから「動作」に変わる</a:t>
            </a:r>
          </a:p>
        </p:txBody>
      </p:sp>
      <p:sp>
        <p:nvSpPr>
          <p:cNvPr id="11" name="Oval 10"/>
          <p:cNvSpPr/>
          <p:nvPr/>
        </p:nvSpPr>
        <p:spPr>
          <a:xfrm>
            <a:off x="466344" y="3154680"/>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a:solidFill>
                  <a:srgbClr val="FFFFFF"/>
                </a:solidFill>
                <a:latin typeface="BIZ UDPGothic"/>
                <a:ea typeface="BIZ UDPGothic"/>
              </a:rPr>
              <a:t>2</a:t>
            </a:r>
          </a:p>
        </p:txBody>
      </p:sp>
      <p:sp>
        <p:nvSpPr>
          <p:cNvPr id="12" name="Rounded Rectangle 11"/>
          <p:cNvSpPr/>
          <p:nvPr/>
        </p:nvSpPr>
        <p:spPr>
          <a:xfrm>
            <a:off x="1143000" y="3044952"/>
            <a:ext cx="10506456" cy="10972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19456" tIns="109728" rIns="109728" bIns="73152" rtlCol="0" anchor="t"/>
          <a:lstStyle/>
          <a:p>
            <a:pPr algn="ctr">
              <a:spcAft>
                <a:spcPts val="300"/>
              </a:spcAft>
            </a:pPr>
            <a:r>
              <a:rPr sz="1450" b="1">
                <a:solidFill>
                  <a:srgbClr val="00219B"/>
                </a:solidFill>
                <a:latin typeface="BIZ UDPGothic"/>
                <a:ea typeface="BIZ UDPGothic"/>
              </a:rPr>
              <a:t>2025〜26年は実証から初期導入への転換点</a:t>
            </a:r>
          </a:p>
          <a:p>
            <a:r>
              <a:rPr sz="1200" b="0">
                <a:solidFill>
                  <a:srgbClr val="191919"/>
                </a:solidFill>
                <a:latin typeface="BIZ UDPGothic"/>
                <a:ea typeface="BIZ UDPGothic"/>
              </a:rPr>
              <a:t>労働力不足を背景に、製造・物流など環境の整った現場から実装が始まっている</a:t>
            </a:r>
          </a:p>
        </p:txBody>
      </p:sp>
      <p:sp>
        <p:nvSpPr>
          <p:cNvPr id="13" name="Oval 12"/>
          <p:cNvSpPr/>
          <p:nvPr/>
        </p:nvSpPr>
        <p:spPr>
          <a:xfrm>
            <a:off x="466344" y="4416552"/>
            <a:ext cx="475488" cy="475488"/>
          </a:xfrm>
          <a:prstGeom prst="ellipse">
            <a:avLst/>
          </a:prstGeom>
          <a:solidFill>
            <a:srgbClr val="00219B"/>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600" b="1">
                <a:solidFill>
                  <a:srgbClr val="FFFFFF"/>
                </a:solidFill>
                <a:latin typeface="BIZ UDPGothic"/>
                <a:ea typeface="BIZ UDPGothic"/>
              </a:rPr>
              <a:t>3</a:t>
            </a:r>
          </a:p>
        </p:txBody>
      </p:sp>
      <p:sp>
        <p:nvSpPr>
          <p:cNvPr id="14" name="Rounded Rectangle 13"/>
          <p:cNvSpPr/>
          <p:nvPr/>
        </p:nvSpPr>
        <p:spPr>
          <a:xfrm>
            <a:off x="1143000" y="4306824"/>
            <a:ext cx="10506456" cy="1097280"/>
          </a:xfrm>
          <a:prstGeom prst="roundRect">
            <a:avLst>
              <a:gd name="adj" fmla="val 8000"/>
            </a:avLst>
          </a:prstGeom>
          <a:solidFill>
            <a:srgbClr val="FFFFFF"/>
          </a:solidFill>
          <a:ln w="12700">
            <a:solidFill>
              <a:srgbClr val="DCE7F5"/>
            </a:solidFill>
          </a:ln>
          <a:effectLst>
            <a:outerShdw blurRad="100584" dist="32004" dir="5400000" rotWithShape="0">
              <a:srgbClr val="1B3A8C">
                <a:alpha val="32000"/>
              </a:srgbClr>
            </a:outerShdw>
          </a:effectLst>
        </p:spPr>
        <p:style>
          <a:lnRef idx="1">
            <a:schemeClr val="accent1"/>
          </a:lnRef>
          <a:fillRef idx="3">
            <a:schemeClr val="accent1"/>
          </a:fillRef>
          <a:effectRef idx="2">
            <a:schemeClr val="accent1"/>
          </a:effectRef>
          <a:fontRef idx="minor">
            <a:schemeClr val="lt1"/>
          </a:fontRef>
        </p:style>
        <p:txBody>
          <a:bodyPr wrap="square" lIns="219456" tIns="109728" rIns="109728" bIns="73152" rtlCol="0" anchor="t"/>
          <a:lstStyle/>
          <a:p>
            <a:pPr algn="ctr">
              <a:spcAft>
                <a:spcPts val="300"/>
              </a:spcAft>
            </a:pPr>
            <a:r>
              <a:rPr sz="1450" b="1">
                <a:solidFill>
                  <a:srgbClr val="00219B"/>
                </a:solidFill>
                <a:latin typeface="BIZ UDPGothic"/>
                <a:ea typeface="BIZ UDPGothic"/>
              </a:rPr>
              <a:t>価値の源泉はハードではなく「統合」</a:t>
            </a:r>
          </a:p>
          <a:p>
            <a:r>
              <a:rPr sz="1200" b="0">
                <a:solidFill>
                  <a:srgbClr val="191919"/>
                </a:solidFill>
                <a:latin typeface="BIZ UDPGothic"/>
                <a:ea typeface="BIZ UDPGothic"/>
              </a:rPr>
              <a:t>基盤モデル × シミュレーション × 現場データ。つなぎ込む力が競争力になる</a:t>
            </a:r>
          </a:p>
        </p:txBody>
      </p:sp>
      <p:sp>
        <p:nvSpPr>
          <p:cNvPr id="15" name="Rounded Rectangle 14"/>
          <p:cNvSpPr/>
          <p:nvPr/>
        </p:nvSpPr>
        <p:spPr>
          <a:xfrm>
            <a:off x="466344" y="5532120"/>
            <a:ext cx="11183112" cy="777240"/>
          </a:xfrm>
          <a:prstGeom prst="roundRect">
            <a:avLst>
              <a:gd name="adj" fmla="val 8000"/>
            </a:avLst>
          </a:prstGeom>
          <a:solidFill>
            <a:srgbClr val="FFFFFF"/>
          </a:solidFill>
          <a:ln w="15875">
            <a:solidFill>
              <a:srgbClr val="2A65F5"/>
            </a:solidFill>
          </a:ln>
          <a:effectLst>
            <a:outerShdw blurRad="82296" dist="32004" dir="5400000" rotWithShape="0">
              <a:srgbClr val="1B3A8C">
                <a:alpha val="24000"/>
              </a:srgbClr>
            </a:outerShdw>
          </a:effectLst>
        </p:spPr>
        <p:style>
          <a:lnRef idx="1">
            <a:schemeClr val="accent1"/>
          </a:lnRef>
          <a:fillRef idx="3">
            <a:schemeClr val="accent1"/>
          </a:fillRef>
          <a:effectRef idx="2">
            <a:schemeClr val="accent1"/>
          </a:effectRef>
          <a:fontRef idx="minor">
            <a:schemeClr val="lt1"/>
          </a:fontRef>
        </p:style>
        <p:txBody>
          <a:bodyPr wrap="square" lIns="256032" tIns="73152" rIns="109728" bIns="73152" rtlCol="0" anchor="ctr"/>
          <a:lstStyle/>
          <a:p>
            <a:pPr algn="ctr"/>
            <a:r>
              <a:rPr sz="1300" b="1">
                <a:solidFill>
                  <a:srgbClr val="2A65F5"/>
                </a:solidFill>
                <a:latin typeface="BIZ UDPGothic"/>
                <a:ea typeface="BIZ UDPGothic"/>
              </a:rPr>
              <a:t>ディスカッション：</a:t>
            </a:r>
            <a:r>
              <a:rPr sz="1300" b="1">
                <a:solidFill>
                  <a:srgbClr val="191919"/>
                </a:solidFill>
                <a:latin typeface="BIZ UDPGothic"/>
                <a:ea typeface="BIZ UDPGothic"/>
              </a:rPr>
              <a:t>私たちの顧客の現場で、フィジカルAIが最初に価値を出せそうな業務はどこか？</a:t>
            </a:r>
          </a:p>
        </p:txBody>
      </p:sp>
    </p:spTree>
    <p:extLst>
      <p:ext uri="{BB962C8B-B14F-4D97-AF65-F5344CB8AC3E}">
        <p14:creationId xmlns:p14="http://schemas.microsoft.com/office/powerpoint/2010/main" val="30617027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CA871B-1D64-6422-1825-AE06F8DFBBC1}"/>
              </a:ext>
            </a:extLst>
          </p:cNvPr>
          <p:cNvSpPr>
            <a:spLocks noGrp="1"/>
          </p:cNvSpPr>
          <p:nvPr>
            <p:ph type="ctrTitle"/>
          </p:nvPr>
        </p:nvSpPr>
        <p:spPr/>
        <p:txBody>
          <a:bodyPr/>
          <a:lstStyle/>
          <a:p>
            <a:pPr algn="l"/>
            <a:r>
              <a:rPr kumimoji="1" lang="en-US" altLang="ja-JP" dirty="0"/>
              <a:t>End of Document</a:t>
            </a:r>
            <a:endParaRPr kumimoji="1" lang="ja-JP" altLang="en-US" dirty="0"/>
          </a:p>
        </p:txBody>
      </p:sp>
      <p:sp>
        <p:nvSpPr>
          <p:cNvPr id="3" name="コンテンツ プレースホルダー 2">
            <a:extLst>
              <a:ext uri="{FF2B5EF4-FFF2-40B4-BE49-F238E27FC236}">
                <a16:creationId xmlns:a16="http://schemas.microsoft.com/office/drawing/2014/main" id="{7644250D-28F8-6DF2-7E14-230A7268ED08}"/>
              </a:ext>
            </a:extLst>
          </p:cNvPr>
          <p:cNvSpPr>
            <a:spLocks noGrp="1"/>
          </p:cNvSpPr>
          <p:nvPr>
            <p:ph idx="1"/>
          </p:nvPr>
        </p:nvSpPr>
        <p:spPr>
          <a:xfrm>
            <a:off x="503858" y="4353680"/>
            <a:ext cx="11184283" cy="784912"/>
          </a:xfrm>
        </p:spPr>
        <p:txBody>
          <a:bodyPr/>
          <a:lstStyle/>
          <a:p>
            <a:r>
              <a:rPr lang="ja-JP" altLang="en-US" dirty="0"/>
              <a:t>双日テックイノベーション、双日テックイノベーションのロゴは、双日テックイノベーション株式会社の登録商標です。 </a:t>
            </a:r>
            <a:endParaRPr lang="en-US" altLang="ja-JP" dirty="0"/>
          </a:p>
          <a:p>
            <a:r>
              <a:rPr lang="ja-JP" altLang="en-US" dirty="0"/>
              <a:t>その他記載されている全ての商標、サービスマーク、登録商標、登録サービスマークは、各所有者に所有権があります。 </a:t>
            </a:r>
            <a:endParaRPr lang="en-US" altLang="ja-JP" dirty="0"/>
          </a:p>
          <a:p>
            <a:endParaRPr lang="en-US" altLang="ja-JP" dirty="0"/>
          </a:p>
          <a:p>
            <a:r>
              <a:rPr lang="ja-JP" altLang="en-US" dirty="0"/>
              <a:t>本書記載の仕様はすべて予告なく変更される場合があります。</a:t>
            </a:r>
            <a:endParaRPr lang="en-US" altLang="ja-JP" dirty="0"/>
          </a:p>
          <a:p>
            <a:r>
              <a:rPr lang="ja-JP" altLang="en-US" dirty="0"/>
              <a:t>本書の記載内容に誤りがあった場合、 あるいは記載内容を更新する義務が生じた場合も、双日テックイノベーションは一切責任を負いません。 </a:t>
            </a:r>
            <a:endParaRPr lang="en-US" altLang="ja-JP" dirty="0"/>
          </a:p>
          <a:p>
            <a:r>
              <a:rPr lang="ja-JP" altLang="en-US" dirty="0"/>
              <a:t>双日テックイノベーションは、本書を予告無く変更、修正、または改訂する権利を有します。 </a:t>
            </a:r>
            <a:endParaRPr lang="en-US" altLang="ja-JP" dirty="0"/>
          </a:p>
          <a:p>
            <a:r>
              <a:rPr lang="ja-JP" altLang="en-US" dirty="0"/>
              <a:t>本書に記載されている内容を無断で複写、複製することを禁じます。</a:t>
            </a:r>
            <a:endParaRPr lang="en-US" altLang="ja-JP" dirty="0"/>
          </a:p>
          <a:p>
            <a:r>
              <a:rPr lang="ja-JP" altLang="en-US" dirty="0"/>
              <a:t> </a:t>
            </a:r>
            <a:endParaRPr lang="en-US" altLang="ja-JP" dirty="0"/>
          </a:p>
          <a:p>
            <a:r>
              <a:rPr lang="ja-JP" altLang="en-US" dirty="0"/>
              <a:t>記載の価格は参考価格となり、ご検討の際にはお見積りのご依頼をお願いいたします。 </a:t>
            </a:r>
            <a:endParaRPr lang="en-US" altLang="ja-JP" dirty="0"/>
          </a:p>
          <a:p>
            <a:r>
              <a:rPr lang="ja-JP" altLang="en-US" dirty="0"/>
              <a:t>為替変更やメーカーの価格改定により予告なく変更することがあります。</a:t>
            </a:r>
          </a:p>
        </p:txBody>
      </p:sp>
    </p:spTree>
    <p:extLst>
      <p:ext uri="{BB962C8B-B14F-4D97-AF65-F5344CB8AC3E}">
        <p14:creationId xmlns:p14="http://schemas.microsoft.com/office/powerpoint/2010/main" val="35078510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00665860"/>
      </p:ext>
    </p:extLst>
  </p:cSld>
  <p:clrMapOvr>
    <a:masterClrMapping/>
  </p:clrMapOvr>
</p:sld>
</file>

<file path=ppt/theme/theme1.xml><?xml version="1.0" encoding="utf-8"?>
<a:theme xmlns:a="http://schemas.openxmlformats.org/drawingml/2006/main" name="Office テーマ">
  <a:themeElements>
    <a:clrScheme name="STechI PPT COLOR">
      <a:dk1>
        <a:srgbClr val="191919"/>
      </a:dk1>
      <a:lt1>
        <a:srgbClr val="FFFFFF"/>
      </a:lt1>
      <a:dk2>
        <a:srgbClr val="A7ACAF"/>
      </a:dk2>
      <a:lt2>
        <a:srgbClr val="EDF3F9"/>
      </a:lt2>
      <a:accent1>
        <a:srgbClr val="00209B"/>
      </a:accent1>
      <a:accent2>
        <a:srgbClr val="2A65F5"/>
      </a:accent2>
      <a:accent3>
        <a:srgbClr val="E86487"/>
      </a:accent3>
      <a:accent4>
        <a:srgbClr val="AAA5FD"/>
      </a:accent4>
      <a:accent5>
        <a:srgbClr val="55D2D8"/>
      </a:accent5>
      <a:accent6>
        <a:srgbClr val="6BB8F2"/>
      </a:accent6>
      <a:hlink>
        <a:srgbClr val="6BB8F2"/>
      </a:hlink>
      <a:folHlink>
        <a:srgbClr val="E86487"/>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solidFill>
            <a:schemeClr val="accent1"/>
          </a:solidFill>
        </a:ln>
      </a:spPr>
      <a:bodyPr rtlCol="0" anchor="ctr"/>
      <a:lstStyle>
        <a:defPPr algn="ctr">
          <a:defRPr kumimoji="1" b="1" dirty="0" smtClean="0">
            <a:latin typeface="BIZ UDPゴシック" panose="020B0400000000000000" pitchFamily="50" charset="-128"/>
            <a:ea typeface="BIZ UDPゴシック" panose="020B0400000000000000" pitchFamily="50" charset="-128"/>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ドキュメント" ma:contentTypeID="0x0101008687DEC0F95D374FB7FD557024CCB622" ma:contentTypeVersion="16" ma:contentTypeDescription="新しいドキュメントを作成します。" ma:contentTypeScope="" ma:versionID="b66a505357664b116695fd69ecb67f40">
  <xsd:schema xmlns:xsd="http://www.w3.org/2001/XMLSchema" xmlns:xs="http://www.w3.org/2001/XMLSchema" xmlns:p="http://schemas.microsoft.com/office/2006/metadata/properties" xmlns:ns2="a8fcbd8c-2aa5-4228-8d5a-43b47d86b154" xmlns:ns3="cb355013-8d7a-41a7-8b7e-f572bfc8f349" targetNamespace="http://schemas.microsoft.com/office/2006/metadata/properties" ma:root="true" ma:fieldsID="e34da94b137a7ed678fba1cc545d4988" ns2:_="" ns3:_="">
    <xsd:import namespace="a8fcbd8c-2aa5-4228-8d5a-43b47d86b154"/>
    <xsd:import namespace="cb355013-8d7a-41a7-8b7e-f572bfc8f349"/>
    <xsd:element name="properties">
      <xsd:complexType>
        <xsd:sequence>
          <xsd:element name="documentManagement">
            <xsd:complexType>
              <xsd:all>
                <xsd:element ref="ns2:MediaServiceMetadata" minOccurs="0"/>
                <xsd:element ref="ns2:MediaServiceFastMetadata" minOccurs="0"/>
                <xsd:element ref="ns2:_x5099__x8003_"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ObjectDetectorVersions" minOccurs="0"/>
                <xsd:element ref="ns2:lcf76f155ced4ddcb4097134ff3c332f" minOccurs="0"/>
                <xsd:element ref="ns3:TaxCatchAll" minOccurs="0"/>
                <xsd:element ref="ns2:MediaServiceDateTake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fcbd8c-2aa5-4228-8d5a-43b47d86b15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_x5099__x8003_" ma:index="10" nillable="true" ma:displayName="備考" ma:format="Dropdown" ma:internalName="_x5099__x8003_">
      <xsd:simpleType>
        <xsd:restriction base="dms:Note">
          <xsd:maxLength value="255"/>
        </xsd:restriction>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lcf76f155ced4ddcb4097134ff3c332f" ma:index="19" nillable="true" ma:taxonomy="true" ma:internalName="lcf76f155ced4ddcb4097134ff3c332f" ma:taxonomyFieldName="MediaServiceImageTags" ma:displayName="画像タグ" ma:readOnly="false" ma:fieldId="{5cf76f15-5ced-4ddc-b409-7134ff3c332f}" ma:taxonomyMulti="true" ma:sspId="b6df4097-6fa1-44ae-95c3-4b33cacb8142" ma:termSetId="09814cd3-568e-fe90-9814-8d621ff8fb84" ma:anchorId="fba54fb3-c3e1-fe81-a776-ca4b69148c4d" ma:open="true" ma:isKeyword="false">
      <xsd:complexType>
        <xsd:sequence>
          <xsd:element ref="pc:Terms" minOccurs="0" maxOccurs="1"/>
        </xsd:sequence>
      </xsd:complex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LengthInSeconds" ma:index="23"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cb355013-8d7a-41a7-8b7e-f572bfc8f349" elementFormDefault="qualified">
    <xsd:import namespace="http://schemas.microsoft.com/office/2006/documentManagement/types"/>
    <xsd:import namespace="http://schemas.microsoft.com/office/infopath/2007/PartnerControls"/>
    <xsd:element name="SharedWithUsers" ma:index="15"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共有相手の詳細情報" ma:internalName="SharedWithDetails" ma:readOnly="true">
      <xsd:simpleType>
        <xsd:restriction base="dms:Note">
          <xsd:maxLength value="255"/>
        </xsd:restriction>
      </xsd:simpleType>
    </xsd:element>
    <xsd:element name="TaxCatchAll" ma:index="20" nillable="true" ma:displayName="Taxonomy Catch All Column" ma:hidden="true" ma:list="{94256f52-75b8-4886-9f18-1a307df9c87d}" ma:internalName="TaxCatchAll" ma:showField="CatchAllData" ma:web="cb355013-8d7a-41a7-8b7e-f572bfc8f34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cb355013-8d7a-41a7-8b7e-f572bfc8f349" xsi:nil="true"/>
    <lcf76f155ced4ddcb4097134ff3c332f xmlns="a8fcbd8c-2aa5-4228-8d5a-43b47d86b154">
      <Terms xmlns="http://schemas.microsoft.com/office/infopath/2007/PartnerControls"/>
    </lcf76f155ced4ddcb4097134ff3c332f>
    <_x5099__x8003_ xmlns="a8fcbd8c-2aa5-4228-8d5a-43b47d86b154" xsi:nil="true"/>
  </documentManagement>
</p:properties>
</file>

<file path=customXml/itemProps1.xml><?xml version="1.0" encoding="utf-8"?>
<ds:datastoreItem xmlns:ds="http://schemas.openxmlformats.org/officeDocument/2006/customXml" ds:itemID="{CA4BB487-05B5-4831-B236-54BDA674BB9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fcbd8c-2aa5-4228-8d5a-43b47d86b154"/>
    <ds:schemaRef ds:uri="cb355013-8d7a-41a7-8b7e-f572bfc8f34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BD2FE33-A8FE-4994-BBB0-649B948DAB57}">
  <ds:schemaRefs>
    <ds:schemaRef ds:uri="http://schemas.microsoft.com/sharepoint/v3/contenttype/forms"/>
  </ds:schemaRefs>
</ds:datastoreItem>
</file>

<file path=customXml/itemProps3.xml><?xml version="1.0" encoding="utf-8"?>
<ds:datastoreItem xmlns:ds="http://schemas.openxmlformats.org/officeDocument/2006/customXml" ds:itemID="{036ABB21-D544-4CB2-A13A-0C1AFD84119C}">
  <ds:schemaRefs>
    <ds:schemaRef ds:uri="http://schemas.microsoft.com/office/2006/metadata/properties"/>
    <ds:schemaRef ds:uri="http://schemas.microsoft.com/office/infopath/2007/PartnerControls"/>
    <ds:schemaRef ds:uri="5227c1a8-9380-4cb9-a049-015dc35f74b8"/>
    <ds:schemaRef ds:uri="bc5f12d4-c7da-4e54-a32e-1c57020298bc"/>
    <ds:schemaRef ds:uri="cb355013-8d7a-41a7-8b7e-f572bfc8f349"/>
    <ds:schemaRef ds:uri="a8fcbd8c-2aa5-4228-8d5a-43b47d86b154"/>
  </ds:schemaRefs>
</ds:datastoreItem>
</file>

<file path=docProps/app.xml><?xml version="1.0" encoding="utf-8"?>
<Properties xmlns="http://schemas.openxmlformats.org/officeDocument/2006/extended-properties" xmlns:vt="http://schemas.openxmlformats.org/officeDocument/2006/docPropsVTypes">
  <Template>Office Theme</Template>
  <TotalTime>2460</TotalTime>
  <Words>5435</Words>
  <Application>Microsoft Office PowerPoint</Application>
  <PresentationFormat>ワイド画面</PresentationFormat>
  <Paragraphs>724</Paragraphs>
  <Slides>36</Slides>
  <Notes>36</Notes>
  <HiddenSlides>0</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36</vt:i4>
      </vt:variant>
    </vt:vector>
  </HeadingPairs>
  <TitlesOfParts>
    <vt:vector size="46" baseType="lpstr">
      <vt:lpstr>BIZ UDPGothic</vt:lpstr>
      <vt:lpstr>BIZ UDPGothic</vt:lpstr>
      <vt:lpstr>Meiryo UI</vt:lpstr>
      <vt:lpstr>游ゴシック</vt:lpstr>
      <vt:lpstr>游ゴシック</vt:lpstr>
      <vt:lpstr>Aptos</vt:lpstr>
      <vt:lpstr>Aptos Display</vt:lpstr>
      <vt:lpstr>Arial</vt:lpstr>
      <vt:lpstr>Wingdings</vt:lpstr>
      <vt:lpstr>Office テーマ</vt:lpstr>
      <vt:lpstr>フィジカルAI入門 〜AIがデジタルから、現実世界へ〜</vt:lpstr>
      <vt:lpstr>目次</vt:lpstr>
      <vt:lpstr>1．取り組みの背景と目指していく姿</vt:lpstr>
      <vt:lpstr>なぜ、フィジカルAIに取り組むのか — 単品インテグレーションの先へ</vt:lpstr>
      <vt:lpstr>取り組みの背景</vt:lpstr>
      <vt:lpstr>通信事業者の投資推移</vt:lpstr>
      <vt:lpstr>フィジカルAIの市場</vt:lpstr>
      <vt:lpstr>オンプレ生成AIの市場</vt:lpstr>
      <vt:lpstr>AIOps/運用自動化の市場</vt:lpstr>
      <vt:lpstr>双日テックイノベーションの進化：キャリアNWから次の価値創造へ</vt:lpstr>
      <vt:lpstr>エッジソリューション</vt:lpstr>
      <vt:lpstr>2．フィジカルAIとは何か</vt:lpstr>
      <vt:lpstr>フィジカルAIとは — AI進化の「第4の波」</vt:lpstr>
      <vt:lpstr>なぜ今、フィジカルAIが注目されるのか</vt:lpstr>
      <vt:lpstr>フィジカルAIを支える3層の技術スタック</vt:lpstr>
      <vt:lpstr>3．主要プレイヤーと最新動向</vt:lpstr>
      <vt:lpstr>NVIDIA — フィジカルAIの「共通基盤」を狙う</vt:lpstr>
      <vt:lpstr>加速するヒューマノイド開発競争</vt:lpstr>
      <vt:lpstr>産業別ユースケース — どこから使われ始めるか</vt:lpstr>
      <vt:lpstr>4．技術の仕組み</vt:lpstr>
      <vt:lpstr>どうやって学習するのか — 鍵はシミュレーション</vt:lpstr>
      <vt:lpstr>VLAモデル — ロボットの頭脳のしくみ</vt:lpstr>
      <vt:lpstr>現場ではすでに「AIの部品」が実用段階</vt:lpstr>
      <vt:lpstr>5．ビジネスへの示唆</vt:lpstr>
      <vt:lpstr>市場予測と、普及までの課題</vt:lpstr>
      <vt:lpstr>私たちのビジネスへの示唆</vt:lpstr>
      <vt:lpstr>6．当社の取り組み・まとめ</vt:lpstr>
      <vt:lpstr>当社の狙い — 3つの時間軸で市場を取りにいく</vt:lpstr>
      <vt:lpstr>課題：経緯</vt:lpstr>
      <vt:lpstr>検証で積み上げてきた技術アセット</vt:lpstr>
      <vt:lpstr>構想 — エッジAI × 地域デジタルツインで「認識・予測・行動」を回す</vt:lpstr>
      <vt:lpstr>エッジソリューション</vt:lpstr>
      <vt:lpstr>目指す提案像 — ロボット × ローカル5G × AI集中分析・学習基盤</vt:lpstr>
      <vt:lpstr>まとめ</vt:lpstr>
      <vt:lpstr>End of Document</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Mitsuru Katayanagi</dc:creator>
  <cp:lastModifiedBy>田代 裕基</cp:lastModifiedBy>
  <cp:revision>125</cp:revision>
  <dcterms:created xsi:type="dcterms:W3CDTF">2024-10-20T05:00:09Z</dcterms:created>
  <dcterms:modified xsi:type="dcterms:W3CDTF">2026-07-31T07:51:00Z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0x0101008687DEC0F95D374FB7FD557024CCB622</vt:lpwstr>
  </property>
  <property fmtid="{D5CDD505-2E9C-101B-9397-08002B2CF9AE}" pid="3" name="MediaServiceImageTags">
    <vt:lpwstr/>
  </property>
</Properties>
</file>