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市場規模（兆円）</c:v>
                </c:pt>
              </c:strCache>
            </c:strRef>
          </c:tx>
          <c:spPr>
            <a:solidFill>
              <a:srgbClr val="23305E"/>
            </a:solidFill>
            <a:effectLst/>
          </c:spPr>
          <c:invertIfNegative val="0"/>
          <c:dLbls>
            <c:numFmt formatCode="0.00&quot;兆円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1A38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2024年</c:v>
                  </c:pt>
                  <c:pt idx="1">
                    <c:v>2029年（予測）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1.34</c:v>
                </c:pt>
                <c:pt idx="1">
                  <c:v>4.19</c:v>
                </c:pt>
              </c:numCache>
            </c:numRef>
          </c:val>
        </c:ser>
        <c:dLbls>
          <c:numFmt formatCode="0.00&quot;兆円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01A38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5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本編30〜45分+Q&amp;A15分。日付・発表者名を差し替えてください。冒頭のつかみ: 「自席でロボットアームにボールを掴ませています。今日はその裏側にある大きな地殻変動の話をします」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2分。ゴールを先に共有し「営業・SE両方に持ち帰りがある構成」と宣言する。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セクション1: 10分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3分。ポイント: 波は置き換えではなく積み重なり。生成AI/エージェントAIの成果(基盤モデル)がそのまま物理世界に流れ込んできたのがフィジカルAI。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2分。「フィジカルAIのChatGPTモーメントは既に来た」(Jensen Huang)を紹介。数字の桁感だけ持ち帰ってもらえばOK。予測はソースにより幅がある点も正直に。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2分。後半のエッジAI・ローカル5Gの伏線。「クラウド往復では間に合わない場面がある」ことをここで植え付ける。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3分。NVIDIAのフレームで全体像を掴んでもらう。弊社文脈: ③はSAKURA-IIのようなNPUでも代替可能、①②はK8s基盤の話につながる、と一言添える。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セクション2: 8分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3分。「VLAはロボット版の基盤モデル」という一言に集約。従来のティーチングペンダントとの違いを製造業の聴衆に響かせる。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2分。表は読み上げず「1年でこれだけ出た」というスピード感と、オープン化の流れだけ強調。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2分。「参入障壁が崩れた」ことが本セクションの結論。次のスライドで自社検証につなぐ。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3分。実体験を語る一番の見せ場。デモ動画があればここで再生。失敗談(データの取り直し等)も入れると質疑が盛り上がる。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セクション3: 8分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2分。4つの理由はNW屋・インフラ屋の実感に訴える。ここからSAKURA-IIへ。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2分。国産・低消費電力・決定論という3つのキーワード。宇宙(放射線耐性試験済)の小ネタも時間があれば。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2分。「TOPSの絶対値では語れない」が要点。Jetsonを貶めず、エコシステムの強さと用途の棲み分けとして説明。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2分。自社の一次データという強み。「ジッターが小さい＝制御周期を詰められる」を機械屋の言葉で説明。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セクション4: 5分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2分。隣の課のL5G担当がいれば補足を振ると良い。Wi-Fi 6/7で足りるケースもあると公平に添えると信頼感が出る。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1.5分。「箱(L5G)は用意できている。使い道が課題だった」と正直に言うと次のスライドが立つ。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1.5分。本日の提案ストーリーの要。「売り物(5G)と使い道(フィジカルAI)が噛み合う」構図を強調。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セクション5: 5分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2.5分。K8s導入シナリオの答え: 「AIの継続運用(MLOps/フリート管理)」が用途。NVIDIAの3コンピュータの①②に相当する話だと繋げる。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2.5分。聴衆(インフラ屋)への持ち帰り: 「K8sは畑違いの新技術ではなく、HCIで起きたSDS化の続き」という位置づけ。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セクション6: 4分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2分。本日の結論スライド。右列の「裏付け」が単なる構想でない根拠。矢印は上り(データ収集)と下り(モデル配信)の双方向。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1.5分。「3要素パッケージ」の実地版がすでに提案として動いていることを示す。採択前である点は明確に伝える。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1.5分。個人の取り組みを会社のロードマップに接続して締める。次アクション(リファレンス構成づくり)への協力・巻き込みを呼びかける。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2分でまとめ→Q&amp;A15分。想定問答: ①費用感は? ②Wi-Fi 6Eではだめ? ③K8sの学習コストは? ④SAKURA-IIとJetsonどちらを推す? を準備しておく。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023360" cy="4023360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2893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社内勉強会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2651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フィジカルAI入門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 AIが、現実世界で動き出す 〜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1248" y="4892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エッジAI × ローカル5G × AI集中管理基盤 —— 3つの要素で読み解く次のインフラ商機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20XX年X月X日   ネットワーク事業部 ○○○○（発表者名に差し替え）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本日のゴールと進め方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842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4650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フィジカルAIの全体像を掴む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1671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「何ができて、なぜ今盛り上がっているのか」を一枚絵で語れるようになる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3017520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015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16382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要素技術と弊社の実績を知る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35844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VLA・エッジAI・ローカル5G・AI基盤。それぞれで弊社が検証済みのこと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4360" y="4434840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1888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58114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提案づくりの議論の土台にする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50017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「3要素パッケージ」構想へのツッコミ・アイデアをQ&amp;Aでもらう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178040" y="160020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452360" y="1810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アジェンダ（約40分＋Q&amp;A）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452360" y="2304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4672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フィジカルAIとは何か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0835640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10分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452360" y="28163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467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頭脳 — VLAモデル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0835640" y="28163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8分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452360" y="33284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046720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五感と反射神経 — エッジAI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0835640" y="3328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8分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452360" y="3840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0467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神経網 — ローカル5G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083564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5分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7452360" y="435254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046720" y="4352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中枢 — AI集中管理基盤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10835640" y="4352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5分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7452360" y="48646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046720" y="4864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 — 3要素パッケージ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10835640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4分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7452360" y="53766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046720" y="5376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質疑応答・ディスカッション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10835640" y="5376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20640" y="1417320"/>
            <a:ext cx="6583680" cy="402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509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フィジカルAIとは何か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生成AI・エージェントAIの次に来る「第3の波」。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まずは全体像と、いま世界で起きていることから。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01｜フィジカルAIとは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AIの進化 — 3つの波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8B93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0985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第1波：生成AI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2022年〜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デジタル世界で「言葉と知識」を扱う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160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文章生成・要約・翻訳・コード生成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代表例：ChatGPT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07992" y="16459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28032" y="1920240"/>
            <a:ext cx="685800" cy="68580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0985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28032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第2波：エージェントAI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2803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2024年〜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28032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デジタル世界で「作業」をこなす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28032" y="4160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自律的なツール操作・調査・業務代行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代表例：Claude Code、各種AIエージェント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421624" y="16459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741664" y="1920240"/>
            <a:ext cx="685800" cy="6858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72" y="20985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41664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第3波：フィジカルAI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741664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2025年〜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741664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物理世界を認識し、行動する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741664" y="4160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ロボット・自動運転・ドローン・AMR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代表例：ヒューマノイド、VLA搭載アーム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94360" y="53492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 ＝ </a:t>
            </a:r>
            <a:pPr algn="ctr"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物理世界を認識し、理解し、行動するAI</a:t>
            </a:r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（見る → 考える → 動く）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01｜フィジカルAIとは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なぜ今か — 市場は「兆円」の単位で動き始めた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国内AIシステム市場（IDC Japan）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224028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5年で3.1倍（CAGR 25.6%）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90195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50兆ドル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778240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NVIDIA CEOが語る市場機会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0" y="22128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製造・物流・自動運転を含む長期の市場規模感（2025年発言）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55080" y="3127248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5兆ドル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77824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ヒューマノイド市場 2050年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778240" y="36941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Morgan Stanley予測。2050年に世界10億台稼働のシナリオ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55080" y="4608576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83680" y="48646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828億ドル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8778240" y="4773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日本のフィジカルAI市場 2035年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778240" y="51755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国内でも2035年に向けて大幅拡大の予測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出典：IDC Japan（2025）、NVIDIA CEO Jensen Huang発言（VivaTech 2025）、Morgan Stanley（2025）、日本フィジカルAI市場予測（2026-2035）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01｜フィジカルAIとは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フィジカルAIの基本ループ — 認識・判断・行動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21031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269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認識 Sense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69848" y="2971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カメラ・LiDAR・各種センサーで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周囲の状況を捉える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04488" y="2697480"/>
            <a:ext cx="685800" cy="548640"/>
          </a:xfrm>
          <a:prstGeom prst="rightArrow">
            <a:avLst/>
          </a:prstGeom>
          <a:solidFill>
            <a:srgbClr val="E8622D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56048" y="21031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469" y="22695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 Think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956048" y="2971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VLA／基盤モデルが状況を理解し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次の行動を決める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90688" y="2697480"/>
            <a:ext cx="685800" cy="548640"/>
          </a:xfrm>
          <a:prstGeom prst="rightArrow">
            <a:avLst/>
          </a:prstGeom>
          <a:solidFill>
            <a:srgbClr val="E8622D"/>
          </a:solidFill>
          <a:ln/>
        </p:spPr>
      </p:sp>
      <p:sp>
        <p:nvSpPr>
          <p:cNvPr id="17" name="Shape 13"/>
          <p:cNvSpPr/>
          <p:nvPr/>
        </p:nvSpPr>
        <p:spPr>
          <a:xfrm>
            <a:off x="8549640" y="1828800"/>
            <a:ext cx="3063240" cy="2286000"/>
          </a:xfrm>
          <a:prstGeom prst="roundRect">
            <a:avLst>
              <a:gd name="adj" fmla="val 3200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842248" y="21031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669" y="22695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4692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 Act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842248" y="2971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アーム・車輪・プロペラが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物理世界に働きかける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286000" y="4434840"/>
            <a:ext cx="7589520" cy="457200"/>
          </a:xfrm>
          <a:prstGeom prst="leftArrow">
            <a:avLst/>
          </a:prstGeom>
          <a:solidFill>
            <a:srgbClr val="EEF3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651760" y="4480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行動の結果が環境を変え、次の「認識」へ —— このループを回し続ける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77240" y="52578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5046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37360" y="55321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求められる応答速度は 数ms〜100ms。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チャットなら1秒待てるが、動く機械は待てない —— ここがフィジカルAI特有の難しさ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応答要件：総務省 地域エッジAI実証 提案仕様（数ms〜100msのリアルタイム処理）より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01｜フィジカルAIとは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開発の全体像 — NVIDIAが説く「3つのコンピュータ」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1442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学習（Train）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NVIDIA DGX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大量データでロボットの頭脳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（基盤モデル）を訓練する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AIスーパーコンピュータ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07992" y="16916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1965960"/>
            <a:ext cx="685800" cy="68580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442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28032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シミュレーション（Sim）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828032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Omniverse ＋ Cosmos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28032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デジタルツインで安全に試し、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合成データを量産。Cosmosは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2,000万時間の実映像で学習した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「世界モデル」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421624" y="16916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1664" y="1965960"/>
            <a:ext cx="685800" cy="68580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72" y="21442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41664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実行（Act）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741664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Jetson Thor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741664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ロボットに載るエッジ計算機。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2070 TFLOPS（FP4）・128GB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$3,499（2025年8月GA）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94360" y="54864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14400" y="56509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 → シミュレーション → 実行 のループ全体が開発基盤。</a:t>
            </a:r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「③実行」だけでなく「①②を支えるインフラ」にも商機がある（→ セクション05へ）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出典：NVIDIA（CES 2025 / GTC 2025 発表、Jetson Thor 2025年8月GA）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20640" y="1417320"/>
            <a:ext cx="6583680" cy="402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509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頭脳 — VLAモデル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「見て・聞いて・動く」を1つのモデルで。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ロボットの頭脳は基盤モデルの時代へ。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02｜頭脳：VLAモデル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VLA（Vision-Language-Action）とは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9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011680" y="19293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言葉 → 言葉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23500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ChatGPTなど。テキストの入出力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429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11680" y="33009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画像＋言葉 → 言葉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011680" y="37216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画像を理解して説明・回答できる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5262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8006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6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011680" y="46725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画像＋言葉 → 行動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011680" y="5093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カメラ映像と指示から、ロボットの動作を直接出力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78308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VLAの入出力イメージ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入力：カメラ画像 ＋ 「青いボールを掴んで」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2788920"/>
            <a:ext cx="457200" cy="457200"/>
          </a:xfrm>
          <a:prstGeom prst="downArrow">
            <a:avLst/>
          </a:prstGeom>
          <a:solidFill>
            <a:srgbClr val="E8622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出力：各関節の動き（モーター指令値の連続列）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 プログラムを書かずに、デモを見せて教える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43891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従来のロボット開発との違い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ティーチング・専用プログラミングが不要 — 自然言語＋実演で教える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学習した動作を、少し違う状況にも汎化できる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02｜頭脳：VLAモデル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世界の主要プレイヤー — 2025年に一気に出揃った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モデル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開発元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Isaac GR00T N1 / N1.5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NVIDIA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オープンなヒューマノイド汎用基盤モデル（公開版 約2.2B）。Jetson Thor上での実行を想定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π0 / π0.5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Physical Intelligence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汎用ロボット基盤モデルの先駆。openpiとしてOSS化。評価額110億ドル（2026年報道）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Gemini Robotics 1.5 / 2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Google DeepMind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On-Device版はネット接続なしでロボット上で動作。2026年に全身制御の「2」を発表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Helix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Figure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ヒューマノイド上半身を高周波制御。7B VLM（7〜9Hz）＋高速制御系（200Hz）の二重構成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SmolVLA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Hugging Face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450Mの軽量オープンVLA。コンシューマGPUでも動作 —— 弊社が検証中（次頁）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576072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ポイント：巨大プロプライエタリ勢とオープン勢が併走 —— オープン勢の存在が、私たちのような事業者にも検証の門戸を開いた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出典：各社公開情報（2025〜2026年）。パラメータ数・評価額は公表値/報道ベース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02｜頭脳：VLAモデル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ロボット学習の民主化 — 机の上で始められる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385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約1.5万円〜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LeRobot SO-101 部品コスト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Hugging Face発の3Dプリント6軸アーム（約$100〜130）。組立キットも数万円台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385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450M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SmolVLAのパラメータ数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軽量でもSO-101実機ベンチで大型モデルに匹敵。コンシューマGPUで動く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7490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502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約1,000万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事前学習フレーム数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983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コミュニティが持ち寄った487データセットで事前学習済み。少数デモの追加学習で使える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7490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39502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30%短縮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非同期推論の応答改善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4983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推論と動作を並行処理。実タスクのスループットは約2倍に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576072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数年前まで研究室の話だった「ロボットに教える」が、数万円と1台のGPUで試せる時代に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出典：Hugging Face LeRobot / SmolVLA 公開情報（2025年）。円換算は概算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02｜頭脳：VLAモデル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弊社検証① LeRobot SO-101 × SmolVLA でボール把持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7432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［写真差し替え］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自席検証環境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（SO-101＋カメラ＋GPU PC）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52578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4406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実機は私の席にあります。動くところは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いつでもお見せできます（Q&amp;A後でもぜひ）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978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検証構成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SO-101 リーダー／フォロワーアーム ＋ USBカメラ ＋ GPU搭載PC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SmolVLA（公開ベースモデル）を自前データでファインチューニング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3246120"/>
            <a:ext cx="502920" cy="502920"/>
          </a:xfrm>
          <a:prstGeom prst="ellipse">
            <a:avLst/>
          </a:prstGeom>
          <a:solidFill>
            <a:srgbClr val="101A3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320040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リーダーアームを人が操作し、把持デモを数十エピソード記録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3995928"/>
            <a:ext cx="502920" cy="502920"/>
          </a:xfrm>
          <a:prstGeom prst="ellipse">
            <a:avLst/>
          </a:prstGeom>
          <a:solidFill>
            <a:srgbClr val="101A3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950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395020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収集データでSmolVLAをファインチューニング（数時間）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745736"/>
            <a:ext cx="502920" cy="502920"/>
          </a:xfrm>
          <a:prstGeom prst="ellipse">
            <a:avLst/>
          </a:prstGeom>
          <a:solidFill>
            <a:srgbClr val="101A3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70001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470001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「ボールを掴む」を自律実行 —— 把持に成功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得られた学び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587044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データ品質（照明・背景・カメラ位置）が精度を大きく左右する／「収集→学習→実行」のループを社内で回せることを確認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20640" y="1417320"/>
            <a:ext cx="6583680" cy="402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509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五感と反射神経 — エッジAI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「考える」だけでは動けない。ミリ秒で反応する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推論チップが、フィジカルAIの身体性を支える。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03｜エッジAI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なぜクラウドではなくエッジで推論するのか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3852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62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848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783080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応答時間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83280" y="1783080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制御ループは数ms〜100ms。クラウド往復（数十〜数百ms＋揺らぎ）では機械の制御に間に合わない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283464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299008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62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1363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834640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可用性・安全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83280" y="2834640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通信が切れても、その場で判断して安全に止まる／動き続ける必要がある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388620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04164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62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879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886200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データ主権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383280" y="3886200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現場の映像・機微データを外に出さない。プライバシーと機密保持の要請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4360" y="493776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509320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62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523951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937760"/>
            <a:ext cx="1600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通信コスト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383280" y="4937760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全カメラ映像をクラウドへ上げ続ける帯域・転送コストは非現実的。現場で絞ってから送る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学習はクラウド/センター、推論は現場（エッジ）へ —— 推論の主戦場はエッジに移りつつある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03｜エッジAI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EdgeCortix SAKURA-II — 日本発のエッジAIアクセラレータ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93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 TOPS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AI性能（INT8）／BF16でも30 TFLOPS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993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約8〜10W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動作時消費電力（典型値）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29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593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$399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PCIe/M.2モジュール価格帯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429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3593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16GB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4160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LPDDR4x搭載・帯域68GB/s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5166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開発元：EDGECORTIX株式会社（川崎・2019年設立のファブレス半導体、累計調達1.1億ドル）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技術の肝：データフロー型アーキテクチャ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75120" y="24688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GPU（ノイマン型）：柔軟だが、メモリ往復で遅延が揺れる。実効利用率は30〜40%程度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SAKURA-II（データフロー型）：コンパイラが計算資源を静的に割当。オンチップSRAM中心で動くため、処理時間が「決定論的」＝ジッターが極小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DNA（動的再構成IP）＋ MERAコンパイラ（PyTorch / ONNX / TFLite対応）のフルスタック提供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「速さ」だけでなく「揺れなさ」を設計思想で作り込んだチップ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出典：EdgeCortix公開情報、弊社NS研向け調査資料（2026年3月）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03｜エッジAI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エッジAIチップの勢力図 — 三者三様の設計思想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SAKURA-II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Jetson AGX Orin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Hailo-8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AI性能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2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60 TOPS（INT8）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275 TOPS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 TOPS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消費電力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2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約8〜10W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15〜60W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約2.5W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2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$399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約$2,000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約$350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電力効率（TOPS/W）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2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7.5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実効利用率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2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80%以上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30〜40%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40〜70%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A3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位置づけ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2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エッジ汎用・低ジッター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汎用計算機・CUDA資産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組込特化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バッチサイズ1（1件ずつ即時処理＝ロボット制御の条件）では、カタログTOPSより「電力効率×実効利用率」が効く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出典：弊社NS研向け調査資料（2026年3月）。実効利用率はバッチサイズ1前提の推定値を含む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03｜エッジAI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弊社検証② SAKURA-II 実機性能試験（YOLO11m）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019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7.6ms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推論時間（DNA・INT8）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9535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物体検出YOLO11mを1フレームあたり数msで処理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019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±0.2ms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推論ジッター（揺らぎ）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29535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処理時間のブレが極小 —— 他社製品の約1/10の安定性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822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10W未満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平均消費電力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8737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60分連続実行での実測平均。ファンレス設計も視野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3822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22%高速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3796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Mixed精度の効果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48737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精度低下はわずか-0.3mAP（約0.7%）で速度を2割改善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562356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制御用途では「速い」より「揺れない」が効く。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低ジッター×超低消費電力 → ロボット・VLA・自動運転の推論に好適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弊社実測（2026年）：YOLO11m 640×640、SAKURA-II PCIeカード、60分連続・室温26℃。NS研向け報告より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20640" y="1417320"/>
            <a:ext cx="6583680" cy="402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509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神経網 — ローカル5G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動き回る機械を、切れない無線でつなぐ。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フィジカルAIこそが高帯域無線の使い道になる。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04｜ローカル5G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動くAIには「切れない無線」が必要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フィジカルAIは移動する（AMR・AGV・ドローン・搬送ロボット）。有線は引けず、無線の質がそのまま安全と生産性になる。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Wi-Fiの限界（現場あるある）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AP切替（ローミング）で通信が途切れ、AMRが停止する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金属棚・機械の多い環境で電波干渉・不感地帯が発生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端末台数が増えると輻輳し、遅延が読めなくなる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屋外・広域のカバーが苦手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ローカル5Gの強み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ハンドオーバーで移動中も途切れない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免許帯域を占有 —— 干渉に強く、遅延・帯域を設計できる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多数同時接続・上り偏重（映像アップ中心）のカスタムが可能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SIM認証によるセキュリティ、屋外・広カバレッジ対応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「動き回る機械 × 映像 × リアルタイム制御」の無線は、ローカル5Gが本命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04｜ローカル5G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Celona「5G LAN」と弊社の取り組み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Celona とは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「5G LAN」のパイオニア（2019年設立、NTT等が出資）。セルラーAPを既存の企業LANに統合し、クラウドから一元管理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iPhone / iPad 対応 —— 専用端末なしで使い始められる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展開実績 500万㎡（サッカー場932面分）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もてぎサーキットで高速走行車両からのオンボード映像伝送を実証（弊社ニュースリリース）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7373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弊社のアセット（隣の課で推進中）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2395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検証ラボ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273405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FACE-1にCelona検証環境を構築（電波シールドテント＋アンリツ測定器）。顧客見学も可能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PoCパッケージ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90448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コア＋屋外RAN＋アンテナのレンタルと、ローカル5G免許取得支援をセットで提供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4736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提案課題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5074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「高帯域・低遅延を活かすユースケース」の決め手に欠けていた —— 次頁がその答え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出典：Celona公開情報、弊社ニュースリリース・社内資料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04｜ローカル5G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フィジカルAIが、ローカル5Gのキラーユースケースになる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これまで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「ローカル5Gありき」でユースケースを探す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帯域と投資を正当化する理由が弱い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53328" y="2103120"/>
            <a:ext cx="502920" cy="548640"/>
          </a:xfrm>
          <a:prstGeom prst="rightArrow">
            <a:avLst/>
          </a:prstGeom>
          <a:solidFill>
            <a:srgbClr val="E8622D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645920"/>
            <a:ext cx="4983480" cy="1463040"/>
          </a:xfrm>
          <a:prstGeom prst="roundRect">
            <a:avLst>
              <a:gd name="adj" fmla="val 5000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1810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フィジカルAIが低遅延・上り帯域・移動性を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「必要とする」—— 需要側から5Gを引っ張る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520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7490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305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90448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物流倉庫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6868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AMR/AGVの群制御、棚映像のAI検品、コネクテッドフォークリフト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429000" y="3520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703320" y="37490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305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390448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0332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製造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370332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外観検査カメラ×エッジAI、協働ロボット、設備の映像監視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63640" y="3520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37960" y="37490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305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390448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3796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建設・プラント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53796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建機の遠隔操縦、ドローンによる点検・測量、安全監視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098280" y="3520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372600" y="37490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3305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390448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7260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地域・屋外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37260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防災監視、害獣対策ドローン、インフラ点検（→事例は後述）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94360" y="6035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共通項：上り映像が太い／移動体が多い／遅延が読める必要がある —— まさにローカル5Gの得意領域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20640" y="1417320"/>
            <a:ext cx="6583680" cy="402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509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中枢 — AI集中管理基盤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エッジだけでは完結しない。集めて・学び直して・配る。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Kubernetesが「AIの運用」の共通基盤になる。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05｜AI集中管理基盤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フィジカルAIは「運用しながら賢くする」システム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57400"/>
            <a:ext cx="548640" cy="5486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22000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21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エッジ（現場）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ロボット・AMR・カメラが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推論しながら稼働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406" y="22000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52560" y="2121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中央基盤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366760" y="2743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データ蓄積・再学習・評価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（GPUクラスタ）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51960" y="2148840"/>
            <a:ext cx="3657600" cy="502920"/>
          </a:xfrm>
          <a:prstGeom prst="rightArrow">
            <a:avLst/>
          </a:prstGeom>
          <a:solidFill>
            <a:srgbClr val="E8622D"/>
          </a:solidFill>
          <a:ln/>
        </p:spPr>
      </p:sp>
      <p:sp>
        <p:nvSpPr>
          <p:cNvPr id="16" name="Text 12"/>
          <p:cNvSpPr/>
          <p:nvPr/>
        </p:nvSpPr>
        <p:spPr>
          <a:xfrm>
            <a:off x="425196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映像・走行ログ・失敗データを収集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3063240"/>
            <a:ext cx="3657600" cy="502920"/>
          </a:xfrm>
          <a:prstGeom prst="leftArrow">
            <a:avLst/>
          </a:prstGeom>
          <a:solidFill>
            <a:srgbClr val="EEF3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5196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305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改善したモデルを配信（OTA）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77240" y="4069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その中枢を担うのが Kubernetes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77240" y="45262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005840" y="46817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GPUオーケストレーション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00584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学習・推論ジョブへのGPU割当を自動化（DRA、ギャングスケジューリング等が成熟）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434840" y="45262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663440" y="46817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推論サービング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66344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モデルのバージョン管理・A/B展開・スケールを標準化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92440" y="45262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321040" y="46817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フリート管理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832104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数十〜数百台のエッジ機器・ロボットへの一斉配信と監視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77240" y="61264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「作って終わり」ではなく「回し続ける」インフラ —— ここがインフラ事業者の出番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05｜AI集中管理基盤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弊社の強みの延長線 — 3Tier/HCI の「次」としてのK8s基盤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インフラ提案の系譜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96112" y="2450592"/>
            <a:ext cx="457200" cy="457200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81328" y="23957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3Tier（VMware）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81328" y="277977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サーバ・SAN・NWの設計構築 —— 弊社の主戦場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3547872"/>
            <a:ext cx="457200" cy="457200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81328" y="3493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HCI（Nutanix）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81328" y="387705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ストレージのSDS化・運用簡素化 —— 実績多数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4645152"/>
            <a:ext cx="457200" cy="457200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4590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K8s＋SDS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81328" y="497433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AI基盤の標準形。VMもKubeVirtで統合する流れ —— 同じお客様の「次の更改」で必ず出てくる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ストレージの答え：simplyblock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0" y="237744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K8sネイティブなNVMe/TCP SDS（ベルリン発、SPDKベース）。カーネルバイパスでローカルNVMe並みの低遅延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Tier0（ローカルNVMe）→ Tier1（クラスタ）→ Tier2（S3）の自動階層化で容量とコストを最適化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LLM推論のKV Cacheを永続化・共有し、応答開始時間（TTFT）を大幅改善 —— AI推論基盤の差別化要素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Ceph比で軽量・NVMe特化。弊社がNS研向け調査で競合比較・評価済み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出典：simplyblock公開情報、弊社NS研向け調査資料（2026年3月）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120640" y="1417320"/>
            <a:ext cx="6583680" cy="4023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233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509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 — 3要素パッケージ構想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エッジAI × ローカル5G × AI基盤。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バラ売りせず「現場で動くAI一式」で提案する。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06｜まとめ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提案構想 — 3要素を1つのパッケージに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28116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弊社の裏付け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3609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482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エッジ層（現場）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9164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ロボット・AMR・ドローン・カメラ ＋ SAKURA-II等のNPU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0" y="19202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数ms〜100msの自律制御・現場推論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89720" y="20116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326880" y="2057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SAKURA-II実測／SO-101×SmolVLA検証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3090672"/>
            <a:ext cx="320040" cy="219456"/>
          </a:xfrm>
          <a:prstGeom prst="downArrow">
            <a:avLst/>
          </a:prstGeom>
          <a:solidFill>
            <a:srgbClr val="E8622D"/>
          </a:solidFill>
          <a:ln/>
        </p:spPr>
      </p:sp>
      <p:sp>
        <p:nvSpPr>
          <p:cNvPr id="15" name="Shape 12"/>
          <p:cNvSpPr/>
          <p:nvPr/>
        </p:nvSpPr>
        <p:spPr>
          <a:xfrm>
            <a:off x="4983480" y="3090672"/>
            <a:ext cx="320040" cy="219456"/>
          </a:xfrm>
          <a:prstGeom prst="upArrow">
            <a:avLst/>
          </a:prstGeom>
          <a:solidFill>
            <a:srgbClr val="8B93A5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" y="32918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1" y="373258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91640" y="34198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ネットワーク層（神経網）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69164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ローカル5G（Celona 5G LAN）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12064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移動体を切れずにつなぐ・上り映像・遅延設計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189720" y="33832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326880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Celona検証ラボ／PoCパッケージ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0" y="4462272"/>
            <a:ext cx="320040" cy="219456"/>
          </a:xfrm>
          <a:prstGeom prst="downArrow">
            <a:avLst/>
          </a:prstGeom>
          <a:solidFill>
            <a:srgbClr val="E8622D"/>
          </a:solidFill>
          <a:ln/>
        </p:spPr>
      </p:sp>
      <p:sp>
        <p:nvSpPr>
          <p:cNvPr id="25" name="Shape 21"/>
          <p:cNvSpPr/>
          <p:nvPr/>
        </p:nvSpPr>
        <p:spPr>
          <a:xfrm>
            <a:off x="4983480" y="4462272"/>
            <a:ext cx="320040" cy="219456"/>
          </a:xfrm>
          <a:prstGeom prst="upArrow">
            <a:avLst/>
          </a:prstGeom>
          <a:solidFill>
            <a:srgbClr val="8B93A5"/>
          </a:solidFill>
          <a:ln/>
        </p:spPr>
      </p:sp>
      <p:sp>
        <p:nvSpPr>
          <p:cNvPr id="26" name="Shape 22"/>
          <p:cNvSpPr/>
          <p:nvPr/>
        </p:nvSpPr>
        <p:spPr>
          <a:xfrm>
            <a:off x="594360" y="466344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68680" y="4937760"/>
            <a:ext cx="640080" cy="640080"/>
          </a:xfrm>
          <a:prstGeom prst="ellipse">
            <a:avLst/>
          </a:prstGeom>
          <a:solidFill>
            <a:srgbClr val="23305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5104181"/>
            <a:ext cx="307238" cy="30723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691640" y="47914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基盤層（中枢）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69164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Kubernetes ＋ GPU ＋ simplyblock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120640" y="4663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データ蓄積・再学習・モデル配信・フリート管理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189720" y="47548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9326880" y="4800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3Tier/HCI実績／SDS技術調査（NS研）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94360" y="60807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14400" y="6153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3つを個別に売らない。「現場で動くAI」を一式で提案する —— 各要素に弊社の検証実績という裏付けがある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06｜まとめ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国内でも動き始めている — 地域エッジAI実証（秋田）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地域デジタルツイン × マルチエージェント協調AI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総務省「地域社会DX推進パッケージ事業」応募案件（2026年・採択前）。秋田ケーブルテレビを代表に、弊社はアーキテクチャ設計・通信/MEC担当として参画。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エッジ端末AI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318211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ドローン・ロボット＋専用推論チップ。物体検出・追跡・姿勢推定を数ms〜100msで並列実行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地域共有MEC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40507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点群から地域デジタルツインを構築し、予測・シミュレーション・協調制御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通信（協調AI）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49194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5G等でAI同士が推論結果を共有。AI on RAN / AI for RAN の技術指針獲得も狙う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1737360"/>
            <a:ext cx="4434840" cy="4114800"/>
          </a:xfrm>
          <a:prstGeom prst="roundRect">
            <a:avLst>
              <a:gd name="adj" fmla="val 1778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なぜ地域で？ — 切実な社会課題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98件・108人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52360" y="29718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秋田県のクマ人身被害（令和2〜6年度）。被害の約7割は日常生活の中で発生。2025年秋には市街地出没で小中高が臨時休校に。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ユースケース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455371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害獣対策：検知→予測→ドローン派遣→音・光で森へ誘導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防災：逃げ遅れ把握・避難誘導支援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出典：実証事業応募提案書（2026年7月・応募段階）。個人情報・詳細体制は割愛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06｜まとめ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弊社の歩みと、これから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659636" y="2834640"/>
            <a:ext cx="8869680" cy="0"/>
          </a:xfrm>
          <a:prstGeom prst="line">
            <a:avLst/>
          </a:prstGeom>
          <a:noFill/>
          <a:ln w="254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706624"/>
            <a:ext cx="256032" cy="256032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" y="3154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5236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NS研向け技術調査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5236" y="38862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EdgeCortix／simplyblockの市場・技術調査を受託・完遂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2706624"/>
            <a:ext cx="256032" cy="256032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12" name="Text 10"/>
          <p:cNvSpPr/>
          <p:nvPr/>
        </p:nvSpPr>
        <p:spPr>
          <a:xfrm>
            <a:off x="296265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25496" y="3154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62656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SAKURA-II 実機検証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62656" y="38862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YOLO11mで低ジッター±0.2ms・平均10W未満を実測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6460" y="2706624"/>
            <a:ext cx="256032" cy="256032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17" name="Text 15"/>
          <p:cNvSpPr/>
          <p:nvPr/>
        </p:nvSpPr>
        <p:spPr>
          <a:xfrm>
            <a:off x="518007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42916" y="3154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80076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VLA技術検証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80076" y="38862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LeRobot SO-101×SmolVLAでボール把持を実証（自席で継続中）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83880" y="2706624"/>
            <a:ext cx="256032" cy="256032"/>
          </a:xfrm>
          <a:prstGeom prst="ellipse">
            <a:avLst/>
          </a:prstGeom>
          <a:solidFill>
            <a:srgbClr val="2330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9749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3A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0336" y="3154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97496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ローカル5G体制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97496" y="38862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Celona検証ラボ・PoCパッケージ（隣課と連携）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401300" y="2706624"/>
            <a:ext cx="256032" cy="256032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27" name="Text 25"/>
          <p:cNvSpPr/>
          <p:nvPr/>
        </p:nvSpPr>
        <p:spPr>
          <a:xfrm>
            <a:off x="961491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77756" y="3154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BE8D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14916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A3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3要素パッケージ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14916" y="38862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リファレンス構成→統合デモ→顧客PoC提案へ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01A38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全社のAI技術獲得ロードマップ（STEP0：K8s基礎 → STEP1：AIOps → STEP2：推論基盤 → STEP3：AIグリッド）とも整合。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フィジカルAIは、STEP2「推論基盤」を現場側から引っ張る需要ドライバー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 &amp; Q&amp;A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6072" y="5669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本日のまとめ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3305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56232"/>
            <a:ext cx="548640" cy="548640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72821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フィジカルAIは「第3の波」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1488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市場は兆円規模へ。要素技術（VLA・エッジNPU）はこの1〜2年で急速に民主化した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3305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090672"/>
            <a:ext cx="548640" cy="548640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96265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弊社は3要素すべてに実績の種がある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383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エッジAI（SAKURA-II実測・SO-101検証）×ローカル5G（Celonaラボ）×AI基盤（HCI実績・SDS調査）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23305E"/>
          </a:solidFill>
          <a:ln/>
          <a:effectLst>
            <a:outerShdw sx="100000" sy="100000" kx="0" ky="0" algn="bl" rotWithShape="0" blurRad="76200" dist="25400" dir="5400000">
              <a:srgbClr val="9AA4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25112"/>
            <a:ext cx="548640" cy="548640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1970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バラ売りせず、一式で価値を訴求する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6177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小さな検証を重ね、「現場で動くAIパッケージ」としてリファレンス構成→デモ→顧客PoCへ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532120"/>
            <a:ext cx="685800" cy="6858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5710428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45920" y="54864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Q&amp;A・ディスカッション（15分）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「この業界のこの現場なら刺さりそう」というアイデアを、ぜひ聞かせてください。SO-101の実機デモは私の席でいつでも。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2026-07-31T05:10:10Z</dcterms:created>
  <dcterms:modified xsi:type="dcterms:W3CDTF">2026-07-31T05:10:10Z</dcterms:modified>
</cp:coreProperties>
</file>